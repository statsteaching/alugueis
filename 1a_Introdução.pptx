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13411200" cy="7543800"/>
  <p:notesSz cx="13411200" cy="7543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2338578"/>
            <a:ext cx="11399520" cy="1584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4224528"/>
            <a:ext cx="9387840" cy="188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D1C6B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D1C6B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70560" y="1735074"/>
            <a:ext cx="5833872" cy="49789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906768" y="1735074"/>
            <a:ext cx="5833872" cy="49789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D1C6B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D1C6B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D1C6B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1262221"/>
            <a:ext cx="8553450" cy="521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2582510"/>
            <a:ext cx="12268200" cy="2933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59808" y="7015734"/>
            <a:ext cx="4291584" cy="37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70560" y="7015734"/>
            <a:ext cx="3084576" cy="37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891452" y="7143681"/>
            <a:ext cx="237490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D1C6B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refer%C3%AAncias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refer%C3%AAncias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eq-DescontoComercial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eq-JurosCompostos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eq-VF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refer%C3%AAncias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refer%C3%AAncias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refer%C3%AAncias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igalhas.com.br/quentes/413764/stj-conclui-julgamento-que-fixou-selic-para-correcao-de-dividas-civis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eq-LTN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alculadorarendafixa.com.br/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file://localhost/C:/Users/lfpdr/OneDrive/_Droubi%20Aval/EDUFOR/Alugueis_08-2025/01a.html?view=print&amp;/refer%C3%AAncias" TargetMode="Externa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eq-Amortizacao" TargetMode="Externa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file://localhost/C:/Users/lfpdr/OneDrive/_Droubi%20Aval/EDUFOR/Alugueis_08-2025/01a.html?view=print&amp;/eq-Capitalizacao" TargetMode="Externa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" TargetMode="Externa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lfpdr/OneDrive/_Droubi%20Aval/EDUFOR/Alugueis_08-2025/01a.html?view=print&amp;/eq-Amortizacao" TargetMode="External"/><Relationship Id="rId3" Type="http://schemas.openxmlformats.org/officeDocument/2006/relationships/hyperlink" Target="file://localhost/C:/Users/lfpdr/OneDrive/_Droubi%20Aval/EDUFOR/Alugueis_08-2025/01a.html?view=print&amp;/eq-Capitalizacao" TargetMode="Externa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lanalto.gov.br/ccivil_03/Leis//2002/L10406compilada.htm" TargetMode="External"/><Relationship Id="rId3" Type="http://schemas.openxmlformats.org/officeDocument/2006/relationships/hyperlink" Target="https://www.planalto.gov.br/ccivil_03/_ato2023-2026/2024/Lei/L14905.htm" TargetMode="External"/><Relationship Id="rId4" Type="http://schemas.openxmlformats.org/officeDocument/2006/relationships/hyperlink" Target="https://arquivos.ufrrj.br/arquivos/20230740528053375410731933c681115/Apostila_de_Matemtica_Financeira_-_Verso_Aluno_-_2023.pdf" TargetMode="External"/><Relationship Id="rId5" Type="http://schemas.openxmlformats.org/officeDocument/2006/relationships/hyperlink" Target="https://doi.org/10.22296/2317-1529.rbeur.202027pt" TargetMode="External"/><Relationship Id="rId6" Type="http://schemas.openxmlformats.org/officeDocument/2006/relationships/hyperlink" Target="https://doi.org/10.1590/S0034-75901966000100002" TargetMode="External"/><Relationship Id="rId7" Type="http://schemas.openxmlformats.org/officeDocument/2006/relationships/hyperlink" Target="https://dx.doi.org/10.2139/ssrn.2585241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24191" y="1994852"/>
            <a:ext cx="229235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 b="0">
                <a:solidFill>
                  <a:srgbClr val="212121"/>
                </a:solidFill>
                <a:latin typeface="Tahoma"/>
                <a:cs typeface="Tahoma"/>
              </a:rPr>
              <a:t>Avaliação</a:t>
            </a:r>
            <a:r>
              <a:rPr dirty="0" sz="1950" spc="-185" b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 b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 b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 b="0">
                <a:solidFill>
                  <a:srgbClr val="212121"/>
                </a:solidFill>
                <a:latin typeface="Tahoma"/>
                <a:cs typeface="Tahoma"/>
              </a:rPr>
              <a:t>Aluguéis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245309" y="2670968"/>
            <a:ext cx="2571750" cy="8350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0"/>
              </a:spcBef>
            </a:pPr>
            <a:r>
              <a:rPr dirty="0" sz="1950" spc="-105">
                <a:solidFill>
                  <a:srgbClr val="212121"/>
                </a:solidFill>
                <a:latin typeface="Tahoma"/>
                <a:cs typeface="Tahoma"/>
              </a:rPr>
              <a:t>Eng.º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Luiz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F.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P.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Droubi</a:t>
            </a:r>
            <a:endParaRPr sz="1950">
              <a:latin typeface="Tahoma"/>
              <a:cs typeface="Tahoma"/>
            </a:endParaRPr>
          </a:p>
          <a:p>
            <a:pPr algn="r" marR="7620">
              <a:lnSpc>
                <a:spcPct val="100000"/>
              </a:lnSpc>
              <a:spcBef>
                <a:spcPts val="1655"/>
              </a:spcBef>
            </a:pP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22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dezembro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2025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7131050" y="3838455"/>
            <a:ext cx="301688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50" spc="-140" b="1">
                <a:latin typeface="Trebuchet MS"/>
                <a:cs typeface="Trebuchet MS"/>
              </a:rPr>
              <a:t>Introdução</a:t>
            </a:r>
            <a:endParaRPr sz="4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85"/>
              <a:t>Introdução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865757"/>
            <a:ext cx="12011025" cy="258445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6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imóveis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bens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heterogêneos: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Assim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utilizamos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imóveis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morar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Utilizamos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imóveis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auferir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renda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imobiliária</a:t>
            </a:r>
            <a:endParaRPr sz="1950">
              <a:latin typeface="Tahoma"/>
              <a:cs typeface="Tahoma"/>
            </a:endParaRPr>
          </a:p>
          <a:p>
            <a:pPr lvl="1" marL="633730" marR="5080" indent="-240665">
              <a:lnSpc>
                <a:spcPct val="110000"/>
              </a:lnSpc>
              <a:spcBef>
                <a:spcPts val="945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Assim,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imóveis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bens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consumo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(“</a:t>
            </a:r>
            <a:r>
              <a:rPr dirty="0" sz="1950" spc="-85" i="1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dirty="0" sz="1950" spc="-1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95" i="1">
                <a:solidFill>
                  <a:srgbClr val="212121"/>
                </a:solidFill>
                <a:latin typeface="Trebuchet MS"/>
                <a:cs typeface="Trebuchet MS"/>
              </a:rPr>
              <a:t>logement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”,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acordo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7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GRANELLE</a:t>
            </a:r>
            <a:r>
              <a:rPr dirty="0" sz="1950" spc="-17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114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1998</a:t>
            </a: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;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 i="1">
                <a:solidFill>
                  <a:srgbClr val="212121"/>
                </a:solidFill>
                <a:latin typeface="Trebuchet MS"/>
                <a:cs typeface="Trebuchet MS"/>
              </a:rPr>
              <a:t>apud</a:t>
            </a:r>
            <a:r>
              <a:rPr dirty="0" sz="1950" spc="-15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Lacerda</a:t>
            </a:r>
            <a:r>
              <a:rPr dirty="0" sz="1950" spc="-17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</a:t>
            </a:r>
            <a:r>
              <a:rPr dirty="0" sz="1950" spc="-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Tahoma"/>
                <a:cs typeface="Tahoma"/>
              </a:rPr>
              <a:t>	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Abramo</a:t>
            </a:r>
            <a:r>
              <a:rPr dirty="0" sz="1950" spc="-17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2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2020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)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Mas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também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“</a:t>
            </a:r>
            <a:r>
              <a:rPr dirty="0" sz="1950" spc="-60" i="1">
                <a:solidFill>
                  <a:srgbClr val="212121"/>
                </a:solidFill>
                <a:latin typeface="Trebuchet MS"/>
                <a:cs typeface="Trebuchet MS"/>
              </a:rPr>
              <a:t>bien</a:t>
            </a:r>
            <a:r>
              <a:rPr dirty="0" sz="1950" spc="-15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85" i="1">
                <a:solidFill>
                  <a:srgbClr val="212121"/>
                </a:solidFill>
                <a:latin typeface="Trebuchet MS"/>
                <a:cs typeface="Trebuchet MS"/>
              </a:rPr>
              <a:t>d’investissement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”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(Idem)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85"/>
              <a:t>Introdução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865757"/>
            <a:ext cx="6076315" cy="2018664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6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Olhando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imóveis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 i="1">
                <a:solidFill>
                  <a:srgbClr val="212121"/>
                </a:solidFill>
                <a:latin typeface="Trebuchet MS"/>
                <a:cs typeface="Trebuchet MS"/>
              </a:rPr>
              <a:t>bem</a:t>
            </a:r>
            <a:r>
              <a:rPr dirty="0" sz="1950" spc="-18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70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950" spc="-19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10" i="1">
                <a:solidFill>
                  <a:srgbClr val="212121"/>
                </a:solidFill>
                <a:latin typeface="Trebuchet MS"/>
                <a:cs typeface="Trebuchet MS"/>
              </a:rPr>
              <a:t>consumo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 lvl="1" marL="633730" marR="700405" indent="-240665">
              <a:lnSpc>
                <a:spcPct val="110000"/>
              </a:lnSpc>
              <a:spcBef>
                <a:spcPts val="945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Consumimos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imóveis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todos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dias,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seja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para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morar,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seja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trabalhar!</a:t>
            </a:r>
            <a:endParaRPr sz="1950">
              <a:latin typeface="Tahoma"/>
              <a:cs typeface="Tahoma"/>
            </a:endParaRPr>
          </a:p>
          <a:p>
            <a:pPr lvl="1" marL="633730" marR="5080" indent="-240665">
              <a:lnSpc>
                <a:spcPct val="110000"/>
              </a:lnSpc>
              <a:spcBef>
                <a:spcPts val="940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custo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deste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consumo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estar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implícito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(imóvel 	próprio)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02742" y="1865757"/>
            <a:ext cx="5990590" cy="291147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6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Olhando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imóvel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 i="1">
                <a:solidFill>
                  <a:srgbClr val="212121"/>
                </a:solidFill>
                <a:latin typeface="Trebuchet MS"/>
                <a:cs typeface="Trebuchet MS"/>
              </a:rPr>
              <a:t>bem</a:t>
            </a:r>
            <a:r>
              <a:rPr dirty="0" sz="1950" spc="-19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70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950" spc="-19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50" i="1">
                <a:solidFill>
                  <a:srgbClr val="212121"/>
                </a:solidFill>
                <a:latin typeface="Trebuchet MS"/>
                <a:cs typeface="Trebuchet MS"/>
              </a:rPr>
              <a:t>investimento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 lvl="1" marL="633730" marR="151130" indent="-240665">
              <a:lnSpc>
                <a:spcPct val="110000"/>
              </a:lnSpc>
              <a:spcBef>
                <a:spcPts val="945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compra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renda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fixa,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ele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espero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ganhar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endParaRPr sz="1950">
              <a:latin typeface="Tahoma"/>
              <a:cs typeface="Tahoma"/>
            </a:endParaRPr>
          </a:p>
          <a:p>
            <a:pPr lvl="1" marL="633730" marR="5080" indent="-240665">
              <a:lnSpc>
                <a:spcPct val="110000"/>
              </a:lnSpc>
              <a:spcBef>
                <a:spcPts val="940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compra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imóvel,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ele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espero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ganhar</a:t>
            </a:r>
            <a:r>
              <a:rPr dirty="0" sz="1950" spc="-1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renda!</a:t>
            </a:r>
            <a:endParaRPr sz="1950">
              <a:latin typeface="Tahoma"/>
              <a:cs typeface="Tahoma"/>
            </a:endParaRPr>
          </a:p>
          <a:p>
            <a:pPr lvl="2" marL="1015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◦"/>
              <a:tabLst>
                <a:tab pos="1015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Explícita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(aluguéis)</a:t>
            </a:r>
            <a:endParaRPr sz="1950">
              <a:latin typeface="Tahoma"/>
              <a:cs typeface="Tahoma"/>
            </a:endParaRPr>
          </a:p>
          <a:p>
            <a:pPr lvl="2" marL="1015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◦"/>
              <a:tabLst>
                <a:tab pos="1015365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Implícita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(imóvel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próprio)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5203190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0"/>
              <a:t>Relação</a:t>
            </a:r>
            <a:r>
              <a:rPr dirty="0" spc="-275"/>
              <a:t> </a:t>
            </a:r>
            <a:r>
              <a:rPr dirty="0" spc="-185"/>
              <a:t>entre</a:t>
            </a:r>
            <a:r>
              <a:rPr dirty="0" spc="-270"/>
              <a:t> </a:t>
            </a:r>
            <a:r>
              <a:rPr dirty="0" spc="-105"/>
              <a:t>Estoque</a:t>
            </a:r>
            <a:r>
              <a:rPr dirty="0" spc="-270"/>
              <a:t> </a:t>
            </a:r>
            <a:r>
              <a:rPr dirty="0" spc="-225"/>
              <a:t>e</a:t>
            </a:r>
            <a:r>
              <a:rPr dirty="0" spc="-275"/>
              <a:t> </a:t>
            </a:r>
            <a:r>
              <a:rPr dirty="0" spc="-100"/>
              <a:t>Fluxo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326229" y="2965297"/>
            <a:ext cx="4758690" cy="6350"/>
          </a:xfrm>
          <a:custGeom>
            <a:avLst/>
            <a:gdLst/>
            <a:ahLst/>
            <a:cxnLst/>
            <a:rect l="l" t="t" r="r" b="b"/>
            <a:pathLst>
              <a:path w="4758690" h="6350">
                <a:moveTo>
                  <a:pt x="4758537" y="6350"/>
                </a:moveTo>
                <a:lnTo>
                  <a:pt x="0" y="6350"/>
                </a:lnTo>
                <a:lnTo>
                  <a:pt x="0" y="0"/>
                </a:lnTo>
                <a:lnTo>
                  <a:pt x="4758537" y="0"/>
                </a:lnTo>
                <a:lnTo>
                  <a:pt x="475853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26229" y="3399129"/>
            <a:ext cx="4758690" cy="6350"/>
          </a:xfrm>
          <a:custGeom>
            <a:avLst/>
            <a:gdLst/>
            <a:ahLst/>
            <a:cxnLst/>
            <a:rect l="l" t="t" r="r" b="b"/>
            <a:pathLst>
              <a:path w="4758690" h="6350">
                <a:moveTo>
                  <a:pt x="4758537" y="6350"/>
                </a:moveTo>
                <a:lnTo>
                  <a:pt x="0" y="6350"/>
                </a:lnTo>
                <a:lnTo>
                  <a:pt x="0" y="0"/>
                </a:lnTo>
                <a:lnTo>
                  <a:pt x="4758537" y="0"/>
                </a:lnTo>
                <a:lnTo>
                  <a:pt x="475853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326229" y="3833012"/>
            <a:ext cx="4758690" cy="6350"/>
          </a:xfrm>
          <a:custGeom>
            <a:avLst/>
            <a:gdLst/>
            <a:ahLst/>
            <a:cxnLst/>
            <a:rect l="l" t="t" r="r" b="b"/>
            <a:pathLst>
              <a:path w="4758690" h="6350">
                <a:moveTo>
                  <a:pt x="4758537" y="6350"/>
                </a:moveTo>
                <a:lnTo>
                  <a:pt x="0" y="6350"/>
                </a:lnTo>
                <a:lnTo>
                  <a:pt x="0" y="0"/>
                </a:lnTo>
                <a:lnTo>
                  <a:pt x="4758537" y="0"/>
                </a:lnTo>
                <a:lnTo>
                  <a:pt x="475853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326229" y="4266907"/>
            <a:ext cx="4758690" cy="6350"/>
          </a:xfrm>
          <a:custGeom>
            <a:avLst/>
            <a:gdLst/>
            <a:ahLst/>
            <a:cxnLst/>
            <a:rect l="l" t="t" r="r" b="b"/>
            <a:pathLst>
              <a:path w="4758690" h="6350">
                <a:moveTo>
                  <a:pt x="4758537" y="6350"/>
                </a:moveTo>
                <a:lnTo>
                  <a:pt x="0" y="6350"/>
                </a:lnTo>
                <a:lnTo>
                  <a:pt x="0" y="0"/>
                </a:lnTo>
                <a:lnTo>
                  <a:pt x="4758537" y="0"/>
                </a:lnTo>
                <a:lnTo>
                  <a:pt x="475853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96900" y="2010410"/>
            <a:ext cx="10639425" cy="31076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62890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6289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entendimento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formação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Aluguéis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essencial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compreensão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mercado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imobiliário</a:t>
            </a:r>
            <a:endParaRPr sz="1950">
              <a:latin typeface="Tahoma"/>
              <a:cs typeface="Tahoma"/>
            </a:endParaRPr>
          </a:p>
          <a:p>
            <a:pPr marL="3854450">
              <a:lnSpc>
                <a:spcPct val="100000"/>
              </a:lnSpc>
              <a:spcBef>
                <a:spcPts val="1989"/>
              </a:spcBef>
              <a:tabLst>
                <a:tab pos="6842759" algn="l"/>
              </a:tabLst>
            </a:pPr>
            <a:r>
              <a:rPr dirty="0" sz="1950" spc="-10" b="1">
                <a:solidFill>
                  <a:srgbClr val="212121"/>
                </a:solidFill>
                <a:latin typeface="Trebuchet MS"/>
                <a:cs typeface="Trebuchet MS"/>
              </a:rPr>
              <a:t>Estoque</a:t>
            </a:r>
            <a:r>
              <a:rPr dirty="0" sz="1950" b="1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dirty="0" sz="1950" spc="-10" b="1">
                <a:solidFill>
                  <a:srgbClr val="212121"/>
                </a:solidFill>
                <a:latin typeface="Trebuchet MS"/>
                <a:cs typeface="Trebuchet MS"/>
              </a:rPr>
              <a:t>Fluxo</a:t>
            </a:r>
            <a:endParaRPr sz="1950">
              <a:latin typeface="Trebuchet MS"/>
              <a:cs typeface="Trebuchet MS"/>
            </a:endParaRPr>
          </a:p>
          <a:p>
            <a:pPr marL="3854450">
              <a:lnSpc>
                <a:spcPct val="100000"/>
              </a:lnSpc>
              <a:spcBef>
                <a:spcPts val="1100"/>
              </a:spcBef>
              <a:tabLst>
                <a:tab pos="6842759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Riqueza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Renda</a:t>
            </a:r>
            <a:endParaRPr sz="1950">
              <a:latin typeface="Tahoma"/>
              <a:cs typeface="Tahoma"/>
            </a:endParaRPr>
          </a:p>
          <a:p>
            <a:pPr marL="3854450">
              <a:lnSpc>
                <a:spcPct val="100000"/>
              </a:lnSpc>
              <a:spcBef>
                <a:spcPts val="1075"/>
              </a:spcBef>
              <a:tabLst>
                <a:tab pos="6842759" algn="l"/>
              </a:tabLst>
            </a:pP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Dívida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Pública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Déficit</a:t>
            </a:r>
            <a:r>
              <a:rPr dirty="0" sz="1950" spc="-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Público</a:t>
            </a:r>
            <a:endParaRPr sz="1950">
              <a:latin typeface="Tahoma"/>
              <a:cs typeface="Tahoma"/>
            </a:endParaRPr>
          </a:p>
          <a:p>
            <a:pPr marL="3854450">
              <a:lnSpc>
                <a:spcPct val="100000"/>
              </a:lnSpc>
              <a:spcBef>
                <a:spcPts val="1080"/>
              </a:spcBef>
              <a:tabLst>
                <a:tab pos="6842759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Ação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Dividendo</a:t>
            </a:r>
            <a:endParaRPr sz="1950">
              <a:latin typeface="Tahoma"/>
              <a:cs typeface="Tahoma"/>
            </a:endParaRPr>
          </a:p>
          <a:p>
            <a:pPr marL="3854450">
              <a:lnSpc>
                <a:spcPct val="100000"/>
              </a:lnSpc>
              <a:spcBef>
                <a:spcPts val="1075"/>
              </a:spcBef>
              <a:tabLst>
                <a:tab pos="6842759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propriedade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Aluguel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Relação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entre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Estoque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Fluxo.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Fonte: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Adaptada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Malpezzi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Wachter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1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2002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2511425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60"/>
              <a:t>Fluxo</a:t>
            </a:r>
            <a:r>
              <a:rPr dirty="0" spc="-280"/>
              <a:t> </a:t>
            </a:r>
            <a:r>
              <a:rPr dirty="0" spc="-135"/>
              <a:t>de</a:t>
            </a:r>
            <a:r>
              <a:rPr dirty="0" spc="-275"/>
              <a:t> </a:t>
            </a:r>
            <a:r>
              <a:rPr dirty="0" spc="-85"/>
              <a:t>Caixa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407" y="2051298"/>
            <a:ext cx="9067244" cy="44049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6900" y="6673215"/>
            <a:ext cx="266128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Figura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1: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350" spc="-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Fluxo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Caixa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Simples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5"/>
              <a:t>Essencial</a:t>
            </a:r>
            <a:r>
              <a:rPr dirty="0" spc="-254"/>
              <a:t> </a:t>
            </a:r>
            <a:r>
              <a:rPr dirty="0" spc="-135"/>
              <a:t>de</a:t>
            </a:r>
            <a:r>
              <a:rPr dirty="0" spc="-250"/>
              <a:t> </a:t>
            </a:r>
            <a:r>
              <a:rPr dirty="0" spc="-105"/>
              <a:t>Matemática</a:t>
            </a:r>
            <a:r>
              <a:rPr dirty="0" spc="-254"/>
              <a:t> </a:t>
            </a:r>
            <a:r>
              <a:rPr dirty="0" spc="-114"/>
              <a:t>Financeira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966404"/>
            <a:ext cx="11668760" cy="37801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2729" marR="5080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2540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necessário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conhecimento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básico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matemática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financeira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compreender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aplicar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Engenharia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Avaliações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Aluguéis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0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matemática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financeira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ramo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matemática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aplicado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à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análise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solução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problemas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financeiros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02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Envolve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conceitos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como: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28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Descontos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Amortizações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Investimentos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Etc.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5"/>
              <a:t>Juros</a:t>
            </a:r>
            <a:r>
              <a:rPr dirty="0" spc="-275"/>
              <a:t> </a:t>
            </a:r>
            <a:r>
              <a:rPr dirty="0" spc="-50"/>
              <a:t>Simples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983486"/>
            <a:ext cx="11688445" cy="3806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729" marR="5080" indent="-240665">
              <a:lnSpc>
                <a:spcPct val="105700"/>
              </a:lnSpc>
              <a:spcBef>
                <a:spcPts val="100"/>
              </a:spcBef>
              <a:buFont typeface="Lucida Sans Unicode"/>
              <a:buChar char="•"/>
              <a:tabLst>
                <a:tab pos="254000" algn="l"/>
              </a:tabLst>
            </a:pP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simples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incidem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apenas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cima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capital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10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2050" spc="105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-2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),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durante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um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negócio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pré-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determinada: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algn="ctr" marL="1144905">
              <a:lnSpc>
                <a:spcPct val="100000"/>
              </a:lnSpc>
              <a:spcBef>
                <a:spcPts val="2125"/>
              </a:spcBef>
              <a:tabLst>
                <a:tab pos="3014980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5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75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7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(1)</a:t>
            </a:r>
            <a:endParaRPr sz="2050">
              <a:latin typeface="Cambria"/>
              <a:cs typeface="Cambria"/>
            </a:endParaRPr>
          </a:p>
          <a:p>
            <a:pPr marL="253365" indent="-240665">
              <a:lnSpc>
                <a:spcPct val="100000"/>
              </a:lnSpc>
              <a:spcBef>
                <a:spcPts val="235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incorporadora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procura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investidores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viabilização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empreendimento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imobiliário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20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Então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ela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oferece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mercado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cotas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36%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prazo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24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meses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montante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obtido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final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perí0do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24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meses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será:</a:t>
            </a:r>
            <a:endParaRPr sz="1950">
              <a:latin typeface="Tahoma"/>
              <a:cs typeface="Tahoma"/>
            </a:endParaRPr>
          </a:p>
          <a:p>
            <a:pPr lvl="2" marL="10153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153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4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75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4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100.000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25">
                <a:solidFill>
                  <a:srgbClr val="212121"/>
                </a:solidFill>
                <a:latin typeface="Cambria"/>
                <a:cs typeface="Cambria"/>
              </a:rPr>
              <a:t>36%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1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36.000,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5"/>
              <a:t>Juros</a:t>
            </a:r>
            <a:r>
              <a:rPr dirty="0" spc="-275"/>
              <a:t> </a:t>
            </a:r>
            <a:r>
              <a:rPr dirty="0" spc="-50"/>
              <a:t>Simples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877407"/>
            <a:ext cx="7988934" cy="404558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simples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importa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capitalização: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0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Transformando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anual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36/2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18%</a:t>
            </a:r>
            <a:r>
              <a:rPr dirty="0" sz="2050" spc="6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a.a.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 lvl="2" marL="10153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153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75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100.000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18,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40">
                <a:solidFill>
                  <a:srgbClr val="212121"/>
                </a:solidFill>
                <a:latin typeface="Cambria"/>
                <a:cs typeface="Cambria"/>
              </a:rPr>
              <a:t>0%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2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36.000,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  <a:p>
            <a:pPr lvl="1" marL="634365" indent="-240665">
              <a:lnSpc>
                <a:spcPct val="100000"/>
              </a:lnSpc>
              <a:spcBef>
                <a:spcPts val="107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Transformando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mensal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0">
                <a:solidFill>
                  <a:srgbClr val="212121"/>
                </a:solidFill>
                <a:latin typeface="Cambria"/>
                <a:cs typeface="Cambria"/>
              </a:rPr>
              <a:t>36/24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5%</a:t>
            </a:r>
            <a:r>
              <a:rPr dirty="0" sz="2050" spc="7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a.m.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 lvl="2" marL="10153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◦"/>
              <a:tabLst>
                <a:tab pos="10153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29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75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3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100.000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40">
                <a:solidFill>
                  <a:srgbClr val="212121"/>
                </a:solidFill>
                <a:latin typeface="Cambria"/>
                <a:cs typeface="Cambria"/>
              </a:rPr>
              <a:t>5%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24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36.000,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  <a:p>
            <a:pPr lvl="1" marL="634365" indent="-240665">
              <a:lnSpc>
                <a:spcPct val="100000"/>
              </a:lnSpc>
              <a:spcBef>
                <a:spcPts val="107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Transformando</a:t>
            </a:r>
            <a:r>
              <a:rPr dirty="0" sz="1950" spc="-2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semestral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4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36/4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9%</a:t>
            </a:r>
            <a:r>
              <a:rPr dirty="0" sz="2050" spc="7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a.s.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 lvl="2" marL="10153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153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4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75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4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100.000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40">
                <a:solidFill>
                  <a:srgbClr val="212121"/>
                </a:solidFill>
                <a:latin typeface="Cambria"/>
                <a:cs typeface="Cambria"/>
              </a:rPr>
              <a:t>9%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4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36.000,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  <a:p>
            <a:pPr lvl="1" marL="634365" indent="-240665">
              <a:lnSpc>
                <a:spcPct val="100000"/>
              </a:lnSpc>
              <a:spcBef>
                <a:spcPts val="107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Transformando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trimestral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4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36/8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4,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5%</a:t>
            </a:r>
            <a:r>
              <a:rPr dirty="0" sz="2050" spc="6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a.b.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 lvl="2" marL="10153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◦"/>
              <a:tabLst>
                <a:tab pos="10153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75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4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100.000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4,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40">
                <a:solidFill>
                  <a:srgbClr val="212121"/>
                </a:solidFill>
                <a:latin typeface="Cambria"/>
                <a:cs typeface="Cambria"/>
              </a:rPr>
              <a:t>5%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8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36.000,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14"/>
              <a:t>Desconto</a:t>
            </a:r>
            <a:r>
              <a:rPr dirty="0" spc="-260"/>
              <a:t> </a:t>
            </a:r>
            <a:r>
              <a:rPr dirty="0" spc="-135"/>
              <a:t>comercial</a:t>
            </a:r>
            <a:r>
              <a:rPr dirty="0" spc="-254"/>
              <a:t> </a:t>
            </a:r>
            <a:r>
              <a:rPr dirty="0" spc="-45"/>
              <a:t>simples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5942" y="1985296"/>
            <a:ext cx="12131675" cy="4576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03530" marR="17780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comum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aplicação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 i="1">
                <a:solidFill>
                  <a:srgbClr val="212121"/>
                </a:solidFill>
                <a:latin typeface="Trebuchet MS"/>
                <a:cs typeface="Trebuchet MS"/>
              </a:rPr>
              <a:t>desconto</a:t>
            </a:r>
            <a:r>
              <a:rPr dirty="0" sz="1950" spc="-1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85" i="1">
                <a:solidFill>
                  <a:srgbClr val="212121"/>
                </a:solidFill>
                <a:latin typeface="Trebuchet MS"/>
                <a:cs typeface="Trebuchet MS"/>
              </a:rPr>
              <a:t>comercial</a:t>
            </a:r>
            <a:r>
              <a:rPr dirty="0" sz="1950" spc="-1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75" i="1">
                <a:solidFill>
                  <a:srgbClr val="212121"/>
                </a:solidFill>
                <a:latin typeface="Trebuchet MS"/>
                <a:cs typeface="Trebuchet MS"/>
              </a:rPr>
              <a:t>simples</a:t>
            </a:r>
            <a:r>
              <a:rPr dirty="0" sz="1950" spc="-15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(por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fora)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recebíveis,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tais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notas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promissórias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duplicatas,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conforme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7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2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2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algn="ctr" marL="802640">
              <a:lnSpc>
                <a:spcPct val="100000"/>
              </a:lnSpc>
              <a:spcBef>
                <a:spcPts val="2125"/>
              </a:spcBef>
              <a:tabLst>
                <a:tab pos="2957195" algn="l"/>
              </a:tabLst>
            </a:pPr>
            <a:r>
              <a:rPr dirty="0" sz="2050" spc="340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09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baseline="-11494" sz="2175" spc="667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1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(2)</a:t>
            </a:r>
            <a:endParaRPr sz="2050">
              <a:latin typeface="Cambria"/>
              <a:cs typeface="Cambria"/>
            </a:endParaRPr>
          </a:p>
          <a:p>
            <a:pPr marL="303530" marR="334010" indent="-240665">
              <a:lnSpc>
                <a:spcPct val="111100"/>
              </a:lnSpc>
              <a:spcBef>
                <a:spcPts val="210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duplicata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1.800,00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apresenta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resgate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antecipado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2,5%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a.m.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o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aplicado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recebimento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10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vencimento!</a:t>
            </a:r>
            <a:endParaRPr sz="1950">
              <a:latin typeface="Tahoma"/>
              <a:cs typeface="Tahoma"/>
            </a:endParaRPr>
          </a:p>
          <a:p>
            <a:pPr lvl="1" marL="6851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851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deverá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proporcional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número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dias</a:t>
            </a:r>
            <a:endParaRPr sz="1950">
              <a:latin typeface="Tahoma"/>
              <a:cs typeface="Tahoma"/>
            </a:endParaRPr>
          </a:p>
          <a:p>
            <a:pPr lvl="2" marL="1065530" indent="-240029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65530" algn="l"/>
              </a:tabLst>
            </a:pPr>
            <a:r>
              <a:rPr dirty="0" sz="2050" spc="340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09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baseline="-11494" sz="2175" spc="667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1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endParaRPr sz="2050">
              <a:latin typeface="Calibri"/>
              <a:cs typeface="Calibri"/>
            </a:endParaRPr>
          </a:p>
          <a:p>
            <a:pPr lvl="2" marL="1066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66165" algn="l"/>
              </a:tabLst>
            </a:pPr>
            <a:r>
              <a:rPr dirty="0" sz="2050" spc="33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02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baseline="-11494" sz="2175" spc="667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1.800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 2,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40">
                <a:solidFill>
                  <a:srgbClr val="212121"/>
                </a:solidFill>
                <a:latin typeface="Cambria"/>
                <a:cs typeface="Cambria"/>
              </a:rPr>
              <a:t>5%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10/30</a:t>
            </a:r>
            <a:endParaRPr sz="2050">
              <a:latin typeface="Cambria"/>
              <a:cs typeface="Cambria"/>
            </a:endParaRPr>
          </a:p>
          <a:p>
            <a:pPr lvl="2" marL="10661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◦"/>
              <a:tabLst>
                <a:tab pos="1066165" algn="l"/>
              </a:tabLst>
            </a:pPr>
            <a:r>
              <a:rPr dirty="0" sz="2050" spc="33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02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baseline="-11494" sz="2175" spc="607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45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1/3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R$</a:t>
            </a:r>
            <a:r>
              <a:rPr dirty="0" sz="2050" spc="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15,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4539615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14"/>
              <a:t>Desconto</a:t>
            </a:r>
            <a:r>
              <a:rPr dirty="0" spc="-254"/>
              <a:t> </a:t>
            </a:r>
            <a:r>
              <a:rPr dirty="0" spc="-105"/>
              <a:t>racional</a:t>
            </a:r>
            <a:r>
              <a:rPr dirty="0" spc="-254"/>
              <a:t> </a:t>
            </a:r>
            <a:r>
              <a:rPr dirty="0" spc="-50"/>
              <a:t>simples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2010410"/>
            <a:ext cx="8720455" cy="924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 i="1">
                <a:solidFill>
                  <a:srgbClr val="212121"/>
                </a:solidFill>
                <a:latin typeface="Trebuchet MS"/>
                <a:cs typeface="Trebuchet MS"/>
              </a:rPr>
              <a:t>desconto</a:t>
            </a:r>
            <a:r>
              <a:rPr dirty="0" sz="1950" spc="-1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65" i="1">
                <a:solidFill>
                  <a:srgbClr val="212121"/>
                </a:solidFill>
                <a:latin typeface="Trebuchet MS"/>
                <a:cs typeface="Trebuchet MS"/>
              </a:rPr>
              <a:t>racional</a:t>
            </a:r>
            <a:r>
              <a:rPr dirty="0" sz="1950" spc="-1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75" i="1">
                <a:solidFill>
                  <a:srgbClr val="212121"/>
                </a:solidFill>
                <a:latin typeface="Trebuchet MS"/>
                <a:cs typeface="Trebuchet MS"/>
              </a:rPr>
              <a:t>simples</a:t>
            </a:r>
            <a:r>
              <a:rPr dirty="0" sz="1950" spc="-15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(por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dentro),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também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calculado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simples: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94874" y="3484245"/>
            <a:ext cx="172212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940" sz="3075" spc="532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42145" sz="2175" spc="532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42145" sz="2175" spc="5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37940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37940" sz="3075" spc="60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13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968311" y="3306603"/>
            <a:ext cx="35687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(3)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485731" y="3131502"/>
            <a:ext cx="912494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482854" y="3515017"/>
            <a:ext cx="949325" cy="6350"/>
          </a:xfrm>
          <a:custGeom>
            <a:avLst/>
            <a:gdLst/>
            <a:ahLst/>
            <a:cxnLst/>
            <a:rect l="l" t="t" r="r" b="b"/>
            <a:pathLst>
              <a:path w="949325" h="6350">
                <a:moveTo>
                  <a:pt x="949032" y="6350"/>
                </a:moveTo>
                <a:lnTo>
                  <a:pt x="0" y="6350"/>
                </a:lnTo>
                <a:lnTo>
                  <a:pt x="0" y="0"/>
                </a:lnTo>
                <a:lnTo>
                  <a:pt x="949032" y="0"/>
                </a:lnTo>
                <a:lnTo>
                  <a:pt x="949032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81342" y="4004278"/>
            <a:ext cx="12147550" cy="28155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278130" marR="30480" indent="-240665">
              <a:lnSpc>
                <a:spcPct val="111600"/>
              </a:lnSpc>
              <a:spcBef>
                <a:spcPts val="130"/>
              </a:spcBef>
              <a:buFont typeface="Lucida Sans Unicode"/>
              <a:buChar char="•"/>
              <a:tabLst>
                <a:tab pos="279400" algn="l"/>
              </a:tabLst>
            </a:pPr>
            <a:r>
              <a:rPr dirty="0" sz="1950" spc="-140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empresa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tem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obrigações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(notas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promissórias)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">
                <a:solidFill>
                  <a:srgbClr val="212121"/>
                </a:solidFill>
                <a:latin typeface="Tahoma"/>
                <a:cs typeface="Tahoma"/>
              </a:rPr>
              <a:t>totalizam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154.500,00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serem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pagas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num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prazo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4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meses.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Caso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opte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5">
                <a:solidFill>
                  <a:srgbClr val="212121"/>
                </a:solidFill>
                <a:latin typeface="Tahoma"/>
                <a:cs typeface="Tahoma"/>
              </a:rPr>
              <a:t>pelo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pagamento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antecipado,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ela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tem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direito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 i="1">
                <a:solidFill>
                  <a:srgbClr val="212121"/>
                </a:solidFill>
                <a:latin typeface="Trebuchet MS"/>
                <a:cs typeface="Trebuchet MS"/>
              </a:rPr>
              <a:t>desconto</a:t>
            </a:r>
            <a:r>
              <a:rPr dirty="0" sz="1950" spc="-2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60" i="1">
                <a:solidFill>
                  <a:srgbClr val="212121"/>
                </a:solidFill>
                <a:latin typeface="Trebuchet MS"/>
                <a:cs typeface="Trebuchet MS"/>
              </a:rPr>
              <a:t>racional</a:t>
            </a:r>
            <a:r>
              <a:rPr dirty="0" sz="1950" spc="-19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9%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a.a.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1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1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pagamento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antecipado!</a:t>
            </a:r>
            <a:endParaRPr sz="1950">
              <a:latin typeface="Tahoma"/>
              <a:cs typeface="Tahoma"/>
            </a:endParaRPr>
          </a:p>
          <a:p>
            <a:pPr algn="just" lvl="1" marL="6597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597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racional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dentro,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seja:</a:t>
            </a:r>
            <a:endParaRPr sz="1950">
              <a:latin typeface="Tahoma"/>
              <a:cs typeface="Tahoma"/>
            </a:endParaRPr>
          </a:p>
          <a:p>
            <a:pPr lvl="2" marL="10407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40765" algn="l"/>
              </a:tabLst>
            </a:pPr>
            <a:r>
              <a:rPr dirty="0" sz="2050" spc="35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32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-11494" sz="2175" spc="53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-2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/(1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-2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154.500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9%/12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4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/(1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9,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0%/12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4)</a:t>
            </a:r>
            <a:endParaRPr sz="2050">
              <a:latin typeface="Cambria"/>
              <a:cs typeface="Cambria"/>
            </a:endParaRPr>
          </a:p>
          <a:p>
            <a:pPr lvl="2" marL="10407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◦"/>
              <a:tabLst>
                <a:tab pos="1040765" algn="l"/>
              </a:tabLst>
            </a:pPr>
            <a:r>
              <a:rPr dirty="0" sz="2050" spc="35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32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-11494" sz="2175" spc="569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154.500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 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75%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4/(1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25">
                <a:solidFill>
                  <a:srgbClr val="212121"/>
                </a:solidFill>
                <a:latin typeface="Cambria"/>
                <a:cs typeface="Cambria"/>
              </a:rPr>
              <a:t>75%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4)</a:t>
            </a:r>
            <a:endParaRPr sz="2050">
              <a:latin typeface="Cambria"/>
              <a:cs typeface="Cambria"/>
            </a:endParaRPr>
          </a:p>
          <a:p>
            <a:pPr lvl="2" marL="10407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40765" algn="l"/>
              </a:tabLst>
            </a:pPr>
            <a:r>
              <a:rPr dirty="0" sz="2050" spc="35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32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-11494" sz="2175" spc="547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154.500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03/1,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03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4.500,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14"/>
              <a:t>Desconto</a:t>
            </a:r>
            <a:r>
              <a:rPr dirty="0" spc="-260"/>
              <a:t> </a:t>
            </a:r>
            <a:r>
              <a:rPr dirty="0" spc="-135"/>
              <a:t>comercial</a:t>
            </a:r>
            <a:r>
              <a:rPr dirty="0" spc="-260"/>
              <a:t> </a:t>
            </a:r>
            <a:r>
              <a:rPr dirty="0" spc="-145"/>
              <a:t>vs.</a:t>
            </a:r>
            <a:r>
              <a:rPr dirty="0" spc="-260"/>
              <a:t> </a:t>
            </a:r>
            <a:r>
              <a:rPr dirty="0" spc="-114"/>
              <a:t>desconto</a:t>
            </a:r>
            <a:r>
              <a:rPr dirty="0" spc="-260"/>
              <a:t> </a:t>
            </a:r>
            <a:r>
              <a:rPr dirty="0" spc="-105"/>
              <a:t>racional</a:t>
            </a:r>
            <a:r>
              <a:rPr dirty="0" spc="-260"/>
              <a:t> </a:t>
            </a:r>
            <a:r>
              <a:rPr dirty="0" spc="-25"/>
              <a:t>simples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5942" y="2010410"/>
            <a:ext cx="12252325" cy="46856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041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304165" algn="l"/>
                <a:tab pos="61588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comercial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 i="1">
                <a:solidFill>
                  <a:srgbClr val="212121"/>
                </a:solidFill>
                <a:latin typeface="Trebuchet MS"/>
                <a:cs typeface="Trebuchet MS"/>
              </a:rPr>
              <a:t>por</a:t>
            </a:r>
            <a:r>
              <a:rPr dirty="0" sz="1950" spc="-18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20" i="1">
                <a:solidFill>
                  <a:srgbClr val="212121"/>
                </a:solidFill>
                <a:latin typeface="Trebuchet MS"/>
                <a:cs typeface="Trebuchet MS"/>
              </a:rPr>
              <a:t>fora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Lucida Sans Unicode"/>
                <a:cs typeface="Lucida Sans Unicode"/>
              </a:rPr>
              <a:t>•</a:t>
            </a:r>
            <a:r>
              <a:rPr dirty="0" sz="1950" spc="185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racional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 i="1">
                <a:solidFill>
                  <a:srgbClr val="212121"/>
                </a:solidFill>
                <a:latin typeface="Trebuchet MS"/>
                <a:cs typeface="Trebuchet MS"/>
              </a:rPr>
              <a:t>por</a:t>
            </a:r>
            <a:r>
              <a:rPr dirty="0" sz="1950" spc="-204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10" i="1">
                <a:solidFill>
                  <a:srgbClr val="212121"/>
                </a:solidFill>
                <a:latin typeface="Trebuchet MS"/>
                <a:cs typeface="Trebuchet MS"/>
              </a:rPr>
              <a:t>dentro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  <a:tabLst>
                <a:tab pos="6539865" algn="l"/>
              </a:tabLst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r>
              <a:rPr dirty="0" sz="1950">
                <a:solidFill>
                  <a:srgbClr val="212121"/>
                </a:solidFill>
                <a:latin typeface="Lucida Sans Unicode"/>
                <a:cs typeface="Lucida Sans Unicode"/>
              </a:rPr>
              <a:t>	</a:t>
            </a: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marL="1365885">
              <a:lnSpc>
                <a:spcPct val="100000"/>
              </a:lnSpc>
              <a:spcBef>
                <a:spcPts val="2130"/>
              </a:spcBef>
              <a:tabLst>
                <a:tab pos="6883400" algn="l"/>
              </a:tabLst>
            </a:pPr>
            <a:r>
              <a:rPr dirty="0" sz="2050" spc="340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09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baseline="-11494" sz="2175" spc="667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1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dirty="0" sz="2050" spc="35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32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-11494" sz="2175" spc="547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13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-2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/(1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-2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endParaRPr sz="20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2050">
              <a:latin typeface="Cambria"/>
              <a:cs typeface="Cambria"/>
            </a:endParaRPr>
          </a:p>
          <a:p>
            <a:pPr marL="304165" indent="-240665">
              <a:lnSpc>
                <a:spcPct val="100000"/>
              </a:lnSpc>
              <a:buFont typeface="Lucida Sans Unicode"/>
              <a:buChar char="•"/>
              <a:tabLst>
                <a:tab pos="3041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comercial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será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maior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irá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representar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maior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efetivamente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pago:</a:t>
            </a:r>
            <a:endParaRPr sz="195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  <a:spcBef>
                <a:spcPts val="1285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algn="ctr" marL="678815">
              <a:lnSpc>
                <a:spcPct val="100000"/>
              </a:lnSpc>
              <a:spcBef>
                <a:spcPts val="2125"/>
              </a:spcBef>
              <a:tabLst>
                <a:tab pos="3208020" algn="l"/>
              </a:tabLst>
            </a:pPr>
            <a:r>
              <a:rPr dirty="0" sz="2050" spc="33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02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baseline="-11494" sz="2175" spc="62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55" i="1">
                <a:solidFill>
                  <a:srgbClr val="212121"/>
                </a:solidFill>
                <a:latin typeface="Calibri"/>
                <a:cs typeface="Calibri"/>
              </a:rPr>
              <a:t>D</a:t>
            </a:r>
            <a:r>
              <a:rPr dirty="0" baseline="-11494" sz="2175" spc="532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-11494" sz="2175" spc="-26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04" i="1">
                <a:solidFill>
                  <a:srgbClr val="212121"/>
                </a:solidFill>
                <a:latin typeface="Calibri"/>
                <a:cs typeface="Calibri"/>
              </a:rPr>
              <a:t>iT</a:t>
            </a:r>
            <a:r>
              <a:rPr dirty="0" sz="2050" spc="-2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(4)</a:t>
            </a:r>
            <a:endParaRPr sz="2050">
              <a:latin typeface="Cambria"/>
              <a:cs typeface="Cambria"/>
            </a:endParaRPr>
          </a:p>
          <a:p>
            <a:pPr marL="303530" marR="43180" indent="-240665">
              <a:lnSpc>
                <a:spcPct val="110000"/>
              </a:lnSpc>
              <a:spcBef>
                <a:spcPts val="197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comercial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só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deve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utilizado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curtos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períodos.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periodos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muito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longos,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comercial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maior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título.</a:t>
            </a:r>
            <a:endParaRPr sz="1950">
              <a:latin typeface="Tahoma"/>
              <a:cs typeface="Tahoma"/>
            </a:endParaRPr>
          </a:p>
          <a:p>
            <a:pPr marL="304165" indent="-240665">
              <a:lnSpc>
                <a:spcPct val="100000"/>
              </a:lnSpc>
              <a:spcBef>
                <a:spcPts val="1030"/>
              </a:spcBef>
              <a:buFont typeface="Lucida Sans Unicode"/>
              <a:buChar char="•"/>
              <a:tabLst>
                <a:tab pos="3041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racional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complexo,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porém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preciso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grandes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tempo.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5"/>
              <a:t>Juros</a:t>
            </a:r>
            <a:r>
              <a:rPr dirty="0" spc="-275"/>
              <a:t> </a:t>
            </a:r>
            <a:r>
              <a:rPr dirty="0" spc="-55"/>
              <a:t>Compostos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5942" y="1865756"/>
            <a:ext cx="12063730" cy="465264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304165" indent="-240665">
              <a:lnSpc>
                <a:spcPct val="100000"/>
              </a:lnSpc>
              <a:spcBef>
                <a:spcPts val="1120"/>
              </a:spcBef>
              <a:buFont typeface="Lucida Sans Unicode"/>
              <a:buChar char="•"/>
              <a:tabLst>
                <a:tab pos="304165" algn="l"/>
              </a:tabLst>
            </a:pP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compostos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também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comuns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análise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investimentos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financiamentos</a:t>
            </a:r>
            <a:endParaRPr sz="1950">
              <a:latin typeface="Tahoma"/>
              <a:cs typeface="Tahoma"/>
            </a:endParaRPr>
          </a:p>
          <a:p>
            <a:pPr marL="303530" marR="17780" indent="-240665">
              <a:lnSpc>
                <a:spcPct val="110000"/>
              </a:lnSpc>
              <a:spcBef>
                <a:spcPts val="79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Estes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incidem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apenas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sobre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capital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inicial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investido,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mas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também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sobre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auferidos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cada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período,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conforme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6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2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5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algn="ctr" marL="862330">
              <a:lnSpc>
                <a:spcPct val="100000"/>
              </a:lnSpc>
              <a:spcBef>
                <a:spcPts val="2125"/>
              </a:spcBef>
              <a:tabLst>
                <a:tab pos="354393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30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[(1</a:t>
            </a:r>
            <a:r>
              <a:rPr dirty="0" sz="2050" spc="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1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 spc="165" i="1">
                <a:solidFill>
                  <a:srgbClr val="212121"/>
                </a:solidFill>
                <a:latin typeface="Calibri"/>
                <a:cs typeface="Calibri"/>
              </a:rPr>
              <a:t>n</a:t>
            </a:r>
            <a:r>
              <a:rPr dirty="0" baseline="32567" sz="2175" spc="46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1]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(5)</a:t>
            </a:r>
            <a:endParaRPr sz="2050">
              <a:latin typeface="Cambria"/>
              <a:cs typeface="Cambria"/>
            </a:endParaRPr>
          </a:p>
          <a:p>
            <a:pPr marL="303530" marR="669290" indent="-240665">
              <a:lnSpc>
                <a:spcPct val="111100"/>
              </a:lnSpc>
              <a:spcBef>
                <a:spcPts val="195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teria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direito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incorporadora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remunerasse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juros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composta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1,5%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a.m.:</a:t>
            </a:r>
            <a:endParaRPr sz="1950">
              <a:latin typeface="Tahoma"/>
              <a:cs typeface="Tahoma"/>
            </a:endParaRPr>
          </a:p>
          <a:p>
            <a:pPr lvl="1" marL="685165" indent="-240665">
              <a:lnSpc>
                <a:spcPct val="100000"/>
              </a:lnSpc>
              <a:spcBef>
                <a:spcPts val="118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100.000,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00[(1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5%)</a:t>
            </a:r>
            <a:r>
              <a:rPr dirty="0" baseline="28735" sz="2175" spc="-75">
                <a:solidFill>
                  <a:srgbClr val="212121"/>
                </a:solidFill>
                <a:latin typeface="Cambria"/>
                <a:cs typeface="Cambria"/>
              </a:rPr>
              <a:t>24</a:t>
            </a:r>
            <a:r>
              <a:rPr dirty="0" baseline="28735" sz="2175" spc="41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1]</a:t>
            </a:r>
            <a:endParaRPr sz="2050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100.000,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4295</a:t>
            </a:r>
            <a:endParaRPr sz="2050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480" i="1">
                <a:solidFill>
                  <a:srgbClr val="212121"/>
                </a:solidFill>
                <a:latin typeface="Calibri"/>
                <a:cs typeface="Calibri"/>
              </a:rPr>
              <a:t>J</a:t>
            </a:r>
            <a:r>
              <a:rPr dirty="0" sz="2050" spc="28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42.950,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2157095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50"/>
              <a:t>Valor</a:t>
            </a:r>
            <a:r>
              <a:rPr dirty="0" spc="-270"/>
              <a:t> </a:t>
            </a:r>
            <a:r>
              <a:rPr dirty="0" spc="-130"/>
              <a:t>Futuro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5942" y="1983486"/>
            <a:ext cx="12218035" cy="459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3530" marR="328295" indent="-240665">
              <a:lnSpc>
                <a:spcPct val="105700"/>
              </a:lnSpc>
              <a:spcBef>
                <a:spcPts val="10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Futuro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2050" spc="-75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sz="2050" spc="-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365" i="1">
                <a:solidFill>
                  <a:srgbClr val="212121"/>
                </a:solidFill>
                <a:latin typeface="Calibri"/>
                <a:cs typeface="Calibri"/>
              </a:rPr>
              <a:t>F</a:t>
            </a:r>
            <a:r>
              <a:rPr dirty="0" sz="2050" spc="-20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),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Montante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),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investimento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compostos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após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6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períodos,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composta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conforme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2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6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  <a:spcBef>
                <a:spcPts val="5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algn="ctr" marL="716915">
              <a:lnSpc>
                <a:spcPct val="100000"/>
              </a:lnSpc>
              <a:spcBef>
                <a:spcPts val="2165"/>
              </a:spcBef>
              <a:tabLst>
                <a:tab pos="293560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14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9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 spc="135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baseline="32567" sz="2175" i="1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(6)</a:t>
            </a:r>
            <a:endParaRPr sz="2050">
              <a:latin typeface="Cambria"/>
              <a:cs typeface="Cambria"/>
            </a:endParaRPr>
          </a:p>
          <a:p>
            <a:pPr marL="303530" marR="55880" indent="-240665">
              <a:lnSpc>
                <a:spcPct val="111100"/>
              </a:lnSpc>
              <a:spcBef>
                <a:spcPts val="210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investir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caderneta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poupança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montante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10.000,00,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saldo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após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1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ano, 	considerando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remuneração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caderneta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0,5%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a.m.</a:t>
            </a:r>
            <a:endParaRPr sz="1950">
              <a:latin typeface="Tahoma"/>
              <a:cs typeface="Tahoma"/>
            </a:endParaRPr>
          </a:p>
          <a:p>
            <a:pPr lvl="1" marL="6851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14" i="1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9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135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endParaRPr baseline="28735" sz="2175">
              <a:latin typeface="Calibri"/>
              <a:cs typeface="Calibri"/>
            </a:endParaRPr>
          </a:p>
          <a:p>
            <a:pPr lvl="1" marL="6851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54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10.000(1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5%)</a:t>
            </a:r>
            <a:r>
              <a:rPr dirty="0" baseline="28735" sz="2175" spc="-15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endParaRPr baseline="28735" sz="2175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6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0">
                <a:solidFill>
                  <a:srgbClr val="212121"/>
                </a:solidFill>
                <a:latin typeface="Cambria"/>
                <a:cs typeface="Cambria"/>
              </a:rPr>
              <a:t>10.000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 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061678</a:t>
            </a:r>
            <a:endParaRPr sz="2050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9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10.616,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78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5"/>
              <a:t>Juros</a:t>
            </a:r>
            <a:r>
              <a:rPr dirty="0" spc="-280"/>
              <a:t> </a:t>
            </a:r>
            <a:r>
              <a:rPr dirty="0" spc="-70"/>
              <a:t>Simples</a:t>
            </a:r>
            <a:r>
              <a:rPr dirty="0" spc="-275"/>
              <a:t> </a:t>
            </a:r>
            <a:r>
              <a:rPr dirty="0" spc="-145"/>
              <a:t>vs.</a:t>
            </a:r>
            <a:r>
              <a:rPr dirty="0" spc="-275"/>
              <a:t> </a:t>
            </a:r>
            <a:r>
              <a:rPr dirty="0" spc="-105"/>
              <a:t>Juros</a:t>
            </a:r>
            <a:r>
              <a:rPr dirty="0" spc="-275"/>
              <a:t> </a:t>
            </a:r>
            <a:r>
              <a:rPr dirty="0" spc="-40"/>
              <a:t>Compostos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4042" y="1985296"/>
            <a:ext cx="12058015" cy="1863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5430" marR="17780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266700" algn="l"/>
                <a:tab pos="6362700" algn="l"/>
              </a:tabLst>
            </a:pP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simples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incidem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sobre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Lucida Sans Unicode"/>
                <a:cs typeface="Lucida Sans Unicode"/>
              </a:rPr>
              <a:t>•</a:t>
            </a:r>
            <a:r>
              <a:rPr dirty="0" sz="1950" spc="21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compostos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incidem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sobre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período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anterior,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então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simplesmente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multiplicados: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anterior,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então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deve-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utilizar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lei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potência: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ahoma"/>
              <a:cs typeface="Tahoma"/>
            </a:endParaRPr>
          </a:p>
          <a:p>
            <a:pPr marL="406400">
              <a:lnSpc>
                <a:spcPct val="100000"/>
              </a:lnSpc>
              <a:tabLst>
                <a:tab pos="6501765" algn="l"/>
              </a:tabLst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r>
              <a:rPr dirty="0" sz="1950">
                <a:solidFill>
                  <a:srgbClr val="212121"/>
                </a:solidFill>
                <a:latin typeface="Lucida Sans Unicode"/>
                <a:cs typeface="Lucida Sans Unicode"/>
              </a:rPr>
              <a:t>	</a:t>
            </a: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marL="2287905">
              <a:lnSpc>
                <a:spcPct val="100000"/>
              </a:lnSpc>
              <a:spcBef>
                <a:spcPts val="2170"/>
              </a:spcBef>
              <a:tabLst>
                <a:tab pos="8399145" algn="l"/>
              </a:tabLst>
            </a:pPr>
            <a:r>
              <a:rPr dirty="0" baseline="1355" sz="3075" spc="382">
                <a:solidFill>
                  <a:srgbClr val="212121"/>
                </a:solidFill>
                <a:latin typeface="Cambria"/>
                <a:cs typeface="Cambria"/>
              </a:rPr>
              <a:t>VF</a:t>
            </a:r>
            <a:r>
              <a:rPr dirty="0" baseline="1355" sz="3075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1355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1355" sz="3075" spc="1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1355" sz="3075" spc="375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baseline="1355" sz="3075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1355" sz="3075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baseline="1355" sz="3075" spc="-15">
                <a:solidFill>
                  <a:srgbClr val="212121"/>
                </a:solidFill>
                <a:latin typeface="Cambria"/>
                <a:cs typeface="Cambria"/>
              </a:rPr>
              <a:t> (1</a:t>
            </a:r>
            <a:r>
              <a:rPr dirty="0" baseline="1355" sz="3075" spc="-2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1355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1355" sz="3075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1355" sz="3075" spc="307" i="1">
                <a:solidFill>
                  <a:srgbClr val="212121"/>
                </a:solidFill>
                <a:latin typeface="Calibri"/>
                <a:cs typeface="Calibri"/>
              </a:rPr>
              <a:t>iT</a:t>
            </a:r>
            <a:r>
              <a:rPr dirty="0" baseline="1355" sz="3075" spc="-33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1355" sz="3075" spc="-75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1355" sz="3075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254">
                <a:solidFill>
                  <a:srgbClr val="212121"/>
                </a:solidFill>
                <a:latin typeface="Cambria"/>
                <a:cs typeface="Cambria"/>
              </a:rPr>
              <a:t>VF</a:t>
            </a:r>
            <a:r>
              <a:rPr dirty="0" sz="2050" spc="9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9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 spc="135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endParaRPr baseline="32567" sz="217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60"/>
              <a:t>Taxas</a:t>
            </a:r>
            <a:r>
              <a:rPr dirty="0" spc="-260"/>
              <a:t> </a:t>
            </a:r>
            <a:r>
              <a:rPr dirty="0" spc="-75"/>
              <a:t>nominais</a:t>
            </a:r>
            <a:r>
              <a:rPr dirty="0" spc="-260"/>
              <a:t> </a:t>
            </a:r>
            <a:r>
              <a:rPr dirty="0" spc="-145"/>
              <a:t>vs.</a:t>
            </a:r>
            <a:r>
              <a:rPr dirty="0" spc="-260"/>
              <a:t> </a:t>
            </a:r>
            <a:r>
              <a:rPr dirty="0" spc="-160"/>
              <a:t>Taxas</a:t>
            </a:r>
            <a:r>
              <a:rPr dirty="0" spc="-260"/>
              <a:t> </a:t>
            </a:r>
            <a:r>
              <a:rPr dirty="0" spc="-110"/>
              <a:t>efetivas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4042" y="1865756"/>
            <a:ext cx="10330815" cy="224091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266065" indent="-240665">
              <a:lnSpc>
                <a:spcPct val="100000"/>
              </a:lnSpc>
              <a:spcBef>
                <a:spcPts val="1120"/>
              </a:spcBef>
              <a:buFont typeface="Lucida Sans Unicode"/>
              <a:buChar char="•"/>
              <a:tabLst>
                <a:tab pos="266065" algn="l"/>
              </a:tabLst>
            </a:pP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Quanto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trabalhando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compostos,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importante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conhecer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capitalização.</a:t>
            </a:r>
            <a:endParaRPr sz="1950">
              <a:latin typeface="Tahoma"/>
              <a:cs typeface="Tahoma"/>
            </a:endParaRPr>
          </a:p>
          <a:p>
            <a:pPr marL="266065" indent="-240665">
              <a:lnSpc>
                <a:spcPct val="100000"/>
              </a:lnSpc>
              <a:spcBef>
                <a:spcPts val="1025"/>
              </a:spcBef>
              <a:buFont typeface="Lucida Sans Unicode"/>
              <a:buChar char="•"/>
              <a:tabLst>
                <a:tab pos="2660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exemplo:</a:t>
            </a:r>
            <a:endParaRPr sz="1950">
              <a:latin typeface="Tahoma"/>
              <a:cs typeface="Tahoma"/>
            </a:endParaRPr>
          </a:p>
          <a:p>
            <a:pPr lvl="1" marL="647065" indent="-240665">
              <a:lnSpc>
                <a:spcPct val="100000"/>
              </a:lnSpc>
              <a:spcBef>
                <a:spcPts val="1285"/>
              </a:spcBef>
              <a:buFont typeface="Lucida Sans Unicode"/>
              <a:buChar char="▪"/>
              <a:tabLst>
                <a:tab pos="647065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(nominal)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12%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capilizada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mensalmente,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qual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juro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efetivo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anual?</a:t>
            </a:r>
            <a:endParaRPr sz="1950">
              <a:latin typeface="Tahoma"/>
              <a:cs typeface="Tahoma"/>
            </a:endParaRPr>
          </a:p>
          <a:p>
            <a:pPr lvl="2" marL="10280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spc="15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232" i="1">
                <a:solidFill>
                  <a:srgbClr val="212121"/>
                </a:solidFill>
                <a:latin typeface="Calibri"/>
                <a:cs typeface="Calibri"/>
              </a:rPr>
              <a:t>ef</a:t>
            </a:r>
            <a:r>
              <a:rPr dirty="0" baseline="-11494" sz="2175" spc="65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9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142" i="1">
                <a:solidFill>
                  <a:srgbClr val="212121"/>
                </a:solidFill>
                <a:latin typeface="Calibri"/>
                <a:cs typeface="Calibri"/>
              </a:rPr>
              <a:t>nom</a:t>
            </a:r>
            <a:r>
              <a:rPr dirty="0" baseline="-11494" sz="2175" spc="-26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/</a:t>
            </a:r>
            <a:r>
              <a:rPr dirty="0" sz="2050" spc="105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31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12%/12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1%</a:t>
            </a:r>
            <a:r>
              <a:rPr dirty="0" sz="2050" spc="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50">
                <a:solidFill>
                  <a:srgbClr val="212121"/>
                </a:solidFill>
                <a:latin typeface="Cambria"/>
                <a:cs typeface="Cambria"/>
              </a:rPr>
              <a:t>a.m.</a:t>
            </a:r>
            <a:endParaRPr sz="2050">
              <a:latin typeface="Cambria"/>
              <a:cs typeface="Cambria"/>
            </a:endParaRPr>
          </a:p>
          <a:p>
            <a:pPr lvl="2" marL="1028065" indent="-240665">
              <a:lnSpc>
                <a:spcPct val="100000"/>
              </a:lnSpc>
              <a:spcBef>
                <a:spcPts val="1100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spc="15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232" i="1">
                <a:solidFill>
                  <a:srgbClr val="212121"/>
                </a:solidFill>
                <a:latin typeface="Calibri"/>
                <a:cs typeface="Calibri"/>
              </a:rPr>
              <a:t>ef</a:t>
            </a:r>
            <a:r>
              <a:rPr dirty="0" baseline="-11494" sz="2175" spc="5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1%)</a:t>
            </a:r>
            <a:r>
              <a:rPr dirty="0" baseline="28735" sz="2175" spc="-75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r>
              <a:rPr dirty="0" baseline="28735" sz="2175" spc="36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7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12,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20">
                <a:solidFill>
                  <a:srgbClr val="212121"/>
                </a:solidFill>
                <a:latin typeface="Cambria"/>
                <a:cs typeface="Cambria"/>
              </a:rPr>
              <a:t>6825%</a:t>
            </a:r>
            <a:r>
              <a:rPr dirty="0" sz="205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a.a.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60"/>
              <a:t>Taxas</a:t>
            </a:r>
            <a:r>
              <a:rPr dirty="0" spc="-275"/>
              <a:t> </a:t>
            </a:r>
            <a:r>
              <a:rPr dirty="0" spc="-135"/>
              <a:t>de</a:t>
            </a:r>
            <a:r>
              <a:rPr dirty="0" spc="-275"/>
              <a:t> </a:t>
            </a:r>
            <a:r>
              <a:rPr dirty="0" spc="-150"/>
              <a:t>juros</a:t>
            </a:r>
            <a:r>
              <a:rPr dirty="0" spc="-275"/>
              <a:t> </a:t>
            </a:r>
            <a:r>
              <a:rPr dirty="0" spc="-105"/>
              <a:t>equivalentes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4042" y="1966404"/>
            <a:ext cx="12033250" cy="41167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5430" marR="17780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266700" algn="l"/>
              </a:tabLst>
            </a:pP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Duas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expressas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diferentes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equivalentes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quando,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aplicadas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mesmo</a:t>
            </a:r>
            <a:r>
              <a:rPr dirty="0" sz="1950" spc="-1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capital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um 	mesmo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intervalo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tempo,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produzem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mesmo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montante.</a:t>
            </a:r>
            <a:endParaRPr sz="1950">
              <a:latin typeface="Tahoma"/>
              <a:cs typeface="Tahoma"/>
            </a:endParaRPr>
          </a:p>
          <a:p>
            <a:pPr marL="265430" marR="219075" indent="-240665">
              <a:lnSpc>
                <a:spcPct val="110000"/>
              </a:lnSpc>
              <a:spcBef>
                <a:spcPts val="795"/>
              </a:spcBef>
              <a:buFont typeface="Lucida Sans Unicode"/>
              <a:buChar char="•"/>
              <a:tabLst>
                <a:tab pos="266700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anual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transformada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semestral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mensal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(ou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bimestral,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trimestral,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etc.)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ainda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dia,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útil,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maneira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conveniente.</a:t>
            </a:r>
            <a:endParaRPr sz="1950">
              <a:latin typeface="Tahoma"/>
              <a:cs typeface="Tahoma"/>
            </a:endParaRPr>
          </a:p>
          <a:p>
            <a:pPr marL="266065" indent="-240665">
              <a:lnSpc>
                <a:spcPct val="100000"/>
              </a:lnSpc>
              <a:spcBef>
                <a:spcPts val="1025"/>
              </a:spcBef>
              <a:buFont typeface="Lucida Sans Unicode"/>
              <a:buChar char="•"/>
              <a:tabLst>
                <a:tab pos="266065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caderneta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poupança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remunera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0,50%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a.m.,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acrescida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Referencial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(TR):</a:t>
            </a:r>
            <a:endParaRPr sz="1950">
              <a:latin typeface="Tahoma"/>
              <a:cs typeface="Tahoma"/>
            </a:endParaRPr>
          </a:p>
          <a:p>
            <a:pPr lvl="1" marL="647065" indent="-240665">
              <a:lnSpc>
                <a:spcPct val="100000"/>
              </a:lnSpc>
              <a:spcBef>
                <a:spcPts val="1210"/>
              </a:spcBef>
              <a:buSzPct val="95121"/>
              <a:buFont typeface="Lucida Sans Unicode"/>
              <a:buChar char="▪"/>
              <a:tabLst>
                <a:tab pos="6470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5%</a:t>
            </a:r>
            <a:r>
              <a:rPr dirty="0" sz="2050" spc="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70">
                <a:solidFill>
                  <a:srgbClr val="212121"/>
                </a:solidFill>
                <a:latin typeface="Cambria"/>
                <a:cs typeface="Cambria"/>
              </a:rPr>
              <a:t>a.m.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10">
                <a:solidFill>
                  <a:srgbClr val="212121"/>
                </a:solidFill>
                <a:latin typeface="Cambria"/>
                <a:cs typeface="Cambria"/>
              </a:rPr>
              <a:t>TR</a:t>
            </a:r>
            <a:endParaRPr sz="2050">
              <a:latin typeface="Cambria"/>
              <a:cs typeface="Cambria"/>
            </a:endParaRPr>
          </a:p>
          <a:p>
            <a:pPr lvl="1" marL="647065" indent="-240665">
              <a:lnSpc>
                <a:spcPct val="100000"/>
              </a:lnSpc>
              <a:spcBef>
                <a:spcPts val="1165"/>
              </a:spcBef>
              <a:buFont typeface="Lucida Sans Unicode"/>
              <a:buChar char="▪"/>
              <a:tabLst>
                <a:tab pos="6470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Qual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equivalente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anual,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trimestral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diária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poupança?</a:t>
            </a:r>
            <a:endParaRPr sz="1950">
              <a:latin typeface="Tahoma"/>
              <a:cs typeface="Tahoma"/>
            </a:endParaRPr>
          </a:p>
          <a:p>
            <a:pPr lvl="2" marL="10280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5%)</a:t>
            </a:r>
            <a:r>
              <a:rPr dirty="0" baseline="28735" sz="2175" spc="-75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r>
              <a:rPr dirty="0" baseline="28735" sz="2175" spc="36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6,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17%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a.a.</a:t>
            </a:r>
            <a:endParaRPr sz="2050">
              <a:latin typeface="Cambria"/>
              <a:cs typeface="Cambria"/>
            </a:endParaRPr>
          </a:p>
          <a:p>
            <a:pPr lvl="2" marL="10280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0">
                <a:solidFill>
                  <a:srgbClr val="212121"/>
                </a:solidFill>
                <a:latin typeface="Cambria"/>
                <a:cs typeface="Cambria"/>
              </a:rPr>
              <a:t>5%)</a:t>
            </a:r>
            <a:r>
              <a:rPr dirty="0" baseline="28735" sz="2175" spc="-60">
                <a:solidFill>
                  <a:srgbClr val="212121"/>
                </a:solidFill>
                <a:latin typeface="Cambria"/>
                <a:cs typeface="Cambria"/>
              </a:rPr>
              <a:t>4</a:t>
            </a:r>
            <a:r>
              <a:rPr dirty="0" baseline="28735" sz="2175" spc="36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2,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20">
                <a:solidFill>
                  <a:srgbClr val="212121"/>
                </a:solidFill>
                <a:latin typeface="Cambria"/>
                <a:cs typeface="Cambria"/>
              </a:rPr>
              <a:t>015%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a.t.</a:t>
            </a:r>
            <a:endParaRPr sz="2050">
              <a:latin typeface="Cambria"/>
              <a:cs typeface="Cambria"/>
            </a:endParaRPr>
          </a:p>
          <a:p>
            <a:pPr lvl="2" marL="10280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5%)</a:t>
            </a:r>
            <a:r>
              <a:rPr dirty="0" baseline="28735" sz="2175" spc="-75">
                <a:solidFill>
                  <a:srgbClr val="212121"/>
                </a:solidFill>
                <a:latin typeface="Cambria"/>
                <a:cs typeface="Cambria"/>
              </a:rPr>
              <a:t>1/30</a:t>
            </a:r>
            <a:r>
              <a:rPr dirty="0" baseline="28735" sz="2175" spc="3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20">
                <a:solidFill>
                  <a:srgbClr val="212121"/>
                </a:solidFill>
                <a:latin typeface="Cambria"/>
                <a:cs typeface="Cambria"/>
              </a:rPr>
              <a:t>0166%</a:t>
            </a:r>
            <a:r>
              <a:rPr dirty="0" sz="205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50">
                <a:solidFill>
                  <a:srgbClr val="212121"/>
                </a:solidFill>
                <a:latin typeface="Cambria"/>
                <a:cs typeface="Cambria"/>
              </a:rPr>
              <a:t>a.d.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3037205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95"/>
              <a:t>Taxa</a:t>
            </a:r>
            <a:r>
              <a:rPr dirty="0" spc="-285"/>
              <a:t> </a:t>
            </a:r>
            <a:r>
              <a:rPr dirty="0" spc="-135"/>
              <a:t>de</a:t>
            </a:r>
            <a:r>
              <a:rPr dirty="0" spc="-280"/>
              <a:t> </a:t>
            </a:r>
            <a:r>
              <a:rPr dirty="0" spc="-150"/>
              <a:t>juros</a:t>
            </a:r>
            <a:r>
              <a:rPr dirty="0" spc="-280"/>
              <a:t> </a:t>
            </a:r>
            <a:r>
              <a:rPr dirty="0" spc="-100"/>
              <a:t>real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1342" y="1976685"/>
            <a:ext cx="11767820" cy="128714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78130" marR="30480" indent="-240665">
              <a:lnSpc>
                <a:spcPct val="109200"/>
              </a:lnSpc>
              <a:spcBef>
                <a:spcPts val="70"/>
              </a:spcBef>
              <a:buFont typeface="Lucida Sans Unicode"/>
              <a:buChar char="•"/>
              <a:tabLst>
                <a:tab pos="279400" algn="l"/>
              </a:tabLst>
            </a:pP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real,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18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277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-11494" sz="2175" spc="-15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105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igual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à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nominal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(ou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aparente),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1950" spc="7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descontada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inflação,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75">
                <a:solidFill>
                  <a:srgbClr val="212121"/>
                </a:solidFill>
                <a:latin typeface="Cambria"/>
                <a:cs typeface="Cambria"/>
              </a:rPr>
              <a:t>inf</a:t>
            </a:r>
            <a:r>
              <a:rPr dirty="0" baseline="-11494" sz="2175" spc="-18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950" spc="-105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seguinta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maneira</a:t>
            </a:r>
            <a:r>
              <a:rPr dirty="0" sz="1950" spc="-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3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Machline</a:t>
            </a:r>
            <a:r>
              <a:rPr dirty="0" sz="1950" spc="-16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9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1966,</a:t>
            </a:r>
            <a:r>
              <a:rPr dirty="0" sz="1950" spc="-16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1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60–60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ahoma"/>
              <a:cs typeface="Tahoma"/>
            </a:endParaRPr>
          </a:p>
          <a:p>
            <a:pPr marL="4191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40546" y="3808253"/>
            <a:ext cx="140462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940" sz="3075" spc="277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42145" sz="2175" spc="277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42145" sz="2175" spc="5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37940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37940" sz="3075" spc="7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44">
                <a:solidFill>
                  <a:srgbClr val="212121"/>
                </a:solidFill>
                <a:latin typeface="Cambria"/>
                <a:cs typeface="Cambria"/>
              </a:rPr>
              <a:t>inf</a:t>
            </a:r>
            <a:endParaRPr baseline="-11494" sz="2175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17612" y="3630612"/>
            <a:ext cx="126365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dirty="0" sz="2050" spc="-475">
                <a:solidFill>
                  <a:srgbClr val="212121"/>
                </a:solidFill>
                <a:latin typeface="Cambria"/>
                <a:cs typeface="Cambria"/>
              </a:rPr>
              <a:t>—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(7)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63811" y="3455511"/>
            <a:ext cx="56134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7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246964" y="3839070"/>
            <a:ext cx="795020" cy="6350"/>
          </a:xfrm>
          <a:custGeom>
            <a:avLst/>
            <a:gdLst/>
            <a:ahLst/>
            <a:cxnLst/>
            <a:rect l="l" t="t" r="r" b="b"/>
            <a:pathLst>
              <a:path w="795020" h="6350">
                <a:moveTo>
                  <a:pt x="794689" y="6350"/>
                </a:moveTo>
                <a:lnTo>
                  <a:pt x="0" y="6350"/>
                </a:lnTo>
                <a:lnTo>
                  <a:pt x="0" y="0"/>
                </a:lnTo>
                <a:lnTo>
                  <a:pt x="794689" y="0"/>
                </a:lnTo>
                <a:lnTo>
                  <a:pt x="794689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06742" y="4356544"/>
            <a:ext cx="12035155" cy="1276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2729" marR="5080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254000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Exemplo: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Dado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CDB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remunera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100%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CDI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15%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inflação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5%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a 	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rendimento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aplicação: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2965" y="5846921"/>
            <a:ext cx="94678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15%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35600" y="6022022"/>
            <a:ext cx="316674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84200" algn="l"/>
                <a:tab pos="1544320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0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39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baseline="-40650" sz="3075" spc="-195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baseline="-40650" sz="30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-40650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-40650" sz="3075" spc="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-40650" sz="3075" spc="-37">
                <a:solidFill>
                  <a:srgbClr val="212121"/>
                </a:solidFill>
                <a:latin typeface="Cambria"/>
                <a:cs typeface="Cambria"/>
              </a:rPr>
              <a:t>5%</a:t>
            </a:r>
            <a:r>
              <a:rPr dirty="0" baseline="-40650" sz="3075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8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9,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524%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939929" y="6230442"/>
            <a:ext cx="951865" cy="6350"/>
          </a:xfrm>
          <a:custGeom>
            <a:avLst/>
            <a:gdLst/>
            <a:ahLst/>
            <a:cxnLst/>
            <a:rect l="l" t="t" r="r" b="b"/>
            <a:pathLst>
              <a:path w="951865" h="6350">
                <a:moveTo>
                  <a:pt x="951852" y="6350"/>
                </a:moveTo>
                <a:lnTo>
                  <a:pt x="0" y="6350"/>
                </a:lnTo>
                <a:lnTo>
                  <a:pt x="0" y="0"/>
                </a:lnTo>
                <a:lnTo>
                  <a:pt x="951852" y="0"/>
                </a:lnTo>
                <a:lnTo>
                  <a:pt x="951852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3037205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95"/>
              <a:t>Taxa</a:t>
            </a:r>
            <a:r>
              <a:rPr dirty="0" spc="-285"/>
              <a:t> </a:t>
            </a:r>
            <a:r>
              <a:rPr dirty="0" spc="-135"/>
              <a:t>de</a:t>
            </a:r>
            <a:r>
              <a:rPr dirty="0" spc="-280"/>
              <a:t> </a:t>
            </a:r>
            <a:r>
              <a:rPr dirty="0" spc="-150"/>
              <a:t>juros</a:t>
            </a:r>
            <a:r>
              <a:rPr dirty="0" spc="-280"/>
              <a:t> </a:t>
            </a:r>
            <a:r>
              <a:rPr dirty="0" spc="-100"/>
              <a:t>real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5942" y="1985296"/>
            <a:ext cx="12141200" cy="3678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03530" marR="697865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outra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maneira,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nominal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composta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“correção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monetária”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3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Gotardelo</a:t>
            </a:r>
            <a:r>
              <a:rPr dirty="0" sz="1950" spc="-16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9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2023,</a:t>
            </a:r>
            <a:r>
              <a:rPr dirty="0" sz="1950" spc="-15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1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49–50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marL="4697095">
              <a:lnSpc>
                <a:spcPct val="100000"/>
              </a:lnSpc>
              <a:spcBef>
                <a:spcPts val="2125"/>
              </a:spcBef>
              <a:tabLst>
                <a:tab pos="7900670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6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8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277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-11494" sz="2175" spc="-26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)(1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baseline="-11494" sz="2175" spc="104">
                <a:solidFill>
                  <a:srgbClr val="212121"/>
                </a:solidFill>
                <a:latin typeface="Cambria"/>
                <a:cs typeface="Cambria"/>
              </a:rPr>
              <a:t>inf</a:t>
            </a:r>
            <a:r>
              <a:rPr dirty="0" sz="2050" spc="7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(8)</a:t>
            </a:r>
            <a:endParaRPr sz="2050">
              <a:latin typeface="Cambria"/>
              <a:cs typeface="Cambria"/>
            </a:endParaRPr>
          </a:p>
          <a:p>
            <a:pPr marL="303530" marR="55880" indent="-240665">
              <a:lnSpc>
                <a:spcPct val="110000"/>
              </a:lnSpc>
              <a:spcBef>
                <a:spcPts val="2125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Exemplo: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corrigir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dívida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10.000,00,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contratada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jan/2015,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pagamento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jan/2025,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taxa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6%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corrigindo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inflação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período,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foi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74,895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85">
                <a:solidFill>
                  <a:srgbClr val="212121"/>
                </a:solidFill>
                <a:latin typeface="Tahoma"/>
                <a:cs typeface="Tahoma"/>
              </a:rPr>
              <a:t>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(5,75%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a.a.):</a:t>
            </a:r>
            <a:endParaRPr sz="1950">
              <a:latin typeface="Tahoma"/>
              <a:cs typeface="Tahoma"/>
            </a:endParaRPr>
          </a:p>
          <a:p>
            <a:pPr lvl="1" marL="6851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5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06)(1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95">
                <a:solidFill>
                  <a:srgbClr val="212121"/>
                </a:solidFill>
                <a:latin typeface="Cambria"/>
                <a:cs typeface="Cambria"/>
              </a:rPr>
              <a:t>0575)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12,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09</a:t>
            </a:r>
            <a:endParaRPr sz="2050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1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10.000(1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1209)</a:t>
            </a:r>
            <a:r>
              <a:rPr dirty="0" baseline="28735" sz="2175" spc="-97">
                <a:solidFill>
                  <a:srgbClr val="212121"/>
                </a:solidFill>
                <a:latin typeface="Cambria"/>
                <a:cs typeface="Cambria"/>
              </a:rPr>
              <a:t>10</a:t>
            </a:r>
            <a:r>
              <a:rPr dirty="0" baseline="28735" sz="2175" spc="569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31.308,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96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1741170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95"/>
              <a:t>Taxa</a:t>
            </a:r>
            <a:r>
              <a:rPr dirty="0" spc="-285"/>
              <a:t> </a:t>
            </a:r>
            <a:r>
              <a:rPr dirty="0" spc="-60"/>
              <a:t>legal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865757"/>
            <a:ext cx="12199620" cy="421894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6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Art.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406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CC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9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BRASIL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10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2002</a:t>
            </a:r>
            <a:r>
              <a:rPr dirty="0" sz="1950" spc="-105">
                <a:solidFill>
                  <a:srgbClr val="212121"/>
                </a:solidFill>
                <a:latin typeface="Tahoma"/>
                <a:cs typeface="Tahoma"/>
              </a:rPr>
              <a:t>),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partir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30/08/2024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(inclusive),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após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Lei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14.905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9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BRASIL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1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2024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 lvl="1" marL="633730" marR="5080" indent="-240665">
              <a:lnSpc>
                <a:spcPct val="110000"/>
              </a:lnSpc>
              <a:spcBef>
                <a:spcPts val="945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Art.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406.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forem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convencionados,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forem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sem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estipulada,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provierem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determinação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lei,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serão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fixados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acordo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legal.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(Redação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dada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Lei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nº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14.905,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2024)</a:t>
            </a:r>
            <a:endParaRPr sz="1950">
              <a:latin typeface="Tahoma"/>
              <a:cs typeface="Tahoma"/>
            </a:endParaRPr>
          </a:p>
          <a:p>
            <a:pPr lvl="2" marL="1014730" marR="194945" indent="-240665">
              <a:lnSpc>
                <a:spcPct val="110000"/>
              </a:lnSpc>
              <a:spcBef>
                <a:spcPts val="940"/>
              </a:spcBef>
              <a:buFont typeface="Lucida Sans Unicode"/>
              <a:buChar char="◦"/>
              <a:tabLst>
                <a:tab pos="1016000" algn="l"/>
              </a:tabLst>
            </a:pP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§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1º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legal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corresponderá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à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referencial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Sistema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Especial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Liquidação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Custódia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(Selic),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deduzido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índice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atualização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monetária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trata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parágrafo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único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art.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389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deste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Código.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(Incluído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Lei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nº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14.905,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2024)</a:t>
            </a:r>
            <a:endParaRPr sz="1950">
              <a:latin typeface="Tahoma"/>
              <a:cs typeface="Tahoma"/>
            </a:endParaRPr>
          </a:p>
          <a:p>
            <a:pPr lvl="2" marL="1014730" marR="808990" indent="-240665">
              <a:lnSpc>
                <a:spcPct val="110000"/>
              </a:lnSpc>
              <a:spcBef>
                <a:spcPts val="940"/>
              </a:spcBef>
              <a:buFont typeface="Lucida Sans Unicode"/>
              <a:buChar char="◦"/>
              <a:tabLst>
                <a:tab pos="1016000" algn="l"/>
              </a:tabLst>
            </a:pP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§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2º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metodologia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cálculo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legal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sua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forma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aplicação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serão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definidas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Conselho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Monetário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Nacional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divulgadas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Banco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Central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Brasil.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(Incluído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Lei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nº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14.905,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2024)</a:t>
            </a:r>
            <a:endParaRPr sz="1950">
              <a:latin typeface="Tahoma"/>
              <a:cs typeface="Tahoma"/>
            </a:endParaRPr>
          </a:p>
          <a:p>
            <a:pPr lvl="2" marL="1014730" marR="415290" indent="-240665">
              <a:lnSpc>
                <a:spcPct val="110000"/>
              </a:lnSpc>
              <a:spcBef>
                <a:spcPts val="940"/>
              </a:spcBef>
              <a:buFont typeface="Lucida Sans Unicode"/>
              <a:buChar char="◦"/>
              <a:tabLst>
                <a:tab pos="1016000" algn="l"/>
              </a:tabLst>
            </a:pP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§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3º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Caso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legal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apresente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resultado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negativo,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este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será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considerado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igual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0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(zero)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efeito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cálculo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referência.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(Incluído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Lei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nº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14.905,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2024)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1741170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95"/>
              <a:t>Taxa</a:t>
            </a:r>
            <a:r>
              <a:rPr dirty="0" spc="-285"/>
              <a:t> </a:t>
            </a:r>
            <a:r>
              <a:rPr dirty="0" spc="-60"/>
              <a:t>legal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865757"/>
            <a:ext cx="6628765" cy="181102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6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Antes: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12%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a.a.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25">
                <a:solidFill>
                  <a:srgbClr val="212121"/>
                </a:solidFill>
                <a:latin typeface="Tahoma"/>
                <a:cs typeface="Tahoma"/>
              </a:rPr>
              <a:t>(CC/2002+CTN)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12/02/03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29/08/24.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6%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a.a.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antes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12/01/2003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(Código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Civil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1916);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Ver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Link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95"/>
              <a:t>Taxa</a:t>
            </a:r>
            <a:r>
              <a:rPr dirty="0" spc="-285"/>
              <a:t> </a:t>
            </a:r>
            <a:r>
              <a:rPr dirty="0" spc="-20" i="1">
                <a:latin typeface="Calibri"/>
                <a:cs typeface="Calibri"/>
              </a:rPr>
              <a:t>over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2004218"/>
            <a:ext cx="9247505" cy="924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nominal,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usualmente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expressa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ano,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porém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computada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útil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(d.u.):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85991" y="3390423"/>
            <a:ext cx="159385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35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235">
                <a:solidFill>
                  <a:srgbClr val="212121"/>
                </a:solidFill>
                <a:latin typeface="Verdana"/>
                <a:cs typeface="Verdana"/>
              </a:rPr>
              <a:t>(</a:t>
            </a:r>
            <a:r>
              <a:rPr dirty="0" sz="2050" spc="235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9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47572" y="3390423"/>
            <a:ext cx="35687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(9)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61810" y="3390423"/>
            <a:ext cx="21653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520">
                <a:solidFill>
                  <a:srgbClr val="212121"/>
                </a:solidFill>
                <a:latin typeface="Verdana"/>
                <a:cs typeface="Verdana"/>
              </a:rPr>
              <a:t>)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58104" y="3215322"/>
            <a:ext cx="88328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tx.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over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92261" y="3568065"/>
            <a:ext cx="41402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100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155260" y="3598862"/>
            <a:ext cx="888365" cy="6350"/>
          </a:xfrm>
          <a:custGeom>
            <a:avLst/>
            <a:gdLst/>
            <a:ahLst/>
            <a:cxnLst/>
            <a:rect l="l" t="t" r="r" b="b"/>
            <a:pathLst>
              <a:path w="888364" h="6350">
                <a:moveTo>
                  <a:pt x="888060" y="6350"/>
                </a:moveTo>
                <a:lnTo>
                  <a:pt x="0" y="6350"/>
                </a:lnTo>
                <a:lnTo>
                  <a:pt x="0" y="0"/>
                </a:lnTo>
                <a:lnTo>
                  <a:pt x="888060" y="0"/>
                </a:lnTo>
                <a:lnTo>
                  <a:pt x="888060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252209" y="3161823"/>
            <a:ext cx="483234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60">
                <a:solidFill>
                  <a:srgbClr val="212121"/>
                </a:solidFill>
                <a:latin typeface="Cambria"/>
                <a:cs typeface="Cambria"/>
              </a:rPr>
              <a:t>1/252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06742" y="4150677"/>
            <a:ext cx="4618355" cy="924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efetiva,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portanto,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útil,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é: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29513" y="5536882"/>
            <a:ext cx="194437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taxa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d.u.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0">
                <a:solidFill>
                  <a:srgbClr val="212121"/>
                </a:solidFill>
                <a:latin typeface="Verdana"/>
                <a:cs typeface="Verdana"/>
              </a:rPr>
              <a:t>(</a:t>
            </a:r>
            <a:r>
              <a:rPr dirty="0" sz="2050" spc="22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9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55822" y="5536882"/>
            <a:ext cx="21653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520">
                <a:solidFill>
                  <a:srgbClr val="212121"/>
                </a:solidFill>
                <a:latin typeface="Verdana"/>
                <a:cs typeface="Verdana"/>
              </a:rPr>
              <a:t>)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52306" y="5361781"/>
            <a:ext cx="88328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tx.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over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86462" y="5714523"/>
            <a:ext cx="41402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100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749429" y="5745314"/>
            <a:ext cx="888365" cy="6350"/>
          </a:xfrm>
          <a:custGeom>
            <a:avLst/>
            <a:gdLst/>
            <a:ahLst/>
            <a:cxnLst/>
            <a:rect l="l" t="t" r="r" b="b"/>
            <a:pathLst>
              <a:path w="888365" h="6350">
                <a:moveTo>
                  <a:pt x="888060" y="6350"/>
                </a:moveTo>
                <a:lnTo>
                  <a:pt x="0" y="6350"/>
                </a:lnTo>
                <a:lnTo>
                  <a:pt x="0" y="0"/>
                </a:lnTo>
                <a:lnTo>
                  <a:pt x="888060" y="0"/>
                </a:lnTo>
                <a:lnTo>
                  <a:pt x="888060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846411" y="5308282"/>
            <a:ext cx="483234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60">
                <a:solidFill>
                  <a:srgbClr val="212121"/>
                </a:solidFill>
                <a:latin typeface="Cambria"/>
                <a:cs typeface="Cambria"/>
              </a:rPr>
              <a:t>1/252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95"/>
              <a:t>Taxa</a:t>
            </a:r>
            <a:r>
              <a:rPr dirty="0" spc="-285"/>
              <a:t> </a:t>
            </a:r>
            <a:r>
              <a:rPr dirty="0" spc="-20" i="1">
                <a:latin typeface="Calibri"/>
                <a:cs typeface="Calibri"/>
              </a:rPr>
              <a:t>over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6900" y="1883092"/>
            <a:ext cx="12088495" cy="15671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0" b="1">
                <a:latin typeface="Trebuchet MS"/>
                <a:cs typeface="Trebuchet MS"/>
              </a:rPr>
              <a:t>Exemplo</a:t>
            </a:r>
            <a:endParaRPr sz="2550">
              <a:latin typeface="Trebuchet MS"/>
              <a:cs typeface="Trebuchet MS"/>
            </a:endParaRPr>
          </a:p>
          <a:p>
            <a:pPr marL="262890" marR="5080" indent="-240665">
              <a:lnSpc>
                <a:spcPct val="110000"/>
              </a:lnSpc>
              <a:spcBef>
                <a:spcPts val="170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aplicação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10.000,00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 i="1">
                <a:solidFill>
                  <a:srgbClr val="212121"/>
                </a:solidFill>
                <a:latin typeface="Trebuchet MS"/>
                <a:cs typeface="Trebuchet MS"/>
              </a:rPr>
              <a:t>over</a:t>
            </a:r>
            <a:r>
              <a:rPr dirty="0" sz="1950" spc="-16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15%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durante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22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úteis,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efetiva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saldo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ao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final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período?</a:t>
            </a:r>
            <a:endParaRPr sz="1950">
              <a:latin typeface="Tahoma"/>
              <a:cs typeface="Tahoma"/>
            </a:endParaRPr>
          </a:p>
          <a:p>
            <a:pPr marL="3146425">
              <a:lnSpc>
                <a:spcPct val="100000"/>
              </a:lnSpc>
              <a:spcBef>
                <a:spcPts val="1000"/>
              </a:spcBef>
            </a:pPr>
            <a:r>
              <a:rPr dirty="0" sz="100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342" y="3395503"/>
            <a:ext cx="346202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8765" indent="-240665">
              <a:lnSpc>
                <a:spcPct val="100000"/>
              </a:lnSpc>
              <a:spcBef>
                <a:spcPts val="90"/>
              </a:spcBef>
              <a:buSzPct val="95121"/>
              <a:buFont typeface="Lucida Sans Unicode"/>
              <a:buChar char="▪"/>
              <a:tabLst>
                <a:tab pos="278765" algn="l"/>
              </a:tabLst>
            </a:pP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taxa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d.u.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Verdana"/>
                <a:cs typeface="Verdana"/>
              </a:rPr>
              <a:t>(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20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u="sng" baseline="34482" sz="2175" spc="89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 </a:t>
            </a:r>
            <a:r>
              <a:rPr dirty="0" u="sng" baseline="34482" sz="217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15</a:t>
            </a:r>
            <a:r>
              <a:rPr dirty="0" u="sng" baseline="34482" sz="2175" spc="209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 </a:t>
            </a:r>
            <a:r>
              <a:rPr dirty="0" baseline="34482" sz="2175" spc="-12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Verdana"/>
                <a:cs typeface="Verdana"/>
              </a:rPr>
              <a:t>)</a:t>
            </a:r>
            <a:r>
              <a:rPr dirty="0" sz="2050" spc="-36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dirty="0" baseline="36111" sz="1500">
                <a:solidFill>
                  <a:srgbClr val="212121"/>
                </a:solidFill>
                <a:latin typeface="Cambria"/>
                <a:cs typeface="Cambria"/>
              </a:rPr>
              <a:t>252</a:t>
            </a:r>
            <a:r>
              <a:rPr dirty="0" baseline="36111" sz="1500" spc="359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663797" y="3457867"/>
            <a:ext cx="225425" cy="6350"/>
          </a:xfrm>
          <a:custGeom>
            <a:avLst/>
            <a:gdLst/>
            <a:ahLst/>
            <a:cxnLst/>
            <a:rect l="l" t="t" r="r" b="b"/>
            <a:pathLst>
              <a:path w="225425" h="6350">
                <a:moveTo>
                  <a:pt x="225272" y="6350"/>
                </a:moveTo>
                <a:lnTo>
                  <a:pt x="0" y="6350"/>
                </a:lnTo>
                <a:lnTo>
                  <a:pt x="0" y="0"/>
                </a:lnTo>
                <a:lnTo>
                  <a:pt x="225272" y="0"/>
                </a:lnTo>
                <a:lnTo>
                  <a:pt x="225272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62342" y="3514965"/>
            <a:ext cx="4156075" cy="249110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algn="ctr" marL="579120">
              <a:lnSpc>
                <a:spcPct val="100000"/>
              </a:lnSpc>
              <a:spcBef>
                <a:spcPts val="555"/>
              </a:spcBef>
            </a:pPr>
            <a:r>
              <a:rPr dirty="0" sz="1450" spc="-25">
                <a:solidFill>
                  <a:srgbClr val="212121"/>
                </a:solidFill>
                <a:latin typeface="Cambria"/>
                <a:cs typeface="Cambria"/>
              </a:rPr>
              <a:t>100</a:t>
            </a:r>
            <a:endParaRPr sz="1450">
              <a:latin typeface="Cambria"/>
              <a:cs typeface="Cambria"/>
            </a:endParaRPr>
          </a:p>
          <a:p>
            <a:pPr marL="278765" indent="-240665">
              <a:lnSpc>
                <a:spcPct val="100000"/>
              </a:lnSpc>
              <a:spcBef>
                <a:spcPts val="640"/>
              </a:spcBef>
              <a:buSzPct val="95121"/>
              <a:buFont typeface="Lucida Sans Unicode"/>
              <a:buChar char="▪"/>
              <a:tabLst>
                <a:tab pos="278765" algn="l"/>
              </a:tabLst>
            </a:pP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taxa</a:t>
            </a:r>
            <a:r>
              <a:rPr dirty="0" sz="2050" spc="6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d.u.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1.0005548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  <a:p>
            <a:pPr marL="2787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278765" algn="l"/>
              </a:tabLst>
            </a:pP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taxa</a:t>
            </a:r>
            <a:r>
              <a:rPr dirty="0" sz="2050" spc="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d.u.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20">
                <a:solidFill>
                  <a:srgbClr val="212121"/>
                </a:solidFill>
                <a:latin typeface="Cambria"/>
                <a:cs typeface="Cambria"/>
              </a:rPr>
              <a:t>05548%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a.d.u.</a:t>
            </a:r>
            <a:endParaRPr sz="2050">
              <a:latin typeface="Cambria"/>
              <a:cs typeface="Cambria"/>
            </a:endParaRPr>
          </a:p>
          <a:p>
            <a:pPr marL="2787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2787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6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10.000,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05548%)</a:t>
            </a:r>
            <a:r>
              <a:rPr dirty="0" baseline="28735" sz="2175" spc="-97">
                <a:solidFill>
                  <a:srgbClr val="212121"/>
                </a:solidFill>
                <a:latin typeface="Cambria"/>
                <a:cs typeface="Cambria"/>
              </a:rPr>
              <a:t>22</a:t>
            </a:r>
            <a:endParaRPr baseline="28735" sz="2175">
              <a:latin typeface="Cambria"/>
              <a:cs typeface="Cambria"/>
            </a:endParaRPr>
          </a:p>
          <a:p>
            <a:pPr marL="2787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2787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10.000,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012277</a:t>
            </a:r>
            <a:endParaRPr sz="2050">
              <a:latin typeface="Cambria"/>
              <a:cs typeface="Cambria"/>
            </a:endParaRPr>
          </a:p>
          <a:p>
            <a:pPr marL="2787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▪"/>
              <a:tabLst>
                <a:tab pos="2787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10.122,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77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35"/>
              <a:t>Correção</a:t>
            </a:r>
            <a:r>
              <a:rPr dirty="0" spc="-254"/>
              <a:t> </a:t>
            </a:r>
            <a:r>
              <a:rPr dirty="0" spc="-95"/>
              <a:t>monetária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991889"/>
            <a:ext cx="12204700" cy="4284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2729" marR="280670" indent="-240665">
              <a:lnSpc>
                <a:spcPct val="106200"/>
              </a:lnSpc>
              <a:spcBef>
                <a:spcPts val="130"/>
              </a:spcBef>
              <a:buFont typeface="Lucida Sans Unicode"/>
              <a:buChar char="•"/>
              <a:tabLst>
                <a:tab pos="254000" algn="l"/>
              </a:tabLst>
            </a:pP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correção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monetária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realizada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aplicando-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referência,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TR,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índice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IPCA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ou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IGPM.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Sobre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atualizado,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aplica-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juros,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-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algn="ctr" marL="625475">
              <a:lnSpc>
                <a:spcPct val="100000"/>
              </a:lnSpc>
              <a:spcBef>
                <a:spcPts val="2130"/>
              </a:spcBef>
            </a:pP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sz="2050" spc="-10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365" i="1">
                <a:solidFill>
                  <a:srgbClr val="212121"/>
                </a:solidFill>
                <a:latin typeface="Calibri"/>
                <a:cs typeface="Calibri"/>
              </a:rPr>
              <a:t>F</a:t>
            </a:r>
            <a:r>
              <a:rPr dirty="0" sz="2050" spc="29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sz="2050" spc="-9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240" i="1">
                <a:solidFill>
                  <a:srgbClr val="212121"/>
                </a:solidFill>
                <a:latin typeface="Calibri"/>
                <a:cs typeface="Calibri"/>
              </a:rPr>
              <a:t>P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65">
                <a:solidFill>
                  <a:srgbClr val="212121"/>
                </a:solidFill>
                <a:latin typeface="Cambria"/>
                <a:cs typeface="Cambria"/>
              </a:rPr>
              <a:t>CM)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(1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8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85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endParaRPr sz="2050">
              <a:latin typeface="Cambria"/>
              <a:cs typeface="Cambria"/>
            </a:endParaRPr>
          </a:p>
          <a:p>
            <a:pPr marL="252729" marR="5080" indent="-240665">
              <a:lnSpc>
                <a:spcPct val="110000"/>
              </a:lnSpc>
              <a:spcBef>
                <a:spcPts val="2120"/>
              </a:spcBef>
              <a:buFont typeface="Lucida Sans Unicode"/>
              <a:buChar char="•"/>
              <a:tabLst>
                <a:tab pos="254000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Exemplo: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investimento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remunerado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8,5%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após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atualização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TR,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saldo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investimento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após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ano,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inicial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foi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1.000,00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TR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foi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1,50%: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algn="ctr" marL="624205">
              <a:lnSpc>
                <a:spcPct val="100000"/>
              </a:lnSpc>
              <a:spcBef>
                <a:spcPts val="2125"/>
              </a:spcBef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95">
                <a:solidFill>
                  <a:srgbClr val="212121"/>
                </a:solidFill>
                <a:latin typeface="Cambria"/>
                <a:cs typeface="Cambria"/>
              </a:rPr>
              <a:t>50%)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8,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50%)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101275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1.101,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275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55"/>
              <a:t>Letras</a:t>
            </a:r>
            <a:r>
              <a:rPr dirty="0" spc="-265"/>
              <a:t> </a:t>
            </a:r>
            <a:r>
              <a:rPr dirty="0" spc="-60"/>
              <a:t>do</a:t>
            </a:r>
            <a:r>
              <a:rPr dirty="0" spc="-260"/>
              <a:t> </a:t>
            </a:r>
            <a:r>
              <a:rPr dirty="0" spc="-170"/>
              <a:t>Tesouro</a:t>
            </a:r>
            <a:r>
              <a:rPr dirty="0" spc="-265"/>
              <a:t> </a:t>
            </a:r>
            <a:r>
              <a:rPr dirty="0" spc="-85"/>
              <a:t>Nacional</a:t>
            </a:r>
            <a:r>
              <a:rPr dirty="0" spc="-260"/>
              <a:t> </a:t>
            </a:r>
            <a:r>
              <a:rPr dirty="0" spc="-145"/>
              <a:t>(LTN)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407" y="2051298"/>
            <a:ext cx="9072103" cy="44049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6900" y="6673215"/>
            <a:ext cx="268351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Figura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2: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Fluxo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Caixa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12121"/>
                </a:solidFill>
                <a:latin typeface="Tahoma"/>
                <a:cs typeface="Tahoma"/>
              </a:rPr>
              <a:t>LTN.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55"/>
              <a:t>Letras</a:t>
            </a:r>
            <a:r>
              <a:rPr dirty="0" spc="-265"/>
              <a:t> </a:t>
            </a:r>
            <a:r>
              <a:rPr dirty="0" spc="-60"/>
              <a:t>do</a:t>
            </a:r>
            <a:r>
              <a:rPr dirty="0" spc="-260"/>
              <a:t> </a:t>
            </a:r>
            <a:r>
              <a:rPr dirty="0" spc="-170"/>
              <a:t>Tesouro</a:t>
            </a:r>
            <a:r>
              <a:rPr dirty="0" spc="-265"/>
              <a:t> </a:t>
            </a:r>
            <a:r>
              <a:rPr dirty="0" spc="-85"/>
              <a:t>Nacional</a:t>
            </a:r>
            <a:r>
              <a:rPr dirty="0" spc="-260"/>
              <a:t> </a:t>
            </a:r>
            <a:r>
              <a:rPr dirty="0" spc="-145"/>
              <a:t>(LTN)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5942" y="2002790"/>
            <a:ext cx="12143740" cy="5036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04165" indent="-240665">
              <a:lnSpc>
                <a:spcPct val="100000"/>
              </a:lnSpc>
              <a:spcBef>
                <a:spcPts val="90"/>
              </a:spcBef>
              <a:buFont typeface="Lucida Sans Unicode"/>
              <a:buChar char="•"/>
              <a:tabLst>
                <a:tab pos="304165" algn="l"/>
              </a:tabLst>
            </a:pP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25">
                <a:solidFill>
                  <a:srgbClr val="212121"/>
                </a:solidFill>
                <a:latin typeface="Tahoma"/>
                <a:cs typeface="Tahoma"/>
              </a:rPr>
              <a:t>LTN,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portanto,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seguem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9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10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considerando-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sempre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face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baseline="-11494" sz="2175" spc="104" i="1">
                <a:solidFill>
                  <a:srgbClr val="212121"/>
                </a:solidFill>
                <a:latin typeface="Calibri"/>
                <a:cs typeface="Calibri"/>
              </a:rPr>
              <a:t>face</a:t>
            </a:r>
            <a:r>
              <a:rPr dirty="0" baseline="-11494" sz="2175" spc="71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212121"/>
              </a:buClr>
              <a:buFont typeface="Lucida Sans Unicode"/>
              <a:buChar char="•"/>
            </a:pPr>
            <a:endParaRPr sz="195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marL="4540250">
              <a:lnSpc>
                <a:spcPct val="100000"/>
              </a:lnSpc>
              <a:spcBef>
                <a:spcPts val="2275"/>
              </a:spcBef>
              <a:tabLst>
                <a:tab pos="7922895" algn="l"/>
              </a:tabLst>
            </a:pP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baseline="-11494" sz="2175" spc="104" i="1">
                <a:solidFill>
                  <a:srgbClr val="212121"/>
                </a:solidFill>
                <a:latin typeface="Calibri"/>
                <a:cs typeface="Calibri"/>
              </a:rPr>
              <a:t>face</a:t>
            </a:r>
            <a:r>
              <a:rPr dirty="0" baseline="-11494" sz="2175" spc="59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 spc="-15">
                <a:solidFill>
                  <a:srgbClr val="212121"/>
                </a:solidFill>
                <a:latin typeface="Cambria"/>
                <a:cs typeface="Cambria"/>
              </a:rPr>
              <a:t>d.u./252</a:t>
            </a:r>
            <a:r>
              <a:rPr dirty="0" baseline="32567" sz="2175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(10)</a:t>
            </a:r>
            <a:endParaRPr sz="2050">
              <a:latin typeface="Cambria"/>
              <a:cs typeface="Cambria"/>
            </a:endParaRPr>
          </a:p>
          <a:p>
            <a:pPr marL="303530" marR="55880" indent="-240665">
              <a:lnSpc>
                <a:spcPct val="110000"/>
              </a:lnSpc>
              <a:spcBef>
                <a:spcPts val="2155"/>
              </a:spcBef>
              <a:buFont typeface="Lucida Sans Unicode"/>
              <a:buChar char="•"/>
              <a:tabLst>
                <a:tab pos="304800" algn="l"/>
              </a:tabLst>
            </a:pP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25">
                <a:solidFill>
                  <a:srgbClr val="212121"/>
                </a:solidFill>
                <a:latin typeface="Tahoma"/>
                <a:cs typeface="Tahoma"/>
              </a:rPr>
              <a:t>LTN,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portanto,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sempre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adquiridas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relação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face.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Esse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equivale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a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título.</a:t>
            </a:r>
            <a:endParaRPr sz="1950">
              <a:latin typeface="Tahoma"/>
              <a:cs typeface="Tahoma"/>
            </a:endParaRPr>
          </a:p>
          <a:p>
            <a:pPr lvl="1" marL="684530" marR="916305" indent="-240665">
              <a:lnSpc>
                <a:spcPct val="111100"/>
              </a:lnSpc>
              <a:spcBef>
                <a:spcPts val="915"/>
              </a:spcBef>
              <a:buFont typeface="Lucida Sans Unicode"/>
              <a:buChar char="▪"/>
              <a:tabLst>
                <a:tab pos="685800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LTN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está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sendo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oferecida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250,00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170" i="1">
                <a:solidFill>
                  <a:srgbClr val="212121"/>
                </a:solidFill>
                <a:latin typeface="Trebuchet MS"/>
                <a:cs typeface="Trebuchet MS"/>
              </a:rPr>
              <a:t>i.e.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ela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está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sendo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negociada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750,00),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720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úteis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vencimento,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deste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título:</a:t>
            </a:r>
            <a:endParaRPr sz="1950">
              <a:latin typeface="Tahoma"/>
              <a:cs typeface="Tahoma"/>
            </a:endParaRPr>
          </a:p>
          <a:p>
            <a:pPr lvl="1" marL="6851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-40">
                <a:solidFill>
                  <a:srgbClr val="212121"/>
                </a:solidFill>
                <a:latin typeface="Cambria"/>
                <a:cs typeface="Cambria"/>
              </a:rPr>
              <a:t>1.000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(1.000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90">
                <a:solidFill>
                  <a:srgbClr val="212121"/>
                </a:solidFill>
                <a:latin typeface="Cambria"/>
                <a:cs typeface="Cambria"/>
              </a:rPr>
              <a:t>250)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-15">
                <a:solidFill>
                  <a:srgbClr val="212121"/>
                </a:solidFill>
                <a:latin typeface="Cambria"/>
                <a:cs typeface="Cambria"/>
              </a:rPr>
              <a:t>720/252</a:t>
            </a:r>
            <a:endParaRPr baseline="28735" sz="2175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-70">
                <a:solidFill>
                  <a:srgbClr val="212121"/>
                </a:solidFill>
                <a:latin typeface="Cambria"/>
                <a:cs typeface="Cambria"/>
              </a:rPr>
              <a:t>1.000/750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-15">
                <a:solidFill>
                  <a:srgbClr val="212121"/>
                </a:solidFill>
                <a:latin typeface="Cambria"/>
                <a:cs typeface="Cambria"/>
              </a:rPr>
              <a:t>720/252</a:t>
            </a:r>
            <a:endParaRPr baseline="28735" sz="2175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-60">
                <a:solidFill>
                  <a:srgbClr val="212121"/>
                </a:solidFill>
                <a:latin typeface="Cambria"/>
                <a:cs typeface="Cambria"/>
              </a:rPr>
              <a:t>(1.000/750)</a:t>
            </a:r>
            <a:r>
              <a:rPr dirty="0" baseline="28735" sz="2175" spc="-89">
                <a:solidFill>
                  <a:srgbClr val="212121"/>
                </a:solidFill>
                <a:latin typeface="Cambria"/>
                <a:cs typeface="Cambria"/>
              </a:rPr>
              <a:t>252/720</a:t>
            </a:r>
            <a:r>
              <a:rPr dirty="0" baseline="28735" sz="2175" spc="49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8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85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endParaRPr sz="2050">
              <a:latin typeface="Cambria"/>
              <a:cs typeface="Cambria"/>
            </a:endParaRPr>
          </a:p>
          <a:p>
            <a:pPr lvl="1" marL="6851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851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2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333</a:t>
            </a:r>
            <a:r>
              <a:rPr dirty="0" baseline="30651" sz="2175" spc="-82">
                <a:solidFill>
                  <a:srgbClr val="212121"/>
                </a:solidFill>
                <a:latin typeface="Cambria"/>
                <a:cs typeface="Cambria"/>
              </a:rPr>
              <a:t>0,35</a:t>
            </a:r>
            <a:r>
              <a:rPr dirty="0" baseline="30651" sz="2175" spc="3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60%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a.a.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55"/>
              <a:t>Letras</a:t>
            </a:r>
            <a:r>
              <a:rPr dirty="0" spc="-265"/>
              <a:t> </a:t>
            </a:r>
            <a:r>
              <a:rPr dirty="0" spc="-60"/>
              <a:t>do</a:t>
            </a:r>
            <a:r>
              <a:rPr dirty="0" spc="-260"/>
              <a:t> </a:t>
            </a:r>
            <a:r>
              <a:rPr dirty="0" spc="-170"/>
              <a:t>Tesouro</a:t>
            </a:r>
            <a:r>
              <a:rPr dirty="0" spc="-265"/>
              <a:t> </a:t>
            </a:r>
            <a:r>
              <a:rPr dirty="0" spc="-85"/>
              <a:t>Nacional</a:t>
            </a:r>
            <a:r>
              <a:rPr dirty="0" spc="-260"/>
              <a:t> </a:t>
            </a:r>
            <a:r>
              <a:rPr dirty="0" spc="-145"/>
              <a:t>(LTN)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1342" y="1982121"/>
            <a:ext cx="11174730" cy="2531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8130" marR="30480" indent="-240665">
              <a:lnSpc>
                <a:spcPct val="110500"/>
              </a:lnSpc>
              <a:spcBef>
                <a:spcPts val="105"/>
              </a:spcBef>
              <a:buFont typeface="Lucida Sans Unicode"/>
              <a:buChar char="•"/>
              <a:tabLst>
                <a:tab pos="279400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informado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LTN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disponível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mercado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secundário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públicos,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com 	vencimento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02/01/2029,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08/09/2025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(ou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seja,</a:t>
            </a:r>
            <a:r>
              <a:rPr dirty="0" sz="1950" spc="-1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829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úteis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vencimento),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oferecia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uma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20%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a.a.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preço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mercado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naquela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data.</a:t>
            </a:r>
            <a:endParaRPr sz="1950">
              <a:latin typeface="Tahoma"/>
              <a:cs typeface="Tahoma"/>
            </a:endParaRPr>
          </a:p>
          <a:p>
            <a:pPr lvl="1" marL="6597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▪"/>
              <a:tabLst>
                <a:tab pos="659765" algn="l"/>
              </a:tabLst>
            </a:pP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-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20%)</a:t>
            </a:r>
            <a:r>
              <a:rPr dirty="0" baseline="28735" sz="2175" spc="-15">
                <a:solidFill>
                  <a:srgbClr val="212121"/>
                </a:solidFill>
                <a:latin typeface="Cambria"/>
                <a:cs typeface="Cambria"/>
              </a:rPr>
              <a:t>829/252</a:t>
            </a:r>
            <a:endParaRPr baseline="28735" sz="2175">
              <a:latin typeface="Cambria"/>
              <a:cs typeface="Cambria"/>
            </a:endParaRPr>
          </a:p>
          <a:p>
            <a:pPr lvl="1" marL="6597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59765" algn="l"/>
              </a:tabLst>
            </a:pP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00/1,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827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548,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93</a:t>
            </a:r>
            <a:endParaRPr sz="20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0"/>
              </a:spcBef>
              <a:buClr>
                <a:srgbClr val="212121"/>
              </a:buClr>
              <a:buFont typeface="Lucida Sans Unicode"/>
              <a:buChar char="▪"/>
            </a:pPr>
            <a:endParaRPr sz="2050">
              <a:latin typeface="Cambria"/>
              <a:cs typeface="Cambria"/>
            </a:endParaRPr>
          </a:p>
          <a:p>
            <a:pPr marL="278765" indent="-240665">
              <a:lnSpc>
                <a:spcPct val="100000"/>
              </a:lnSpc>
              <a:buFont typeface="Lucida Sans Unicode"/>
              <a:buChar char="•"/>
              <a:tabLst>
                <a:tab pos="278765" algn="l"/>
              </a:tabLst>
            </a:pP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Ver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link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5"/>
              <a:t>Certificados</a:t>
            </a:r>
            <a:r>
              <a:rPr dirty="0" spc="-250"/>
              <a:t> </a:t>
            </a:r>
            <a:r>
              <a:rPr dirty="0" spc="-135"/>
              <a:t>de</a:t>
            </a:r>
            <a:r>
              <a:rPr dirty="0" spc="-245"/>
              <a:t> </a:t>
            </a:r>
            <a:r>
              <a:rPr dirty="0" spc="-100"/>
              <a:t>Depósito</a:t>
            </a:r>
            <a:r>
              <a:rPr dirty="0" spc="-250"/>
              <a:t> </a:t>
            </a:r>
            <a:r>
              <a:rPr dirty="0" spc="-50"/>
              <a:t>Bancário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4042" y="1985296"/>
            <a:ext cx="11881485" cy="3123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5430" marR="179070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266700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Certificado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Depósito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Bancário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(CDB):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renda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fixa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usualmente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remuneram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depositante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a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atrelada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à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DI</a:t>
            </a:r>
            <a:endParaRPr sz="1950">
              <a:latin typeface="Tahoma"/>
              <a:cs typeface="Tahoma"/>
            </a:endParaRPr>
          </a:p>
          <a:p>
            <a:pPr lvl="1" marL="646430" marR="17780" indent="-240665">
              <a:lnSpc>
                <a:spcPct val="110000"/>
              </a:lnSpc>
              <a:spcBef>
                <a:spcPts val="945"/>
              </a:spcBef>
              <a:buFont typeface="Lucida Sans Unicode"/>
              <a:buChar char="▪"/>
              <a:tabLst>
                <a:tab pos="647700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exemplo,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CDB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remunera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depositante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102%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0">
                <a:solidFill>
                  <a:srgbClr val="212121"/>
                </a:solidFill>
                <a:latin typeface="Tahoma"/>
                <a:cs typeface="Tahoma"/>
              </a:rPr>
              <a:t>DI.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aplica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R$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1.000,00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neste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CDB.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Considerando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DI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10,15%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qual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atualizado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deste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CDB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após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um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30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dias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úteis?</a:t>
            </a:r>
            <a:endParaRPr sz="1950">
              <a:latin typeface="Tahoma"/>
              <a:cs typeface="Tahoma"/>
            </a:endParaRPr>
          </a:p>
          <a:p>
            <a:pPr lvl="2" marL="10280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spc="405" i="1">
                <a:solidFill>
                  <a:srgbClr val="212121"/>
                </a:solidFill>
                <a:latin typeface="Calibri"/>
                <a:cs typeface="Calibri"/>
              </a:rPr>
              <a:t>TDI</a:t>
            </a:r>
            <a:r>
              <a:rPr dirty="0" sz="2050" spc="1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75" i="1">
                <a:solidFill>
                  <a:srgbClr val="212121"/>
                </a:solidFill>
                <a:latin typeface="Calibri"/>
                <a:cs typeface="Calibri"/>
              </a:rPr>
              <a:t>DI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112">
                <a:solidFill>
                  <a:srgbClr val="212121"/>
                </a:solidFill>
                <a:latin typeface="Cambria"/>
                <a:cs typeface="Cambria"/>
              </a:rPr>
              <a:t>1/252</a:t>
            </a:r>
            <a:r>
              <a:rPr dirty="0" baseline="28735" sz="2175" spc="3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Cambria"/>
                <a:cs typeface="Cambria"/>
              </a:rPr>
              <a:t>15%)</a:t>
            </a:r>
            <a:r>
              <a:rPr dirty="0" baseline="28735" sz="2175" spc="-89">
                <a:solidFill>
                  <a:srgbClr val="212121"/>
                </a:solidFill>
                <a:latin typeface="Cambria"/>
                <a:cs typeface="Cambria"/>
              </a:rPr>
              <a:t>1/252</a:t>
            </a:r>
            <a:r>
              <a:rPr dirty="0" baseline="28735" sz="2175" spc="38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20">
                <a:solidFill>
                  <a:srgbClr val="212121"/>
                </a:solidFill>
                <a:latin typeface="Cambria"/>
                <a:cs typeface="Cambria"/>
              </a:rPr>
              <a:t>03837%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a.d.u.</a:t>
            </a:r>
            <a:endParaRPr sz="2050">
              <a:latin typeface="Cambria"/>
              <a:cs typeface="Cambria"/>
            </a:endParaRPr>
          </a:p>
          <a:p>
            <a:pPr lvl="2" marL="1028065" indent="-240665">
              <a:lnSpc>
                <a:spcPct val="100000"/>
              </a:lnSpc>
              <a:spcBef>
                <a:spcPts val="1065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Fator</a:t>
            </a:r>
            <a:r>
              <a:rPr dirty="0" sz="2050" spc="6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DI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305">
                <a:solidFill>
                  <a:srgbClr val="212121"/>
                </a:solidFill>
                <a:latin typeface="Cambria"/>
                <a:cs typeface="Cambria"/>
              </a:rPr>
              <a:t>(</a:t>
            </a:r>
            <a:r>
              <a:rPr dirty="0" sz="2050" spc="305" i="1">
                <a:solidFill>
                  <a:srgbClr val="212121"/>
                </a:solidFill>
                <a:latin typeface="Calibri"/>
                <a:cs typeface="Calibri"/>
              </a:rPr>
              <a:t>TDI</a:t>
            </a:r>
            <a:r>
              <a:rPr dirty="0" sz="2050" spc="13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102%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1)</a:t>
            </a:r>
            <a:r>
              <a:rPr dirty="0" baseline="28735" sz="2175">
                <a:solidFill>
                  <a:srgbClr val="212121"/>
                </a:solidFill>
                <a:latin typeface="Cambria"/>
                <a:cs typeface="Cambria"/>
              </a:rPr>
              <a:t>d.u.</a:t>
            </a:r>
            <a:r>
              <a:rPr dirty="0" baseline="28735" sz="2175" spc="63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(0,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03837%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102/100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1)</a:t>
            </a:r>
            <a:r>
              <a:rPr dirty="0" baseline="28735" sz="2175" spc="-15">
                <a:solidFill>
                  <a:srgbClr val="212121"/>
                </a:solidFill>
                <a:latin typeface="Cambria"/>
                <a:cs typeface="Cambria"/>
              </a:rPr>
              <a:t>30</a:t>
            </a:r>
            <a:r>
              <a:rPr dirty="0" baseline="28735" sz="2175" spc="6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011808</a:t>
            </a:r>
            <a:endParaRPr sz="2050">
              <a:latin typeface="Cambria"/>
              <a:cs typeface="Cambria"/>
            </a:endParaRPr>
          </a:p>
          <a:p>
            <a:pPr lvl="2" marL="10280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sz="2050" spc="-7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365" i="1">
                <a:solidFill>
                  <a:srgbClr val="212121"/>
                </a:solidFill>
                <a:latin typeface="Calibri"/>
                <a:cs typeface="Calibri"/>
              </a:rPr>
              <a:t>F</a:t>
            </a:r>
            <a:r>
              <a:rPr dirty="0" sz="2050" spc="3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sz="2050" spc="-7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240" i="1">
                <a:solidFill>
                  <a:srgbClr val="212121"/>
                </a:solidFill>
                <a:latin typeface="Calibri"/>
                <a:cs typeface="Calibri"/>
              </a:rPr>
              <a:t>P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Fator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DI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011808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1.011,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81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5"/>
              <a:t>Certificados</a:t>
            </a:r>
            <a:r>
              <a:rPr dirty="0" spc="-250"/>
              <a:t> </a:t>
            </a:r>
            <a:r>
              <a:rPr dirty="0" spc="-135"/>
              <a:t>de</a:t>
            </a:r>
            <a:r>
              <a:rPr dirty="0" spc="-245"/>
              <a:t> </a:t>
            </a:r>
            <a:r>
              <a:rPr dirty="0" spc="-100"/>
              <a:t>Depósito</a:t>
            </a:r>
            <a:r>
              <a:rPr dirty="0" spc="-250"/>
              <a:t> </a:t>
            </a:r>
            <a:r>
              <a:rPr dirty="0" spc="-50"/>
              <a:t>Bancário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4042" y="1865757"/>
            <a:ext cx="9930765" cy="226250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66065" indent="-240665">
              <a:lnSpc>
                <a:spcPct val="100000"/>
              </a:lnSpc>
              <a:spcBef>
                <a:spcPts val="1265"/>
              </a:spcBef>
              <a:buFont typeface="Lucida Sans Unicode"/>
              <a:buChar char="•"/>
              <a:tabLst>
                <a:tab pos="266065" algn="l"/>
              </a:tabLst>
            </a:pP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Também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comuns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CDB’s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remuneram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DI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40">
                <a:solidFill>
                  <a:srgbClr val="212121"/>
                </a:solidFill>
                <a:latin typeface="Tahoma"/>
                <a:cs typeface="Tahoma"/>
              </a:rPr>
              <a:t>+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Spread:</a:t>
            </a:r>
            <a:endParaRPr sz="1950">
              <a:latin typeface="Tahoma"/>
              <a:cs typeface="Tahoma"/>
            </a:endParaRPr>
          </a:p>
          <a:p>
            <a:pPr lvl="1" marL="6470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470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exemplo: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DI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40">
                <a:solidFill>
                  <a:srgbClr val="212121"/>
                </a:solidFill>
                <a:latin typeface="Tahoma"/>
                <a:cs typeface="Tahoma"/>
              </a:rPr>
              <a:t>+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2%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a.a.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Após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30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dias,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DI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10,15%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a.a.,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qual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atualizado?</a:t>
            </a:r>
            <a:endParaRPr sz="1950">
              <a:latin typeface="Tahoma"/>
              <a:cs typeface="Tahoma"/>
            </a:endParaRPr>
          </a:p>
          <a:p>
            <a:pPr lvl="2" marL="10280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Fator</a:t>
            </a:r>
            <a:r>
              <a:rPr dirty="0" sz="2050" spc="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DI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TDI</a:t>
            </a:r>
            <a:r>
              <a:rPr dirty="0" sz="2050" spc="19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284">
                <a:solidFill>
                  <a:srgbClr val="212121"/>
                </a:solidFill>
                <a:latin typeface="Cambria"/>
                <a:cs typeface="Cambria"/>
              </a:rPr>
              <a:t>d.u.</a:t>
            </a:r>
            <a:r>
              <a:rPr dirty="0" baseline="28735" sz="2175" spc="6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80">
                <a:solidFill>
                  <a:srgbClr val="212121"/>
                </a:solidFill>
                <a:latin typeface="Cambria"/>
                <a:cs typeface="Cambria"/>
              </a:rPr>
              <a:t>03837%)</a:t>
            </a:r>
            <a:r>
              <a:rPr dirty="0" baseline="28735" sz="2175" spc="-120">
                <a:solidFill>
                  <a:srgbClr val="212121"/>
                </a:solidFill>
                <a:latin typeface="Cambria"/>
                <a:cs typeface="Cambria"/>
              </a:rPr>
              <a:t>30</a:t>
            </a:r>
            <a:r>
              <a:rPr dirty="0" baseline="28735" sz="2175" spc="59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011575</a:t>
            </a:r>
            <a:endParaRPr sz="2050">
              <a:latin typeface="Cambria"/>
              <a:cs typeface="Cambria"/>
            </a:endParaRPr>
          </a:p>
          <a:p>
            <a:pPr lvl="2" marL="10280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Fator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Spread</a:t>
            </a:r>
            <a:r>
              <a:rPr dirty="0" sz="2050" spc="1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Spread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>
                <a:solidFill>
                  <a:srgbClr val="212121"/>
                </a:solidFill>
                <a:latin typeface="Cambria"/>
                <a:cs typeface="Cambria"/>
              </a:rPr>
              <a:t>d.u./252</a:t>
            </a:r>
            <a:r>
              <a:rPr dirty="0" baseline="28735" sz="2175" spc="66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2%)</a:t>
            </a:r>
            <a:r>
              <a:rPr dirty="0" baseline="28735" sz="2175" spc="-82">
                <a:solidFill>
                  <a:srgbClr val="212121"/>
                </a:solidFill>
                <a:latin typeface="Cambria"/>
                <a:cs typeface="Cambria"/>
              </a:rPr>
              <a:t>30/252</a:t>
            </a:r>
            <a:r>
              <a:rPr dirty="0" baseline="28735" sz="2175" spc="66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9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00236</a:t>
            </a:r>
            <a:endParaRPr sz="2050">
              <a:latin typeface="Cambria"/>
              <a:cs typeface="Cambria"/>
            </a:endParaRPr>
          </a:p>
          <a:p>
            <a:pPr lvl="2" marL="10280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28065" algn="l"/>
              </a:tabLst>
            </a:pP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sz="2050" spc="-7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365" i="1">
                <a:solidFill>
                  <a:srgbClr val="212121"/>
                </a:solidFill>
                <a:latin typeface="Calibri"/>
                <a:cs typeface="Calibri"/>
              </a:rPr>
              <a:t>F</a:t>
            </a:r>
            <a:r>
              <a:rPr dirty="0" sz="2050" spc="35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sz="2050" spc="-7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240" i="1">
                <a:solidFill>
                  <a:srgbClr val="212121"/>
                </a:solidFill>
                <a:latin typeface="Calibri"/>
                <a:cs typeface="Calibri"/>
              </a:rPr>
              <a:t>P</a:t>
            </a:r>
            <a:r>
              <a:rPr dirty="0" sz="2050" spc="24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Fator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DI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Fator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Spread</a:t>
            </a:r>
            <a:r>
              <a:rPr dirty="0" sz="2050" spc="1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011575</a:t>
            </a:r>
            <a:r>
              <a:rPr dirty="0" sz="2050" spc="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1,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00236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1.013,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96</a:t>
            </a:r>
            <a:endParaRPr sz="2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65"/>
              <a:t>CDB</a:t>
            </a:r>
            <a:r>
              <a:rPr dirty="0" spc="-290"/>
              <a:t> </a:t>
            </a:r>
            <a:r>
              <a:rPr dirty="0" spc="-145"/>
              <a:t>vs.</a:t>
            </a:r>
            <a:r>
              <a:rPr dirty="0" spc="-285"/>
              <a:t> </a:t>
            </a:r>
            <a:r>
              <a:rPr dirty="0" spc="-290"/>
              <a:t>LTN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862582"/>
            <a:ext cx="12160885" cy="3364229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9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Deve-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notar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CDB’s,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contrário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25">
                <a:solidFill>
                  <a:srgbClr val="212121"/>
                </a:solidFill>
                <a:latin typeface="Tahoma"/>
                <a:cs typeface="Tahoma"/>
              </a:rPr>
              <a:t>LTN,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 b="1">
                <a:solidFill>
                  <a:srgbClr val="212121"/>
                </a:solidFill>
                <a:latin typeface="Trebuchet MS"/>
                <a:cs typeface="Trebuchet MS"/>
              </a:rPr>
              <a:t>pós-</a:t>
            </a:r>
            <a:r>
              <a:rPr dirty="0" sz="1950" spc="-10" b="1">
                <a:solidFill>
                  <a:srgbClr val="212121"/>
                </a:solidFill>
                <a:latin typeface="Trebuchet MS"/>
                <a:cs typeface="Trebuchet MS"/>
              </a:rPr>
              <a:t>fixados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!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20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Isto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é,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rendimento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só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conhecida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final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investimento,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pois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DI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variável!</a:t>
            </a:r>
            <a:endParaRPr sz="1950">
              <a:latin typeface="Tahoma"/>
              <a:cs typeface="Tahoma"/>
            </a:endParaRPr>
          </a:p>
          <a:p>
            <a:pPr lvl="1" marL="633730" marR="375920" indent="-240665">
              <a:lnSpc>
                <a:spcPct val="110000"/>
              </a:lnSpc>
              <a:spcBef>
                <a:spcPts val="945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Especialmente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projetos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longos,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realista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considerar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livre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risco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DI,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pois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estã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provavelmente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manterá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constante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durante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todo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projeto.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isso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preciso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conhecer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também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investimento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pré-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fixados,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Letras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Tesouro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Nacional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(LTN)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LTN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títulos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prefixados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possuem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face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1.000,00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vencimentos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variados.</a:t>
            </a:r>
            <a:endParaRPr sz="1950">
              <a:latin typeface="Tahoma"/>
              <a:cs typeface="Tahoma"/>
            </a:endParaRPr>
          </a:p>
          <a:p>
            <a:pPr lvl="2" marL="1014730" marR="5080" indent="-240665">
              <a:lnSpc>
                <a:spcPct val="110000"/>
              </a:lnSpc>
              <a:spcBef>
                <a:spcPts val="940"/>
              </a:spcBef>
              <a:buFont typeface="Lucida Sans Unicode"/>
              <a:buChar char="◦"/>
              <a:tabLst>
                <a:tab pos="10160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adquire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LTN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preço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menor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face.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compra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está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associada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desconto.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65"/>
              <a:t>CDB</a:t>
            </a:r>
            <a:r>
              <a:rPr dirty="0" spc="-290"/>
              <a:t> </a:t>
            </a:r>
            <a:r>
              <a:rPr dirty="0" spc="-145"/>
              <a:t>vs.</a:t>
            </a:r>
            <a:r>
              <a:rPr dirty="0" spc="-285"/>
              <a:t> </a:t>
            </a:r>
            <a:r>
              <a:rPr dirty="0" spc="-290"/>
              <a:t>LTN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985296"/>
            <a:ext cx="11986895" cy="26720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2729" marR="169545" indent="-240665">
              <a:lnSpc>
                <a:spcPct val="110000"/>
              </a:lnSpc>
              <a:spcBef>
                <a:spcPts val="90"/>
              </a:spcBef>
              <a:buFont typeface="Lucida Sans Unicode"/>
              <a:buChar char="•"/>
              <a:tabLst>
                <a:tab pos="2540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analista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deve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perceber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LTN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forma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garantir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pré-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definida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um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período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maior.</a:t>
            </a:r>
            <a:endParaRPr sz="1950">
              <a:latin typeface="Tahoma"/>
              <a:cs typeface="Tahoma"/>
            </a:endParaRPr>
          </a:p>
          <a:p>
            <a:pPr lvl="1" marL="633730" marR="64769" indent="-240665">
              <a:lnSpc>
                <a:spcPct val="110000"/>
              </a:lnSpc>
              <a:spcBef>
                <a:spcPts val="945"/>
              </a:spcBef>
              <a:buFont typeface="Lucida Sans Unicode"/>
              <a:buChar char="▪"/>
              <a:tabLst>
                <a:tab pos="635000" algn="l"/>
              </a:tabLst>
            </a:pP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CDI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oscilam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curto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prazo.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15%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a.a.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5">
                <a:solidFill>
                  <a:srgbClr val="212121"/>
                </a:solidFill>
                <a:latin typeface="Tahoma"/>
                <a:cs typeface="Tahoma"/>
              </a:rPr>
              <a:t>CDI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bom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parâmetro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livre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risco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projeto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duração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4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anos,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haja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vista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esta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tende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cair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(ou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subir)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tempo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adquirir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LTN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investidor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fixa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período,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garantindo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contratada.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Porém,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essa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garantia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tem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risco: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inflação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subir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corroer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rentabilidade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título.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6742" y="1461579"/>
            <a:ext cx="11799570" cy="401383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12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65" i="1">
                <a:solidFill>
                  <a:srgbClr val="212121"/>
                </a:solidFill>
                <a:latin typeface="Trebuchet MS"/>
                <a:cs typeface="Trebuchet MS"/>
              </a:rPr>
              <a:t>Anuidades</a:t>
            </a:r>
            <a:r>
              <a:rPr dirty="0" sz="1950" spc="-15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 i="1">
                <a:solidFill>
                  <a:srgbClr val="212121"/>
                </a:solidFill>
                <a:latin typeface="Trebuchet MS"/>
                <a:cs typeface="Trebuchet MS"/>
              </a:rPr>
              <a:t>rendas</a:t>
            </a:r>
            <a:r>
              <a:rPr dirty="0" sz="1950" spc="-1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90" i="1">
                <a:solidFill>
                  <a:srgbClr val="212121"/>
                </a:solidFill>
                <a:latin typeface="Trebuchet MS"/>
                <a:cs typeface="Trebuchet MS"/>
              </a:rPr>
              <a:t>certas</a:t>
            </a:r>
            <a:r>
              <a:rPr dirty="0" sz="1950" spc="-15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séries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pagamentos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recebimentos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iguais,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5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intervalos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tempo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iguais.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02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anuidades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diversos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tipos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dirty="0" sz="1950" spc="-3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Gotardelo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9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2023,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2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53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):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28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85" i="1">
                <a:solidFill>
                  <a:srgbClr val="212121"/>
                </a:solidFill>
                <a:latin typeface="Trebuchet MS"/>
                <a:cs typeface="Trebuchet MS"/>
              </a:rPr>
              <a:t>Capitalização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nas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aplicações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financeiras,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objetivo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constituir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capital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futura;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100" i="1">
                <a:solidFill>
                  <a:srgbClr val="212121"/>
                </a:solidFill>
                <a:latin typeface="Trebuchet MS"/>
                <a:cs typeface="Trebuchet MS"/>
              </a:rPr>
              <a:t>Amortização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quer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pagar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dívida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prestações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iguais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intervalos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iguais;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8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95" i="1">
                <a:solidFill>
                  <a:srgbClr val="212121"/>
                </a:solidFill>
                <a:latin typeface="Trebuchet MS"/>
                <a:cs typeface="Trebuchet MS"/>
              </a:rPr>
              <a:t>Aluguéis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pagamento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uso,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sem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haja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amortização.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02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2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anuidades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ainda</a:t>
            </a:r>
            <a:r>
              <a:rPr dirty="0" sz="1950" spc="-2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podem</a:t>
            </a:r>
            <a:r>
              <a:rPr dirty="0" sz="1950" spc="-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ser: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280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80" i="1">
                <a:solidFill>
                  <a:srgbClr val="212121"/>
                </a:solidFill>
                <a:latin typeface="Trebuchet MS"/>
                <a:cs typeface="Trebuchet MS"/>
              </a:rPr>
              <a:t>temporárias</a:t>
            </a:r>
            <a:r>
              <a:rPr dirty="0" sz="1950" spc="-14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 i="1">
                <a:solidFill>
                  <a:srgbClr val="212121"/>
                </a:solidFill>
                <a:latin typeface="Trebuchet MS"/>
                <a:cs typeface="Trebuchet MS"/>
              </a:rPr>
              <a:t>perpétuas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;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75" i="1">
                <a:solidFill>
                  <a:srgbClr val="212121"/>
                </a:solidFill>
                <a:latin typeface="Trebuchet MS"/>
                <a:cs typeface="Trebuchet MS"/>
              </a:rPr>
              <a:t>imediatas</a:t>
            </a:r>
            <a:r>
              <a:rPr dirty="0" sz="1950" spc="-15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 i="1">
                <a:solidFill>
                  <a:srgbClr val="212121"/>
                </a:solidFill>
                <a:latin typeface="Trebuchet MS"/>
                <a:cs typeface="Trebuchet MS"/>
              </a:rPr>
              <a:t>diferidas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;</a:t>
            </a:r>
            <a:endParaRPr sz="1950">
              <a:latin typeface="Tahoma"/>
              <a:cs typeface="Tahoma"/>
            </a:endParaRPr>
          </a:p>
          <a:p>
            <a:pPr lvl="1" marL="6343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34365" algn="l"/>
              </a:tabLst>
            </a:pPr>
            <a:r>
              <a:rPr dirty="0" sz="1950" spc="-55" i="1">
                <a:solidFill>
                  <a:srgbClr val="212121"/>
                </a:solidFill>
                <a:latin typeface="Trebuchet MS"/>
                <a:cs typeface="Trebuchet MS"/>
              </a:rPr>
              <a:t>antecipadas</a:t>
            </a:r>
            <a:r>
              <a:rPr dirty="0" sz="1950" spc="-14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dirty="0" sz="1950" spc="-1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 i="1">
                <a:solidFill>
                  <a:srgbClr val="212121"/>
                </a:solidFill>
                <a:latin typeface="Trebuchet MS"/>
                <a:cs typeface="Trebuchet MS"/>
              </a:rPr>
              <a:t>postecipadas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30"/>
              <a:t>Amortizações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3654" y="2051021"/>
            <a:ext cx="9053589" cy="43960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6900" y="6670040"/>
            <a:ext cx="331470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Figura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3: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Fluxo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Caixa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Amortização</a:t>
            </a:r>
            <a:r>
              <a:rPr dirty="0" sz="1350" spc="-45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30"/>
              <a:t>Amortizações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711992" y="4740922"/>
            <a:ext cx="879475" cy="6350"/>
          </a:xfrm>
          <a:custGeom>
            <a:avLst/>
            <a:gdLst/>
            <a:ahLst/>
            <a:cxnLst/>
            <a:rect l="l" t="t" r="r" b="b"/>
            <a:pathLst>
              <a:path w="879475" h="6350">
                <a:moveTo>
                  <a:pt x="878979" y="6350"/>
                </a:moveTo>
                <a:lnTo>
                  <a:pt x="0" y="6350"/>
                </a:lnTo>
                <a:lnTo>
                  <a:pt x="0" y="0"/>
                </a:lnTo>
                <a:lnTo>
                  <a:pt x="878979" y="0"/>
                </a:lnTo>
                <a:lnTo>
                  <a:pt x="878979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969787" y="4740922"/>
            <a:ext cx="879475" cy="6350"/>
          </a:xfrm>
          <a:custGeom>
            <a:avLst/>
            <a:gdLst/>
            <a:ahLst/>
            <a:cxnLst/>
            <a:rect l="l" t="t" r="r" b="b"/>
            <a:pathLst>
              <a:path w="879475" h="6350">
                <a:moveTo>
                  <a:pt x="878979" y="6350"/>
                </a:moveTo>
                <a:lnTo>
                  <a:pt x="0" y="6350"/>
                </a:lnTo>
                <a:lnTo>
                  <a:pt x="0" y="0"/>
                </a:lnTo>
                <a:lnTo>
                  <a:pt x="878979" y="0"/>
                </a:lnTo>
                <a:lnTo>
                  <a:pt x="878979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227595" y="4740922"/>
            <a:ext cx="879475" cy="6350"/>
          </a:xfrm>
          <a:custGeom>
            <a:avLst/>
            <a:gdLst/>
            <a:ahLst/>
            <a:cxnLst/>
            <a:rect l="l" t="t" r="r" b="b"/>
            <a:pathLst>
              <a:path w="879475" h="6350">
                <a:moveTo>
                  <a:pt x="878979" y="6350"/>
                </a:moveTo>
                <a:lnTo>
                  <a:pt x="0" y="6350"/>
                </a:lnTo>
                <a:lnTo>
                  <a:pt x="0" y="0"/>
                </a:lnTo>
                <a:lnTo>
                  <a:pt x="878979" y="0"/>
                </a:lnTo>
                <a:lnTo>
                  <a:pt x="878979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94042" y="1862582"/>
            <a:ext cx="12012295" cy="320103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66065" indent="-240665">
              <a:lnSpc>
                <a:spcPct val="100000"/>
              </a:lnSpc>
              <a:spcBef>
                <a:spcPts val="1290"/>
              </a:spcBef>
              <a:buFont typeface="Lucida Sans Unicode"/>
              <a:buChar char="•"/>
              <a:tabLst>
                <a:tab pos="266065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Compra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moto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12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prestações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mensais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iguais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1.000,00</a:t>
            </a:r>
            <a:endParaRPr sz="1950">
              <a:latin typeface="Tahoma"/>
              <a:cs typeface="Tahoma"/>
            </a:endParaRPr>
          </a:p>
          <a:p>
            <a:pPr lvl="1" marL="647065" indent="-240665">
              <a:lnSpc>
                <a:spcPct val="100000"/>
              </a:lnSpc>
              <a:spcBef>
                <a:spcPts val="1200"/>
              </a:spcBef>
              <a:buFont typeface="Lucida Sans Unicode"/>
              <a:buChar char="▪"/>
              <a:tabLst>
                <a:tab pos="647065" algn="l"/>
              </a:tabLst>
            </a:pPr>
            <a:r>
              <a:rPr dirty="0" sz="1950" spc="-8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prestações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mensais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(ou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anuais)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denominadas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 b="1">
                <a:solidFill>
                  <a:srgbClr val="212121"/>
                </a:solidFill>
                <a:latin typeface="Trebuchet MS"/>
                <a:cs typeface="Trebuchet MS"/>
              </a:rPr>
              <a:t>PMT</a:t>
            </a:r>
            <a:endParaRPr sz="1950">
              <a:latin typeface="Trebuchet MS"/>
              <a:cs typeface="Trebuchet MS"/>
            </a:endParaRPr>
          </a:p>
          <a:p>
            <a:pPr lvl="1" marL="646430" marR="17780" indent="-240665">
              <a:lnSpc>
                <a:spcPct val="110000"/>
              </a:lnSpc>
              <a:spcBef>
                <a:spcPts val="969"/>
              </a:spcBef>
              <a:buFont typeface="Lucida Sans Unicode"/>
              <a:buChar char="▪"/>
              <a:tabLst>
                <a:tab pos="647700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presente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prestações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trazendo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pagamentos/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recebimentos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cada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período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presente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descontados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juros.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ahoma"/>
              <a:cs typeface="Tahoma"/>
            </a:endParaRPr>
          </a:p>
          <a:p>
            <a:pPr marL="406400">
              <a:lnSpc>
                <a:spcPct val="100000"/>
              </a:lnSpc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  <a:p>
            <a:pPr marL="4256405">
              <a:lnSpc>
                <a:spcPct val="100000"/>
              </a:lnSpc>
              <a:spcBef>
                <a:spcPts val="1745"/>
              </a:spcBef>
              <a:tabLst>
                <a:tab pos="5514340" algn="l"/>
                <a:tab pos="6772275" algn="l"/>
                <a:tab pos="8695690" algn="l"/>
              </a:tabLst>
            </a:pPr>
            <a:r>
              <a:rPr dirty="0" sz="2050" spc="190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190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190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2050" spc="190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endParaRPr sz="2050">
              <a:latin typeface="Cambria"/>
              <a:cs typeface="Cambria"/>
            </a:endParaRPr>
          </a:p>
          <a:p>
            <a:pPr algn="ctr" marL="781685">
              <a:lnSpc>
                <a:spcPct val="100000"/>
              </a:lnSpc>
              <a:spcBef>
                <a:spcPts val="455"/>
              </a:spcBef>
            </a:pPr>
            <a:r>
              <a:rPr dirty="0" baseline="42005" sz="3075" i="1">
                <a:solidFill>
                  <a:srgbClr val="212121"/>
                </a:solidFill>
                <a:latin typeface="Calibri"/>
                <a:cs typeface="Calibri"/>
              </a:rPr>
              <a:t>V</a:t>
            </a:r>
            <a:r>
              <a:rPr dirty="0" baseline="42005" sz="3075" spc="-13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42005" sz="3075" spc="359" i="1">
                <a:solidFill>
                  <a:srgbClr val="212121"/>
                </a:solidFill>
                <a:latin typeface="Calibri"/>
                <a:cs typeface="Calibri"/>
              </a:rPr>
              <a:t>P</a:t>
            </a:r>
            <a:r>
              <a:rPr dirty="0" baseline="42005" sz="3075" spc="494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42005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42005" sz="3075" spc="7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2988" sz="2175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baseline="22988" sz="2175" spc="262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dirty="0" baseline="42005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42005" sz="3075" spc="56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2988" sz="2175">
                <a:solidFill>
                  <a:srgbClr val="212121"/>
                </a:solidFill>
                <a:latin typeface="Cambria"/>
                <a:cs typeface="Cambria"/>
              </a:rPr>
              <a:t>2</a:t>
            </a:r>
            <a:r>
              <a:rPr dirty="0" baseline="22988" sz="2175" spc="262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dirty="0" baseline="42005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42005" sz="3075" spc="5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2988" sz="2175">
                <a:solidFill>
                  <a:srgbClr val="212121"/>
                </a:solidFill>
                <a:latin typeface="Cambria"/>
                <a:cs typeface="Cambria"/>
              </a:rPr>
              <a:t>3</a:t>
            </a:r>
            <a:r>
              <a:rPr dirty="0" baseline="22988" sz="2175" spc="262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dirty="0" baseline="42005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42005" sz="3075" spc="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42005" sz="3075" spc="944">
                <a:solidFill>
                  <a:srgbClr val="212121"/>
                </a:solidFill>
                <a:latin typeface="Cambria"/>
                <a:cs typeface="Cambria"/>
              </a:rPr>
              <a:t>⋯</a:t>
            </a:r>
            <a:r>
              <a:rPr dirty="0" baseline="42005" sz="3075" spc="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42005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42005" sz="3075" spc="5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2988" sz="2175" spc="-30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endParaRPr baseline="22988" sz="2175">
              <a:latin typeface="Cambria"/>
              <a:cs typeface="Cambr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105607" y="4740922"/>
            <a:ext cx="970915" cy="6350"/>
          </a:xfrm>
          <a:custGeom>
            <a:avLst/>
            <a:gdLst/>
            <a:ahLst/>
            <a:cxnLst/>
            <a:rect l="l" t="t" r="r" b="b"/>
            <a:pathLst>
              <a:path w="970915" h="6350">
                <a:moveTo>
                  <a:pt x="970457" y="6350"/>
                </a:moveTo>
                <a:lnTo>
                  <a:pt x="0" y="6350"/>
                </a:lnTo>
                <a:lnTo>
                  <a:pt x="0" y="0"/>
                </a:lnTo>
                <a:lnTo>
                  <a:pt x="970457" y="0"/>
                </a:lnTo>
                <a:lnTo>
                  <a:pt x="97045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30"/>
              <a:t>Amortizações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68642" y="1955586"/>
            <a:ext cx="7291070" cy="287591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91465" indent="-240665">
              <a:lnSpc>
                <a:spcPct val="100000"/>
              </a:lnSpc>
              <a:spcBef>
                <a:spcPts val="409"/>
              </a:spcBef>
              <a:buFont typeface="Lucida Sans Unicode"/>
              <a:buChar char="•"/>
              <a:tabLst>
                <a:tab pos="291465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sabemos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financiamento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1,40%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a.m.:</a:t>
            </a:r>
            <a:endParaRPr sz="1950">
              <a:latin typeface="Tahoma"/>
              <a:cs typeface="Tahoma"/>
            </a:endParaRPr>
          </a:p>
          <a:p>
            <a:pPr lvl="1" marL="671830" marR="183515" indent="-240665">
              <a:lnSpc>
                <a:spcPct val="110000"/>
              </a:lnSpc>
              <a:spcBef>
                <a:spcPts val="45"/>
              </a:spcBef>
              <a:buSzPct val="95121"/>
              <a:buFont typeface="Lucida Sans Unicode"/>
              <a:buChar char="▪"/>
              <a:tabLst>
                <a:tab pos="1435735" algn="l"/>
                <a:tab pos="1694180" algn="l"/>
                <a:tab pos="2385060" algn="l"/>
                <a:tab pos="2778760" algn="l"/>
                <a:tab pos="3037205" algn="l"/>
                <a:tab pos="3728085" algn="l"/>
                <a:tab pos="4121785" algn="l"/>
                <a:tab pos="4380230" algn="l"/>
                <a:tab pos="5071110" algn="l"/>
                <a:tab pos="6085205" algn="l"/>
                <a:tab pos="6376035" algn="l"/>
                <a:tab pos="7098665" algn="l"/>
              </a:tabLst>
            </a:pPr>
            <a:r>
              <a:rPr dirty="0" baseline="-24390" sz="3075" spc="375">
                <a:solidFill>
                  <a:srgbClr val="212121"/>
                </a:solidFill>
                <a:latin typeface="Cambria"/>
                <a:cs typeface="Cambria"/>
              </a:rPr>
              <a:t>VP 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u="sng" sz="1450" spc="-1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1.000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sz="1450" spc="4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u="sng" sz="1450" spc="-1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1.000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sz="1450" spc="4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u="sng" sz="1450" spc="-1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1.000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sz="1450" spc="4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-24390" sz="3075" spc="35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-24390" sz="3075" spc="944">
                <a:solidFill>
                  <a:srgbClr val="212121"/>
                </a:solidFill>
                <a:latin typeface="Cambria"/>
                <a:cs typeface="Cambria"/>
              </a:rPr>
              <a:t>⋯</a:t>
            </a:r>
            <a:r>
              <a:rPr dirty="0" baseline="-24390" sz="3075" spc="35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baseline="-24390" sz="3075" spc="6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u="sng" sz="1450" spc="-1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1.000</a:t>
            </a:r>
            <a:r>
              <a:rPr dirty="0" u="sng" sz="145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Cambria"/>
                <a:cs typeface="Cambria"/>
              </a:rPr>
              <a:t>	</a:t>
            </a:r>
            <a:r>
              <a:rPr dirty="0" sz="14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dirty="0" sz="1450" spc="-10">
                <a:solidFill>
                  <a:srgbClr val="212121"/>
                </a:solidFill>
                <a:latin typeface="Cambria"/>
                <a:cs typeface="Cambria"/>
              </a:rPr>
              <a:t>(1+1,40%)</a:t>
            </a:r>
            <a:r>
              <a:rPr dirty="0" baseline="38888" sz="1500" spc="-15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baseline="38888" sz="1500">
                <a:solidFill>
                  <a:srgbClr val="212121"/>
                </a:solidFill>
                <a:latin typeface="Cambria"/>
                <a:cs typeface="Cambria"/>
              </a:rPr>
              <a:t>		</a:t>
            </a:r>
            <a:r>
              <a:rPr dirty="0" sz="1450" spc="-10">
                <a:solidFill>
                  <a:srgbClr val="212121"/>
                </a:solidFill>
                <a:latin typeface="Cambria"/>
                <a:cs typeface="Cambria"/>
              </a:rPr>
              <a:t>(1+1,40%)</a:t>
            </a:r>
            <a:r>
              <a:rPr dirty="0" baseline="38888" sz="1500" spc="-15">
                <a:solidFill>
                  <a:srgbClr val="212121"/>
                </a:solidFill>
                <a:latin typeface="Cambria"/>
                <a:cs typeface="Cambria"/>
              </a:rPr>
              <a:t>2</a:t>
            </a:r>
            <a:r>
              <a:rPr dirty="0" baseline="38888" sz="1500">
                <a:solidFill>
                  <a:srgbClr val="212121"/>
                </a:solidFill>
                <a:latin typeface="Cambria"/>
                <a:cs typeface="Cambria"/>
              </a:rPr>
              <a:t>		</a:t>
            </a:r>
            <a:r>
              <a:rPr dirty="0" sz="1450" spc="-10">
                <a:solidFill>
                  <a:srgbClr val="212121"/>
                </a:solidFill>
                <a:latin typeface="Cambria"/>
                <a:cs typeface="Cambria"/>
              </a:rPr>
              <a:t>(1+1,40%)</a:t>
            </a:r>
            <a:r>
              <a:rPr dirty="0" baseline="38888" sz="1500" spc="-15">
                <a:solidFill>
                  <a:srgbClr val="212121"/>
                </a:solidFill>
                <a:latin typeface="Cambria"/>
                <a:cs typeface="Cambria"/>
              </a:rPr>
              <a:t>3</a:t>
            </a:r>
            <a:r>
              <a:rPr dirty="0" baseline="38888" sz="1500">
                <a:solidFill>
                  <a:srgbClr val="212121"/>
                </a:solidFill>
                <a:latin typeface="Cambria"/>
                <a:cs typeface="Cambria"/>
              </a:rPr>
              <a:t>		</a:t>
            </a:r>
            <a:r>
              <a:rPr dirty="0" sz="1450" spc="-10">
                <a:solidFill>
                  <a:srgbClr val="212121"/>
                </a:solidFill>
                <a:latin typeface="Cambria"/>
                <a:cs typeface="Cambria"/>
              </a:rPr>
              <a:t>(1+1,40%)</a:t>
            </a:r>
            <a:r>
              <a:rPr dirty="0" baseline="38888" sz="1500" spc="-15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endParaRPr baseline="38888" sz="1500">
              <a:latin typeface="Cambria"/>
              <a:cs typeface="Cambria"/>
            </a:endParaRPr>
          </a:p>
          <a:p>
            <a:pPr lvl="1" marL="672465" indent="-240665">
              <a:lnSpc>
                <a:spcPct val="100000"/>
              </a:lnSpc>
              <a:spcBef>
                <a:spcPts val="969"/>
              </a:spcBef>
              <a:buSzPct val="95121"/>
              <a:buFont typeface="Lucida Sans Unicode"/>
              <a:buChar char="▪"/>
              <a:tabLst>
                <a:tab pos="672465" algn="l"/>
              </a:tabLst>
            </a:pP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986,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19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972,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58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959,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15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844">
                <a:solidFill>
                  <a:srgbClr val="212121"/>
                </a:solidFill>
                <a:latin typeface="Cambria"/>
                <a:cs typeface="Cambria"/>
              </a:rPr>
              <a:t>…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846,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34</a:t>
            </a:r>
            <a:endParaRPr sz="2050">
              <a:latin typeface="Cambria"/>
              <a:cs typeface="Cambria"/>
            </a:endParaRPr>
          </a:p>
          <a:p>
            <a:pPr lvl="1" marL="6724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72465" algn="l"/>
              </a:tabLst>
            </a:pP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10.975,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  <a:p>
            <a:pPr marL="291465" indent="-240665">
              <a:lnSpc>
                <a:spcPct val="100000"/>
              </a:lnSpc>
              <a:spcBef>
                <a:spcPts val="1019"/>
              </a:spcBef>
              <a:buFont typeface="Lucida Sans Unicode"/>
              <a:buChar char="•"/>
              <a:tabLst>
                <a:tab pos="2914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Podemos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0" b="1">
                <a:solidFill>
                  <a:srgbClr val="212121"/>
                </a:solidFill>
                <a:latin typeface="Trebuchet MS"/>
                <a:cs typeface="Trebuchet MS"/>
              </a:rPr>
              <a:t>VP</a:t>
            </a:r>
            <a:r>
              <a:rPr dirty="0" sz="1950" spc="-150" b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facilmente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através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7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2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11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ahoma"/>
              <a:cs typeface="Tahoma"/>
            </a:endParaRPr>
          </a:p>
          <a:p>
            <a:pPr marL="431800">
              <a:lnSpc>
                <a:spcPct val="100000"/>
              </a:lnSpc>
              <a:spcBef>
                <a:spcPts val="5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67062" y="5260498"/>
            <a:ext cx="134302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27066" y="5260498"/>
            <a:ext cx="486409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(11)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05801" y="5068252"/>
            <a:ext cx="140843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14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172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baseline="28735" sz="2175" spc="62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84236" y="5457031"/>
            <a:ext cx="100965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9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9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2988" sz="2175" spc="135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endParaRPr baseline="22988" sz="2175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528337" y="5468937"/>
            <a:ext cx="1362710" cy="6350"/>
          </a:xfrm>
          <a:custGeom>
            <a:avLst/>
            <a:gdLst/>
            <a:ahLst/>
            <a:cxnLst/>
            <a:rect l="l" t="t" r="r" b="b"/>
            <a:pathLst>
              <a:path w="1362710" h="6350">
                <a:moveTo>
                  <a:pt x="1362367" y="6350"/>
                </a:moveTo>
                <a:lnTo>
                  <a:pt x="0" y="6350"/>
                </a:lnTo>
                <a:lnTo>
                  <a:pt x="0" y="0"/>
                </a:lnTo>
                <a:lnTo>
                  <a:pt x="1362367" y="0"/>
                </a:lnTo>
                <a:lnTo>
                  <a:pt x="136236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06742" y="6036468"/>
            <a:ext cx="660654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Assim,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exemplo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acima,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através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9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11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temos: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87742" y="6575266"/>
            <a:ext cx="194818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90"/>
              </a:spcBef>
              <a:buSzPct val="95121"/>
              <a:buFont typeface="Lucida Sans Unicode"/>
              <a:buChar char="▪"/>
              <a:tabLst>
                <a:tab pos="253365" algn="l"/>
              </a:tabLst>
            </a:pPr>
            <a:r>
              <a:rPr dirty="0" sz="2050" spc="250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51802" y="6575266"/>
            <a:ext cx="429768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⋅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97576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10.975,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53714" y="6495891"/>
            <a:ext cx="130746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212121"/>
                </a:solidFill>
                <a:latin typeface="Cambria"/>
                <a:cs typeface="Cambria"/>
              </a:rPr>
              <a:t>(1+1,40%)</a:t>
            </a:r>
            <a:r>
              <a:rPr dirty="0" baseline="38888" sz="1500" spc="-15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r>
              <a:rPr dirty="0" baseline="38888" sz="1500" spc="-14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212121"/>
                </a:solidFill>
                <a:latin typeface="Cambria"/>
                <a:cs typeface="Cambria"/>
              </a:rPr>
              <a:t>−1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931477" y="6805136"/>
            <a:ext cx="153797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212121"/>
                </a:solidFill>
                <a:latin typeface="Cambria"/>
                <a:cs typeface="Cambria"/>
              </a:rPr>
              <a:t>1,40%(1+1,40%)</a:t>
            </a:r>
            <a:r>
              <a:rPr dirty="0" baseline="38888" sz="1500" spc="-15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endParaRPr baseline="38888" sz="1500">
              <a:latin typeface="Cambria"/>
              <a:cs typeface="Cambr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954185" y="6783679"/>
            <a:ext cx="1507490" cy="6350"/>
          </a:xfrm>
          <a:custGeom>
            <a:avLst/>
            <a:gdLst/>
            <a:ahLst/>
            <a:cxnLst/>
            <a:rect l="l" t="t" r="r" b="b"/>
            <a:pathLst>
              <a:path w="1507489" h="6350">
                <a:moveTo>
                  <a:pt x="1507185" y="6350"/>
                </a:moveTo>
                <a:lnTo>
                  <a:pt x="0" y="6350"/>
                </a:lnTo>
                <a:lnTo>
                  <a:pt x="0" y="0"/>
                </a:lnTo>
                <a:lnTo>
                  <a:pt x="1507185" y="0"/>
                </a:lnTo>
                <a:lnTo>
                  <a:pt x="1507185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05"/>
              <a:t>Capitalizações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3654" y="2051021"/>
            <a:ext cx="9053589" cy="43960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6900" y="6670040"/>
            <a:ext cx="339725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Figura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4: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Fluxo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Caixa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350" spc="-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 i="1">
                <a:solidFill>
                  <a:srgbClr val="212121"/>
                </a:solidFill>
                <a:latin typeface="Trebuchet MS"/>
                <a:cs typeface="Trebuchet MS"/>
              </a:rPr>
              <a:t>Capitalização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05"/>
              <a:t>Capitalizações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1342" y="1982121"/>
            <a:ext cx="12016105" cy="5154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8130" marR="30480" indent="-240665">
              <a:lnSpc>
                <a:spcPct val="111100"/>
              </a:lnSpc>
              <a:spcBef>
                <a:spcPts val="90"/>
              </a:spcBef>
              <a:buFont typeface="Lucida Sans Unicode"/>
              <a:buChar char="•"/>
              <a:tabLst>
                <a:tab pos="279400" algn="l"/>
              </a:tabLst>
            </a:pPr>
            <a:r>
              <a:rPr dirty="0" sz="1950" spc="-145" b="1">
                <a:solidFill>
                  <a:srgbClr val="212121"/>
                </a:solidFill>
                <a:latin typeface="Trebuchet MS"/>
                <a:cs typeface="Trebuchet MS"/>
              </a:rPr>
              <a:t>Ex.</a:t>
            </a:r>
            <a:r>
              <a:rPr dirty="0" sz="1950" spc="-14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Efetuar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12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depósitos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mensais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1.000,00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caderneta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poupança.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saldo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final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ano.</a:t>
            </a:r>
            <a:endParaRPr sz="1950">
              <a:latin typeface="Tahoma"/>
              <a:cs typeface="Tahoma"/>
            </a:endParaRPr>
          </a:p>
          <a:p>
            <a:pPr lvl="1" marL="6597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▪"/>
              <a:tabLst>
                <a:tab pos="659765" algn="l"/>
              </a:tabLst>
            </a:pP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depósitos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mensais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(ou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anuais)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denominadas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 b="1">
                <a:solidFill>
                  <a:srgbClr val="212121"/>
                </a:solidFill>
                <a:latin typeface="Trebuchet MS"/>
                <a:cs typeface="Trebuchet MS"/>
              </a:rPr>
              <a:t>PMT</a:t>
            </a:r>
            <a:endParaRPr sz="1950">
              <a:latin typeface="Trebuchet MS"/>
              <a:cs typeface="Trebuchet MS"/>
            </a:endParaRPr>
          </a:p>
          <a:p>
            <a:pPr lvl="1" marL="659765" indent="-240665">
              <a:lnSpc>
                <a:spcPct val="100000"/>
              </a:lnSpc>
              <a:spcBef>
                <a:spcPts val="1200"/>
              </a:spcBef>
              <a:buFont typeface="Lucida Sans Unicode"/>
              <a:buChar char="▪"/>
              <a:tabLst>
                <a:tab pos="659765" algn="l"/>
              </a:tabLst>
            </a:pPr>
            <a:r>
              <a:rPr dirty="0" sz="1950" spc="-75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montante,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 b="1">
                <a:solidFill>
                  <a:srgbClr val="212121"/>
                </a:solidFill>
                <a:latin typeface="Trebuchet MS"/>
                <a:cs typeface="Trebuchet MS"/>
              </a:rPr>
              <a:t>M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levando-</a:t>
            </a: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futuro,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aplicando-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juros,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95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212121"/>
              </a:buClr>
              <a:buFont typeface="Lucida Sans Unicode"/>
              <a:buChar char="▪"/>
            </a:pPr>
            <a:endParaRPr sz="1950">
              <a:latin typeface="Tahoma"/>
              <a:cs typeface="Tahoma"/>
            </a:endParaRPr>
          </a:p>
          <a:p>
            <a:pPr marL="800100">
              <a:lnSpc>
                <a:spcPct val="100000"/>
              </a:lnSpc>
            </a:pPr>
            <a:r>
              <a:rPr dirty="0" sz="1950" spc="-50">
                <a:solidFill>
                  <a:srgbClr val="212121"/>
                </a:solidFill>
                <a:latin typeface="Lucida Sans Unicode"/>
                <a:cs typeface="Lucida Sans Unicode"/>
              </a:rPr>
              <a:t>◦</a:t>
            </a:r>
            <a:endParaRPr sz="1950">
              <a:latin typeface="Lucida Sans Unicode"/>
              <a:cs typeface="Lucida Sans Unicode"/>
            </a:endParaRPr>
          </a:p>
          <a:p>
            <a:pPr marL="2129155">
              <a:lnSpc>
                <a:spcPct val="100000"/>
              </a:lnSpc>
              <a:spcBef>
                <a:spcPts val="2155"/>
              </a:spcBef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5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15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r>
              <a:rPr dirty="0" baseline="32567" sz="2175" spc="419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15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>
                <a:solidFill>
                  <a:srgbClr val="212121"/>
                </a:solidFill>
                <a:latin typeface="Cambria"/>
                <a:cs typeface="Cambria"/>
              </a:rPr>
              <a:t>11</a:t>
            </a:r>
            <a:r>
              <a:rPr dirty="0" baseline="32567" sz="2175" spc="419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15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>
                <a:solidFill>
                  <a:srgbClr val="212121"/>
                </a:solidFill>
                <a:latin typeface="Cambria"/>
                <a:cs typeface="Cambria"/>
              </a:rPr>
              <a:t>10</a:t>
            </a:r>
            <a:r>
              <a:rPr dirty="0" baseline="32567" sz="2175" spc="419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630">
                <a:solidFill>
                  <a:srgbClr val="212121"/>
                </a:solidFill>
                <a:latin typeface="Cambria"/>
                <a:cs typeface="Cambria"/>
              </a:rPr>
              <a:t>⋯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15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32567" sz="2175" spc="-37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baseline="32567" sz="2175">
              <a:latin typeface="Cambria"/>
              <a:cs typeface="Cambria"/>
            </a:endParaRPr>
          </a:p>
          <a:p>
            <a:pPr lvl="1" marL="659765" indent="-240665">
              <a:lnSpc>
                <a:spcPct val="100000"/>
              </a:lnSpc>
              <a:spcBef>
                <a:spcPts val="2355"/>
              </a:spcBef>
              <a:buFont typeface="Lucida Sans Unicode"/>
              <a:buChar char="▪"/>
              <a:tabLst>
                <a:tab pos="659765" algn="l"/>
              </a:tabLst>
            </a:pP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Sabe-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que:</a:t>
            </a:r>
            <a:endParaRPr sz="1950">
              <a:latin typeface="Tahoma"/>
              <a:cs typeface="Tahoma"/>
            </a:endParaRPr>
          </a:p>
          <a:p>
            <a:pPr lvl="2" marL="1040765" indent="-240665">
              <a:lnSpc>
                <a:spcPct val="100000"/>
              </a:lnSpc>
              <a:spcBef>
                <a:spcPts val="1075"/>
              </a:spcBef>
              <a:buFont typeface="Lucida Sans Unicode"/>
              <a:buChar char="◦"/>
              <a:tabLst>
                <a:tab pos="1040765" algn="l"/>
              </a:tabLst>
            </a:pPr>
            <a:r>
              <a:rPr dirty="0" sz="1950" spc="-114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2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poupança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4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50%</a:t>
            </a:r>
            <a:r>
              <a:rPr dirty="0" sz="2050" spc="7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a.m.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 lvl="2" marL="10407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◦"/>
              <a:tabLst>
                <a:tab pos="1040765" algn="l"/>
              </a:tabLst>
            </a:pPr>
            <a:r>
              <a:rPr dirty="0" sz="2050" spc="215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  <a:p>
            <a:pPr lvl="1" marL="659765" indent="-240665">
              <a:lnSpc>
                <a:spcPct val="100000"/>
              </a:lnSpc>
              <a:spcBef>
                <a:spcPts val="1165"/>
              </a:spcBef>
              <a:buFont typeface="Lucida Sans Unicode"/>
              <a:buChar char="▪"/>
              <a:tabLst>
                <a:tab pos="6597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Então:</a:t>
            </a:r>
            <a:endParaRPr sz="1950">
              <a:latin typeface="Tahoma"/>
              <a:cs typeface="Tahoma"/>
            </a:endParaRPr>
          </a:p>
          <a:p>
            <a:pPr lvl="2" marL="10407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◦"/>
              <a:tabLst>
                <a:tab pos="10407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15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1.000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Cambria"/>
                <a:cs typeface="Cambria"/>
              </a:rPr>
              <a:t>50%)</a:t>
            </a:r>
            <a:r>
              <a:rPr dirty="0" baseline="28735" sz="2175" spc="-89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r>
              <a:rPr dirty="0" baseline="28735" sz="2175" spc="38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1.000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Cambria"/>
                <a:cs typeface="Cambria"/>
              </a:rPr>
              <a:t>50%)</a:t>
            </a:r>
            <a:r>
              <a:rPr dirty="0" baseline="28735" sz="2175" spc="-89">
                <a:solidFill>
                  <a:srgbClr val="212121"/>
                </a:solidFill>
                <a:latin typeface="Cambria"/>
                <a:cs typeface="Cambria"/>
              </a:rPr>
              <a:t>11</a:t>
            </a:r>
            <a:r>
              <a:rPr dirty="0" baseline="28735" sz="2175" spc="3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630">
                <a:solidFill>
                  <a:srgbClr val="212121"/>
                </a:solidFill>
                <a:latin typeface="Cambria"/>
                <a:cs typeface="Cambria"/>
              </a:rPr>
              <a:t>⋯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5">
                <a:solidFill>
                  <a:srgbClr val="212121"/>
                </a:solidFill>
                <a:latin typeface="Cambria"/>
                <a:cs typeface="Cambria"/>
              </a:rPr>
              <a:t>1.000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50%)</a:t>
            </a:r>
            <a:r>
              <a:rPr dirty="0" baseline="28735" sz="2175" spc="-15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baseline="28735" sz="2175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05"/>
              <a:t>Capitalizações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9442" y="-37911"/>
            <a:ext cx="6380480" cy="225298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240665" indent="-240665">
              <a:lnSpc>
                <a:spcPct val="100000"/>
              </a:lnSpc>
              <a:spcBef>
                <a:spcPts val="1175"/>
              </a:spcBef>
              <a:buFont typeface="Lucida Sans Unicode"/>
              <a:buChar char="•"/>
              <a:tabLst>
                <a:tab pos="2406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Então:</a:t>
            </a:r>
            <a:endParaRPr sz="1950">
              <a:latin typeface="Tahoma"/>
              <a:cs typeface="Tahoma"/>
            </a:endParaRPr>
          </a:p>
          <a:p>
            <a:pPr lvl="1" marL="621665" indent="-240665">
              <a:lnSpc>
                <a:spcPct val="100000"/>
              </a:lnSpc>
              <a:spcBef>
                <a:spcPts val="1075"/>
              </a:spcBef>
              <a:buSzPct val="95121"/>
              <a:buFont typeface="Lucida Sans Unicode"/>
              <a:buChar char="▪"/>
              <a:tabLst>
                <a:tab pos="6216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1061,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68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1056,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40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1051,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14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844">
                <a:solidFill>
                  <a:srgbClr val="212121"/>
                </a:solidFill>
                <a:latin typeface="Cambria"/>
                <a:cs typeface="Cambria"/>
              </a:rPr>
              <a:t>…</a:t>
            </a:r>
            <a:r>
              <a:rPr dirty="0" sz="20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1005,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  <a:p>
            <a:pPr lvl="1" marL="621665" indent="-240665">
              <a:lnSpc>
                <a:spcPct val="100000"/>
              </a:lnSpc>
              <a:spcBef>
                <a:spcPts val="1070"/>
              </a:spcBef>
              <a:buSzPct val="95121"/>
              <a:buFont typeface="Lucida Sans Unicode"/>
              <a:buChar char="▪"/>
              <a:tabLst>
                <a:tab pos="621665" algn="l"/>
              </a:tabLst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7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12.336,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  <a:p>
            <a:pPr marL="240665" indent="-240665">
              <a:lnSpc>
                <a:spcPct val="100000"/>
              </a:lnSpc>
              <a:spcBef>
                <a:spcPts val="1170"/>
              </a:spcBef>
              <a:buFont typeface="Lucida Sans Unicode"/>
              <a:buChar char="•"/>
              <a:tabLst>
                <a:tab pos="2406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Podemos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calcular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b="1">
                <a:solidFill>
                  <a:srgbClr val="212121"/>
                </a:solidFill>
                <a:latin typeface="Trebuchet MS"/>
                <a:cs typeface="Trebuchet MS"/>
              </a:rPr>
              <a:t>M</a:t>
            </a:r>
            <a:r>
              <a:rPr dirty="0" sz="1950" spc="-150" b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facilmente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através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7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2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12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1200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313271" y="2644298"/>
            <a:ext cx="124460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6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90">
                <a:solidFill>
                  <a:srgbClr val="212121"/>
                </a:solidFill>
                <a:latin typeface="Cambria"/>
                <a:cs typeface="Cambria"/>
              </a:rPr>
              <a:t>PMT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74824" y="2644298"/>
            <a:ext cx="486409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(12)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53584" y="2452052"/>
            <a:ext cx="140843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14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172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baseline="28735" sz="2175" spc="62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00015" y="2821940"/>
            <a:ext cx="11493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17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576114" y="2852737"/>
            <a:ext cx="1362710" cy="6350"/>
          </a:xfrm>
          <a:custGeom>
            <a:avLst/>
            <a:gdLst/>
            <a:ahLst/>
            <a:cxnLst/>
            <a:rect l="l" t="t" r="r" b="b"/>
            <a:pathLst>
              <a:path w="1362710" h="6350">
                <a:moveTo>
                  <a:pt x="1362367" y="6350"/>
                </a:moveTo>
                <a:lnTo>
                  <a:pt x="0" y="6350"/>
                </a:lnTo>
                <a:lnTo>
                  <a:pt x="0" y="0"/>
                </a:lnTo>
                <a:lnTo>
                  <a:pt x="1362367" y="0"/>
                </a:lnTo>
                <a:lnTo>
                  <a:pt x="136236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19442" y="3213544"/>
            <a:ext cx="6581140" cy="91821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40665" indent="-240665">
              <a:lnSpc>
                <a:spcPct val="100000"/>
              </a:lnSpc>
              <a:spcBef>
                <a:spcPts val="1265"/>
              </a:spcBef>
              <a:buFont typeface="Lucida Sans Unicode"/>
              <a:buChar char="•"/>
              <a:tabLst>
                <a:tab pos="240665" algn="l"/>
              </a:tabLst>
            </a:pPr>
            <a:r>
              <a:rPr dirty="0" sz="1950" spc="-55">
                <a:solidFill>
                  <a:srgbClr val="212121"/>
                </a:solidFill>
                <a:latin typeface="Tahoma"/>
                <a:cs typeface="Tahoma"/>
              </a:rPr>
              <a:t>Assim,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exemplo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acima,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212121"/>
                </a:solidFill>
                <a:latin typeface="Tahoma"/>
                <a:cs typeface="Tahoma"/>
              </a:rPr>
              <a:t>através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8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9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12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temos:</a:t>
            </a:r>
            <a:endParaRPr sz="19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1175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30947" y="4559617"/>
            <a:ext cx="160845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225" i="1">
                <a:solidFill>
                  <a:srgbClr val="212121"/>
                </a:solidFill>
                <a:latin typeface="Calibri"/>
                <a:cs typeface="Calibri"/>
              </a:rPr>
              <a:t>M</a:t>
            </a:r>
            <a:r>
              <a:rPr dirty="0" sz="2050" spc="29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94343" y="4559617"/>
            <a:ext cx="403860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1.000,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 </a:t>
            </a: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12,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Cambria"/>
                <a:cs typeface="Cambria"/>
              </a:rPr>
              <a:t>336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sz="2050" spc="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00">
                <a:solidFill>
                  <a:srgbClr val="212121"/>
                </a:solidFill>
                <a:latin typeface="Cambria"/>
                <a:cs typeface="Cambria"/>
              </a:rPr>
              <a:t>R$</a:t>
            </a:r>
            <a:r>
              <a:rPr dirty="0" sz="205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12.335,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56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34798" y="4367371"/>
            <a:ext cx="209232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8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Cambria"/>
                <a:cs typeface="Cambria"/>
              </a:rPr>
              <a:t>50%)</a:t>
            </a:r>
            <a:r>
              <a:rPr dirty="0" baseline="28735" sz="2175" spc="-89">
                <a:solidFill>
                  <a:srgbClr val="212121"/>
                </a:solidFill>
                <a:latin typeface="Cambria"/>
                <a:cs typeface="Cambria"/>
              </a:rPr>
              <a:t>12</a:t>
            </a:r>
            <a:r>
              <a:rPr dirty="0" baseline="28735" sz="2175" spc="33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 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508216" y="4751704"/>
            <a:ext cx="74549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Cambria"/>
                <a:cs typeface="Cambria"/>
              </a:rPr>
              <a:t>50%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857347" y="4768062"/>
            <a:ext cx="2046605" cy="6350"/>
          </a:xfrm>
          <a:custGeom>
            <a:avLst/>
            <a:gdLst/>
            <a:ahLst/>
            <a:cxnLst/>
            <a:rect l="l" t="t" r="r" b="b"/>
            <a:pathLst>
              <a:path w="2046604" h="6350">
                <a:moveTo>
                  <a:pt x="2046579" y="6350"/>
                </a:moveTo>
                <a:lnTo>
                  <a:pt x="0" y="6350"/>
                </a:lnTo>
                <a:lnTo>
                  <a:pt x="0" y="0"/>
                </a:lnTo>
                <a:lnTo>
                  <a:pt x="2046579" y="0"/>
                </a:lnTo>
                <a:lnTo>
                  <a:pt x="2046579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4941570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70"/>
              <a:t> </a:t>
            </a:r>
            <a:r>
              <a:rPr dirty="0" spc="-100"/>
              <a:t>Cálculo</a:t>
            </a:r>
            <a:r>
              <a:rPr dirty="0" spc="-265"/>
              <a:t> </a:t>
            </a:r>
            <a:r>
              <a:rPr dirty="0" spc="-35"/>
              <a:t>da</a:t>
            </a:r>
            <a:r>
              <a:rPr dirty="0" spc="-270"/>
              <a:t> </a:t>
            </a:r>
            <a:r>
              <a:rPr dirty="0" spc="-85"/>
              <a:t>renda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9442" y="76569"/>
            <a:ext cx="11920220" cy="11226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029" indent="-240665">
              <a:lnSpc>
                <a:spcPct val="106300"/>
              </a:lnSpc>
              <a:spcBef>
                <a:spcPts val="125"/>
              </a:spcBef>
              <a:buFont typeface="Lucida Sans Unicode"/>
              <a:buChar char="•"/>
              <a:tabLst>
                <a:tab pos="241300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calcular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renda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(ou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prestação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empréstimo)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sobre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presente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ativo,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7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1950" spc="7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165" i="1">
                <a:solidFill>
                  <a:srgbClr val="212121"/>
                </a:solidFill>
                <a:latin typeface="Calibri"/>
                <a:cs typeface="Calibri"/>
              </a:rPr>
              <a:t>n</a:t>
            </a:r>
            <a:r>
              <a:rPr dirty="0" sz="2050" spc="8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períodos,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basta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utilizar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equações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abaixo:</a:t>
            </a:r>
            <a:endParaRPr sz="19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1170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58326" y="1604803"/>
            <a:ext cx="93916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430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sz="2050" spc="10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sz="2050" spc="1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225">
                <a:solidFill>
                  <a:srgbClr val="212121"/>
                </a:solidFill>
                <a:latin typeface="Cambria"/>
                <a:cs typeface="Cambria"/>
              </a:rPr>
              <a:t>VP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20099" y="1604803"/>
            <a:ext cx="37147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25">
                <a:solidFill>
                  <a:srgbClr val="212121"/>
                </a:solidFill>
                <a:latin typeface="Cambria"/>
                <a:cs typeface="Cambria"/>
              </a:rPr>
              <a:t>ou;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13378" y="1412557"/>
            <a:ext cx="112776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50" spc="18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80">
                <a:solidFill>
                  <a:srgbClr val="212121"/>
                </a:solidFill>
                <a:latin typeface="Cambria"/>
                <a:cs typeface="Cambria"/>
              </a:rPr>
              <a:t>.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3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8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85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8735" sz="2175" spc="127" i="1">
                <a:solidFill>
                  <a:srgbClr val="212121"/>
                </a:solidFill>
                <a:latin typeface="Calibri"/>
                <a:cs typeface="Calibri"/>
              </a:rPr>
              <a:t>n</a:t>
            </a:r>
            <a:endParaRPr baseline="28735" sz="2175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92569" y="1796891"/>
            <a:ext cx="138874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1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1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2988" sz="2175" spc="165" i="1">
                <a:solidFill>
                  <a:srgbClr val="212121"/>
                </a:solidFill>
                <a:latin typeface="Calibri"/>
                <a:cs typeface="Calibri"/>
              </a:rPr>
              <a:t>n</a:t>
            </a:r>
            <a:r>
              <a:rPr dirty="0" baseline="22988" sz="2175" spc="38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615265" y="1813217"/>
            <a:ext cx="1343660" cy="6350"/>
          </a:xfrm>
          <a:custGeom>
            <a:avLst/>
            <a:gdLst/>
            <a:ahLst/>
            <a:cxnLst/>
            <a:rect l="l" t="t" r="r" b="b"/>
            <a:pathLst>
              <a:path w="1343659" h="6350">
                <a:moveTo>
                  <a:pt x="1343177" y="6349"/>
                </a:moveTo>
                <a:lnTo>
                  <a:pt x="0" y="6349"/>
                </a:lnTo>
                <a:lnTo>
                  <a:pt x="0" y="0"/>
                </a:lnTo>
                <a:lnTo>
                  <a:pt x="1343177" y="0"/>
                </a:lnTo>
                <a:lnTo>
                  <a:pt x="1343177" y="6349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87742" y="2395061"/>
            <a:ext cx="1663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550177" y="3302292"/>
            <a:ext cx="1485900" cy="6350"/>
          </a:xfrm>
          <a:custGeom>
            <a:avLst/>
            <a:gdLst/>
            <a:ahLst/>
            <a:cxnLst/>
            <a:rect l="l" t="t" r="r" b="b"/>
            <a:pathLst>
              <a:path w="1485900" h="6350">
                <a:moveTo>
                  <a:pt x="1485607" y="6350"/>
                </a:moveTo>
                <a:lnTo>
                  <a:pt x="0" y="6350"/>
                </a:lnTo>
                <a:lnTo>
                  <a:pt x="0" y="0"/>
                </a:lnTo>
                <a:lnTo>
                  <a:pt x="1485607" y="0"/>
                </a:lnTo>
                <a:lnTo>
                  <a:pt x="1485607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94042" y="2862484"/>
            <a:ext cx="12088495" cy="212217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ctr" marL="1309370">
              <a:lnSpc>
                <a:spcPct val="100000"/>
              </a:lnSpc>
              <a:spcBef>
                <a:spcPts val="530"/>
              </a:spcBef>
            </a:pPr>
            <a:r>
              <a:rPr dirty="0" sz="2050" spc="215">
                <a:solidFill>
                  <a:srgbClr val="212121"/>
                </a:solidFill>
                <a:latin typeface="Cambria"/>
                <a:cs typeface="Cambria"/>
              </a:rPr>
              <a:t>VP.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75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endParaRPr sz="2050">
              <a:latin typeface="Calibri"/>
              <a:cs typeface="Calibri"/>
            </a:endParaRPr>
          </a:p>
          <a:p>
            <a:pPr algn="ctr" marL="701675">
              <a:lnSpc>
                <a:spcPct val="100000"/>
              </a:lnSpc>
              <a:spcBef>
                <a:spcPts val="434"/>
              </a:spcBef>
            </a:pPr>
            <a:r>
              <a:rPr dirty="0" baseline="40650" sz="3075" spc="644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40650" sz="3075" spc="11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40650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40650" sz="3075" spc="6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(1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140" i="1">
                <a:solidFill>
                  <a:srgbClr val="212121"/>
                </a:solidFill>
                <a:latin typeface="Calibri"/>
                <a:cs typeface="Calibri"/>
              </a:rPr>
              <a:t>i</a:t>
            </a:r>
            <a:r>
              <a:rPr dirty="0" sz="2050" spc="140">
                <a:solidFill>
                  <a:srgbClr val="212121"/>
                </a:solidFill>
                <a:latin typeface="Cambria"/>
                <a:cs typeface="Cambria"/>
              </a:rPr>
              <a:t>)</a:t>
            </a:r>
            <a:r>
              <a:rPr dirty="0" baseline="22988" sz="2175" spc="209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baseline="22988" sz="2175" spc="209" i="1">
                <a:solidFill>
                  <a:srgbClr val="212121"/>
                </a:solidFill>
                <a:latin typeface="Calibri"/>
                <a:cs typeface="Calibri"/>
              </a:rPr>
              <a:t>n</a:t>
            </a:r>
            <a:endParaRPr baseline="22988" sz="2175">
              <a:latin typeface="Calibri"/>
              <a:cs typeface="Calibri"/>
            </a:endParaRPr>
          </a:p>
          <a:p>
            <a:pPr marL="265430" marR="17780" indent="-240665">
              <a:lnSpc>
                <a:spcPct val="110000"/>
              </a:lnSpc>
              <a:spcBef>
                <a:spcPts val="2055"/>
              </a:spcBef>
              <a:buFont typeface="Lucida Sans Unicode"/>
              <a:buChar char="•"/>
              <a:tabLst>
                <a:tab pos="266700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Exemplo: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Dado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presente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R$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>
                <a:solidFill>
                  <a:srgbClr val="212121"/>
                </a:solidFill>
                <a:latin typeface="Tahoma"/>
                <a:cs typeface="Tahoma"/>
              </a:rPr>
              <a:t>4.000,00,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taxa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30">
                <a:solidFill>
                  <a:srgbClr val="212121"/>
                </a:solidFill>
                <a:latin typeface="Tahoma"/>
                <a:cs typeface="Tahoma"/>
              </a:rPr>
              <a:t>0,76%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a.m.,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calcule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prestação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pagamento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12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prestações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mensais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iguais:</a:t>
            </a:r>
            <a:endParaRPr sz="1950">
              <a:latin typeface="Tahoma"/>
              <a:cs typeface="Tahoma"/>
            </a:endParaRPr>
          </a:p>
          <a:p>
            <a:pPr marL="406400">
              <a:lnSpc>
                <a:spcPct val="100000"/>
              </a:lnSpc>
              <a:spcBef>
                <a:spcPts val="1175"/>
              </a:spcBef>
            </a:pPr>
            <a:r>
              <a:rPr dirty="0" sz="1950" spc="65">
                <a:solidFill>
                  <a:srgbClr val="212121"/>
                </a:solidFill>
                <a:latin typeface="Lucida Sans Unicode"/>
                <a:cs typeface="Lucida Sans Unicode"/>
              </a:rPr>
              <a:t>▪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47026" y="5570696"/>
            <a:ext cx="280416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42005" sz="3075" spc="644" i="1">
                <a:solidFill>
                  <a:srgbClr val="212121"/>
                </a:solidFill>
                <a:latin typeface="Calibri"/>
                <a:cs typeface="Calibri"/>
              </a:rPr>
              <a:t>R</a:t>
            </a:r>
            <a:r>
              <a:rPr dirty="0" baseline="42005" sz="3075" spc="112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42005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42005" sz="3075" spc="69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(1</a:t>
            </a:r>
            <a:r>
              <a:rPr dirty="0" sz="20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+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Cambria"/>
                <a:cs typeface="Cambria"/>
              </a:rPr>
              <a:t>76%)</a:t>
            </a:r>
            <a:r>
              <a:rPr dirty="0" baseline="22988" sz="2175" spc="-15">
                <a:solidFill>
                  <a:srgbClr val="212121"/>
                </a:solidFill>
                <a:latin typeface="Cambria"/>
                <a:cs typeface="Cambria"/>
              </a:rPr>
              <a:t>−12</a:t>
            </a:r>
            <a:endParaRPr baseline="22988" sz="2175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12969" y="5553551"/>
            <a:ext cx="289052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940" sz="3075" spc="660">
                <a:solidFill>
                  <a:srgbClr val="212121"/>
                </a:solidFill>
                <a:latin typeface="Cambria"/>
                <a:cs typeface="Cambria"/>
              </a:rPr>
              <a:t>=</a:t>
            </a:r>
            <a:r>
              <a:rPr dirty="0" baseline="37940" sz="3075" spc="54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1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44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2050" spc="-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70">
                <a:solidFill>
                  <a:srgbClr val="212121"/>
                </a:solidFill>
                <a:latin typeface="Cambria"/>
                <a:cs typeface="Cambria"/>
              </a:rPr>
              <a:t>91315</a:t>
            </a:r>
            <a:r>
              <a:rPr dirty="0" sz="2050" spc="4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37940" sz="3075" spc="660">
                <a:solidFill>
                  <a:srgbClr val="212121"/>
                </a:solidFill>
                <a:latin typeface="Cambria"/>
                <a:cs typeface="Cambria"/>
              </a:rPr>
              <a:t>≈</a:t>
            </a:r>
            <a:r>
              <a:rPr dirty="0" baseline="37940" sz="3075" spc="12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37940" sz="3075" spc="-97">
                <a:solidFill>
                  <a:srgbClr val="212121"/>
                </a:solidFill>
                <a:latin typeface="Cambria"/>
                <a:cs typeface="Cambria"/>
              </a:rPr>
              <a:t>350,</a:t>
            </a:r>
            <a:r>
              <a:rPr dirty="0" baseline="37940" sz="3075" spc="-172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baseline="37940" sz="3075" spc="-37">
                <a:solidFill>
                  <a:srgbClr val="212121"/>
                </a:solidFill>
                <a:latin typeface="Cambria"/>
                <a:cs typeface="Cambria"/>
              </a:rPr>
              <a:t>00</a:t>
            </a:r>
            <a:endParaRPr baseline="37940" sz="3075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28259" y="5198268"/>
            <a:ext cx="145034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30">
                <a:solidFill>
                  <a:srgbClr val="212121"/>
                </a:solidFill>
                <a:latin typeface="Cambria"/>
                <a:cs typeface="Cambria"/>
              </a:rPr>
              <a:t>4000</a:t>
            </a:r>
            <a:r>
              <a:rPr dirty="0" sz="2050" spc="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⋅</a:t>
            </a:r>
            <a:r>
              <a:rPr dirty="0" sz="2050" spc="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212121"/>
                </a:solidFill>
                <a:latin typeface="Cambria"/>
                <a:cs typeface="Cambria"/>
              </a:rPr>
              <a:t>0,</a:t>
            </a:r>
            <a:r>
              <a:rPr dirty="0" sz="2050" spc="-11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95">
                <a:solidFill>
                  <a:srgbClr val="212121"/>
                </a:solidFill>
                <a:latin typeface="Cambria"/>
                <a:cs typeface="Cambria"/>
              </a:rPr>
              <a:t>76%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758677" y="5584329"/>
            <a:ext cx="2189480" cy="6350"/>
          </a:xfrm>
          <a:custGeom>
            <a:avLst/>
            <a:gdLst/>
            <a:ahLst/>
            <a:cxnLst/>
            <a:rect l="l" t="t" r="r" b="b"/>
            <a:pathLst>
              <a:path w="2189479" h="6350">
                <a:moveTo>
                  <a:pt x="2189162" y="6350"/>
                </a:moveTo>
                <a:lnTo>
                  <a:pt x="0" y="6350"/>
                </a:lnTo>
                <a:lnTo>
                  <a:pt x="0" y="0"/>
                </a:lnTo>
                <a:lnTo>
                  <a:pt x="2189162" y="0"/>
                </a:lnTo>
                <a:lnTo>
                  <a:pt x="2189162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775892" y="5198268"/>
            <a:ext cx="52959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45">
                <a:solidFill>
                  <a:srgbClr val="212121"/>
                </a:solidFill>
                <a:latin typeface="Cambria"/>
                <a:cs typeface="Cambria"/>
              </a:rPr>
              <a:t>30,</a:t>
            </a:r>
            <a:r>
              <a:rPr dirty="0" sz="2050" spc="-9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Cambria"/>
                <a:cs typeface="Cambria"/>
              </a:rPr>
              <a:t>4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355826" y="5584329"/>
            <a:ext cx="1369695" cy="6350"/>
          </a:xfrm>
          <a:custGeom>
            <a:avLst/>
            <a:gdLst/>
            <a:ahLst/>
            <a:cxnLst/>
            <a:rect l="l" t="t" r="r" b="b"/>
            <a:pathLst>
              <a:path w="1369695" h="6350">
                <a:moveTo>
                  <a:pt x="1369364" y="6350"/>
                </a:moveTo>
                <a:lnTo>
                  <a:pt x="0" y="6350"/>
                </a:lnTo>
                <a:lnTo>
                  <a:pt x="0" y="0"/>
                </a:lnTo>
                <a:lnTo>
                  <a:pt x="1369364" y="0"/>
                </a:lnTo>
                <a:lnTo>
                  <a:pt x="1369364" y="635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1262221"/>
            <a:ext cx="4979670" cy="50863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60"/>
              <a:t> </a:t>
            </a:r>
            <a:r>
              <a:rPr dirty="0" spc="-100"/>
              <a:t>Cálculo</a:t>
            </a:r>
            <a:r>
              <a:rPr dirty="0" spc="-260"/>
              <a:t> </a:t>
            </a:r>
            <a:r>
              <a:rPr dirty="0" spc="-50"/>
              <a:t>dos</a:t>
            </a:r>
            <a:r>
              <a:rPr dirty="0" spc="-254"/>
              <a:t> </a:t>
            </a:r>
            <a:r>
              <a:rPr dirty="0" spc="-105"/>
              <a:t>juros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2010410"/>
            <a:ext cx="1061339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cálculo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dos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juros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necessária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utilização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algum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algoritmo,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pois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há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fórmula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fechada!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09600" y="2537764"/>
            <a:ext cx="12192000" cy="307340"/>
            <a:chOff x="609600" y="2537764"/>
            <a:chExt cx="12192000" cy="307340"/>
          </a:xfrm>
        </p:grpSpPr>
        <p:sp>
          <p:nvSpPr>
            <p:cNvPr id="5" name="object 5" descr=""/>
            <p:cNvSpPr/>
            <p:nvPr/>
          </p:nvSpPr>
          <p:spPr>
            <a:xfrm>
              <a:off x="609600" y="2537764"/>
              <a:ext cx="12192000" cy="307340"/>
            </a:xfrm>
            <a:custGeom>
              <a:avLst/>
              <a:gdLst/>
              <a:ahLst/>
              <a:cxnLst/>
              <a:rect l="l" t="t" r="r" b="b"/>
              <a:pathLst>
                <a:path w="12192000" h="307339">
                  <a:moveTo>
                    <a:pt x="12153900" y="306882"/>
                  </a:moveTo>
                  <a:lnTo>
                    <a:pt x="38100" y="306882"/>
                  </a:lnTo>
                  <a:lnTo>
                    <a:pt x="23274" y="303888"/>
                  </a:lnTo>
                  <a:lnTo>
                    <a:pt x="11163" y="295724"/>
                  </a:lnTo>
                  <a:lnTo>
                    <a:pt x="2995" y="283613"/>
                  </a:lnTo>
                  <a:lnTo>
                    <a:pt x="0" y="268782"/>
                  </a:lnTo>
                  <a:lnTo>
                    <a:pt x="0" y="38100"/>
                  </a:lnTo>
                  <a:lnTo>
                    <a:pt x="2995" y="23274"/>
                  </a:lnTo>
                  <a:lnTo>
                    <a:pt x="11163" y="11163"/>
                  </a:lnTo>
                  <a:lnTo>
                    <a:pt x="23274" y="2995"/>
                  </a:lnTo>
                  <a:lnTo>
                    <a:pt x="38100" y="0"/>
                  </a:lnTo>
                  <a:lnTo>
                    <a:pt x="12153900" y="0"/>
                  </a:lnTo>
                  <a:lnTo>
                    <a:pt x="12168725" y="2995"/>
                  </a:lnTo>
                  <a:lnTo>
                    <a:pt x="12180836" y="11163"/>
                  </a:lnTo>
                  <a:lnTo>
                    <a:pt x="12189004" y="23274"/>
                  </a:lnTo>
                  <a:lnTo>
                    <a:pt x="12192000" y="38100"/>
                  </a:lnTo>
                  <a:lnTo>
                    <a:pt x="12192000" y="268782"/>
                  </a:lnTo>
                  <a:lnTo>
                    <a:pt x="12189004" y="283613"/>
                  </a:lnTo>
                  <a:lnTo>
                    <a:pt x="12180836" y="295724"/>
                  </a:lnTo>
                  <a:lnTo>
                    <a:pt x="12168725" y="303888"/>
                  </a:lnTo>
                  <a:lnTo>
                    <a:pt x="12153900" y="306882"/>
                  </a:lnTo>
                  <a:close/>
                </a:path>
              </a:pathLst>
            </a:custGeom>
            <a:solidFill>
              <a:srgbClr val="F0F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9600" y="2537764"/>
              <a:ext cx="12192000" cy="307340"/>
            </a:xfrm>
            <a:custGeom>
              <a:avLst/>
              <a:gdLst/>
              <a:ahLst/>
              <a:cxnLst/>
              <a:rect l="l" t="t" r="r" b="b"/>
              <a:pathLst>
                <a:path w="12192000" h="307339">
                  <a:moveTo>
                    <a:pt x="12153900" y="306882"/>
                  </a:moveTo>
                  <a:lnTo>
                    <a:pt x="38100" y="306882"/>
                  </a:lnTo>
                  <a:lnTo>
                    <a:pt x="23274" y="303888"/>
                  </a:lnTo>
                  <a:lnTo>
                    <a:pt x="11163" y="295724"/>
                  </a:lnTo>
                  <a:lnTo>
                    <a:pt x="2995" y="283613"/>
                  </a:lnTo>
                  <a:lnTo>
                    <a:pt x="0" y="268782"/>
                  </a:lnTo>
                  <a:lnTo>
                    <a:pt x="0" y="38100"/>
                  </a:lnTo>
                  <a:lnTo>
                    <a:pt x="2995" y="23274"/>
                  </a:lnTo>
                  <a:lnTo>
                    <a:pt x="11163" y="11163"/>
                  </a:lnTo>
                  <a:lnTo>
                    <a:pt x="23274" y="2995"/>
                  </a:lnTo>
                  <a:lnTo>
                    <a:pt x="38100" y="0"/>
                  </a:lnTo>
                  <a:lnTo>
                    <a:pt x="12153900" y="0"/>
                  </a:lnTo>
                  <a:lnTo>
                    <a:pt x="12168725" y="2995"/>
                  </a:lnTo>
                  <a:lnTo>
                    <a:pt x="12173699" y="6350"/>
                  </a:lnTo>
                  <a:lnTo>
                    <a:pt x="38100" y="6350"/>
                  </a:lnTo>
                  <a:lnTo>
                    <a:pt x="25750" y="8848"/>
                  </a:lnTo>
                  <a:lnTo>
                    <a:pt x="15657" y="15657"/>
                  </a:lnTo>
                  <a:lnTo>
                    <a:pt x="8848" y="25750"/>
                  </a:lnTo>
                  <a:lnTo>
                    <a:pt x="6350" y="38100"/>
                  </a:lnTo>
                  <a:lnTo>
                    <a:pt x="6350" y="268782"/>
                  </a:lnTo>
                  <a:lnTo>
                    <a:pt x="8848" y="281132"/>
                  </a:lnTo>
                  <a:lnTo>
                    <a:pt x="15657" y="291225"/>
                  </a:lnTo>
                  <a:lnTo>
                    <a:pt x="25750" y="298034"/>
                  </a:lnTo>
                  <a:lnTo>
                    <a:pt x="38100" y="300532"/>
                  </a:lnTo>
                  <a:lnTo>
                    <a:pt x="12173704" y="300532"/>
                  </a:lnTo>
                  <a:lnTo>
                    <a:pt x="12168725" y="303888"/>
                  </a:lnTo>
                  <a:lnTo>
                    <a:pt x="12153900" y="306882"/>
                  </a:lnTo>
                  <a:close/>
                </a:path>
                <a:path w="12192000" h="307339">
                  <a:moveTo>
                    <a:pt x="12173704" y="300532"/>
                  </a:moveTo>
                  <a:lnTo>
                    <a:pt x="12153900" y="300532"/>
                  </a:lnTo>
                  <a:lnTo>
                    <a:pt x="12166249" y="298034"/>
                  </a:lnTo>
                  <a:lnTo>
                    <a:pt x="12176342" y="291225"/>
                  </a:lnTo>
                  <a:lnTo>
                    <a:pt x="12183151" y="281132"/>
                  </a:lnTo>
                  <a:lnTo>
                    <a:pt x="12185650" y="268782"/>
                  </a:lnTo>
                  <a:lnTo>
                    <a:pt x="12185650" y="38100"/>
                  </a:lnTo>
                  <a:lnTo>
                    <a:pt x="12183151" y="25750"/>
                  </a:lnTo>
                  <a:lnTo>
                    <a:pt x="12176342" y="15657"/>
                  </a:lnTo>
                  <a:lnTo>
                    <a:pt x="12166249" y="8848"/>
                  </a:lnTo>
                  <a:lnTo>
                    <a:pt x="12153900" y="6350"/>
                  </a:lnTo>
                  <a:lnTo>
                    <a:pt x="12173699" y="6350"/>
                  </a:lnTo>
                  <a:lnTo>
                    <a:pt x="12180836" y="11163"/>
                  </a:lnTo>
                  <a:lnTo>
                    <a:pt x="12189004" y="23274"/>
                  </a:lnTo>
                  <a:lnTo>
                    <a:pt x="12192000" y="38100"/>
                  </a:lnTo>
                  <a:lnTo>
                    <a:pt x="12192000" y="268782"/>
                  </a:lnTo>
                  <a:lnTo>
                    <a:pt x="12189004" y="283613"/>
                  </a:lnTo>
                  <a:lnTo>
                    <a:pt x="12180836" y="295724"/>
                  </a:lnTo>
                  <a:lnTo>
                    <a:pt x="12173704" y="300532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5950" y="2544114"/>
              <a:ext cx="12179300" cy="294640"/>
            </a:xfrm>
            <a:custGeom>
              <a:avLst/>
              <a:gdLst/>
              <a:ahLst/>
              <a:cxnLst/>
              <a:rect l="l" t="t" r="r" b="b"/>
              <a:pathLst>
                <a:path w="12179300" h="294639">
                  <a:moveTo>
                    <a:pt x="12179300" y="31750"/>
                  </a:moveTo>
                  <a:lnTo>
                    <a:pt x="12176798" y="19405"/>
                  </a:lnTo>
                  <a:lnTo>
                    <a:pt x="12169991" y="9309"/>
                  </a:lnTo>
                  <a:lnTo>
                    <a:pt x="12159894" y="2501"/>
                  </a:lnTo>
                  <a:lnTo>
                    <a:pt x="12147550" y="0"/>
                  </a:lnTo>
                  <a:lnTo>
                    <a:pt x="31750" y="0"/>
                  </a:lnTo>
                  <a:lnTo>
                    <a:pt x="19392" y="2501"/>
                  </a:lnTo>
                  <a:lnTo>
                    <a:pt x="9296" y="9309"/>
                  </a:lnTo>
                  <a:lnTo>
                    <a:pt x="2489" y="19405"/>
                  </a:lnTo>
                  <a:lnTo>
                    <a:pt x="0" y="31750"/>
                  </a:lnTo>
                  <a:lnTo>
                    <a:pt x="0" y="262432"/>
                  </a:lnTo>
                  <a:lnTo>
                    <a:pt x="2489" y="274789"/>
                  </a:lnTo>
                  <a:lnTo>
                    <a:pt x="9296" y="284886"/>
                  </a:lnTo>
                  <a:lnTo>
                    <a:pt x="19392" y="291693"/>
                  </a:lnTo>
                  <a:lnTo>
                    <a:pt x="31750" y="294182"/>
                  </a:lnTo>
                  <a:lnTo>
                    <a:pt x="12147550" y="294182"/>
                  </a:lnTo>
                  <a:lnTo>
                    <a:pt x="12159894" y="291693"/>
                  </a:lnTo>
                  <a:lnTo>
                    <a:pt x="12169991" y="284886"/>
                  </a:lnTo>
                  <a:lnTo>
                    <a:pt x="12176798" y="274789"/>
                  </a:lnTo>
                  <a:lnTo>
                    <a:pt x="12179300" y="262432"/>
                  </a:lnTo>
                  <a:lnTo>
                    <a:pt x="12179300" y="317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4525" y="2587783"/>
            <a:ext cx="4363085" cy="4826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135"/>
              </a:spcBef>
              <a:tabLst>
                <a:tab pos="395605" algn="l"/>
              </a:tabLst>
            </a:pPr>
            <a:r>
              <a:rPr dirty="0" sz="1050" spc="-50">
                <a:solidFill>
                  <a:srgbClr val="AAAAAA"/>
                </a:solidFill>
                <a:latin typeface="Consolas"/>
                <a:cs typeface="Consolas"/>
                <a:hlinkClick r:id="rId2"/>
              </a:rPr>
              <a:t>1</a:t>
            </a:r>
            <a:r>
              <a:rPr dirty="0" sz="1050">
                <a:solidFill>
                  <a:srgbClr val="AAAAAA"/>
                </a:solidFill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4657AA"/>
                </a:solidFill>
                <a:latin typeface="Consolas"/>
                <a:cs typeface="Consolas"/>
              </a:rPr>
              <a:t>discount.rate</a:t>
            </a:r>
            <a:r>
              <a:rPr dirty="0" sz="1050">
                <a:solidFill>
                  <a:srgbClr val="003B4F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n</a:t>
            </a:r>
            <a:r>
              <a:rPr dirty="0" sz="1050" spc="95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=</a:t>
            </a:r>
            <a:r>
              <a:rPr dirty="0" sz="1050" spc="95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AC0000"/>
                </a:solidFill>
                <a:latin typeface="Consolas"/>
                <a:cs typeface="Consolas"/>
              </a:rPr>
              <a:t>12</a:t>
            </a:r>
            <a:r>
              <a:rPr dirty="0" sz="1050">
                <a:solidFill>
                  <a:srgbClr val="003B4F"/>
                </a:solidFill>
                <a:latin typeface="Consolas"/>
                <a:cs typeface="Consolas"/>
              </a:rPr>
              <a:t>,</a:t>
            </a:r>
            <a:r>
              <a:rPr dirty="0" sz="1050" spc="100">
                <a:solidFill>
                  <a:srgbClr val="003B4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pv</a:t>
            </a:r>
            <a:r>
              <a:rPr dirty="0" sz="1050" spc="95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=</a:t>
            </a:r>
            <a:r>
              <a:rPr dirty="0" sz="1050" spc="100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AC0000"/>
                </a:solidFill>
                <a:latin typeface="Consolas"/>
                <a:cs typeface="Consolas"/>
              </a:rPr>
              <a:t>4000</a:t>
            </a:r>
            <a:r>
              <a:rPr dirty="0" sz="1050">
                <a:solidFill>
                  <a:srgbClr val="003B4F"/>
                </a:solidFill>
                <a:latin typeface="Consolas"/>
                <a:cs typeface="Consolas"/>
              </a:rPr>
              <a:t>,</a:t>
            </a:r>
            <a:r>
              <a:rPr dirty="0" sz="1050" spc="95">
                <a:solidFill>
                  <a:srgbClr val="003B4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fv</a:t>
            </a:r>
            <a:r>
              <a:rPr dirty="0" sz="1050" spc="100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=</a:t>
            </a:r>
            <a:r>
              <a:rPr dirty="0" sz="1050" spc="95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AC0000"/>
                </a:solidFill>
                <a:latin typeface="Consolas"/>
                <a:cs typeface="Consolas"/>
              </a:rPr>
              <a:t>0</a:t>
            </a:r>
            <a:r>
              <a:rPr dirty="0" sz="1050">
                <a:solidFill>
                  <a:srgbClr val="003B4F"/>
                </a:solidFill>
                <a:latin typeface="Consolas"/>
                <a:cs typeface="Consolas"/>
              </a:rPr>
              <a:t>,</a:t>
            </a:r>
            <a:r>
              <a:rPr dirty="0" sz="1050" spc="100">
                <a:solidFill>
                  <a:srgbClr val="003B4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pmt</a:t>
            </a:r>
            <a:r>
              <a:rPr dirty="0" sz="1050" spc="95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647421"/>
                </a:solidFill>
                <a:latin typeface="Consolas"/>
                <a:cs typeface="Consolas"/>
              </a:rPr>
              <a:t>=</a:t>
            </a:r>
            <a:r>
              <a:rPr dirty="0" sz="1050" spc="100">
                <a:solidFill>
                  <a:srgbClr val="647421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5D5D5D"/>
                </a:solidFill>
                <a:latin typeface="Consolas"/>
                <a:cs typeface="Consolas"/>
              </a:rPr>
              <a:t>-</a:t>
            </a:r>
            <a:r>
              <a:rPr dirty="0" sz="1050" spc="-20">
                <a:solidFill>
                  <a:srgbClr val="AC0000"/>
                </a:solidFill>
                <a:latin typeface="Consolas"/>
                <a:cs typeface="Consolas"/>
              </a:rPr>
              <a:t>350</a:t>
            </a:r>
            <a:r>
              <a:rPr dirty="0" sz="1050" spc="-20">
                <a:solidFill>
                  <a:srgbClr val="003B4F"/>
                </a:solidFill>
                <a:latin typeface="Consolas"/>
                <a:cs typeface="Consolas"/>
              </a:rPr>
              <a:t>)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050">
                <a:solidFill>
                  <a:srgbClr val="212121"/>
                </a:solidFill>
                <a:latin typeface="Consolas"/>
                <a:cs typeface="Consolas"/>
              </a:rPr>
              <a:t>[1]</a:t>
            </a:r>
            <a:r>
              <a:rPr dirty="0" sz="1050" spc="85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Consolas"/>
                <a:cs typeface="Consolas"/>
              </a:rPr>
              <a:t>0.007587923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35"/>
              <a:t>Fatores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1852104"/>
            <a:ext cx="10310495" cy="351472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2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Pela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análise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Equação</a:t>
            </a:r>
            <a:r>
              <a:rPr dirty="0" sz="1950" spc="-19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 </a:t>
            </a:r>
            <a:r>
              <a:rPr dirty="0" sz="1950" spc="-9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11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percebe-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presente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anuidades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função:</a:t>
            </a:r>
            <a:endParaRPr sz="1950">
              <a:latin typeface="Tahoma"/>
              <a:cs typeface="Tahoma"/>
            </a:endParaRPr>
          </a:p>
          <a:p>
            <a:pPr lvl="1" marL="634365" indent="-237490">
              <a:lnSpc>
                <a:spcPct val="100000"/>
              </a:lnSpc>
              <a:spcBef>
                <a:spcPts val="1135"/>
              </a:spcBef>
              <a:buAutoNum type="arabicPeriod"/>
              <a:tabLst>
                <a:tab pos="634365" algn="l"/>
              </a:tabLst>
            </a:pP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anuidades;</a:t>
            </a:r>
            <a:endParaRPr sz="1950">
              <a:latin typeface="Tahoma"/>
              <a:cs typeface="Tahoma"/>
            </a:endParaRPr>
          </a:p>
          <a:p>
            <a:pPr lvl="1" marL="634365" indent="-237490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634365" algn="l"/>
              </a:tabLst>
            </a:pP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fator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depende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taxa,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25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1950" spc="-125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numero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períodos,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-6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07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Este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fator,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denominado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 i="1">
                <a:solidFill>
                  <a:srgbClr val="212121"/>
                </a:solidFill>
                <a:latin typeface="Trebuchet MS"/>
                <a:cs typeface="Trebuchet MS"/>
              </a:rPr>
              <a:t>Fator</a:t>
            </a:r>
            <a:r>
              <a:rPr dirty="0" sz="1950" spc="-18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70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950" spc="-18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110" i="1">
                <a:solidFill>
                  <a:srgbClr val="212121"/>
                </a:solidFill>
                <a:latin typeface="Trebuchet MS"/>
                <a:cs typeface="Trebuchet MS"/>
              </a:rPr>
              <a:t>Valor</a:t>
            </a:r>
            <a:r>
              <a:rPr dirty="0" sz="1950" spc="-18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95" i="1">
                <a:solidFill>
                  <a:srgbClr val="212121"/>
                </a:solidFill>
                <a:latin typeface="Trebuchet MS"/>
                <a:cs typeface="Trebuchet MS"/>
              </a:rPr>
              <a:t>Presente</a:t>
            </a:r>
            <a:r>
              <a:rPr dirty="0" sz="1950" spc="-95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20">
                <a:solidFill>
                  <a:srgbClr val="212121"/>
                </a:solidFill>
                <a:latin typeface="Tahoma"/>
                <a:cs typeface="Tahoma"/>
              </a:rPr>
              <a:t>FVP,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tabelado;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02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Analogamente,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pela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análise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0000FF"/>
                </a:solidFill>
                <a:latin typeface="Tahoma"/>
                <a:cs typeface="Tahoma"/>
                <a:hlinkClick r:id="rId3"/>
              </a:rPr>
              <a:t>Equação</a:t>
            </a:r>
            <a:r>
              <a:rPr dirty="0" sz="1950" spc="-190">
                <a:solidFill>
                  <a:srgbClr val="0000FF"/>
                </a:solidFill>
                <a:latin typeface="Tahoma"/>
                <a:cs typeface="Tahoma"/>
                <a:hlinkClick r:id="rId3"/>
              </a:rPr>
              <a:t> </a:t>
            </a:r>
            <a:r>
              <a:rPr dirty="0" sz="1950" spc="-90">
                <a:solidFill>
                  <a:srgbClr val="0000FF"/>
                </a:solidFill>
                <a:latin typeface="Tahoma"/>
                <a:cs typeface="Tahoma"/>
                <a:hlinkClick r:id="rId3"/>
              </a:rPr>
              <a:t>12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percebe-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se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Montante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anuidades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é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função:</a:t>
            </a:r>
            <a:endParaRPr sz="1950">
              <a:latin typeface="Tahoma"/>
              <a:cs typeface="Tahoma"/>
            </a:endParaRPr>
          </a:p>
          <a:p>
            <a:pPr lvl="1" marL="634365" indent="-237490">
              <a:lnSpc>
                <a:spcPct val="100000"/>
              </a:lnSpc>
              <a:spcBef>
                <a:spcPts val="1135"/>
              </a:spcBef>
              <a:buAutoNum type="arabicPeriod"/>
              <a:tabLst>
                <a:tab pos="634365" algn="l"/>
              </a:tabLst>
            </a:pPr>
            <a:r>
              <a:rPr dirty="0" sz="1950" spc="-65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20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valor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dirty="0" sz="1950" spc="-1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anuidades;</a:t>
            </a:r>
            <a:endParaRPr sz="1950">
              <a:latin typeface="Tahoma"/>
              <a:cs typeface="Tahoma"/>
            </a:endParaRPr>
          </a:p>
          <a:p>
            <a:pPr lvl="1" marL="634365" indent="-237490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634365" algn="l"/>
              </a:tabLst>
            </a:pP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212121"/>
                </a:solidFill>
                <a:latin typeface="Tahoma"/>
                <a:cs typeface="Tahoma"/>
              </a:rPr>
              <a:t>fator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depende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taxa,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25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1950" spc="-125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30">
                <a:solidFill>
                  <a:srgbClr val="212121"/>
                </a:solidFill>
                <a:latin typeface="Tahoma"/>
                <a:cs typeface="Tahoma"/>
              </a:rPr>
              <a:t>numero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212121"/>
                </a:solidFill>
                <a:latin typeface="Tahoma"/>
                <a:cs typeface="Tahoma"/>
              </a:rPr>
              <a:t>períodos,</a:t>
            </a:r>
            <a:r>
              <a:rPr dirty="0" sz="1950" spc="-1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2050" spc="190" i="1">
                <a:solidFill>
                  <a:srgbClr val="212121"/>
                </a:solidFill>
                <a:latin typeface="Calibri"/>
                <a:cs typeface="Calibri"/>
              </a:rPr>
              <a:t>T</a:t>
            </a:r>
            <a:r>
              <a:rPr dirty="0" sz="2050" spc="-6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950">
              <a:latin typeface="Tahoma"/>
              <a:cs typeface="Tahoma"/>
            </a:endParaRPr>
          </a:p>
          <a:p>
            <a:pPr marL="253365" indent="-240665">
              <a:lnSpc>
                <a:spcPct val="100000"/>
              </a:lnSpc>
              <a:spcBef>
                <a:spcPts val="107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50">
                <a:solidFill>
                  <a:srgbClr val="212121"/>
                </a:solidFill>
                <a:latin typeface="Tahoma"/>
                <a:cs typeface="Tahoma"/>
              </a:rPr>
              <a:t>Este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60">
                <a:solidFill>
                  <a:srgbClr val="212121"/>
                </a:solidFill>
                <a:latin typeface="Tahoma"/>
                <a:cs typeface="Tahoma"/>
              </a:rPr>
              <a:t>fator,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denominado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0" i="1">
                <a:solidFill>
                  <a:srgbClr val="212121"/>
                </a:solidFill>
                <a:latin typeface="Trebuchet MS"/>
                <a:cs typeface="Trebuchet MS"/>
              </a:rPr>
              <a:t>Fator</a:t>
            </a:r>
            <a:r>
              <a:rPr dirty="0" sz="1950" spc="-18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70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950" spc="-18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60" i="1">
                <a:solidFill>
                  <a:srgbClr val="212121"/>
                </a:solidFill>
                <a:latin typeface="Trebuchet MS"/>
                <a:cs typeface="Trebuchet MS"/>
              </a:rPr>
              <a:t>Acumulação</a:t>
            </a:r>
            <a:r>
              <a:rPr dirty="0" sz="1950" spc="-18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40" i="1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dirty="0" sz="1950" spc="-18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950" spc="-90" i="1">
                <a:solidFill>
                  <a:srgbClr val="212121"/>
                </a:solidFill>
                <a:latin typeface="Trebuchet MS"/>
                <a:cs typeface="Trebuchet MS"/>
              </a:rPr>
              <a:t>Capital</a:t>
            </a:r>
            <a:r>
              <a:rPr dirty="0" sz="1950" spc="-9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FAcC,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212121"/>
                </a:solidFill>
                <a:latin typeface="Tahoma"/>
                <a:cs typeface="Tahoma"/>
              </a:rPr>
              <a:t>pode</a:t>
            </a:r>
            <a:r>
              <a:rPr dirty="0" sz="1950" spc="-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40">
                <a:solidFill>
                  <a:srgbClr val="212121"/>
                </a:solidFill>
                <a:latin typeface="Tahoma"/>
                <a:cs typeface="Tahoma"/>
              </a:rPr>
              <a:t>ser</a:t>
            </a:r>
            <a:r>
              <a:rPr dirty="0" sz="1950" spc="-1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212121"/>
                </a:solidFill>
                <a:latin typeface="Tahoma"/>
                <a:cs typeface="Tahoma"/>
              </a:rPr>
              <a:t>tabelado;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35"/>
              <a:t>Fatores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2010410"/>
            <a:ext cx="72898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70">
                <a:solidFill>
                  <a:srgbClr val="212121"/>
                </a:solidFill>
                <a:latin typeface="Tahoma"/>
                <a:cs typeface="Tahoma"/>
              </a:rPr>
              <a:t>FVP:</a:t>
            </a:r>
            <a:endParaRPr sz="1950">
              <a:latin typeface="Tahoma"/>
              <a:cs typeface="Tahom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9600" y="2582510"/>
          <a:ext cx="12268200" cy="2933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095"/>
                <a:gridCol w="1167130"/>
                <a:gridCol w="1167130"/>
                <a:gridCol w="1167130"/>
                <a:gridCol w="1167130"/>
                <a:gridCol w="1167129"/>
                <a:gridCol w="1167129"/>
                <a:gridCol w="1167129"/>
                <a:gridCol w="1167129"/>
                <a:gridCol w="1167129"/>
                <a:gridCol w="1052829"/>
              </a:tblGrid>
              <a:tr h="385445">
                <a:tc>
                  <a:txBody>
                    <a:bodyPr/>
                    <a:lstStyle/>
                    <a:p>
                      <a:pPr algn="ctr" marL="12065">
                        <a:lnSpc>
                          <a:spcPts val="2295"/>
                        </a:lnSpc>
                      </a:pPr>
                      <a:r>
                        <a:rPr dirty="0" sz="1950" spc="-5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1%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2%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3%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4%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1775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5%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6%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7%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1775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8%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ts val="2295"/>
                        </a:lnSpc>
                      </a:pPr>
                      <a:r>
                        <a:rPr dirty="0" sz="1950" spc="-25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10%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0,9901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0,9804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0,9709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0,9615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0,9524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0,9434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0,9346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0,9259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0,9174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0,9091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1,9704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1,9416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1,9135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1,8861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1,8594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1,8334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1,8080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1,7833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1,7591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1,7355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2,9410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2,8839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2,8286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2,7751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2,7232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2,6730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2,6243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2,5771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2,5313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2,4869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3,9020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3,8077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3,7171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3,6299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3,5460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3,4651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3,3872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3,3121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3,2397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3,1699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4,8534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4,7135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4,5797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4,4518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4,3295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4,2124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4,1002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3,9927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3,8897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3,7908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5,7955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5,6014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5,4172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5,2421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5,0757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4,9173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4,7665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4,6229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4,4859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4,3553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0"/>
              <a:t>Anuidades:</a:t>
            </a:r>
            <a:r>
              <a:rPr dirty="0" spc="-250"/>
              <a:t> </a:t>
            </a:r>
            <a:r>
              <a:rPr dirty="0" spc="-135"/>
              <a:t>Fatores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6742" y="2010410"/>
            <a:ext cx="839469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950" spc="-85">
                <a:solidFill>
                  <a:srgbClr val="212121"/>
                </a:solidFill>
                <a:latin typeface="Tahoma"/>
                <a:cs typeface="Tahoma"/>
              </a:rPr>
              <a:t>FAcC:</a:t>
            </a:r>
            <a:endParaRPr sz="1950">
              <a:latin typeface="Tahoma"/>
              <a:cs typeface="Tahom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9600" y="2582510"/>
          <a:ext cx="12268200" cy="2933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095"/>
                <a:gridCol w="1167130"/>
                <a:gridCol w="1167130"/>
                <a:gridCol w="1167130"/>
                <a:gridCol w="1167130"/>
                <a:gridCol w="1167129"/>
                <a:gridCol w="1167129"/>
                <a:gridCol w="1167129"/>
                <a:gridCol w="1167129"/>
                <a:gridCol w="1167129"/>
                <a:gridCol w="1052829"/>
              </a:tblGrid>
              <a:tr h="385445">
                <a:tc>
                  <a:txBody>
                    <a:bodyPr/>
                    <a:lstStyle/>
                    <a:p>
                      <a:pPr algn="ctr" marL="12065">
                        <a:lnSpc>
                          <a:spcPts val="2295"/>
                        </a:lnSpc>
                      </a:pPr>
                      <a:r>
                        <a:rPr dirty="0" sz="1950" spc="-5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1%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2%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3%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4%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1775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5%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6%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7%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1775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8%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ts val="2295"/>
                        </a:lnSpc>
                      </a:pPr>
                      <a:r>
                        <a:rPr dirty="0" sz="1950" spc="70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ts val="2295"/>
                        </a:lnSpc>
                      </a:pPr>
                      <a:r>
                        <a:rPr dirty="0" sz="1950" spc="-25" b="1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10%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1,0000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2,0100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2,0200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2,0300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2,0400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2,0500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2,0600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2,0700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2,0800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2,0900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2,1000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3,0301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3,0604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3,0909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3,1216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3,1525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3,1836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3,2149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3,2464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3,2781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3,3100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4,0604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4,1216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4,1836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4,2465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4,3101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4,3746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4,4399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4,5061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4,5731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4,6410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5,1010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5,2040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5,3091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5,4163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5,5256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5,6371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5,7507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5,8666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5,9847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6,1051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  <a:lnB w="6350">
                      <a:solidFill>
                        <a:srgbClr val="212121"/>
                      </a:solidFill>
                      <a:prstDash val="solid"/>
                    </a:lnB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5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6,1520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6,3081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6,4684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6,6330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6,8019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6,9753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7,1533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24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7,3359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30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7,5233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950" spc="-10">
                          <a:solidFill>
                            <a:srgbClr val="212121"/>
                          </a:solidFill>
                          <a:latin typeface="Tahoma"/>
                          <a:cs typeface="Tahoma"/>
                        </a:rPr>
                        <a:t>7,7156</a:t>
                      </a:r>
                      <a:endParaRPr sz="195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T w="6350">
                      <a:solidFill>
                        <a:srgbClr val="21212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35"/>
              <a:t>Referências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2953" y="1880520"/>
            <a:ext cx="11928475" cy="30251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4490" marR="5080" indent="-352425">
              <a:lnSpc>
                <a:spcPct val="111200"/>
              </a:lnSpc>
              <a:spcBef>
                <a:spcPts val="90"/>
              </a:spcBef>
            </a:pPr>
            <a:r>
              <a:rPr dirty="0" sz="1350" spc="-55">
                <a:solidFill>
                  <a:srgbClr val="212121"/>
                </a:solidFill>
                <a:latin typeface="Tahoma"/>
                <a:cs typeface="Tahoma"/>
              </a:rPr>
              <a:t>BRASIL.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2002.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«Lei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nº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212121"/>
                </a:solidFill>
                <a:latin typeface="Tahoma"/>
                <a:cs typeface="Tahoma"/>
              </a:rPr>
              <a:t>10.406,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10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janeiro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2002.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Institui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Código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12121"/>
                </a:solidFill>
                <a:latin typeface="Tahoma"/>
                <a:cs typeface="Tahoma"/>
              </a:rPr>
              <a:t>Civil».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50" i="1">
                <a:solidFill>
                  <a:srgbClr val="212121"/>
                </a:solidFill>
                <a:latin typeface="Trebuchet MS"/>
                <a:cs typeface="Trebuchet MS"/>
              </a:rPr>
              <a:t>Diário</a:t>
            </a:r>
            <a:r>
              <a:rPr dirty="0" sz="1350" spc="-12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70" i="1">
                <a:solidFill>
                  <a:srgbClr val="212121"/>
                </a:solidFill>
                <a:latin typeface="Trebuchet MS"/>
                <a:cs typeface="Trebuchet MS"/>
              </a:rPr>
              <a:t>Oficial</a:t>
            </a:r>
            <a:r>
              <a:rPr dirty="0" sz="1350" spc="-114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i="1">
                <a:solidFill>
                  <a:srgbClr val="212121"/>
                </a:solidFill>
                <a:latin typeface="Trebuchet MS"/>
                <a:cs typeface="Trebuchet MS"/>
              </a:rPr>
              <a:t>da</a:t>
            </a:r>
            <a:r>
              <a:rPr dirty="0" sz="1350" spc="-12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35" i="1">
                <a:solidFill>
                  <a:srgbClr val="212121"/>
                </a:solidFill>
                <a:latin typeface="Trebuchet MS"/>
                <a:cs typeface="Trebuchet MS"/>
              </a:rPr>
              <a:t>União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.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Brasília,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212121"/>
                </a:solidFill>
                <a:latin typeface="Tahoma"/>
                <a:cs typeface="Tahoma"/>
              </a:rPr>
              <a:t>DF.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https://www.planalto.gov.br/ccivil_03/Leis//2002/</a:t>
            </a:r>
            <a:r>
              <a:rPr dirty="0" sz="1350" spc="-2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0000FF"/>
                </a:solidFill>
                <a:latin typeface="Tahoma"/>
                <a:cs typeface="Tahoma"/>
                <a:hlinkClick r:id="rId2"/>
              </a:rPr>
              <a:t>L10406compilada.htm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350" spc="-140">
                <a:solidFill>
                  <a:srgbClr val="212121"/>
                </a:solidFill>
                <a:latin typeface="Tahoma"/>
                <a:cs typeface="Tahoma"/>
              </a:rPr>
              <a:t>———</a:t>
            </a:r>
            <a:r>
              <a:rPr dirty="0" sz="1350" spc="-55">
                <a:solidFill>
                  <a:srgbClr val="212121"/>
                </a:solidFill>
                <a:latin typeface="Tahoma"/>
                <a:cs typeface="Tahoma"/>
              </a:rPr>
              <a:t>.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2024.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«Lei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nº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212121"/>
                </a:solidFill>
                <a:latin typeface="Tahoma"/>
                <a:cs typeface="Tahoma"/>
              </a:rPr>
              <a:t>14.905,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28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Junho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212121"/>
                </a:solidFill>
                <a:latin typeface="Tahoma"/>
                <a:cs typeface="Tahoma"/>
              </a:rPr>
              <a:t>2024: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Altera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Lei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nº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212121"/>
                </a:solidFill>
                <a:latin typeface="Tahoma"/>
                <a:cs typeface="Tahoma"/>
              </a:rPr>
              <a:t>10.406,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10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janeiro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2002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12121"/>
                </a:solidFill>
                <a:latin typeface="Tahoma"/>
                <a:cs typeface="Tahoma"/>
              </a:rPr>
              <a:t>(Código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Civil),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dispor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sobre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atualização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monetária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juros.»</a:t>
            </a:r>
            <a:endParaRPr sz="1350">
              <a:latin typeface="Tahoma"/>
              <a:cs typeface="Tahoma"/>
            </a:endParaRPr>
          </a:p>
          <a:p>
            <a:pPr marL="364490">
              <a:lnSpc>
                <a:spcPct val="100000"/>
              </a:lnSpc>
              <a:spcBef>
                <a:spcPts val="235"/>
              </a:spcBef>
            </a:pPr>
            <a:r>
              <a:rPr dirty="0" sz="1350" spc="-50" i="1">
                <a:solidFill>
                  <a:srgbClr val="212121"/>
                </a:solidFill>
                <a:latin typeface="Trebuchet MS"/>
                <a:cs typeface="Trebuchet MS"/>
              </a:rPr>
              <a:t>Diário</a:t>
            </a:r>
            <a:r>
              <a:rPr dirty="0" sz="1350" spc="-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70" i="1">
                <a:solidFill>
                  <a:srgbClr val="212121"/>
                </a:solidFill>
                <a:latin typeface="Trebuchet MS"/>
                <a:cs typeface="Trebuchet MS"/>
              </a:rPr>
              <a:t>Oficial</a:t>
            </a:r>
            <a:r>
              <a:rPr dirty="0" sz="1350" spc="-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i="1">
                <a:solidFill>
                  <a:srgbClr val="212121"/>
                </a:solidFill>
                <a:latin typeface="Trebuchet MS"/>
                <a:cs typeface="Trebuchet MS"/>
              </a:rPr>
              <a:t>da</a:t>
            </a:r>
            <a:r>
              <a:rPr dirty="0" sz="1350" spc="-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30" i="1">
                <a:solidFill>
                  <a:srgbClr val="212121"/>
                </a:solidFill>
                <a:latin typeface="Trebuchet MS"/>
                <a:cs typeface="Trebuchet MS"/>
              </a:rPr>
              <a:t>União</a:t>
            </a:r>
            <a:r>
              <a:rPr dirty="0" sz="1350" spc="-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350" spc="-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1/7/2024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.</a:t>
            </a:r>
            <a:r>
              <a:rPr dirty="0" sz="1350" spc="-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Brasília,</a:t>
            </a:r>
            <a:r>
              <a:rPr dirty="0" sz="1350" spc="-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212121"/>
                </a:solidFill>
                <a:latin typeface="Tahoma"/>
                <a:cs typeface="Tahoma"/>
              </a:rPr>
              <a:t>DF.</a:t>
            </a:r>
            <a:r>
              <a:rPr dirty="0" sz="1350" spc="-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0000FF"/>
                </a:solidFill>
                <a:latin typeface="Tahoma"/>
                <a:cs typeface="Tahoma"/>
                <a:hlinkClick r:id="rId3"/>
              </a:rPr>
              <a:t>https://www.planalto.gov.br/ccivil_03/_ato2023-</a:t>
            </a:r>
            <a:r>
              <a:rPr dirty="0" sz="1350" spc="-10">
                <a:solidFill>
                  <a:srgbClr val="0000FF"/>
                </a:solidFill>
                <a:latin typeface="Tahoma"/>
                <a:cs typeface="Tahoma"/>
                <a:hlinkClick r:id="rId3"/>
              </a:rPr>
              <a:t>2026/2024/Lei/L14905.htm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364490" marR="1283970" indent="-352425">
              <a:lnSpc>
                <a:spcPct val="111200"/>
              </a:lnSpc>
            </a:pP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Gotardelo,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Prof.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Davi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Riani.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2023.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«Apostila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Matemática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Financeira».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0000FF"/>
                </a:solidFill>
                <a:latin typeface="Tahoma"/>
                <a:cs typeface="Tahoma"/>
                <a:hlinkClick r:id="rId4"/>
              </a:rPr>
              <a:t>https://arquivos.ufrrj.br/arquivos/20230740528053375410731933c681115/</a:t>
            </a:r>
            <a:r>
              <a:rPr dirty="0" sz="135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0000FF"/>
                </a:solidFill>
                <a:latin typeface="Tahoma"/>
                <a:cs typeface="Tahoma"/>
                <a:hlinkClick r:id="rId4"/>
              </a:rPr>
              <a:t>Apostila_de_Matemtica_Financeira_-</a:t>
            </a:r>
            <a:r>
              <a:rPr dirty="0" sz="1350" spc="-40">
                <a:solidFill>
                  <a:srgbClr val="0000FF"/>
                </a:solidFill>
                <a:latin typeface="Tahoma"/>
                <a:cs typeface="Tahoma"/>
                <a:hlinkClick r:id="rId4"/>
              </a:rPr>
              <a:t>_Verso_Aluno_-</a:t>
            </a:r>
            <a:r>
              <a:rPr dirty="0" sz="1350" spc="-10">
                <a:solidFill>
                  <a:srgbClr val="0000FF"/>
                </a:solidFill>
                <a:latin typeface="Tahoma"/>
                <a:cs typeface="Tahoma"/>
                <a:hlinkClick r:id="rId4"/>
              </a:rPr>
              <a:t>_2023.pdf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350" spc="-40">
                <a:solidFill>
                  <a:srgbClr val="212121"/>
                </a:solidFill>
                <a:latin typeface="Tahoma"/>
                <a:cs typeface="Tahoma"/>
              </a:rPr>
              <a:t>GRANELLE,</a:t>
            </a:r>
            <a:r>
              <a:rPr dirty="0" sz="1350" spc="-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J-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J.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1998.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Économie</a:t>
            </a:r>
            <a:r>
              <a:rPr dirty="0" sz="1350" spc="-9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75" i="1">
                <a:solidFill>
                  <a:srgbClr val="212121"/>
                </a:solidFill>
                <a:latin typeface="Trebuchet MS"/>
                <a:cs typeface="Trebuchet MS"/>
              </a:rPr>
              <a:t>immobilière.</a:t>
            </a:r>
            <a:r>
              <a:rPr dirty="0" sz="1350" spc="-9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Analyses</a:t>
            </a:r>
            <a:r>
              <a:rPr dirty="0" sz="1350" spc="-9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110" i="1">
                <a:solidFill>
                  <a:srgbClr val="212121"/>
                </a:solidFill>
                <a:latin typeface="Trebuchet MS"/>
                <a:cs typeface="Trebuchet MS"/>
              </a:rPr>
              <a:t>et</a:t>
            </a:r>
            <a:r>
              <a:rPr dirty="0" sz="1350" spc="-9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applications</a:t>
            </a:r>
            <a:r>
              <a:rPr dirty="0" sz="1350" spc="-45">
                <a:solidFill>
                  <a:srgbClr val="212121"/>
                </a:solidFill>
                <a:latin typeface="Tahoma"/>
                <a:cs typeface="Tahoma"/>
              </a:rPr>
              <a:t>.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Paris: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Economica.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Lacerda,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Norma,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Pedro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Abramo.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2020.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20">
                <a:solidFill>
                  <a:srgbClr val="212121"/>
                </a:solidFill>
                <a:latin typeface="Tahoma"/>
                <a:cs typeface="Tahoma"/>
              </a:rPr>
              <a:t>«O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mercado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aluguel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imóveis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comerciais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serviços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centros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históricos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brasileiros: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Implicações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350" spc="-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conservação</a:t>
            </a:r>
            <a:endParaRPr sz="1350">
              <a:latin typeface="Tahoma"/>
              <a:cs typeface="Tahoma"/>
            </a:endParaRPr>
          </a:p>
          <a:p>
            <a:pPr marL="364490" marR="349885">
              <a:lnSpc>
                <a:spcPct val="111200"/>
              </a:lnSpc>
              <a:spcBef>
                <a:spcPts val="50"/>
              </a:spcBef>
            </a:pP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inovadora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destruição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aniquiladora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nos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preços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dos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bens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patrimoniais».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 i="1">
                <a:solidFill>
                  <a:srgbClr val="212121"/>
                </a:solidFill>
                <a:latin typeface="Trebuchet MS"/>
                <a:cs typeface="Trebuchet MS"/>
              </a:rPr>
              <a:t>Revista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55" i="1">
                <a:solidFill>
                  <a:srgbClr val="212121"/>
                </a:solidFill>
                <a:latin typeface="Trebuchet MS"/>
                <a:cs typeface="Trebuchet MS"/>
              </a:rPr>
              <a:t>brasileira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0" i="1">
                <a:solidFill>
                  <a:srgbClr val="212121"/>
                </a:solidFill>
                <a:latin typeface="Trebuchet MS"/>
                <a:cs typeface="Trebuchet MS"/>
              </a:rPr>
              <a:t>estudos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30" i="1">
                <a:solidFill>
                  <a:srgbClr val="212121"/>
                </a:solidFill>
                <a:latin typeface="Trebuchet MS"/>
                <a:cs typeface="Trebuchet MS"/>
              </a:rPr>
              <a:t>urbanos</a:t>
            </a:r>
            <a:r>
              <a:rPr dirty="0" sz="1350" spc="-10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75" i="1">
                <a:solidFill>
                  <a:srgbClr val="212121"/>
                </a:solidFill>
                <a:latin typeface="Trebuchet MS"/>
                <a:cs typeface="Trebuchet MS"/>
              </a:rPr>
              <a:t>e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0" i="1">
                <a:solidFill>
                  <a:srgbClr val="212121"/>
                </a:solidFill>
                <a:latin typeface="Trebuchet MS"/>
                <a:cs typeface="Trebuchet MS"/>
              </a:rPr>
              <a:t>regionais</a:t>
            </a:r>
            <a:r>
              <a:rPr dirty="0" sz="1350" spc="-9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22</a:t>
            </a:r>
            <a:r>
              <a:rPr dirty="0" sz="1350" spc="-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(E202027pt):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212121"/>
                </a:solidFill>
                <a:latin typeface="Tahoma"/>
                <a:cs typeface="Tahoma"/>
              </a:rPr>
              <a:t>1–27.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https://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doi.org/</a:t>
            </a:r>
            <a:r>
              <a:rPr dirty="0" sz="1350" spc="-35">
                <a:solidFill>
                  <a:srgbClr val="0000FF"/>
                </a:solidFill>
                <a:latin typeface="Tahoma"/>
                <a:cs typeface="Tahoma"/>
                <a:hlinkClick r:id="rId5"/>
              </a:rPr>
              <a:t>https://doi.org/10.22296/2317-</a:t>
            </a:r>
            <a:r>
              <a:rPr dirty="0" sz="1350" spc="-10">
                <a:solidFill>
                  <a:srgbClr val="0000FF"/>
                </a:solidFill>
                <a:latin typeface="Tahoma"/>
                <a:cs typeface="Tahoma"/>
                <a:hlinkClick r:id="rId5"/>
              </a:rPr>
              <a:t>1529.rbeur.202027pt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364490" marR="1631950" indent="-352425">
              <a:lnSpc>
                <a:spcPct val="111200"/>
              </a:lnSpc>
              <a:spcBef>
                <a:spcPts val="50"/>
              </a:spcBef>
            </a:pP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Machline,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12121"/>
                </a:solidFill>
                <a:latin typeface="Tahoma"/>
                <a:cs typeface="Tahoma"/>
              </a:rPr>
              <a:t>Claude.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1966.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12121"/>
                </a:solidFill>
                <a:latin typeface="Tahoma"/>
                <a:cs typeface="Tahoma"/>
              </a:rPr>
              <a:t>«Análise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investimentos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12121"/>
                </a:solidFill>
                <a:latin typeface="Tahoma"/>
                <a:cs typeface="Tahoma"/>
              </a:rPr>
              <a:t>inflação».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 i="1">
                <a:solidFill>
                  <a:srgbClr val="212121"/>
                </a:solidFill>
                <a:latin typeface="Trebuchet MS"/>
                <a:cs typeface="Trebuchet MS"/>
              </a:rPr>
              <a:t>Revista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50" i="1">
                <a:solidFill>
                  <a:srgbClr val="212121"/>
                </a:solidFill>
                <a:latin typeface="Trebuchet MS"/>
                <a:cs typeface="Trebuchet MS"/>
              </a:rPr>
              <a:t>Administração</a:t>
            </a:r>
            <a:r>
              <a:rPr dirty="0" sz="1350" spc="-10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5" i="1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dirty="0" sz="1350" spc="-1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35" i="1">
                <a:solidFill>
                  <a:srgbClr val="212121"/>
                </a:solidFill>
                <a:latin typeface="Trebuchet MS"/>
                <a:cs typeface="Trebuchet MS"/>
              </a:rPr>
              <a:t>Empresas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80">
                <a:solidFill>
                  <a:srgbClr val="212121"/>
                </a:solidFill>
                <a:latin typeface="Tahoma"/>
                <a:cs typeface="Tahoma"/>
              </a:rPr>
              <a:t>n.º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18:</a:t>
            </a:r>
            <a:r>
              <a:rPr dirty="0" sz="1350" spc="-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212121"/>
                </a:solidFill>
                <a:latin typeface="Tahoma"/>
                <a:cs typeface="Tahoma"/>
              </a:rPr>
              <a:t>51–126.</a:t>
            </a:r>
            <a:r>
              <a:rPr dirty="0" sz="1350" spc="-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0000FF"/>
                </a:solidFill>
                <a:latin typeface="Tahoma"/>
                <a:cs typeface="Tahoma"/>
                <a:hlinkClick r:id="rId6"/>
              </a:rPr>
              <a:t>https://doi.org/10.1590/</a:t>
            </a:r>
            <a:r>
              <a:rPr dirty="0" sz="135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0000FF"/>
                </a:solidFill>
                <a:latin typeface="Tahoma"/>
                <a:cs typeface="Tahoma"/>
                <a:hlinkClick r:id="rId6"/>
              </a:rPr>
              <a:t>S0034-</a:t>
            </a:r>
            <a:r>
              <a:rPr dirty="0" sz="1350" spc="-10">
                <a:solidFill>
                  <a:srgbClr val="0000FF"/>
                </a:solidFill>
                <a:latin typeface="Tahoma"/>
                <a:cs typeface="Tahoma"/>
                <a:hlinkClick r:id="rId6"/>
              </a:rPr>
              <a:t>75901966000100002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Malpezzi,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Stephen,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Susan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M.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12121"/>
                </a:solidFill>
                <a:latin typeface="Tahoma"/>
                <a:cs typeface="Tahoma"/>
              </a:rPr>
              <a:t>Wachter.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12121"/>
                </a:solidFill>
                <a:latin typeface="Tahoma"/>
                <a:cs typeface="Tahoma"/>
              </a:rPr>
              <a:t>2002.</a:t>
            </a:r>
            <a:r>
              <a:rPr dirty="0" sz="1350" spc="-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212121"/>
                </a:solidFill>
                <a:latin typeface="Tahoma"/>
                <a:cs typeface="Tahoma"/>
              </a:rPr>
              <a:t>«The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Role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Speculation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Tahoma"/>
                <a:cs typeface="Tahoma"/>
              </a:rPr>
              <a:t>Estate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12121"/>
                </a:solidFill>
                <a:latin typeface="Tahoma"/>
                <a:cs typeface="Tahoma"/>
              </a:rPr>
              <a:t>Cycles».</a:t>
            </a:r>
            <a:r>
              <a:rPr dirty="0" sz="1350" spc="-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https://doi.org/</a:t>
            </a:r>
            <a:r>
              <a:rPr dirty="0" sz="1350" spc="-10">
                <a:solidFill>
                  <a:srgbClr val="0000FF"/>
                </a:solidFill>
                <a:latin typeface="Tahoma"/>
                <a:cs typeface="Tahoma"/>
                <a:hlinkClick r:id="rId7"/>
              </a:rPr>
              <a:t>https://dx.doi.org/10.2139/ssrn.2585241</a:t>
            </a:r>
            <a:r>
              <a:rPr dirty="0" sz="1350" spc="-1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2025-12-22T22:05:49Z</dcterms:created>
  <dcterms:modified xsi:type="dcterms:W3CDTF">2025-12-22T22:05:49Z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2025-12-22T00:00:00Z</vt:filetime>
  </property>
  <property fmtid="{D5CDD505-2E9C-101B-9397-08002B2CF9AE}" pid="3" name="Creator">
    <vt:lpwstr>Mozilla Firefox 146.0.1</vt:lpwstr>
  </property>
  <property fmtid="{D5CDD505-2E9C-101B-9397-08002B2CF9AE}" pid="4" name="LastSaved">
    <vt:filetime>2025-12-22T00:00:00Z</vt:filetime>
  </property>
  <property fmtid="{D5CDD505-2E9C-101B-9397-08002B2CF9AE}" pid="5" name="Producer">
    <vt:lpwstr>cairo 1.18.0 (https://cairographics.org)</vt:lpwstr>
  </property>
</Properties>
</file>