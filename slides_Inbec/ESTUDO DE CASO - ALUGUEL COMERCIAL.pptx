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46C97-C393-4553-B2C7-1917218183DE}" v="5" dt="2025-12-23T18:58:04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F P Droubi" userId="0798b26a0dcfc0f4" providerId="LiveId" clId="{A4D7AD54-DCC9-4873-A059-87F6B7146BFE}"/>
    <pc:docChg chg="custSel modMainMaster">
      <pc:chgData name="Luiz F P Droubi" userId="0798b26a0dcfc0f4" providerId="LiveId" clId="{A4D7AD54-DCC9-4873-A059-87F6B7146BFE}" dt="2025-12-23T18:58:06.170" v="13" actId="167"/>
      <pc:docMkLst>
        <pc:docMk/>
      </pc:docMkLst>
      <pc:sldMasterChg chg="modSldLayout">
        <pc:chgData name="Luiz F P Droubi" userId="0798b26a0dcfc0f4" providerId="LiveId" clId="{A4D7AD54-DCC9-4873-A059-87F6B7146BFE}" dt="2025-12-23T18:58:06.170" v="13" actId="167"/>
        <pc:sldMasterMkLst>
          <pc:docMk/>
          <pc:sldMasterMk cId="3811403129" sldId="2147483648"/>
        </pc:sldMasterMkLst>
        <pc:sldLayoutChg chg="addSp delSp modSp mod">
          <pc:chgData name="Luiz F P Droubi" userId="0798b26a0dcfc0f4" providerId="LiveId" clId="{A4D7AD54-DCC9-4873-A059-87F6B7146BFE}" dt="2025-12-23T14:58:50.139" v="2" actId="167"/>
          <pc:sldLayoutMkLst>
            <pc:docMk/>
            <pc:sldMasterMk cId="3811403129" sldId="2147483648"/>
            <pc:sldLayoutMk cId="1458763431" sldId="2147483649"/>
          </pc:sldLayoutMkLst>
          <pc:picChg chg="del">
            <ac:chgData name="Luiz F P Droubi" userId="0798b26a0dcfc0f4" providerId="LiveId" clId="{A4D7AD54-DCC9-4873-A059-87F6B7146BFE}" dt="2025-12-23T14:58:04.631" v="0" actId="478"/>
            <ac:picMkLst>
              <pc:docMk/>
              <pc:sldMasterMk cId="3811403129" sldId="2147483648"/>
              <pc:sldLayoutMk cId="1458763431" sldId="2147483649"/>
              <ac:picMk id="8" creationId="{CF669448-4A76-9836-D6CF-0BF0ADD08815}"/>
            </ac:picMkLst>
          </pc:picChg>
          <pc:picChg chg="add mod ord">
            <ac:chgData name="Luiz F P Droubi" userId="0798b26a0dcfc0f4" providerId="LiveId" clId="{A4D7AD54-DCC9-4873-A059-87F6B7146BFE}" dt="2025-12-23T14:58:50.139" v="2" actId="167"/>
            <ac:picMkLst>
              <pc:docMk/>
              <pc:sldMasterMk cId="3811403129" sldId="2147483648"/>
              <pc:sldLayoutMk cId="1458763431" sldId="2147483649"/>
              <ac:picMk id="9" creationId="{15CD7532-3302-3653-0875-22FAF0539C7A}"/>
            </ac:picMkLst>
          </pc:picChg>
        </pc:sldLayoutChg>
        <pc:sldLayoutChg chg="addSp delSp modSp mod">
          <pc:chgData name="Luiz F P Droubi" userId="0798b26a0dcfc0f4" providerId="LiveId" clId="{A4D7AD54-DCC9-4873-A059-87F6B7146BFE}" dt="2025-12-23T18:57:17.486" v="7" actId="167"/>
          <pc:sldLayoutMkLst>
            <pc:docMk/>
            <pc:sldMasterMk cId="3811403129" sldId="2147483648"/>
            <pc:sldLayoutMk cId="982987815" sldId="2147483650"/>
          </pc:sldLayoutMkLst>
          <pc:picChg chg="del">
            <ac:chgData name="Luiz F P Droubi" userId="0798b26a0dcfc0f4" providerId="LiveId" clId="{A4D7AD54-DCC9-4873-A059-87F6B7146BFE}" dt="2025-12-23T18:56:31.581" v="4" actId="478"/>
            <ac:picMkLst>
              <pc:docMk/>
              <pc:sldMasterMk cId="3811403129" sldId="2147483648"/>
              <pc:sldLayoutMk cId="982987815" sldId="2147483650"/>
              <ac:picMk id="8" creationId="{0685E5B9-9B21-E321-D5AC-DFCAA9DA8C3E}"/>
            </ac:picMkLst>
          </pc:picChg>
          <pc:picChg chg="add mod ord">
            <ac:chgData name="Luiz F P Droubi" userId="0798b26a0dcfc0f4" providerId="LiveId" clId="{A4D7AD54-DCC9-4873-A059-87F6B7146BFE}" dt="2025-12-23T18:57:17.486" v="7" actId="167"/>
            <ac:picMkLst>
              <pc:docMk/>
              <pc:sldMasterMk cId="3811403129" sldId="2147483648"/>
              <pc:sldLayoutMk cId="982987815" sldId="2147483650"/>
              <ac:picMk id="9" creationId="{C505D5B5-84C8-8A94-B3A2-9579C7642040}"/>
            </ac:picMkLst>
          </pc:picChg>
        </pc:sldLayoutChg>
        <pc:sldLayoutChg chg="addSp delSp modSp mod">
          <pc:chgData name="Luiz F P Droubi" userId="0798b26a0dcfc0f4" providerId="LiveId" clId="{A4D7AD54-DCC9-4873-A059-87F6B7146BFE}" dt="2025-12-23T18:57:30.236" v="9" actId="167"/>
          <pc:sldLayoutMkLst>
            <pc:docMk/>
            <pc:sldMasterMk cId="3811403129" sldId="2147483648"/>
            <pc:sldLayoutMk cId="1560510804" sldId="2147483651"/>
          </pc:sldLayoutMkLst>
          <pc:picChg chg="del">
            <ac:chgData name="Luiz F P Droubi" userId="0798b26a0dcfc0f4" providerId="LiveId" clId="{A4D7AD54-DCC9-4873-A059-87F6B7146BFE}" dt="2025-12-23T18:56:36.703" v="5" actId="478"/>
            <ac:picMkLst>
              <pc:docMk/>
              <pc:sldMasterMk cId="3811403129" sldId="2147483648"/>
              <pc:sldLayoutMk cId="1560510804" sldId="2147483651"/>
              <ac:picMk id="8" creationId="{8CA1EA7F-F9E3-C777-6577-310340CF3A65}"/>
            </ac:picMkLst>
          </pc:picChg>
          <pc:picChg chg="add mod ord">
            <ac:chgData name="Luiz F P Droubi" userId="0798b26a0dcfc0f4" providerId="LiveId" clId="{A4D7AD54-DCC9-4873-A059-87F6B7146BFE}" dt="2025-12-23T18:57:30.236" v="9" actId="167"/>
            <ac:picMkLst>
              <pc:docMk/>
              <pc:sldMasterMk cId="3811403129" sldId="2147483648"/>
              <pc:sldLayoutMk cId="1560510804" sldId="2147483651"/>
              <ac:picMk id="9" creationId="{045B515E-3E45-7604-4D6B-818168A686B6}"/>
            </ac:picMkLst>
          </pc:picChg>
        </pc:sldLayoutChg>
        <pc:sldLayoutChg chg="addSp delSp modSp mod">
          <pc:chgData name="Luiz F P Droubi" userId="0798b26a0dcfc0f4" providerId="LiveId" clId="{A4D7AD54-DCC9-4873-A059-87F6B7146BFE}" dt="2025-12-23T18:57:47.426" v="11" actId="167"/>
          <pc:sldLayoutMkLst>
            <pc:docMk/>
            <pc:sldMasterMk cId="3811403129" sldId="2147483648"/>
            <pc:sldLayoutMk cId="2919623471" sldId="2147483652"/>
          </pc:sldLayoutMkLst>
          <pc:picChg chg="del">
            <ac:chgData name="Luiz F P Droubi" userId="0798b26a0dcfc0f4" providerId="LiveId" clId="{A4D7AD54-DCC9-4873-A059-87F6B7146BFE}" dt="2025-12-23T18:56:20.193" v="3" actId="478"/>
            <ac:picMkLst>
              <pc:docMk/>
              <pc:sldMasterMk cId="3811403129" sldId="2147483648"/>
              <pc:sldLayoutMk cId="2919623471" sldId="2147483652"/>
              <ac:picMk id="9" creationId="{EEC598F5-964B-03A2-AEF2-899FF5755854}"/>
            </ac:picMkLst>
          </pc:picChg>
          <pc:picChg chg="add mod ord">
            <ac:chgData name="Luiz F P Droubi" userId="0798b26a0dcfc0f4" providerId="LiveId" clId="{A4D7AD54-DCC9-4873-A059-87F6B7146BFE}" dt="2025-12-23T18:57:47.426" v="11" actId="167"/>
            <ac:picMkLst>
              <pc:docMk/>
              <pc:sldMasterMk cId="3811403129" sldId="2147483648"/>
              <pc:sldLayoutMk cId="2919623471" sldId="2147483652"/>
              <ac:picMk id="10" creationId="{E8E06BFC-155F-81EF-367D-59D12571046F}"/>
            </ac:picMkLst>
          </pc:picChg>
        </pc:sldLayoutChg>
        <pc:sldLayoutChg chg="addSp modSp mod">
          <pc:chgData name="Luiz F P Droubi" userId="0798b26a0dcfc0f4" providerId="LiveId" clId="{A4D7AD54-DCC9-4873-A059-87F6B7146BFE}" dt="2025-12-23T18:58:06.170" v="13" actId="167"/>
          <pc:sldLayoutMkLst>
            <pc:docMk/>
            <pc:sldMasterMk cId="3811403129" sldId="2147483648"/>
            <pc:sldLayoutMk cId="2314145037" sldId="2147483653"/>
          </pc:sldLayoutMkLst>
          <pc:picChg chg="add mod ord">
            <ac:chgData name="Luiz F P Droubi" userId="0798b26a0dcfc0f4" providerId="LiveId" clId="{A4D7AD54-DCC9-4873-A059-87F6B7146BFE}" dt="2025-12-23T18:58:06.170" v="13" actId="167"/>
            <ac:picMkLst>
              <pc:docMk/>
              <pc:sldMasterMk cId="3811403129" sldId="2147483648"/>
              <pc:sldLayoutMk cId="2314145037" sldId="2147483653"/>
              <ac:picMk id="11" creationId="{167486E7-96DE-8723-65AA-073177E45DC1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CD7532-3302-3653-0875-22FAF0539C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2AD9A5E-2149-CFEA-7774-C81F3629C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1E814D-44E0-3CBF-A8BF-7FAF03F57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72E0D-C38D-2B00-532D-B140713A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FBC9F-3D93-683C-7A5C-AB7B28D5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05B7D-03D6-F40D-2BF6-F7FD99B4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76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05D5B5-84C8-8A94-B3A2-9579C76420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BD5EE1-8838-B196-D420-4E044104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1345"/>
            <a:ext cx="10515600" cy="73934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557B4C-3E7C-16F3-EAF0-25CF3880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E077C0-7D0C-3C15-9877-95E77BA5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35A19B-F9EE-FB93-73A1-01CEC96F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230B7E-343B-05E2-8A67-F3D29D18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98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5B515E-3E45-7604-4D6B-818168A686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A9E986-D18E-395A-58D4-4DC024DA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F5531A-D73F-3B49-6D3E-7CFFACFB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703DD7-0162-E0DA-04FB-A73C7A26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D940F0-15AA-2CCE-A8C0-1CFBFFFF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6FB45E-65B4-E961-D00D-032919CE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51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E06BFC-155F-81EF-367D-59D1257104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70A94E-A540-75AF-2233-636BBB1A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1345"/>
            <a:ext cx="10515600" cy="73934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46DE0-8853-F3B6-BBF7-2321B4AF5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057B55-E060-8968-E9D9-04EFFD0E9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1EB22D-8F79-D7E7-F760-09B110B2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5B2BA5-AAD5-64D1-0220-E701D4D7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A03081-067E-89A2-F40B-09E70AD5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62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67486E7-96DE-8723-65AA-073177E45D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3E781B-94C8-CC0D-C45D-62384C3C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5004C6-7770-57FF-64A1-1F5A243A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F500B6-44B3-CB77-330F-821F0C97D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C7DA97-DC73-306C-6A7C-281F2E9B3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8413C95-52C0-2B75-AF2A-6B53B058D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03D240-D196-BDB6-FE1D-7641E73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8334B3-50F0-AD6D-F274-96802B70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06B252-82EF-1D1B-1C46-2A3ECF82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14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C58F0-813D-3E3E-2406-4694F0BC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45D879-6E4B-604A-2F52-A01F339CA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AF6B5F-82D3-7CD5-9685-1703113C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E703B7-7D04-54AF-481C-13D13B19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35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ED5F4E-CA9E-48FD-7D09-829FC466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BC2907-8094-9E95-F3DD-8E309D12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4A2F6C-AFD5-4C11-0361-C35512BA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48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116FD-FEB5-0F02-9813-1C1983F0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2B7431-D3BA-12FE-F8C4-698684F11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6519DE-99A0-351D-FF11-F1E567A8C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692541-FA0F-BB2F-074D-91C0EB93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368E70-61FA-BB9C-6BD9-F2D78074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2FF904-6048-D7AF-C1DB-9566129F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92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265AF-96BB-47D4-FB7B-D2561E05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F86D28-4FEA-8369-6FFB-633F98EEE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73E854-5B9C-1D02-DDFD-75AFA799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F2CA6C-AFBF-9099-8A0F-67C02934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1FC71E-2173-9861-3734-4757D1C8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914F4C-A85B-7AD2-F889-53F5DBD5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60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BC9A7-1798-798C-A99C-306527A3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6A15A3-4D0F-D776-DE6D-5FFA658AA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2A36-513E-E27A-146F-FFDEFB52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40E11-7EEB-E812-6BB8-2C860D11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EFC7F6-EC54-63E0-F50D-97E6FDE2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19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E6BAF8-22EA-09EB-F149-797577ACF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EA9101-77A4-A4E4-477B-BA688717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071489-412D-D5E7-3E1D-D4C01EC0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00BF53-CBBD-6CDF-DC60-4A67BC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741B7-1E06-478D-0338-C018602C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337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E2E9A03-025E-0406-576D-F7D32EDD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B6F711-05B7-2985-9D15-43CFB1734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6A8786-EF48-D94F-EA24-31D94112C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38281-E057-4BD0-9E2C-9A5962DA4C39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0E76C-3928-E9DF-B519-990F84575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6BC82-EBFD-CA33-DE16-FFDB24CC1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40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7413AE-E01D-7C29-1449-D59973981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AVALIAÇÕES DE ALUGUÉIS</a:t>
            </a:r>
            <a:br>
              <a:rPr lang="pt-BR" dirty="0"/>
            </a:br>
            <a:endParaRPr lang="pt-BR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EDC2438-6ACF-BF1D-FD50-6E9AAA222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ESTUDO DE CASO DE ALUGUEL COMERCIAL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486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78EB-7FA0-B8D7-D6AA-FE309AEC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2367-A622-9210-208E-B56D1743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7796"/>
            <a:ext cx="10515600" cy="739343"/>
          </a:xfrm>
        </p:spPr>
        <p:txBody>
          <a:bodyPr>
            <a:normAutofit fontScale="90000"/>
          </a:bodyPr>
          <a:lstStyle/>
          <a:p>
            <a:r>
              <a:rPr lang="pt-BR" dirty="0"/>
              <a:t>PROBLEMA A RESOLVER:</a:t>
            </a:r>
            <a:br>
              <a:rPr lang="pt-BR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053B-DC75-76F6-2F4D-2CF6FF96A3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Estimar o valor do aluguel de um imóvel comercial na cidade de Teresina-PI, ocupado com uma agência bancária.</a:t>
            </a:r>
          </a:p>
          <a:p>
            <a:pPr lvl="1"/>
            <a:r>
              <a:rPr lang="pt-BR" dirty="0"/>
              <a:t>Com uma área construída de 3.716,42m²; </a:t>
            </a:r>
          </a:p>
          <a:p>
            <a:pPr lvl="1"/>
            <a:r>
              <a:rPr lang="pt-BR" dirty="0"/>
              <a:t>Encravado em um terreno de 1.120,00m²;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VALORES DAS VARIÁVEIS:</a:t>
            </a:r>
          </a:p>
          <a:p>
            <a:r>
              <a:rPr lang="pt-BR" dirty="0"/>
              <a:t>Área de construção = 3.716,42m²;</a:t>
            </a:r>
          </a:p>
          <a:p>
            <a:r>
              <a:rPr lang="pt-BR" dirty="0"/>
              <a:t> Área do pavimento térreo de 558,00m²;</a:t>
            </a:r>
          </a:p>
          <a:p>
            <a:r>
              <a:rPr lang="pt-BR" dirty="0"/>
              <a:t> Está distante do ponto considerado como polo de valorização da cidade de 380,00m;</a:t>
            </a:r>
          </a:p>
          <a:p>
            <a:r>
              <a:rPr lang="pt-BR" dirty="0"/>
              <a:t> Não possui garagem no subsolo;</a:t>
            </a:r>
          </a:p>
          <a:p>
            <a:r>
              <a:rPr lang="pt-BR" dirty="0"/>
              <a:t> Possui uma idade aparente de mais de 10 anos;</a:t>
            </a:r>
          </a:p>
          <a:p>
            <a:endParaRPr lang="pt-BR" dirty="0"/>
          </a:p>
        </p:txBody>
      </p:sp>
      <p:pic>
        <p:nvPicPr>
          <p:cNvPr id="4" name="Imagem 5" descr="Rua com prédios&#10;&#10;Descrição gerada automaticamente">
            <a:extLst>
              <a:ext uri="{FF2B5EF4-FFF2-40B4-BE49-F238E27FC236}">
                <a16:creationId xmlns:a16="http://schemas.microsoft.com/office/drawing/2014/main" id="{03A1434A-93EE-D733-DF64-E17FE40094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041" y="1086282"/>
            <a:ext cx="3989759" cy="5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2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BCAC-3F3A-0D6D-BB08-A94CCD9A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2" descr="Mapa de cidade&#10;&#10;Descrição gerada automaticamente">
            <a:extLst>
              <a:ext uri="{FF2B5EF4-FFF2-40B4-BE49-F238E27FC236}">
                <a16:creationId xmlns:a16="http://schemas.microsoft.com/office/drawing/2014/main" id="{02DE2ADB-1A64-B957-35BE-E267C97A6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" t="4855" r="-918" b="-116"/>
          <a:stretch>
            <a:fillRect/>
          </a:stretch>
        </p:blipFill>
        <p:spPr>
          <a:xfrm>
            <a:off x="805543" y="1012925"/>
            <a:ext cx="10889662" cy="573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4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D103-2147-BC37-D1D1-EA39B936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A660A5-0195-847A-523C-34B46235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69059"/>
            <a:ext cx="10515600" cy="739343"/>
          </a:xfrm>
        </p:spPr>
        <p:txBody>
          <a:bodyPr>
            <a:normAutofit fontScale="90000"/>
          </a:bodyPr>
          <a:lstStyle/>
          <a:p>
            <a:r>
              <a:rPr lang="pt-BR" dirty="0"/>
              <a:t>Banco de dados empregado:</a:t>
            </a:r>
            <a:br>
              <a:rPr lang="pt-BR" dirty="0"/>
            </a:br>
            <a:endParaRPr lang="pt-BR" dirty="0"/>
          </a:p>
        </p:txBody>
      </p:sp>
      <p:pic>
        <p:nvPicPr>
          <p:cNvPr id="7" name="Imagem 3" descr="Tabela&#10;&#10;Descrição gerada automaticamente">
            <a:extLst>
              <a:ext uri="{FF2B5EF4-FFF2-40B4-BE49-F238E27FC236}">
                <a16:creationId xmlns:a16="http://schemas.microsoft.com/office/drawing/2014/main" id="{1D6750AD-8C10-51DD-A489-935464E26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86" y="1538730"/>
            <a:ext cx="7652657" cy="788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9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7275-9A3A-4993-93E8-C249C25A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1422177-8DC3-D9AE-35AD-C95A7684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4725"/>
            <a:ext cx="10515600" cy="1325563"/>
          </a:xfrm>
        </p:spPr>
        <p:txBody>
          <a:bodyPr/>
          <a:lstStyle/>
          <a:p>
            <a:r>
              <a:rPr lang="pt-BR" dirty="0"/>
              <a:t>MODELO DE REGRESSÃO/ESTIMAÇÃO</a:t>
            </a:r>
            <a:br>
              <a:rPr lang="pt-BR" dirty="0"/>
            </a:b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26A91-F190-C330-61C4-25596758F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MODELO LINEAR ADOTADO: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𝑃𝑈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=4,768−0,2703.</m:t>
                      </m:r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+0,2339.</m:t>
                      </m:r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−0,983</m:t>
                      </m:r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+0,3735.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+0,5181.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pt-BR" sz="1800" b="0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EQUAÇÃO DE ESTIMAÇÃO: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𝑃𝑈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=117,6839.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−0,2703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0,2339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−0,0983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1,4528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1,67497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26A91-F190-C330-61C4-25596758F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61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294E-ADA5-7995-5EB7-1C512846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F0EFA2-946A-0B4E-C5D2-A6A3ACD4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VARIÁVEIS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E37D2-ADDA-6730-E645-50A706BB4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PU: É O PREÇO UNITÁRIO DE LOCAÇÃO DO IMÓVEL, EXPRESSO EM REAIS POR METRO QUADRADO.  VARIÁVEL EXPLICADA, QUANTITATIVA. AMPLITUDE DA AMOSTRA: 15,03&lt;PU&lt;89,16.</a:t>
            </a:r>
          </a:p>
          <a:p>
            <a:r>
              <a:rPr lang="pt-BR" dirty="0"/>
              <a:t>A: É A ÁREA DE CONSTRUÇÃO DO IMÓVEL, EXPRESSA EM METROS QUADRADOS. VARIÁVEL EXPLICATIVA, QUANTITATIVA, QUE GUARDA COM OS PREÇOS UNITÁRIOS UMA CORRELAÇÃO NEGATIVA. AMPLITUDE DA AMOSTRA: 60&lt;A&lt;9.838</a:t>
            </a:r>
          </a:p>
          <a:p>
            <a:r>
              <a:rPr lang="pt-BR" dirty="0"/>
              <a:t>%T: É O PERCENTUAL DA ÁREA DE CONSTRUÇÃO DO IMÓVEL QUE ESTÁ SITUADA NO PAVIMENTO TÉRREO. VARIÁVEL QUANTITATIVA, QUE GUARDA CORRELAÇÃO POSITIVA COM OS PREÇOS UNITÁRIOS. AMPLITUDE DA AMOSTRA: 5%&lt;%T&lt;100%</a:t>
            </a:r>
          </a:p>
        </p:txBody>
      </p:sp>
    </p:spTree>
    <p:extLst>
      <p:ext uri="{BB962C8B-B14F-4D97-AF65-F5344CB8AC3E}">
        <p14:creationId xmlns:p14="http://schemas.microsoft.com/office/powerpoint/2010/main" val="15029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B740-D34F-B85E-3153-07F8953F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CE4B084-BBCF-462E-01AF-C8E86DC0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VARIÁVEIS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BED5C-019D-19B3-4D11-A6A5E38EE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D: É A DISTÂNCIA DO IMÓVEL AO POLO DE VALORIZAÇÃO NA PRAÇA RIO BRANCO, EXPRESSA EM METROS. VARIÁVEL QUANTITATIVA, QUE GUARDA CORRELAÇÃO NEGATIVA COM OS PREÇOS UNITÁRIOS. AMPLITUDE DA AMOSTRA: 50,25&lt;d&lt;100m</a:t>
            </a:r>
          </a:p>
          <a:p>
            <a:r>
              <a:rPr lang="pt-BR" dirty="0"/>
              <a:t>G: É A PRESENÇA DE GARAGEM NO SUBSOLO. VARIÁVEL EXPLICATIVA DICOTÔMICA, QUE GUARDA COM OS PREÇOS UNITÁRIOS UMA  CORRELAÇÃO POSITIVA. ADOTOU-SE G = 1 PARA A PRESENÇA DE GARAGEM SUBTERRÂNEA E G = 0 PARA A SUA AUSÊNCIA.</a:t>
            </a:r>
          </a:p>
        </p:txBody>
      </p:sp>
    </p:spTree>
    <p:extLst>
      <p:ext uri="{BB962C8B-B14F-4D97-AF65-F5344CB8AC3E}">
        <p14:creationId xmlns:p14="http://schemas.microsoft.com/office/powerpoint/2010/main" val="129915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FD09-ACF0-003F-5E80-6281639C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2CCC589-6F51-BDD6-D219-D0714922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VARIÁVEIS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20370-6B4E-4708-3969-3FAF4A813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I:  É REFERENTE À IDADE APARENTE DO IMÓVEL NO MOMENTO DA TRANSAÇÃO. VARIÁVEL EXPLICATIVA DICOTÔMICA, QUE DIFERENCIA OS IMÓVEIS COM IDADE APARENTE MENOR OU IGUAL A 10 ANOS E AQUELES COM IDADE APARENTE MAIOR. VALORES POSSÍVEIS: IMÓVEL COM IDADE APARENTE MENOR OU IGUAL A 10 ANOS: I = 1. CASO CONTRÁRIO: I = 0;</a:t>
            </a:r>
          </a:p>
        </p:txBody>
      </p:sp>
    </p:spTree>
    <p:extLst>
      <p:ext uri="{BB962C8B-B14F-4D97-AF65-F5344CB8AC3E}">
        <p14:creationId xmlns:p14="http://schemas.microsoft.com/office/powerpoint/2010/main" val="142319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53BF-D3EB-69A3-D618-00533BE5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0EDE62-3CA2-EEB4-890F-7A3110B6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1696"/>
            <a:ext cx="10515600" cy="1325563"/>
          </a:xfrm>
        </p:spPr>
        <p:txBody>
          <a:bodyPr/>
          <a:lstStyle/>
          <a:p>
            <a:r>
              <a:rPr lang="pt-BR" dirty="0"/>
              <a:t>GRÁFICOS DE EFEITOS DO MODELO</a:t>
            </a:r>
          </a:p>
        </p:txBody>
      </p:sp>
      <p:pic>
        <p:nvPicPr>
          <p:cNvPr id="2" name="Espaço Reservado para Conteúdo 3" descr="modelo">
            <a:extLst>
              <a:ext uri="{FF2B5EF4-FFF2-40B4-BE49-F238E27FC236}">
                <a16:creationId xmlns:a16="http://schemas.microsoft.com/office/drawing/2014/main" id="{EB322E67-0C5A-6DD0-129C-B3B561021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838" y="1529833"/>
            <a:ext cx="7634324" cy="544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3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1344-0BF3-12F0-A4C9-70A9535F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75D1-8F88-0111-9846-BECC8FA1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8057"/>
            <a:ext cx="10515600" cy="362631"/>
          </a:xfrm>
        </p:spPr>
        <p:txBody>
          <a:bodyPr>
            <a:normAutofit fontScale="90000"/>
          </a:bodyPr>
          <a:lstStyle/>
          <a:p>
            <a:r>
              <a:rPr lang="pt-BR" dirty="0"/>
              <a:t>ESTIMATIVA DO VALOR DO ALUGUEL</a:t>
            </a:r>
            <a:br>
              <a:rPr lang="pt-BR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23AD9-CBF9-DE71-5286-78C73F7E7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257" y="1690688"/>
            <a:ext cx="44822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CARACTERÍSTICAS DO AVALIANDO: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D2D685-F261-E1BE-59BC-55E516E7D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7845" y="1690688"/>
            <a:ext cx="6302277" cy="4717131"/>
          </a:xfrm>
        </p:spPr>
        <p:txBody>
          <a:bodyPr/>
          <a:lstStyle/>
          <a:p>
            <a:r>
              <a:rPr lang="pt-BR" b="1" dirty="0"/>
              <a:t>RESULTADOS:</a:t>
            </a:r>
          </a:p>
        </p:txBody>
      </p:sp>
      <p:pic>
        <p:nvPicPr>
          <p:cNvPr id="8" name="Imagem 3" descr="Tabela&#10;&#10;Descrição gerada automaticamente">
            <a:extLst>
              <a:ext uri="{FF2B5EF4-FFF2-40B4-BE49-F238E27FC236}">
                <a16:creationId xmlns:a16="http://schemas.microsoft.com/office/drawing/2014/main" id="{B03B6D9E-B0E2-728B-A5A8-6511CB3C1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776447"/>
            <a:ext cx="4092700" cy="2242800"/>
          </a:xfrm>
          <a:prstGeom prst="rect">
            <a:avLst/>
          </a:prstGeom>
        </p:spPr>
      </p:pic>
      <p:pic>
        <p:nvPicPr>
          <p:cNvPr id="9" name="Imagem 6" descr="Tabela&#10;&#10;Descrição gerada automaticamente">
            <a:extLst>
              <a:ext uri="{FF2B5EF4-FFF2-40B4-BE49-F238E27FC236}">
                <a16:creationId xmlns:a16="http://schemas.microsoft.com/office/drawing/2014/main" id="{AD4E5F03-21C2-A616-0746-2AF26D4D9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546" y="2776445"/>
            <a:ext cx="6909354" cy="216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80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442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Tema do Office</vt:lpstr>
      <vt:lpstr>AVALIAÇÕES DE ALUGUÉIS </vt:lpstr>
      <vt:lpstr>PROBLEMA A RESOLVER: </vt:lpstr>
      <vt:lpstr>PowerPoint Presentation</vt:lpstr>
      <vt:lpstr>Banco de dados empregado: </vt:lpstr>
      <vt:lpstr>MODELO DE REGRESSÃO/ESTIMAÇÃO </vt:lpstr>
      <vt:lpstr>VARIÁVEIS DO MODELO</vt:lpstr>
      <vt:lpstr>VARIÁVEIS DO MODELO</vt:lpstr>
      <vt:lpstr>VARIÁVEIS DO MODELO</vt:lpstr>
      <vt:lpstr>GRÁFICOS DE EFEITOS DO MODELO</vt:lpstr>
      <vt:lpstr>ESTIMATIVA DO VALOR DO ALUGUEL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 Vasconcelos</dc:creator>
  <cp:lastModifiedBy>Luiz F P Droubi</cp:lastModifiedBy>
  <cp:revision>8</cp:revision>
  <cp:lastPrinted>2025-08-12T17:55:27Z</cp:lastPrinted>
  <dcterms:created xsi:type="dcterms:W3CDTF">2024-10-28T18:10:07Z</dcterms:created>
  <dcterms:modified xsi:type="dcterms:W3CDTF">2025-12-23T18:58:09Z</dcterms:modified>
</cp:coreProperties>
</file>