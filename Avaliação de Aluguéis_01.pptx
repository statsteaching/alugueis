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99184EF-FA25-F3AE-75D7-F656215212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001DC64-32ED-4555-94EE-36CF849390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8035" y="1071418"/>
            <a:ext cx="5098473" cy="3011055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4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84167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085A2D54-DC1C-40E3-99D2-3189CED1CA3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>
            <a:lvl1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5C504-58F1-2318-F264-E17A9AABC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9017"/>
            <a:ext cx="10515600" cy="3987945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pt-B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4352E-5D44-398F-A011-DF2E30ACB5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8E782E1-44D1-417C-B4AA-50D7BFA4EE6C}" type="datetimeFigureOut">
              <a:rPr lang="pt-BR" smtClean="0"/>
              <a:t>16/08/2025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66E681-2A6F-0CE2-2D99-35BD43C23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Avaliação de Aluguéis – Prof. Luiz Droubi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5A42ED-9BA8-B94A-2523-84DBC8DD7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45C7DE-4DED-4D23-9A7C-BB8E49D80690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21483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09A65-87C6-A0D0-64A7-121C4D105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1080656"/>
            <a:ext cx="4337050" cy="348182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  <a:endParaRPr lang="pt-B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4A4A0E-8BB9-250E-3B6F-5C1B3C885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45C7DE-4DED-4D23-9A7C-BB8E49D8069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4302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0A16FCF3-D3F0-3D4C-0EAF-680FBDA385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AB95C04-CC6F-1CD5-4027-3306C4B75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0600"/>
            <a:ext cx="10515600" cy="700088"/>
          </a:xfrm>
          <a:prstGeom prst="rect">
            <a:avLst/>
          </a:prstGeom>
        </p:spPr>
        <p:txBody>
          <a:bodyPr/>
          <a:lstStyle>
            <a:lvl1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C9F7A-0844-0C9F-745C-595915C1A0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pt-BR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D3C290-0A1C-BF66-84A7-0888B63645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pt-BR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FECB4A-0386-3039-0851-CCC3E04D9C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8E782E1-44D1-417C-B4AA-50D7BFA4EE6C}" type="datetimeFigureOut">
              <a:rPr lang="pt-BR" smtClean="0"/>
              <a:t>16/08/2025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A92097-C142-BB53-623E-8005A2F15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Avaliações de Aluguéis – Prof. Luiz Droubi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DD9C17-D42B-D90D-FEA0-420C57795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45C7DE-4DED-4D23-9A7C-BB8E49D8069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064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48251B0B-D73E-0498-462C-8DAFE97451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EFCD8AA-A4C0-5B63-3615-FF99B19EA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935038"/>
            <a:ext cx="10506076" cy="746125"/>
          </a:xfrm>
          <a:prstGeom prst="rect">
            <a:avLst/>
          </a:prstGeom>
        </p:spPr>
        <p:txBody>
          <a:bodyPr/>
          <a:lstStyle>
            <a:lvl1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pt-B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DFEA84-1946-DBE6-D247-7CA7EE7314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800" b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8345DF-1932-E5A8-6820-7C8C3A19F5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pt-BR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093969-95B1-DCCB-7590-32DC494E48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800" b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5BD13B-C7A3-BC61-0A2C-4A180D54B6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pt-BR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34C295-0681-0C23-0480-95E2F96B2B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8E782E1-44D1-417C-B4AA-50D7BFA4EE6C}" type="datetimeFigureOut">
              <a:rPr lang="pt-BR" smtClean="0"/>
              <a:t>16/08/2025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4C8C7E-DD30-1A6D-49BD-775F13B2E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41F14D-A749-3310-7F10-52D7AD5E5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45C7DE-4DED-4D23-9A7C-BB8E49D8069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225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BCEC30F6-C215-0C16-327C-F05F9F5CA1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0CB0D80-2C6C-D796-58D3-D86379469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993199"/>
            <a:ext cx="10679545" cy="89102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pt-BR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B44A4E-1FD5-1155-7B86-C0286EE3AB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8E782E1-44D1-417C-B4AA-50D7BFA4EE6C}" type="datetimeFigureOut">
              <a:rPr lang="pt-BR" smtClean="0"/>
              <a:t>16/08/2025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DCEC8B-6062-2D30-1642-1F591A8A6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AE0141-205B-B8DB-94C4-95145D592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45C7DE-4DED-4D23-9A7C-BB8E49D8069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717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E91E5A-8957-3612-FD30-8EFB0ED741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8E782E1-44D1-417C-B4AA-50D7BFA4EE6C}" type="datetimeFigureOut">
              <a:rPr lang="pt-BR" smtClean="0"/>
              <a:t>16/08/2025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CF00DE-34E6-5D89-3EF0-EC5FE033C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BF009E-D7BD-B94A-FE3F-22E48D090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45C7DE-4DED-4D23-9A7C-BB8E49D8069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2858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8275CD64-694E-B27B-4E21-C44AC1F8FF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1B8FE57-6952-DCF2-0990-90E39B648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0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414E9-BCF4-5F4C-6ADB-65C830A85A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4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20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20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pt-BR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A29933-B652-DA47-BFD3-9E7FA42D22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569F08-BE59-89D4-071E-4A1F646682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8E782E1-44D1-417C-B4AA-50D7BFA4EE6C}" type="datetimeFigureOut">
              <a:rPr lang="pt-BR" smtClean="0"/>
              <a:t>16/08/2025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8C1A8-7DCB-9C6A-5983-7F12BC806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Avaliações de Aluguéis – Prof. Luiz Droubi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E1B7BE-D1F4-2469-8A50-E64180142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45C7DE-4DED-4D23-9A7C-BB8E49D8069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3766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309477F5-002E-A991-76D4-54C2F64C50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01E7028-8E93-2025-BE29-8F061C2C6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0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pt-BR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029ACA-2AA7-A033-EDE3-12E52AB1E0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AD6DFE-2D96-A0D7-CE7E-2B5CFF8029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1CE78B-013E-347C-9FD5-0AC06B597A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8E782E1-44D1-417C-B4AA-50D7BFA4EE6C}" type="datetimeFigureOut">
              <a:rPr lang="pt-BR" smtClean="0"/>
              <a:t>16/08/2025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502DAA-ECCB-F11F-205D-8A79EAB3C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Avaliações de Aluguéis – Prof. Luiz Droubi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276756-D959-C520-1294-BD4F67C5A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45C7DE-4DED-4D23-9A7C-BB8E49D8069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335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6CA1D-5698-F02F-390A-5CECD3598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662384-B41E-E5B3-66DF-D3CAFF7626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5744C3-6E3E-72EE-0444-5A0390BCA0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8E782E1-44D1-417C-B4AA-50D7BFA4EE6C}" type="datetimeFigureOut">
              <a:rPr lang="pt-BR" smtClean="0"/>
              <a:t>16/08/2025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FE1A9-E1EF-3CA8-4576-5FAD3799C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29890A-3050-FAC4-C512-9105EB419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45C7DE-4DED-4D23-9A7C-BB8E49D8069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0266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8377BB-D121-7F34-C00F-D7DE2739A5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1EDB92-3760-8609-4648-D2F128AD41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0AFA4B-992C-A562-B1E7-CC14039E95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8E782E1-44D1-417C-B4AA-50D7BFA4EE6C}" type="datetimeFigureOut">
              <a:rPr lang="pt-BR" smtClean="0"/>
              <a:t>16/08/2025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9CE77C-C80E-8260-B9B0-42B11D530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310BC9-0B28-5B58-213C-3C99A16DB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45C7DE-4DED-4D23-9A7C-BB8E49D8069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8581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F64680-033D-7B6C-311D-AF99E8B0317B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4F6716-DAE2-3F5E-C9EE-042B8A623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9564" y="2257040"/>
            <a:ext cx="5213296" cy="24257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6BF84D-7D99-C72C-766F-0FDF12BB15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62502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8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8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8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BSMJk8gSyrs?si=MUBWrkpX2oyZbbbA" TargetMode="Externa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590/S0034-75901966000100002" TargetMode="External"/><Relationship Id="rId2" Type="http://schemas.openxmlformats.org/officeDocument/2006/relationships/hyperlink" Target="https://doi.org/10.22296/2317-1529.rbeur.202027pt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x.doi.org/10.2139/ssrn.258524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1DC64-32ED-4555-94EE-36CF849390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8035" y="1071418"/>
            <a:ext cx="5098473" cy="3011055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rPr dirty="0" err="1"/>
              <a:t>Avaliação</a:t>
            </a:r>
            <a:r>
              <a:rPr dirty="0"/>
              <a:t> de </a:t>
            </a:r>
            <a:r>
              <a:rPr dirty="0" err="1"/>
              <a:t>Aluguéis</a:t>
            </a:r>
            <a:endParaRPr dirty="0"/>
          </a:p>
        </p:txBody>
      </p:sp>
      <p:sp>
        <p:nvSpPr>
          <p:cNvPr id="3" name=" 2"/>
          <p:cNvSpPr/>
          <p:nvPr/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Introdução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5C504-58F1-2318-F264-E17A9AABC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Os imóveis são bens heterogêneos:</a:t>
            </a:r>
          </a:p>
          <a:p>
            <a:pPr lvl="1"/>
            <a:r>
              <a:t>Assim como utilizamos os imóveis para morar</a:t>
            </a:r>
          </a:p>
          <a:p>
            <a:pPr lvl="1"/>
            <a:r>
              <a:t>Utilizamos os imóveis para auferir renda imobiliária</a:t>
            </a:r>
          </a:p>
          <a:p>
            <a:pPr lvl="1"/>
            <a:r>
              <a:t>Assim, os imóveis são bens de consumo (“</a:t>
            </a:r>
            <a:r>
              <a:rPr i="1"/>
              <a:t>service logement</a:t>
            </a:r>
            <a:r>
              <a:t>”, de acordo com (GRANELLE 1998; </a:t>
            </a:r>
            <a:r>
              <a:rPr i="1"/>
              <a:t>apud</a:t>
            </a:r>
            <a:r>
              <a:t> Lacerda and Abramo 2020)</a:t>
            </a:r>
          </a:p>
          <a:p>
            <a:pPr lvl="1"/>
            <a:r>
              <a:t>Mas também são “</a:t>
            </a:r>
            <a:r>
              <a:rPr i="1"/>
              <a:t>bien d’investissement</a:t>
            </a:r>
            <a:r>
              <a:t>” (Idem)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8FE57-6952-DCF2-0990-90E39B648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Introdução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A29933-B652-DA47-BFD3-9E7FA42D22D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lvl="0"/>
            <a:r>
              <a:t>O entendimento da formação dos Aluguéis é essencial para a compreensão do mercado imobiliário</a:t>
            </a:r>
          </a:p>
          <a:p>
            <a:pPr lvl="0"/>
            <a:r>
              <a:t>Fonte: Adaptada de Malpezzi and Wachter (2002)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181600" y="977900"/>
          <a:ext cx="6172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86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Estoque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Fluxo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Riqueza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Renda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Dívida Pública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Déficit Público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Dividendo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Valor de uma propriedade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Aluguel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Relação entre Estoque e Fluxo:</a:t>
            </a:r>
          </a:p>
        </p:txBody>
      </p:sp>
      <p:pic>
        <p:nvPicPr>
          <p:cNvPr id="3" name="Picture 1" descr="01_files/figure-pptx/fig-FC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55914" y="1632857"/>
            <a:ext cx="9622972" cy="4811486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838200" y="6350000"/>
            <a:ext cx="10515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Figure 1: Um </a:t>
            </a:r>
            <a:r>
              <a:rPr dirty="0" err="1"/>
              <a:t>Fluxo</a:t>
            </a:r>
            <a:r>
              <a:rPr dirty="0"/>
              <a:t> de Caixa Simples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09A65-87C6-A0D0-64A7-121C4D105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1080656"/>
            <a:ext cx="4337050" cy="3481820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Matemática Financeira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Essencial de Matemática Financeira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5C504-58F1-2318-F264-E17A9AABC7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dirty="0"/>
                  <a:t>Valor </a:t>
                </a:r>
                <a:r>
                  <a:rPr dirty="0" err="1"/>
                  <a:t>Presente</a:t>
                </a:r>
                <a:r>
                  <a:rPr dirty="0"/>
                  <a:t> </a:t>
                </a:r>
                <a:r>
                  <a:rPr dirty="0" err="1"/>
                  <a:t>Líquido</a:t>
                </a:r>
                <a:r>
                  <a:rPr dirty="0"/>
                  <a:t> de um </a:t>
                </a:r>
                <a:r>
                  <a:rPr dirty="0" err="1"/>
                  <a:t>investimento</a:t>
                </a:r>
                <a:r>
                  <a:rPr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𝑉𝑃𝐿</m:t>
                      </m:r>
                      <m:r>
                        <a:rPr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f>
                            <m:f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num>
                            <m:den>
                              <m:sSup>
                                <m:sSup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>
                          <a:latin typeface="Cambria Math" panose="02040503050406030204" pitchFamily="18" charset="0"/>
                        </a:rPr>
                        <m:t>  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dirty="0"/>
              </a:p>
              <a:p>
                <a:pPr lvl="0"/>
                <a:r>
                  <a:rPr dirty="0"/>
                  <a:t>Quando o </a:t>
                </a:r>
                <a:r>
                  <a:rPr dirty="0" err="1"/>
                  <a:t>fluxo</a:t>
                </a:r>
                <a:r>
                  <a:rPr dirty="0"/>
                  <a:t> de </a:t>
                </a:r>
                <a:r>
                  <a:rPr dirty="0" err="1"/>
                  <a:t>caixa</a:t>
                </a:r>
                <a:r>
                  <a:rPr dirty="0"/>
                  <a:t> é </a:t>
                </a:r>
                <a:r>
                  <a:rPr dirty="0" err="1"/>
                  <a:t>constante</a:t>
                </a:r>
                <a:r>
                  <a:rPr dirty="0"/>
                  <a:t>, o VPL </a:t>
                </a:r>
                <a:r>
                  <a:rPr dirty="0" err="1"/>
                  <a:t>também</a:t>
                </a:r>
                <a:r>
                  <a:rPr dirty="0"/>
                  <a:t> </a:t>
                </a:r>
                <a:r>
                  <a:rPr dirty="0" err="1"/>
                  <a:t>pode</a:t>
                </a:r>
                <a:r>
                  <a:rPr dirty="0"/>
                  <a:t> ser </a:t>
                </a:r>
                <a:r>
                  <a:rPr dirty="0" err="1"/>
                  <a:t>escrito</a:t>
                </a:r>
                <a:r>
                  <a:rPr dirty="0"/>
                  <a:t> </a:t>
                </a:r>
                <a:r>
                  <a:rPr dirty="0" err="1"/>
                  <a:t>em</a:t>
                </a:r>
                <a:r>
                  <a:rPr dirty="0"/>
                  <a:t> </a:t>
                </a:r>
                <a:r>
                  <a:rPr dirty="0" err="1"/>
                  <a:t>função</a:t>
                </a:r>
                <a:r>
                  <a:rPr dirty="0"/>
                  <a:t> do Fator de </a:t>
                </a:r>
                <a:r>
                  <a:rPr dirty="0" err="1"/>
                  <a:t>Recuperação</a:t>
                </a:r>
                <a:r>
                  <a:rPr dirty="0"/>
                  <a:t> do Capital (FRC):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𝑉𝑃𝐿</m:t>
                      </m:r>
                      <m:r>
                        <a:rPr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𝐹𝑅𝐶</m:t>
                          </m:r>
                          <m:d>
                            <m:d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</m:den>
                      </m:f>
                      <m:r>
                        <a:rPr>
                          <a:latin typeface="Cambria Math" panose="02040503050406030204" pitchFamily="18" charset="0"/>
                        </a:rPr>
                        <m:t>  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dirty="0"/>
              </a:p>
              <a:p>
                <a:pPr lvl="0"/>
                <a:r>
                  <a:rPr dirty="0"/>
                  <a:t>Pode-se </a:t>
                </a:r>
                <a:r>
                  <a:rPr dirty="0" err="1"/>
                  <a:t>considerar</a:t>
                </a:r>
                <a:r>
                  <a:rPr dirty="0"/>
                  <a:t>, </a:t>
                </a:r>
                <a:r>
                  <a:rPr dirty="0" err="1"/>
                  <a:t>ainda</a:t>
                </a:r>
                <a:r>
                  <a:rPr dirty="0"/>
                  <a:t>, um valor residual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dirty="0"/>
                  <a:t> </a:t>
                </a:r>
                <a:r>
                  <a:rPr dirty="0" err="1"/>
                  <a:t>ao</a:t>
                </a:r>
                <a:r>
                  <a:rPr dirty="0"/>
                  <a:t> final do </a:t>
                </a:r>
                <a:r>
                  <a:rPr dirty="0" err="1"/>
                  <a:t>período</a:t>
                </a:r>
                <a:r>
                  <a:rPr dirty="0"/>
                  <a:t> de </a:t>
                </a:r>
                <a:r>
                  <a:rPr dirty="0" err="1"/>
                  <a:t>análise</a:t>
                </a:r>
                <a:r>
                  <a:rPr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𝑉𝑃𝐿</m:t>
                      </m:r>
                      <m:r>
                        <a:rPr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𝐹𝑅𝐶</m:t>
                          </m:r>
                          <m:d>
                            <m:d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</m:den>
                      </m:f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>
                          <a:latin typeface="Cambria Math" panose="02040503050406030204" pitchFamily="18" charset="0"/>
                        </a:rPr>
                        <m:t>.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𝐹𝐴𝐶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  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5C504-58F1-2318-F264-E17A9AABC7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21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3C9F7A-0844-0C9F-745C-595915C1A03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lvl="0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𝐹𝑅𝐶</m:t>
                    </m:r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.</m:t>
                        </m:r>
                        <m:sSup>
                          <m:sSup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  </m:t>
                    </m:r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  <a:endParaRPr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3C9F7A-0844-0C9F-745C-595915C1A0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1D3C290-0A1C-BF66-84A7-0888B63645A3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pPr lvl="0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𝐹𝐴𝐶</m:t>
                    </m:r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  </m:t>
                    </m:r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</m:oMath>
                </a14:m>
                <a:endParaRPr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1D3C290-0A1C-BF66-84A7-0888B63645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8FE57-6952-DCF2-0990-90E39B648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Essencial de Matemática Financeira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A29933-B652-DA47-BFD3-9E7FA42D22D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lvl="0"/>
            <a:r>
              <a:t>FRC e FAC podem ser tabelados!</a:t>
            </a:r>
          </a:p>
          <a:p>
            <a:pPr lvl="0"/>
            <a:r>
              <a:t>FRC: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5719342"/>
              </p:ext>
            </p:extLst>
          </p:nvPr>
        </p:nvGraphicFramePr>
        <p:xfrm>
          <a:off x="4441372" y="977899"/>
          <a:ext cx="7434947" cy="42363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4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1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1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1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31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31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131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131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1314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131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1314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35322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6839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1,0100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1,0200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1,0300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1,0400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1,0500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1,0600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1,0700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1,0800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1,0900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1,1000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6839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0,5075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0,5150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0,5226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0,5302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0,5378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0,5454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0,5531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0,5608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0,5685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0,5762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6839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0,3400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0,3468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0,3535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0,3603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0,3672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0,3741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0,3811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0,3880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0,3951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0,4021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6839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0,2563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0,2626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0,2690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0,2755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0,2820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0,2886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0,2952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0,3019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0,3087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0,3155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6839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0,2060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0,2122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0,2184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0,2246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0,2310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0,2374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0,2439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0,2505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0,2571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0,2638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6839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0,1725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0,1785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0,1846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0,1908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0,1970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0,2034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0,2098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0,2163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0,2229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 dirty="0"/>
                        <a:t>0,2296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A29933-B652-DA47-BFD3-9E7FA42D22D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lvl="0"/>
            <a:r>
              <a:t>FAC: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0060540"/>
              </p:ext>
            </p:extLst>
          </p:nvPr>
        </p:nvGraphicFramePr>
        <p:xfrm>
          <a:off x="3951514" y="977899"/>
          <a:ext cx="7641768" cy="47588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9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29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29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29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29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29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298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298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3298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3298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3298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24900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2329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0,9901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0,9804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0,9709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0,9615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0,9524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0,9434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0,9346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0,9259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0,9174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0,9091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2329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0,9803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0,9612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0,9426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0,9246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0,9070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0,8900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0,8734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0,8573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0,8417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0,8264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2329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0,9706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0,9423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0,9151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0,8890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0,8638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0,8396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0,8163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0,7938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0,7722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0,7513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2329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0,9610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0,9238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0,8885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0,8548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0,8227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0,7921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0,7629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0,7350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0,7084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0,6830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2329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0,9515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0,9057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0,8626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0,8219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0,7835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0,7473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0,7130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0,6806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0,6499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0,6209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2329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0,9420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0,8880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0,8375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0,7903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0,7462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0,7050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0,6663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0,6302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/>
                        <a:t>0,5963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400" dirty="0"/>
                        <a:t>0,5645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Essencial de Matemática Financeira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5C504-58F1-2318-F264-E17A9AABC7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spcBef>
                    <a:spcPts val="3000"/>
                  </a:spcBef>
                  <a:buNone/>
                </a:pPr>
                <a:r>
                  <a:rPr lang="pt-BR" b="1" dirty="0"/>
                  <a:t>Exemplo 1:</a:t>
                </a:r>
              </a:p>
              <a:p>
                <a:pPr lvl="0"/>
                <a:r>
                  <a:rPr lang="pt-BR" dirty="0" err="1"/>
                  <a:t>Compra</a:t>
                </a:r>
                <a:r>
                  <a:rPr lang="pt-BR" dirty="0"/>
                  <a:t> de um </a:t>
                </a:r>
                <a:r>
                  <a:rPr lang="pt-BR" dirty="0" err="1"/>
                  <a:t>carro</a:t>
                </a:r>
                <a:r>
                  <a:rPr lang="pt-BR" dirty="0"/>
                  <a:t> </a:t>
                </a:r>
                <a:r>
                  <a:rPr lang="pt-BR" dirty="0" err="1"/>
                  <a:t>por</a:t>
                </a:r>
                <a:r>
                  <a:rPr lang="pt-BR" dirty="0"/>
                  <a:t> R$ 95.000,00 à vista, </a:t>
                </a:r>
                <a:r>
                  <a:rPr lang="pt-BR" dirty="0" err="1"/>
                  <a:t>deixando</a:t>
                </a:r>
                <a:r>
                  <a:rPr lang="pt-BR" dirty="0"/>
                  <a:t> de </a:t>
                </a:r>
                <a:r>
                  <a:rPr lang="pt-BR" dirty="0" err="1"/>
                  <a:t>pagar</a:t>
                </a:r>
                <a:r>
                  <a:rPr lang="pt-BR" dirty="0"/>
                  <a:t> </a:t>
                </a:r>
                <a:r>
                  <a:rPr lang="pt-BR" dirty="0" err="1"/>
                  <a:t>aluguel</a:t>
                </a:r>
                <a:r>
                  <a:rPr lang="pt-BR" dirty="0"/>
                  <a:t> de R$ 24.000,00/</a:t>
                </a:r>
                <a:r>
                  <a:rPr lang="pt-BR" dirty="0" err="1"/>
                  <a:t>ano</a:t>
                </a:r>
                <a:r>
                  <a:rPr lang="pt-BR" dirty="0"/>
                  <a:t>.</a:t>
                </a:r>
              </a:p>
              <a:p>
                <a:pPr lvl="0"/>
                <a:r>
                  <a:rPr lang="pt-BR" dirty="0"/>
                  <a:t>Em 5 </a:t>
                </a:r>
                <a:r>
                  <a:rPr lang="pt-BR" dirty="0" err="1"/>
                  <a:t>anos</a:t>
                </a:r>
                <a:r>
                  <a:rPr lang="pt-BR" dirty="0"/>
                  <a:t>, a </a:t>
                </a:r>
                <a:r>
                  <a:rPr lang="pt-BR" dirty="0" err="1"/>
                  <a:t>uma</a:t>
                </a:r>
                <a:r>
                  <a:rPr lang="pt-BR" dirty="0"/>
                  <a:t> TMA de 8,0% </a:t>
                </a:r>
                <a:r>
                  <a:rPr lang="pt-BR" dirty="0" err="1"/>
                  <a:t>a.a.</a:t>
                </a:r>
                <a:r>
                  <a:rPr lang="pt-BR" dirty="0"/>
                  <a:t>, </a:t>
                </a:r>
                <a:r>
                  <a:rPr lang="pt-BR" dirty="0" err="1"/>
                  <a:t>este</a:t>
                </a:r>
                <a:r>
                  <a:rPr lang="pt-BR" dirty="0"/>
                  <a:t> </a:t>
                </a:r>
                <a:r>
                  <a:rPr lang="pt-BR" dirty="0" err="1"/>
                  <a:t>investimento</a:t>
                </a:r>
                <a:r>
                  <a:rPr lang="pt-BR" dirty="0"/>
                  <a:t> se </a:t>
                </a:r>
                <a:r>
                  <a:rPr lang="pt-BR" dirty="0" err="1"/>
                  <a:t>paga</a:t>
                </a:r>
                <a:r>
                  <a:rPr lang="pt-BR" dirty="0"/>
                  <a:t>?</a:t>
                </a:r>
              </a:p>
              <a:p>
                <a:pPr lvl="0"/>
                <a:r>
                  <a:rPr lang="pt-BR" dirty="0" err="1"/>
                  <a:t>Desconsiderar</a:t>
                </a:r>
                <a:r>
                  <a:rPr lang="pt-BR" dirty="0"/>
                  <a:t> </a:t>
                </a:r>
                <a:r>
                  <a:rPr lang="pt-BR" dirty="0" err="1"/>
                  <a:t>seguros</a:t>
                </a:r>
                <a:r>
                  <a:rPr lang="pt-BR" dirty="0"/>
                  <a:t>, IPVA, etc.</a:t>
                </a:r>
              </a:p>
              <a:p>
                <a:pPr lvl="1"/>
                <a:r>
                  <a:rPr lang="pt-BR" dirty="0"/>
                  <a:t>Dados: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pt-BR">
                        <a:latin typeface="Cambria Math" panose="02040503050406030204" pitchFamily="18" charset="0"/>
                      </a:rPr>
                      <m:t>𝐼</m:t>
                    </m:r>
                    <m:r>
                      <a:rPr lang="pt-BR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>
                        <a:latin typeface="Cambria Math" panose="02040503050406030204" pitchFamily="18" charset="0"/>
                      </a:rPr>
                      <m:t>95</m:t>
                    </m:r>
                    <m:r>
                      <a:rPr lang="pt-BR">
                        <a:latin typeface="Cambria Math" panose="02040503050406030204" pitchFamily="18" charset="0"/>
                      </a:rPr>
                      <m:t>.</m:t>
                    </m:r>
                    <m:r>
                      <a:rPr lang="pt-BR">
                        <a:latin typeface="Cambria Math" panose="02040503050406030204" pitchFamily="18" charset="0"/>
                      </a:rPr>
                      <m:t>000</m:t>
                    </m:r>
                    <m:r>
                      <a:rPr lang="pt-BR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>
                        <a:latin typeface="Cambria Math" panose="02040503050406030204" pitchFamily="18" charset="0"/>
                      </a:rPr>
                      <m:t>00</m:t>
                    </m:r>
                  </m:oMath>
                </a14:m>
                <a:r>
                  <a:rPr lang="pt-BR" dirty="0"/>
                  <a:t>; </a:t>
                </a:r>
                <a14:m>
                  <m:oMath xmlns:m="http://schemas.openxmlformats.org/officeDocument/2006/math">
                    <m:r>
                      <a:rPr lang="pt-BR">
                        <a:latin typeface="Cambria Math" panose="02040503050406030204" pitchFamily="18" charset="0"/>
                      </a:rPr>
                      <m:t>𝑅</m:t>
                    </m:r>
                    <m:r>
                      <a:rPr lang="pt-BR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>
                        <a:latin typeface="Cambria Math" panose="02040503050406030204" pitchFamily="18" charset="0"/>
                      </a:rPr>
                      <m:t>24</m:t>
                    </m:r>
                    <m:r>
                      <a:rPr lang="pt-BR">
                        <a:latin typeface="Cambria Math" panose="02040503050406030204" pitchFamily="18" charset="0"/>
                      </a:rPr>
                      <m:t>.</m:t>
                    </m:r>
                    <m:r>
                      <a:rPr lang="pt-BR">
                        <a:latin typeface="Cambria Math" panose="02040503050406030204" pitchFamily="18" charset="0"/>
                      </a:rPr>
                      <m:t>000</m:t>
                    </m:r>
                    <m:r>
                      <a:rPr lang="pt-BR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>
                        <a:latin typeface="Cambria Math" panose="02040503050406030204" pitchFamily="18" charset="0"/>
                      </a:rPr>
                      <m:t>00</m:t>
                    </m:r>
                  </m:oMath>
                </a14:m>
                <a:r>
                  <a:rPr lang="pt-BR" dirty="0"/>
                  <a:t>; </a:t>
                </a:r>
                <a14:m>
                  <m:oMath xmlns:m="http://schemas.openxmlformats.org/officeDocument/2006/math">
                    <m:r>
                      <a:rPr lang="pt-BR">
                        <a:latin typeface="Cambria Math" panose="02040503050406030204" pitchFamily="18" charset="0"/>
                      </a:rPr>
                      <m:t>𝑖</m:t>
                    </m:r>
                    <m:r>
                      <a:rPr lang="pt-BR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>
                        <a:latin typeface="Cambria Math" panose="02040503050406030204" pitchFamily="18" charset="0"/>
                      </a:rPr>
                      <m:t>8</m:t>
                    </m:r>
                    <m:r>
                      <a:rPr lang="pt-BR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>
                        <a:latin typeface="Cambria Math" panose="02040503050406030204" pitchFamily="18" charset="0"/>
                      </a:rPr>
                      <m:t>00</m:t>
                    </m:r>
                    <m:r>
                      <a:rPr lang="pt-BR">
                        <a:latin typeface="Cambria Math" panose="02040503050406030204" pitchFamily="18" charset="0"/>
                      </a:rPr>
                      <m:t>%</m:t>
                    </m:r>
                    <m:r>
                      <a:rPr lang="pt-BR">
                        <a:latin typeface="Cambria Math" panose="02040503050406030204" pitchFamily="18" charset="0"/>
                      </a:rPr>
                      <m:t>𝑎</m:t>
                    </m:r>
                    <m:r>
                      <a:rPr lang="pt-BR">
                        <a:latin typeface="Cambria Math" panose="02040503050406030204" pitchFamily="18" charset="0"/>
                      </a:rPr>
                      <m:t>.</m:t>
                    </m:r>
                    <m:r>
                      <a:rPr lang="pt-BR">
                        <a:latin typeface="Cambria Math" panose="02040503050406030204" pitchFamily="18" charset="0"/>
                      </a:rPr>
                      <m:t>𝑎</m:t>
                    </m:r>
                    <m:r>
                      <a:rPr lang="pt-BR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pt-BR" dirty="0"/>
                  <a:t>; </a:t>
                </a:r>
                <a14:m>
                  <m:oMath xmlns:m="http://schemas.openxmlformats.org/officeDocument/2006/math">
                    <m:r>
                      <a:rPr lang="pt-BR">
                        <a:latin typeface="Cambria Math" panose="02040503050406030204" pitchFamily="18" charset="0"/>
                      </a:rPr>
                      <m:t>𝑇</m:t>
                    </m:r>
                    <m:r>
                      <a:rPr lang="pt-BR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pt-BR" dirty="0"/>
              </a:p>
              <a:p>
                <a:pPr lvl="1"/>
                <a:r>
                  <a:rPr lang="pt-BR" dirty="0" err="1"/>
                  <a:t>Solução</a:t>
                </a:r>
                <a:r>
                  <a:rPr lang="pt-BR" dirty="0"/>
                  <a:t>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pt-BR">
                        <a:latin typeface="Cambria Math" panose="02040503050406030204" pitchFamily="18" charset="0"/>
                      </a:rPr>
                      <m:t>𝐹𝑅𝐶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%,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08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08</m:t>
                                </m:r>
                              </m:e>
                            </m:d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08</m:t>
                                </m:r>
                              </m:e>
                            </m:d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endParaRPr lang="ar-AE" dirty="0"/>
              </a:p>
              <a:p>
                <a:pPr lvl="2"/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𝑉𝑃𝐿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95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000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24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000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/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25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95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000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96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000</m:t>
                    </m:r>
                  </m:oMath>
                </a14:m>
                <a:endParaRPr lang="ar-AE" dirty="0"/>
              </a:p>
              <a:p>
                <a:pPr lvl="2"/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𝑉𝑃𝐿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≈+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000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00</m:t>
                    </m:r>
                  </m:oMath>
                </a14:m>
                <a:endParaRPr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5C504-58F1-2318-F264-E17A9AABC7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41" b="-1360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Essencial de Matemática Financeira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5C504-58F1-2318-F264-E17A9AABC7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spcBef>
                    <a:spcPts val="3000"/>
                  </a:spcBef>
                  <a:buNone/>
                </a:pPr>
                <a:r>
                  <a:rPr b="1" dirty="0" err="1"/>
                  <a:t>Exemplo</a:t>
                </a:r>
                <a:r>
                  <a:rPr b="1" dirty="0"/>
                  <a:t> 2:</a:t>
                </a:r>
              </a:p>
              <a:p>
                <a:pPr lvl="0"/>
                <a:r>
                  <a:rPr dirty="0" err="1"/>
                  <a:t>Mesmo</a:t>
                </a:r>
                <a:r>
                  <a:rPr dirty="0"/>
                  <a:t> </a:t>
                </a:r>
                <a:r>
                  <a:rPr dirty="0" err="1"/>
                  <a:t>exemplo</a:t>
                </a:r>
                <a:r>
                  <a:rPr dirty="0"/>
                  <a:t> anterior, </a:t>
                </a:r>
                <a:r>
                  <a:rPr dirty="0" err="1"/>
                  <a:t>considerando</a:t>
                </a:r>
                <a:r>
                  <a:rPr dirty="0"/>
                  <a:t> que o </a:t>
                </a:r>
                <a:r>
                  <a:rPr dirty="0" err="1"/>
                  <a:t>carro</a:t>
                </a:r>
                <a:r>
                  <a:rPr dirty="0"/>
                  <a:t> </a:t>
                </a:r>
                <a:r>
                  <a:rPr dirty="0" err="1"/>
                  <a:t>pode</a:t>
                </a:r>
                <a:r>
                  <a:rPr dirty="0"/>
                  <a:t> ser </a:t>
                </a:r>
                <a:r>
                  <a:rPr dirty="0" err="1"/>
                  <a:t>vendido</a:t>
                </a:r>
                <a:r>
                  <a:rPr dirty="0"/>
                  <a:t> a 60% do valor de </a:t>
                </a:r>
                <a:r>
                  <a:rPr dirty="0" err="1"/>
                  <a:t>aquisição</a:t>
                </a:r>
                <a:r>
                  <a:rPr dirty="0"/>
                  <a:t> </a:t>
                </a:r>
                <a:r>
                  <a:rPr dirty="0" err="1"/>
                  <a:t>ao</a:t>
                </a:r>
                <a:r>
                  <a:rPr dirty="0"/>
                  <a:t> final do </a:t>
                </a:r>
                <a:r>
                  <a:rPr dirty="0" err="1"/>
                  <a:t>período</a:t>
                </a:r>
                <a:r>
                  <a:rPr dirty="0"/>
                  <a:t>.</a:t>
                </a:r>
              </a:p>
              <a:p>
                <a:pPr lvl="0"/>
                <a:r>
                  <a:rPr dirty="0" err="1"/>
                  <a:t>Considerar</a:t>
                </a:r>
                <a:r>
                  <a:rPr dirty="0"/>
                  <a:t> </a:t>
                </a:r>
                <a:r>
                  <a:rPr dirty="0" err="1"/>
                  <a:t>também</a:t>
                </a:r>
                <a:r>
                  <a:rPr dirty="0"/>
                  <a:t> um </a:t>
                </a:r>
                <a:r>
                  <a:rPr dirty="0" err="1"/>
                  <a:t>custo</a:t>
                </a:r>
                <a:r>
                  <a:rPr dirty="0"/>
                  <a:t> de R$ 12.000,00 </a:t>
                </a:r>
                <a:r>
                  <a:rPr dirty="0" err="1"/>
                  <a:t>por</a:t>
                </a:r>
                <a:r>
                  <a:rPr dirty="0"/>
                  <a:t> </a:t>
                </a:r>
                <a:r>
                  <a:rPr dirty="0" err="1"/>
                  <a:t>ano</a:t>
                </a:r>
                <a:r>
                  <a:rPr dirty="0"/>
                  <a:t> </a:t>
                </a:r>
                <a:r>
                  <a:rPr dirty="0" err="1"/>
                  <a:t>em</a:t>
                </a:r>
                <a:r>
                  <a:rPr dirty="0"/>
                  <a:t> </a:t>
                </a:r>
                <a:r>
                  <a:rPr dirty="0" err="1"/>
                  <a:t>manutenções</a:t>
                </a:r>
                <a:r>
                  <a:rPr dirty="0"/>
                  <a:t>, IPVA, etc.</a:t>
                </a:r>
              </a:p>
              <a:p>
                <a:pPr lvl="1"/>
                <a:r>
                  <a:rPr dirty="0"/>
                  <a:t>Dados: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𝐼</m:t>
                    </m:r>
                    <m:r>
                      <a:rPr>
                        <a:latin typeface="Cambria Math" panose="02040503050406030204" pitchFamily="18" charset="0"/>
                      </a:rPr>
                      <m:t>=95.000,00</m:t>
                    </m:r>
                  </m:oMath>
                </a14:m>
                <a:r>
                  <a:rPr dirty="0"/>
                  <a:t>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𝑅</m:t>
                    </m:r>
                    <m:r>
                      <a:rPr>
                        <a:latin typeface="Cambria Math" panose="02040503050406030204" pitchFamily="18" charset="0"/>
                      </a:rPr>
                      <m:t>=24.000,00</m:t>
                    </m:r>
                  </m:oMath>
                </a14:m>
                <a:r>
                  <a:rPr dirty="0"/>
                  <a:t>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𝐶</m:t>
                    </m:r>
                    <m:r>
                      <a:rPr>
                        <a:latin typeface="Cambria Math" panose="02040503050406030204" pitchFamily="18" charset="0"/>
                      </a:rPr>
                      <m:t>=12.000</m:t>
                    </m:r>
                  </m:oMath>
                </a14:m>
                <a:r>
                  <a:rPr dirty="0"/>
                  <a:t>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𝑖</m:t>
                    </m:r>
                    <m:r>
                      <a:rPr>
                        <a:latin typeface="Cambria Math" panose="02040503050406030204" pitchFamily="18" charset="0"/>
                      </a:rPr>
                      <m:t>=8,00%</m:t>
                    </m:r>
                    <m:r>
                      <a:rPr>
                        <a:latin typeface="Cambria Math" panose="02040503050406030204" pitchFamily="18" charset="0"/>
                      </a:rPr>
                      <m:t>𝑎</m:t>
                    </m:r>
                    <m:r>
                      <a:rPr>
                        <a:latin typeface="Cambria Math" panose="02040503050406030204" pitchFamily="18" charset="0"/>
                      </a:rPr>
                      <m:t>.</m:t>
                    </m:r>
                    <m:r>
                      <a:rPr>
                        <a:latin typeface="Cambria Math" panose="02040503050406030204" pitchFamily="18" charset="0"/>
                      </a:rPr>
                      <m:t>𝑎</m:t>
                    </m:r>
                    <m:r>
                      <a:rPr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dirty="0"/>
                  <a:t>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𝑇</m:t>
                    </m:r>
                    <m:r>
                      <a:rPr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dirty="0"/>
                  <a:t>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𝑉𝐹</m:t>
                    </m:r>
                    <m:r>
                      <a:rPr>
                        <a:latin typeface="Cambria Math" panose="02040503050406030204" pitchFamily="18" charset="0"/>
                      </a:rPr>
                      <m:t>=57.000</m:t>
                    </m:r>
                  </m:oMath>
                </a14:m>
                <a:endParaRPr dirty="0"/>
              </a:p>
              <a:p>
                <a:pPr lvl="1"/>
                <a:r>
                  <a:rPr dirty="0" err="1"/>
                  <a:t>Solução</a:t>
                </a:r>
                <a:r>
                  <a:rPr dirty="0"/>
                  <a:t>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𝐹𝐴𝐶</m:t>
                    </m:r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8%,5</m:t>
                        </m:r>
                      </m:e>
                    </m:d>
                    <m:r>
                      <a:rPr>
                        <a:latin typeface="Cambria Math" panose="02040503050406030204" pitchFamily="18" charset="0"/>
                      </a:rPr>
                      <m:t>=1/</m:t>
                    </m:r>
                    <m:sSup>
                      <m:sSup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1+.08</m:t>
                            </m:r>
                          </m:e>
                        </m:d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=0,6806</m:t>
                    </m:r>
                  </m:oMath>
                </a14:m>
                <a:endParaRPr dirty="0"/>
              </a:p>
              <a:p>
                <a:pPr lvl="2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𝑉𝑃𝐿</m:t>
                    </m:r>
                    <m:r>
                      <a:rPr>
                        <a:latin typeface="Cambria Math" panose="02040503050406030204" pitchFamily="18" charset="0"/>
                      </a:rPr>
                      <m:t>=−95.000+</m:t>
                    </m:r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24.000−12.000</m:t>
                        </m:r>
                      </m:e>
                    </m:d>
                    <m:r>
                      <a:rPr>
                        <a:latin typeface="Cambria Math" panose="02040503050406030204" pitchFamily="18" charset="0"/>
                      </a:rPr>
                      <m:t>/0,25+57.000×0,6806≈−95.000+48.000+38.800</m:t>
                    </m:r>
                  </m:oMath>
                </a14:m>
                <a:endParaRPr dirty="0"/>
              </a:p>
              <a:p>
                <a:pPr lvl="2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𝑉𝑃𝐿</m:t>
                    </m:r>
                    <m:r>
                      <a:rPr>
                        <a:latin typeface="Cambria Math" panose="02040503050406030204" pitchFamily="18" charset="0"/>
                      </a:rPr>
                      <m:t>≈−8.200,00</m:t>
                    </m:r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5C504-58F1-2318-F264-E17A9AABC7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41" b="-1269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Essencial de Matemática Financeira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5C504-58F1-2318-F264-E17A9AABC7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spcBef>
                    <a:spcPts val="3000"/>
                  </a:spcBef>
                  <a:buNone/>
                </a:pPr>
                <a:r>
                  <a:rPr b="1" dirty="0" err="1"/>
                  <a:t>Exemplo</a:t>
                </a:r>
                <a:r>
                  <a:rPr b="1" dirty="0"/>
                  <a:t> 3:</a:t>
                </a:r>
              </a:p>
              <a:p>
                <a:pPr lvl="0"/>
                <a:r>
                  <a:rPr dirty="0" err="1"/>
                  <a:t>Compra</a:t>
                </a:r>
                <a:r>
                  <a:rPr dirty="0"/>
                  <a:t> de </a:t>
                </a:r>
                <a:r>
                  <a:rPr dirty="0" err="1"/>
                  <a:t>uma</a:t>
                </a:r>
                <a:r>
                  <a:rPr dirty="0"/>
                  <a:t> </a:t>
                </a:r>
                <a:r>
                  <a:rPr dirty="0" err="1"/>
                  <a:t>geladeira</a:t>
                </a:r>
                <a:r>
                  <a:rPr dirty="0"/>
                  <a:t> de R$ 4.000,00 </a:t>
                </a:r>
                <a:r>
                  <a:rPr dirty="0" err="1"/>
                  <a:t>em</a:t>
                </a:r>
                <a:r>
                  <a:rPr dirty="0"/>
                  <a:t> 12x R$ 400,00, com </a:t>
                </a:r>
                <a:r>
                  <a:rPr dirty="0" err="1"/>
                  <a:t>uma</a:t>
                </a:r>
                <a:r>
                  <a:rPr dirty="0"/>
                  <a:t> TMA </a:t>
                </a:r>
                <a:r>
                  <a:rPr dirty="0" err="1"/>
                  <a:t>igual</a:t>
                </a:r>
                <a:r>
                  <a:rPr dirty="0"/>
                  <a:t> a 10,0 % </a:t>
                </a:r>
                <a:r>
                  <a:rPr dirty="0" err="1"/>
                  <a:t>a.a.</a:t>
                </a:r>
                <a:r>
                  <a:rPr dirty="0"/>
                  <a:t>:</a:t>
                </a:r>
              </a:p>
              <a:p>
                <a:pPr lvl="1"/>
                <a:r>
                  <a:rPr dirty="0"/>
                  <a:t>Dados: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𝐼</m:t>
                    </m:r>
                    <m:r>
                      <a:rPr>
                        <a:latin typeface="Cambria Math" panose="02040503050406030204" pitchFamily="18" charset="0"/>
                      </a:rPr>
                      <m:t>=−4.000</m:t>
                    </m:r>
                  </m:oMath>
                </a14:m>
                <a:r>
                  <a:rPr dirty="0"/>
                  <a:t>;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𝑅</m:t>
                    </m:r>
                    <m:r>
                      <a:rPr>
                        <a:latin typeface="Cambria Math" panose="02040503050406030204" pitchFamily="18" charset="0"/>
                      </a:rPr>
                      <m:t>=−400</m:t>
                    </m:r>
                  </m:oMath>
                </a14:m>
                <a:r>
                  <a:rPr dirty="0"/>
                  <a:t>;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𝑖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1+0,01</m:t>
                            </m:r>
                          </m:e>
                        </m:d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1/12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−1=0,80%</m:t>
                    </m:r>
                    <m:r>
                      <a:rPr>
                        <a:latin typeface="Cambria Math" panose="02040503050406030204" pitchFamily="18" charset="0"/>
                      </a:rPr>
                      <m:t>𝑎</m:t>
                    </m:r>
                    <m:r>
                      <a:rPr>
                        <a:latin typeface="Cambria Math" panose="02040503050406030204" pitchFamily="18" charset="0"/>
                      </a:rPr>
                      <m:t>.</m:t>
                    </m:r>
                    <m:r>
                      <a:rPr>
                        <a:latin typeface="Cambria Math" panose="02040503050406030204" pitchFamily="18" charset="0"/>
                      </a:rPr>
                      <m:t>𝑚</m:t>
                    </m:r>
                    <m:r>
                      <a:rPr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dirty="0"/>
              </a:p>
              <a:p>
                <a:pPr lvl="1"/>
                <a:r>
                  <a:rPr dirty="0" err="1"/>
                  <a:t>Solução</a:t>
                </a:r>
                <a:r>
                  <a:rPr dirty="0"/>
                  <a:t>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𝐹𝑅𝐶</m:t>
                    </m:r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0,8%,12</m:t>
                        </m:r>
                      </m:e>
                    </m:d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0,008.</m:t>
                        </m:r>
                        <m:sSup>
                          <m:sSup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1+0,008</m:t>
                                </m:r>
                              </m:e>
                            </m:d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1+0,008</m:t>
                                </m:r>
                              </m:e>
                            </m:d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=0,0877</m:t>
                    </m:r>
                  </m:oMath>
                </a14:m>
                <a:endParaRPr dirty="0"/>
              </a:p>
              <a:p>
                <a:pPr lvl="2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𝑉𝑃𝐿</m:t>
                    </m:r>
                    <m:r>
                      <a:rPr>
                        <a:latin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−4.000</m:t>
                        </m:r>
                      </m:e>
                    </m:d>
                    <m:r>
                      <a:rPr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−400</m:t>
                        </m:r>
                      </m:e>
                    </m:d>
                    <m:r>
                      <a:rPr>
                        <a:latin typeface="Cambria Math" panose="02040503050406030204" pitchFamily="18" charset="0"/>
                      </a:rPr>
                      <m:t>/0,0877=4.000−4.561,00</m:t>
                    </m:r>
                  </m:oMath>
                </a14:m>
                <a:endParaRPr dirty="0"/>
              </a:p>
              <a:p>
                <a:pPr lvl="2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𝑉𝑃𝐿</m:t>
                    </m:r>
                    <m:r>
                      <a:rPr>
                        <a:latin typeface="Cambria Math" panose="02040503050406030204" pitchFamily="18" charset="0"/>
                      </a:rPr>
                      <m:t>≈−560,00</m:t>
                    </m:r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5C504-58F1-2318-F264-E17A9AABC7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41" r="-139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Essencial de Matemática Financeira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5C504-58F1-2318-F264-E17A9AABC7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spcBef>
                    <a:spcPts val="3000"/>
                  </a:spcBef>
                  <a:buNone/>
                </a:pPr>
                <a:r>
                  <a:rPr b="1"/>
                  <a:t>Exemplo 4:</a:t>
                </a:r>
              </a:p>
              <a:p>
                <a:pPr lvl="0"/>
                <a:r>
                  <a:t>Considerar que com a nova geladeira haverá uma economia de R$50,00 mensais com energia:</a:t>
                </a:r>
              </a:p>
              <a:p>
                <a:pPr lvl="1"/>
                <a:r>
                  <a:t>Dados: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𝐼</m:t>
                    </m:r>
                    <m:r>
                      <a:rPr>
                        <a:latin typeface="Cambria Math" panose="02040503050406030204" pitchFamily="18" charset="0"/>
                      </a:rPr>
                      <m:t>=−</m:t>
                    </m:r>
                    <m:r>
                      <a:rPr>
                        <a:latin typeface="Cambria Math" panose="02040503050406030204" pitchFamily="18" charset="0"/>
                      </a:rPr>
                      <m:t>4</m:t>
                    </m:r>
                    <m:r>
                      <a:rPr>
                        <a:latin typeface="Cambria Math" panose="02040503050406030204" pitchFamily="18" charset="0"/>
                      </a:rPr>
                      <m:t>.</m:t>
                    </m:r>
                    <m:r>
                      <a:rPr>
                        <a:latin typeface="Cambria Math" panose="02040503050406030204" pitchFamily="18" charset="0"/>
                      </a:rPr>
                      <m:t>000</m:t>
                    </m:r>
                  </m:oMath>
                </a14:m>
                <a:r>
                  <a:t>;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𝑅</m:t>
                    </m:r>
                    <m:r>
                      <a:rPr>
                        <a:latin typeface="Cambria Math" panose="02040503050406030204" pitchFamily="18" charset="0"/>
                      </a:rPr>
                      <m:t>=−</m:t>
                    </m:r>
                    <m:r>
                      <a:rPr>
                        <a:latin typeface="Cambria Math" panose="02040503050406030204" pitchFamily="18" charset="0"/>
                      </a:rPr>
                      <m:t>400</m:t>
                    </m:r>
                  </m:oMath>
                </a14:m>
                <a:r>
                  <a:t>;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𝐶</m:t>
                    </m:r>
                    <m:r>
                      <a:rPr>
                        <a:latin typeface="Cambria Math" panose="02040503050406030204" pitchFamily="18" charset="0"/>
                      </a:rPr>
                      <m:t>=−</m:t>
                    </m:r>
                    <m:r>
                      <a:rPr>
                        <a:latin typeface="Cambria Math" panose="02040503050406030204" pitchFamily="18" charset="0"/>
                      </a:rPr>
                      <m:t>50</m:t>
                    </m:r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r>
                      <a:rPr>
                        <a:latin typeface="Cambria Math" panose="02040503050406030204" pitchFamily="18" charset="0"/>
                      </a:rPr>
                      <m:t>00</m:t>
                    </m:r>
                  </m:oMath>
                </a14:m>
                <a:r>
                  <a:t>;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𝑖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08</m:t>
                            </m:r>
                          </m:e>
                        </m:d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−</m:t>
                    </m:r>
                    <m:r>
                      <a:rPr>
                        <a:latin typeface="Cambria Math" panose="02040503050406030204" pitchFamily="18" charset="0"/>
                      </a:rPr>
                      <m:t>1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0</m:t>
                    </m:r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r>
                      <a:rPr>
                        <a:latin typeface="Cambria Math" panose="02040503050406030204" pitchFamily="18" charset="0"/>
                      </a:rPr>
                      <m:t>80</m:t>
                    </m:r>
                    <m:r>
                      <a:rPr>
                        <a:latin typeface="Cambria Math" panose="02040503050406030204" pitchFamily="18" charset="0"/>
                      </a:rPr>
                      <m:t>%</m:t>
                    </m:r>
                    <m:r>
                      <a:rPr>
                        <a:latin typeface="Cambria Math" panose="02040503050406030204" pitchFamily="18" charset="0"/>
                      </a:rPr>
                      <m:t>𝑎</m:t>
                    </m:r>
                    <m:r>
                      <a:rPr>
                        <a:latin typeface="Cambria Math" panose="02040503050406030204" pitchFamily="18" charset="0"/>
                      </a:rPr>
                      <m:t>.</m:t>
                    </m:r>
                    <m:r>
                      <a:rPr>
                        <a:latin typeface="Cambria Math" panose="02040503050406030204" pitchFamily="18" charset="0"/>
                      </a:rPr>
                      <m:t>𝑚</m:t>
                    </m:r>
                    <m:r>
                      <a:rPr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/>
              </a:p>
              <a:p>
                <a:pPr lvl="1"/>
                <a:r>
                  <a:t>Solução: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𝐹𝑅𝐶</m:t>
                    </m:r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%,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12</m:t>
                        </m:r>
                      </m:e>
                    </m:d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0</m:t>
                    </m:r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r>
                      <a:rPr>
                        <a:latin typeface="Cambria Math" panose="02040503050406030204" pitchFamily="18" charset="0"/>
                      </a:rPr>
                      <m:t>0877</m:t>
                    </m:r>
                  </m:oMath>
                </a14:m>
                <a:endParaRPr/>
              </a:p>
              <a:p>
                <a:pPr lvl="2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𝑉𝑃𝐿</m:t>
                    </m:r>
                    <m:r>
                      <a:rPr>
                        <a:latin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000</m:t>
                        </m:r>
                      </m:e>
                    </m:d>
                    <m:r>
                      <a:rPr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400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50</m:t>
                            </m:r>
                          </m:e>
                        </m:d>
                      </m:e>
                    </m:d>
                    <m:r>
                      <a:rPr>
                        <a:latin typeface="Cambria Math" panose="02040503050406030204" pitchFamily="18" charset="0"/>
                      </a:rPr>
                      <m:t>/</m:t>
                    </m:r>
                    <m:r>
                      <a:rPr>
                        <a:latin typeface="Cambria Math" panose="02040503050406030204" pitchFamily="18" charset="0"/>
                      </a:rPr>
                      <m:t>0</m:t>
                    </m:r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r>
                      <a:rPr>
                        <a:latin typeface="Cambria Math" panose="02040503050406030204" pitchFamily="18" charset="0"/>
                      </a:rPr>
                      <m:t>0877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4</m:t>
                    </m:r>
                    <m:r>
                      <a:rPr>
                        <a:latin typeface="Cambria Math" panose="02040503050406030204" pitchFamily="18" charset="0"/>
                      </a:rPr>
                      <m:t>.</m:t>
                    </m:r>
                    <m:r>
                      <a:rPr>
                        <a:latin typeface="Cambria Math" panose="02040503050406030204" pitchFamily="18" charset="0"/>
                      </a:rPr>
                      <m:t>000</m:t>
                    </m:r>
                    <m:r>
                      <a:rPr>
                        <a:latin typeface="Cambria Math" panose="02040503050406030204" pitchFamily="18" charset="0"/>
                      </a:rPr>
                      <m:t>−</m:t>
                    </m:r>
                    <m:r>
                      <a:rPr>
                        <a:latin typeface="Cambria Math" panose="02040503050406030204" pitchFamily="18" charset="0"/>
                      </a:rPr>
                      <m:t>350</m:t>
                    </m:r>
                    <m:r>
                      <a:rPr>
                        <a:latin typeface="Cambria Math" panose="02040503050406030204" pitchFamily="18" charset="0"/>
                      </a:rPr>
                      <m:t>/</m:t>
                    </m:r>
                    <m:r>
                      <a:rPr>
                        <a:latin typeface="Cambria Math" panose="02040503050406030204" pitchFamily="18" charset="0"/>
                      </a:rPr>
                      <m:t>0</m:t>
                    </m:r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r>
                      <a:rPr>
                        <a:latin typeface="Cambria Math" panose="02040503050406030204" pitchFamily="18" charset="0"/>
                      </a:rPr>
                      <m:t>0877</m:t>
                    </m:r>
                  </m:oMath>
                </a14:m>
                <a:endParaRPr/>
              </a:p>
              <a:p>
                <a:pPr lvl="2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𝑉𝑃𝐿</m:t>
                    </m:r>
                    <m:r>
                      <a:rPr>
                        <a:latin typeface="Cambria Math" panose="02040503050406030204" pitchFamily="18" charset="0"/>
                      </a:rPr>
                      <m:t>≈</m:t>
                    </m:r>
                    <m:r>
                      <a:rPr>
                        <a:latin typeface="Cambria Math" panose="02040503050406030204" pitchFamily="18" charset="0"/>
                      </a:rPr>
                      <m:t>10</m:t>
                    </m:r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r>
                      <a:rPr>
                        <a:latin typeface="Cambria Math" panose="02040503050406030204" pitchFamily="18" charset="0"/>
                      </a:rPr>
                      <m:t>00</m:t>
                    </m:r>
                  </m:oMath>
                </a14:m>
                <a:endParaRPr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5C504-58F1-2318-F264-E17A9AABC7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Reflexões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5C504-58F1-2318-F264-E17A9AABC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dirty="0"/>
              <a:t>O </a:t>
            </a:r>
            <a:r>
              <a:rPr dirty="0" err="1"/>
              <a:t>importante</a:t>
            </a:r>
            <a:r>
              <a:rPr dirty="0"/>
              <a:t> é </a:t>
            </a:r>
            <a:r>
              <a:rPr dirty="0" err="1"/>
              <a:t>compreender</a:t>
            </a:r>
            <a:r>
              <a:rPr dirty="0"/>
              <a:t> o </a:t>
            </a:r>
            <a:r>
              <a:rPr dirty="0" err="1"/>
              <a:t>problema</a:t>
            </a:r>
            <a:r>
              <a:rPr dirty="0"/>
              <a:t>,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invés</a:t>
            </a:r>
            <a:r>
              <a:rPr dirty="0"/>
              <a:t> de </a:t>
            </a:r>
            <a:r>
              <a:rPr dirty="0" err="1"/>
              <a:t>apenas</a:t>
            </a:r>
            <a:r>
              <a:rPr dirty="0"/>
              <a:t> </a:t>
            </a:r>
            <a:r>
              <a:rPr dirty="0" err="1"/>
              <a:t>aplicar</a:t>
            </a:r>
            <a:r>
              <a:rPr dirty="0"/>
              <a:t> as </a:t>
            </a:r>
            <a:r>
              <a:rPr dirty="0" err="1"/>
              <a:t>fórmulas</a:t>
            </a:r>
            <a:endParaRPr dirty="0"/>
          </a:p>
          <a:p>
            <a:pPr lvl="1"/>
            <a:r>
              <a:rPr dirty="0"/>
              <a:t>No </a:t>
            </a:r>
            <a:r>
              <a:rPr dirty="0" err="1"/>
              <a:t>caso</a:t>
            </a:r>
            <a:r>
              <a:rPr dirty="0"/>
              <a:t> do </a:t>
            </a:r>
            <a:r>
              <a:rPr dirty="0" err="1"/>
              <a:t>carro</a:t>
            </a:r>
            <a:r>
              <a:rPr dirty="0"/>
              <a:t>, a </a:t>
            </a:r>
            <a:r>
              <a:rPr dirty="0" err="1"/>
              <a:t>ideia</a:t>
            </a:r>
            <a:r>
              <a:rPr dirty="0"/>
              <a:t> </a:t>
            </a:r>
            <a:r>
              <a:rPr dirty="0" err="1"/>
              <a:t>geral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é um </a:t>
            </a:r>
            <a:r>
              <a:rPr dirty="0" err="1"/>
              <a:t>cálculo</a:t>
            </a:r>
            <a:r>
              <a:rPr dirty="0"/>
              <a:t> </a:t>
            </a:r>
            <a:r>
              <a:rPr dirty="0" err="1"/>
              <a:t>exato</a:t>
            </a:r>
            <a:r>
              <a:rPr dirty="0"/>
              <a:t>, mas </a:t>
            </a:r>
            <a:r>
              <a:rPr dirty="0" err="1"/>
              <a:t>apenas</a:t>
            </a:r>
            <a:r>
              <a:rPr dirty="0"/>
              <a:t> </a:t>
            </a:r>
            <a:r>
              <a:rPr dirty="0" err="1"/>
              <a:t>criar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percepção</a:t>
            </a:r>
            <a:r>
              <a:rPr dirty="0"/>
              <a:t> se vale a </a:t>
            </a:r>
            <a:r>
              <a:rPr dirty="0" err="1"/>
              <a:t>pena</a:t>
            </a:r>
            <a:r>
              <a:rPr dirty="0"/>
              <a:t> </a:t>
            </a:r>
            <a:r>
              <a:rPr dirty="0" err="1"/>
              <a:t>comprar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alugar</a:t>
            </a:r>
            <a:r>
              <a:rPr dirty="0"/>
              <a:t> um </a:t>
            </a:r>
            <a:r>
              <a:rPr dirty="0" err="1"/>
              <a:t>carro</a:t>
            </a:r>
            <a:endParaRPr dirty="0"/>
          </a:p>
          <a:p>
            <a:pPr lvl="0"/>
            <a:r>
              <a:rPr dirty="0" err="1"/>
              <a:t>Dificilmente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valores</a:t>
            </a:r>
            <a:r>
              <a:rPr dirty="0"/>
              <a:t> do </a:t>
            </a:r>
            <a:r>
              <a:rPr dirty="0" err="1"/>
              <a:t>fluxo</a:t>
            </a:r>
            <a:r>
              <a:rPr dirty="0"/>
              <a:t> de </a:t>
            </a:r>
            <a:r>
              <a:rPr dirty="0" err="1"/>
              <a:t>caixa</a:t>
            </a:r>
            <a:r>
              <a:rPr dirty="0"/>
              <a:t> real </a:t>
            </a:r>
            <a:r>
              <a:rPr dirty="0" err="1"/>
              <a:t>serão</a:t>
            </a:r>
            <a:r>
              <a:rPr dirty="0"/>
              <a:t> </a:t>
            </a:r>
            <a:r>
              <a:rPr dirty="0" err="1"/>
              <a:t>idênticos</a:t>
            </a:r>
            <a:r>
              <a:rPr dirty="0"/>
              <a:t> </a:t>
            </a:r>
            <a:r>
              <a:rPr dirty="0" err="1"/>
              <a:t>aos</a:t>
            </a:r>
            <a:r>
              <a:rPr dirty="0"/>
              <a:t> </a:t>
            </a:r>
            <a:r>
              <a:rPr dirty="0" err="1"/>
              <a:t>previstos</a:t>
            </a:r>
            <a:endParaRPr dirty="0"/>
          </a:p>
          <a:p>
            <a:pPr lvl="1"/>
            <a:r>
              <a:rPr dirty="0"/>
              <a:t>O </a:t>
            </a:r>
            <a:r>
              <a:rPr dirty="0" err="1"/>
              <a:t>problema</a:t>
            </a:r>
            <a:r>
              <a:rPr dirty="0"/>
              <a:t> </a:t>
            </a:r>
            <a:r>
              <a:rPr dirty="0" err="1"/>
              <a:t>pode</a:t>
            </a:r>
            <a:r>
              <a:rPr dirty="0"/>
              <a:t> ser </a:t>
            </a:r>
            <a:r>
              <a:rPr dirty="0" err="1"/>
              <a:t>posto</a:t>
            </a:r>
            <a:r>
              <a:rPr dirty="0"/>
              <a:t> de </a:t>
            </a:r>
            <a:r>
              <a:rPr dirty="0" err="1"/>
              <a:t>maneira</a:t>
            </a:r>
            <a:r>
              <a:rPr dirty="0"/>
              <a:t> </a:t>
            </a:r>
            <a:r>
              <a:rPr dirty="0" err="1"/>
              <a:t>simplificada</a:t>
            </a:r>
            <a:r>
              <a:rPr dirty="0"/>
              <a:t>, </a:t>
            </a:r>
            <a:r>
              <a:rPr dirty="0" err="1"/>
              <a:t>inicialmente</a:t>
            </a:r>
            <a:r>
              <a:rPr dirty="0"/>
              <a:t>.</a:t>
            </a:r>
          </a:p>
          <a:p>
            <a:pPr lvl="1"/>
            <a:r>
              <a:rPr dirty="0" err="1"/>
              <a:t>Após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primeira</a:t>
            </a:r>
            <a:r>
              <a:rPr dirty="0"/>
              <a:t> </a:t>
            </a:r>
            <a:r>
              <a:rPr dirty="0" err="1"/>
              <a:t>conta</a:t>
            </a:r>
            <a:r>
              <a:rPr dirty="0"/>
              <a:t> para </a:t>
            </a:r>
            <a:r>
              <a:rPr dirty="0" err="1"/>
              <a:t>aferir</a:t>
            </a:r>
            <a:r>
              <a:rPr dirty="0"/>
              <a:t> a </a:t>
            </a:r>
            <a:r>
              <a:rPr dirty="0" err="1"/>
              <a:t>ordem</a:t>
            </a:r>
            <a:r>
              <a:rPr dirty="0"/>
              <a:t> de </a:t>
            </a:r>
            <a:r>
              <a:rPr dirty="0" err="1"/>
              <a:t>grandeza</a:t>
            </a:r>
            <a:r>
              <a:rPr dirty="0"/>
              <a:t> das </a:t>
            </a:r>
            <a:r>
              <a:rPr dirty="0" err="1"/>
              <a:t>parcelas</a:t>
            </a:r>
            <a:r>
              <a:rPr dirty="0"/>
              <a:t>, o </a:t>
            </a:r>
            <a:r>
              <a:rPr dirty="0" err="1"/>
              <a:t>problema</a:t>
            </a:r>
            <a:r>
              <a:rPr dirty="0"/>
              <a:t> </a:t>
            </a:r>
            <a:r>
              <a:rPr dirty="0" err="1"/>
              <a:t>pode</a:t>
            </a:r>
            <a:r>
              <a:rPr dirty="0"/>
              <a:t> ser </a:t>
            </a:r>
            <a:r>
              <a:rPr dirty="0" err="1"/>
              <a:t>feito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complexo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Reflexões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5C504-58F1-2318-F264-E17A9AABC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dirty="0"/>
              <a:t>No </a:t>
            </a:r>
            <a:r>
              <a:rPr dirty="0" err="1"/>
              <a:t>caso</a:t>
            </a:r>
            <a:r>
              <a:rPr dirty="0"/>
              <a:t> da </a:t>
            </a:r>
            <a:r>
              <a:rPr dirty="0" err="1"/>
              <a:t>geladeira</a:t>
            </a:r>
            <a:r>
              <a:rPr dirty="0"/>
              <a:t>, o </a:t>
            </a:r>
            <a:r>
              <a:rPr dirty="0" err="1"/>
              <a:t>importante</a:t>
            </a:r>
            <a:r>
              <a:rPr dirty="0"/>
              <a:t> é </a:t>
            </a:r>
            <a:r>
              <a:rPr dirty="0" err="1"/>
              <a:t>perceber</a:t>
            </a:r>
            <a:r>
              <a:rPr dirty="0"/>
              <a:t>:</a:t>
            </a:r>
          </a:p>
          <a:p>
            <a:pPr lvl="1"/>
            <a:r>
              <a:rPr dirty="0"/>
              <a:t>A </a:t>
            </a:r>
            <a:r>
              <a:rPr dirty="0" err="1"/>
              <a:t>decisão</a:t>
            </a:r>
            <a:r>
              <a:rPr dirty="0"/>
              <a:t> </a:t>
            </a:r>
            <a:r>
              <a:rPr dirty="0" err="1"/>
              <a:t>pode</a:t>
            </a:r>
            <a:r>
              <a:rPr dirty="0"/>
              <a:t> ser entre </a:t>
            </a:r>
            <a:r>
              <a:rPr dirty="0" err="1"/>
              <a:t>comprar</a:t>
            </a:r>
            <a:r>
              <a:rPr dirty="0"/>
              <a:t> a </a:t>
            </a:r>
            <a:r>
              <a:rPr dirty="0" err="1"/>
              <a:t>geladeira</a:t>
            </a:r>
            <a:r>
              <a:rPr dirty="0"/>
              <a:t> agora de forma </a:t>
            </a:r>
            <a:r>
              <a:rPr dirty="0" err="1"/>
              <a:t>parcelada</a:t>
            </a:r>
            <a:r>
              <a:rPr dirty="0"/>
              <a:t>,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guardar</a:t>
            </a:r>
            <a:r>
              <a:rPr dirty="0"/>
              <a:t> o </a:t>
            </a:r>
            <a:r>
              <a:rPr dirty="0" err="1"/>
              <a:t>dinheiro</a:t>
            </a:r>
            <a:r>
              <a:rPr dirty="0"/>
              <a:t> das </a:t>
            </a:r>
            <a:r>
              <a:rPr dirty="0" err="1"/>
              <a:t>prestações</a:t>
            </a:r>
            <a:r>
              <a:rPr dirty="0"/>
              <a:t> para </a:t>
            </a:r>
            <a:r>
              <a:rPr dirty="0" err="1"/>
              <a:t>comprar</a:t>
            </a:r>
            <a:r>
              <a:rPr dirty="0"/>
              <a:t> </a:t>
            </a:r>
            <a:r>
              <a:rPr dirty="0" err="1"/>
              <a:t>depois</a:t>
            </a:r>
            <a:r>
              <a:rPr dirty="0"/>
              <a:t>, à vista!</a:t>
            </a:r>
          </a:p>
          <a:p>
            <a:pPr lvl="1"/>
            <a:r>
              <a:rPr dirty="0"/>
              <a:t>Se a </a:t>
            </a:r>
            <a:r>
              <a:rPr dirty="0" err="1"/>
              <a:t>pessoa</a:t>
            </a:r>
            <a:r>
              <a:rPr dirty="0"/>
              <a:t> </a:t>
            </a:r>
            <a:r>
              <a:rPr dirty="0" err="1"/>
              <a:t>opta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comprar</a:t>
            </a:r>
            <a:r>
              <a:rPr dirty="0"/>
              <a:t> a </a:t>
            </a:r>
            <a:r>
              <a:rPr dirty="0" err="1"/>
              <a:t>geladeira</a:t>
            </a:r>
            <a:r>
              <a:rPr dirty="0"/>
              <a:t> à vista </a:t>
            </a:r>
            <a:r>
              <a:rPr dirty="0" err="1"/>
              <a:t>após</a:t>
            </a:r>
            <a:r>
              <a:rPr dirty="0"/>
              <a:t> o </a:t>
            </a:r>
            <a:r>
              <a:rPr dirty="0" err="1"/>
              <a:t>período</a:t>
            </a:r>
            <a:r>
              <a:rPr dirty="0"/>
              <a:t> de 12 meses, </a:t>
            </a:r>
            <a:r>
              <a:rPr dirty="0" err="1"/>
              <a:t>ela</a:t>
            </a:r>
            <a:r>
              <a:rPr dirty="0"/>
              <a:t> </a:t>
            </a:r>
            <a:r>
              <a:rPr dirty="0" err="1"/>
              <a:t>deixou</a:t>
            </a:r>
            <a:r>
              <a:rPr dirty="0"/>
              <a:t> de </a:t>
            </a:r>
            <a:r>
              <a:rPr dirty="0" err="1"/>
              <a:t>economizar</a:t>
            </a:r>
            <a:r>
              <a:rPr dirty="0"/>
              <a:t> R$ 50,00 </a:t>
            </a:r>
            <a:r>
              <a:rPr dirty="0" err="1"/>
              <a:t>mensais</a:t>
            </a:r>
            <a:r>
              <a:rPr dirty="0"/>
              <a:t> com a </a:t>
            </a:r>
            <a:r>
              <a:rPr dirty="0" err="1"/>
              <a:t>conta</a:t>
            </a:r>
            <a:r>
              <a:rPr dirty="0"/>
              <a:t> de </a:t>
            </a:r>
            <a:r>
              <a:rPr dirty="0" err="1"/>
              <a:t>energia</a:t>
            </a:r>
            <a:r>
              <a:rPr dirty="0"/>
              <a:t> </a:t>
            </a:r>
            <a:r>
              <a:rPr dirty="0" err="1"/>
              <a:t>durante</a:t>
            </a:r>
            <a:r>
              <a:rPr dirty="0"/>
              <a:t> </a:t>
            </a:r>
            <a:r>
              <a:rPr dirty="0" err="1"/>
              <a:t>este</a:t>
            </a:r>
            <a:r>
              <a:rPr dirty="0"/>
              <a:t> </a:t>
            </a:r>
            <a:r>
              <a:rPr dirty="0" err="1"/>
              <a:t>período</a:t>
            </a:r>
            <a:endParaRPr dirty="0"/>
          </a:p>
          <a:p>
            <a:pPr lvl="2"/>
            <a:r>
              <a:rPr dirty="0"/>
              <a:t>Seria um </a:t>
            </a:r>
            <a:r>
              <a:rPr dirty="0" err="1"/>
              <a:t>erro</a:t>
            </a:r>
            <a:r>
              <a:rPr dirty="0"/>
              <a:t> </a:t>
            </a:r>
            <a:r>
              <a:rPr dirty="0" err="1"/>
              <a:t>desconsiderar</a:t>
            </a:r>
            <a:r>
              <a:rPr dirty="0"/>
              <a:t> </a:t>
            </a:r>
            <a:r>
              <a:rPr dirty="0" err="1"/>
              <a:t>esta</a:t>
            </a:r>
            <a:r>
              <a:rPr dirty="0"/>
              <a:t> </a:t>
            </a:r>
            <a:r>
              <a:rPr dirty="0" err="1"/>
              <a:t>economia</a:t>
            </a:r>
            <a:r>
              <a:rPr dirty="0"/>
              <a:t> “</a:t>
            </a:r>
            <a:r>
              <a:rPr dirty="0" err="1"/>
              <a:t>operacional</a:t>
            </a:r>
            <a:r>
              <a:rPr dirty="0"/>
              <a:t>”</a:t>
            </a:r>
          </a:p>
          <a:p>
            <a:pPr lvl="2"/>
            <a:r>
              <a:rPr dirty="0"/>
              <a:t>A </a:t>
            </a:r>
            <a:r>
              <a:rPr dirty="0" err="1"/>
              <a:t>decisão</a:t>
            </a:r>
            <a:r>
              <a:rPr dirty="0"/>
              <a:t> entre </a:t>
            </a:r>
            <a:r>
              <a:rPr dirty="0" err="1"/>
              <a:t>comprar</a:t>
            </a:r>
            <a:r>
              <a:rPr dirty="0"/>
              <a:t> agora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comprar</a:t>
            </a:r>
            <a:r>
              <a:rPr dirty="0"/>
              <a:t> </a:t>
            </a:r>
            <a:r>
              <a:rPr dirty="0" err="1"/>
              <a:t>depois</a:t>
            </a:r>
            <a:r>
              <a:rPr dirty="0"/>
              <a:t> </a:t>
            </a:r>
            <a:r>
              <a:rPr dirty="0" err="1"/>
              <a:t>depende</a:t>
            </a:r>
            <a:r>
              <a:rPr dirty="0"/>
              <a:t> </a:t>
            </a:r>
            <a:r>
              <a:rPr dirty="0" err="1"/>
              <a:t>também</a:t>
            </a:r>
            <a:r>
              <a:rPr dirty="0"/>
              <a:t> de </a:t>
            </a:r>
            <a:r>
              <a:rPr dirty="0" err="1"/>
              <a:t>outras</a:t>
            </a:r>
            <a:r>
              <a:rPr dirty="0"/>
              <a:t> </a:t>
            </a:r>
            <a:r>
              <a:rPr dirty="0" err="1"/>
              <a:t>coisas</a:t>
            </a:r>
            <a:r>
              <a:rPr dirty="0"/>
              <a:t>. </a:t>
            </a:r>
            <a:r>
              <a:rPr dirty="0" err="1"/>
              <a:t>Quem</a:t>
            </a:r>
            <a:r>
              <a:rPr dirty="0"/>
              <a:t> </a:t>
            </a:r>
            <a:r>
              <a:rPr dirty="0" err="1"/>
              <a:t>garante</a:t>
            </a:r>
            <a:r>
              <a:rPr dirty="0"/>
              <a:t> que a </a:t>
            </a:r>
            <a:r>
              <a:rPr dirty="0" err="1"/>
              <a:t>geladeira</a:t>
            </a:r>
            <a:r>
              <a:rPr dirty="0"/>
              <a:t> </a:t>
            </a:r>
            <a:r>
              <a:rPr dirty="0" err="1"/>
              <a:t>estará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R$ 4.000,00 </a:t>
            </a:r>
            <a:r>
              <a:rPr dirty="0" err="1"/>
              <a:t>daqui</a:t>
            </a:r>
            <a:r>
              <a:rPr dirty="0"/>
              <a:t> a 12 meses?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Reflexões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5C504-58F1-2318-F264-E17A9AABC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dirty="0"/>
              <a:t>A TMA é </a:t>
            </a:r>
            <a:r>
              <a:rPr dirty="0" err="1"/>
              <a:t>exclusividade</a:t>
            </a:r>
            <a:r>
              <a:rPr dirty="0"/>
              <a:t> do </a:t>
            </a:r>
            <a:r>
              <a:rPr dirty="0" err="1"/>
              <a:t>empreendedor</a:t>
            </a:r>
            <a:r>
              <a:rPr dirty="0"/>
              <a:t>/</a:t>
            </a:r>
            <a:r>
              <a:rPr dirty="0" err="1"/>
              <a:t>indivíduo</a:t>
            </a:r>
            <a:r>
              <a:rPr dirty="0"/>
              <a:t>!</a:t>
            </a:r>
          </a:p>
          <a:p>
            <a:pPr lvl="1"/>
            <a:r>
              <a:rPr dirty="0"/>
              <a:t>Se o </a:t>
            </a:r>
            <a:r>
              <a:rPr dirty="0" err="1"/>
              <a:t>cidadão</a:t>
            </a:r>
            <a:r>
              <a:rPr dirty="0"/>
              <a:t> </a:t>
            </a:r>
            <a:r>
              <a:rPr dirty="0" err="1"/>
              <a:t>tem</a:t>
            </a:r>
            <a:r>
              <a:rPr dirty="0"/>
              <a:t> </a:t>
            </a:r>
            <a:r>
              <a:rPr dirty="0" err="1"/>
              <a:t>guardado</a:t>
            </a:r>
            <a:r>
              <a:rPr dirty="0"/>
              <a:t> </a:t>
            </a:r>
            <a:r>
              <a:rPr dirty="0" err="1"/>
              <a:t>apenas</a:t>
            </a:r>
            <a:r>
              <a:rPr dirty="0"/>
              <a:t> R$ 4.000,00, </a:t>
            </a:r>
            <a:r>
              <a:rPr dirty="0" err="1"/>
              <a:t>ele</a:t>
            </a:r>
            <a:r>
              <a:rPr dirty="0"/>
              <a:t> </a:t>
            </a:r>
            <a:r>
              <a:rPr dirty="0" err="1"/>
              <a:t>só</a:t>
            </a:r>
            <a:r>
              <a:rPr dirty="0"/>
              <a:t> </a:t>
            </a:r>
            <a:r>
              <a:rPr dirty="0" err="1"/>
              <a:t>irá</a:t>
            </a:r>
            <a:r>
              <a:rPr dirty="0"/>
              <a:t> </a:t>
            </a:r>
            <a:r>
              <a:rPr dirty="0" err="1"/>
              <a:t>comprar</a:t>
            </a:r>
            <a:r>
              <a:rPr dirty="0"/>
              <a:t> a </a:t>
            </a:r>
            <a:r>
              <a:rPr dirty="0" err="1"/>
              <a:t>geladeira</a:t>
            </a:r>
            <a:r>
              <a:rPr dirty="0"/>
              <a:t> à vista se </a:t>
            </a:r>
            <a:r>
              <a:rPr dirty="0" err="1"/>
              <a:t>ele</a:t>
            </a:r>
            <a:r>
              <a:rPr dirty="0"/>
              <a:t> </a:t>
            </a:r>
            <a:r>
              <a:rPr dirty="0" err="1"/>
              <a:t>tiver</a:t>
            </a:r>
            <a:r>
              <a:rPr dirty="0"/>
              <a:t> um </a:t>
            </a:r>
            <a:r>
              <a:rPr dirty="0" err="1"/>
              <a:t>ótimo</a:t>
            </a:r>
            <a:r>
              <a:rPr dirty="0"/>
              <a:t> </a:t>
            </a:r>
            <a:r>
              <a:rPr dirty="0" err="1"/>
              <a:t>desconto</a:t>
            </a:r>
            <a:r>
              <a:rPr dirty="0"/>
              <a:t>!</a:t>
            </a:r>
          </a:p>
          <a:p>
            <a:pPr lvl="1"/>
            <a:r>
              <a:rPr dirty="0"/>
              <a:t>Se o </a:t>
            </a:r>
            <a:r>
              <a:rPr dirty="0" err="1"/>
              <a:t>cidadão</a:t>
            </a:r>
            <a:r>
              <a:rPr dirty="0"/>
              <a:t> </a:t>
            </a:r>
            <a:r>
              <a:rPr dirty="0" err="1"/>
              <a:t>possui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boa </a:t>
            </a:r>
            <a:r>
              <a:rPr dirty="0" err="1"/>
              <a:t>poupança</a:t>
            </a:r>
            <a:r>
              <a:rPr dirty="0"/>
              <a:t> e R$ 4.000,00 </a:t>
            </a:r>
            <a:r>
              <a:rPr dirty="0" err="1"/>
              <a:t>não</a:t>
            </a:r>
            <a:r>
              <a:rPr dirty="0"/>
              <a:t> é para </a:t>
            </a:r>
            <a:r>
              <a:rPr dirty="0" err="1"/>
              <a:t>ele</a:t>
            </a:r>
            <a:r>
              <a:rPr dirty="0"/>
              <a:t> um </a:t>
            </a:r>
            <a:r>
              <a:rPr dirty="0" err="1"/>
              <a:t>montante</a:t>
            </a:r>
            <a:r>
              <a:rPr dirty="0"/>
              <a:t> </a:t>
            </a:r>
            <a:r>
              <a:rPr dirty="0" err="1"/>
              <a:t>significativo</a:t>
            </a:r>
            <a:r>
              <a:rPr dirty="0"/>
              <a:t>, </a:t>
            </a:r>
            <a:r>
              <a:rPr dirty="0" err="1"/>
              <a:t>então</a:t>
            </a:r>
            <a:r>
              <a:rPr dirty="0"/>
              <a:t> </a:t>
            </a:r>
            <a:r>
              <a:rPr dirty="0" err="1"/>
              <a:t>ele</a:t>
            </a:r>
            <a:r>
              <a:rPr dirty="0"/>
              <a:t> </a:t>
            </a:r>
            <a:r>
              <a:rPr dirty="0" err="1"/>
              <a:t>pode</a:t>
            </a:r>
            <a:r>
              <a:rPr dirty="0"/>
              <a:t> </a:t>
            </a:r>
            <a:r>
              <a:rPr dirty="0" err="1"/>
              <a:t>comprar</a:t>
            </a:r>
            <a:r>
              <a:rPr dirty="0"/>
              <a:t> a vista,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mínimo</a:t>
            </a:r>
            <a:r>
              <a:rPr dirty="0"/>
              <a:t> que </a:t>
            </a:r>
            <a:r>
              <a:rPr dirty="0" err="1"/>
              <a:t>seja</a:t>
            </a:r>
            <a:r>
              <a:rPr dirty="0"/>
              <a:t> o </a:t>
            </a:r>
            <a:r>
              <a:rPr dirty="0" err="1"/>
              <a:t>desconto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rPr dirty="0" err="1"/>
              <a:t>Reflexões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5C504-58F1-2318-F264-E17A9AABC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dirty="0" err="1"/>
              <a:t>Machline</a:t>
            </a:r>
            <a:r>
              <a:rPr dirty="0"/>
              <a:t> (1966, 60):</a:t>
            </a:r>
          </a:p>
          <a:p>
            <a:pPr marL="1270000" lvl="0" indent="0">
              <a:buNone/>
            </a:pPr>
            <a:r>
              <a:rPr sz="2000" dirty="0"/>
              <a:t>Como </a:t>
            </a:r>
            <a:r>
              <a:rPr sz="2000" dirty="0" err="1"/>
              <a:t>calcular</a:t>
            </a:r>
            <a:r>
              <a:rPr sz="2000" dirty="0"/>
              <a:t> a taxa de </a:t>
            </a:r>
            <a:r>
              <a:rPr sz="2000" dirty="0" err="1"/>
              <a:t>retorno</a:t>
            </a:r>
            <a:r>
              <a:rPr sz="2000" dirty="0"/>
              <a:t>? Ela </a:t>
            </a:r>
            <a:r>
              <a:rPr sz="2000" dirty="0" err="1"/>
              <a:t>será</a:t>
            </a:r>
            <a:r>
              <a:rPr sz="2000" dirty="0"/>
              <a:t>, </a:t>
            </a:r>
            <a:r>
              <a:rPr sz="2000" dirty="0" err="1"/>
              <a:t>em</a:t>
            </a:r>
            <a:r>
              <a:rPr sz="2000" dirty="0"/>
              <a:t> </a:t>
            </a:r>
            <a:r>
              <a:rPr sz="2000" dirty="0" err="1"/>
              <a:t>geral</a:t>
            </a:r>
            <a:r>
              <a:rPr sz="2000" dirty="0"/>
              <a:t>, </a:t>
            </a:r>
            <a:r>
              <a:rPr sz="2000" dirty="0" err="1"/>
              <a:t>igual</a:t>
            </a:r>
            <a:r>
              <a:rPr sz="2000" dirty="0"/>
              <a:t>, no </a:t>
            </a:r>
            <a:r>
              <a:rPr sz="2000" dirty="0" err="1"/>
              <a:t>mínimo</a:t>
            </a:r>
            <a:r>
              <a:rPr sz="2000" dirty="0"/>
              <a:t>, à taxa de </a:t>
            </a:r>
            <a:r>
              <a:rPr sz="2000" dirty="0" err="1"/>
              <a:t>retorno</a:t>
            </a:r>
            <a:r>
              <a:rPr sz="2000" dirty="0"/>
              <a:t> que a </a:t>
            </a:r>
            <a:r>
              <a:rPr sz="2000" dirty="0" err="1"/>
              <a:t>empresa</a:t>
            </a:r>
            <a:r>
              <a:rPr sz="2000" dirty="0"/>
              <a:t> </a:t>
            </a:r>
            <a:r>
              <a:rPr sz="2000" dirty="0" err="1"/>
              <a:t>desfruta</a:t>
            </a:r>
            <a:r>
              <a:rPr sz="2000" dirty="0"/>
              <a:t> </a:t>
            </a:r>
            <a:r>
              <a:rPr sz="2000" dirty="0" err="1"/>
              <a:t>em</a:t>
            </a:r>
            <a:r>
              <a:rPr sz="2000" dirty="0"/>
              <a:t> </a:t>
            </a:r>
            <a:r>
              <a:rPr sz="2000" dirty="0" err="1"/>
              <a:t>suas</a:t>
            </a:r>
            <a:r>
              <a:rPr sz="2000" dirty="0"/>
              <a:t> </a:t>
            </a:r>
            <a:r>
              <a:rPr sz="2000" dirty="0" err="1"/>
              <a:t>operações</a:t>
            </a:r>
            <a:r>
              <a:rPr sz="2000" dirty="0"/>
              <a:t> </a:t>
            </a:r>
            <a:r>
              <a:rPr sz="2000" dirty="0" err="1"/>
              <a:t>habituais</a:t>
            </a:r>
            <a:r>
              <a:rPr sz="2000" dirty="0"/>
              <a:t>. Se o </a:t>
            </a:r>
            <a:r>
              <a:rPr sz="2000" dirty="0" err="1"/>
              <a:t>empresário</a:t>
            </a:r>
            <a:r>
              <a:rPr sz="2000" dirty="0"/>
              <a:t> achar que as </a:t>
            </a:r>
            <a:r>
              <a:rPr sz="2000" dirty="0" err="1"/>
              <a:t>oportunidades</a:t>
            </a:r>
            <a:r>
              <a:rPr sz="2000" dirty="0"/>
              <a:t> de </a:t>
            </a:r>
            <a:r>
              <a:rPr sz="2000" dirty="0" err="1"/>
              <a:t>lucro</a:t>
            </a:r>
            <a:r>
              <a:rPr sz="2000" dirty="0"/>
              <a:t> </a:t>
            </a:r>
            <a:r>
              <a:rPr sz="2000" dirty="0" err="1"/>
              <a:t>elevado</a:t>
            </a:r>
            <a:r>
              <a:rPr sz="2000" dirty="0"/>
              <a:t> se </a:t>
            </a:r>
            <a:r>
              <a:rPr sz="2000" dirty="0" err="1"/>
              <a:t>estão</a:t>
            </a:r>
            <a:r>
              <a:rPr sz="2000" dirty="0"/>
              <a:t> </a:t>
            </a:r>
            <a:r>
              <a:rPr sz="2000" dirty="0" err="1"/>
              <a:t>esgotando</a:t>
            </a:r>
            <a:r>
              <a:rPr sz="2000" dirty="0"/>
              <a:t>, </a:t>
            </a:r>
            <a:r>
              <a:rPr sz="2000" dirty="0" err="1"/>
              <a:t>ele</a:t>
            </a:r>
            <a:r>
              <a:rPr sz="2000" dirty="0"/>
              <a:t> </a:t>
            </a:r>
            <a:r>
              <a:rPr sz="2000" dirty="0" err="1"/>
              <a:t>pode</a:t>
            </a:r>
            <a:r>
              <a:rPr sz="2000" dirty="0"/>
              <a:t> </a:t>
            </a:r>
            <a:r>
              <a:rPr sz="2000" dirty="0" err="1"/>
              <a:t>contentar</a:t>
            </a:r>
            <a:r>
              <a:rPr sz="2000" dirty="0"/>
              <a:t>-se, </a:t>
            </a:r>
            <a:r>
              <a:rPr sz="2000" dirty="0" err="1"/>
              <a:t>em</a:t>
            </a:r>
            <a:r>
              <a:rPr sz="2000" dirty="0"/>
              <a:t> </a:t>
            </a:r>
            <a:r>
              <a:rPr sz="2000" dirty="0" err="1"/>
              <a:t>determinado</a:t>
            </a:r>
            <a:r>
              <a:rPr sz="2000" dirty="0"/>
              <a:t> </a:t>
            </a:r>
            <a:r>
              <a:rPr sz="2000" dirty="0" err="1"/>
              <a:t>investimento</a:t>
            </a:r>
            <a:r>
              <a:rPr sz="2000" dirty="0"/>
              <a:t>, com </a:t>
            </a:r>
            <a:r>
              <a:rPr sz="2000" dirty="0" err="1"/>
              <a:t>uma</a:t>
            </a:r>
            <a:r>
              <a:rPr sz="2000" dirty="0"/>
              <a:t> taxa de </a:t>
            </a:r>
            <a:r>
              <a:rPr sz="2000" dirty="0" err="1"/>
              <a:t>retorno</a:t>
            </a:r>
            <a:r>
              <a:rPr sz="2000" dirty="0"/>
              <a:t> inferior à que </a:t>
            </a:r>
            <a:r>
              <a:rPr sz="2000" dirty="0" err="1"/>
              <a:t>costuma</a:t>
            </a:r>
            <a:r>
              <a:rPr sz="2000" dirty="0"/>
              <a:t> </a:t>
            </a:r>
            <a:r>
              <a:rPr sz="2000" dirty="0" err="1"/>
              <a:t>obter</a:t>
            </a:r>
            <a:r>
              <a:rPr sz="2000" b="1" dirty="0">
                <a:solidFill>
                  <a:srgbClr val="FF0000"/>
                </a:solidFill>
              </a:rPr>
              <a:t>. De </a:t>
            </a:r>
            <a:r>
              <a:rPr sz="2000" b="1" dirty="0" err="1">
                <a:solidFill>
                  <a:srgbClr val="FF0000"/>
                </a:solidFill>
              </a:rPr>
              <a:t>qualquer</a:t>
            </a:r>
            <a:r>
              <a:rPr sz="2000" b="1" dirty="0">
                <a:solidFill>
                  <a:srgbClr val="FF0000"/>
                </a:solidFill>
              </a:rPr>
              <a:t> </a:t>
            </a:r>
            <a:r>
              <a:rPr sz="2000" b="1" dirty="0" err="1">
                <a:solidFill>
                  <a:srgbClr val="FF0000"/>
                </a:solidFill>
              </a:rPr>
              <a:t>maneira</a:t>
            </a:r>
            <a:r>
              <a:rPr sz="2000" b="1" dirty="0">
                <a:solidFill>
                  <a:srgbClr val="FF0000"/>
                </a:solidFill>
              </a:rPr>
              <a:t>, </a:t>
            </a:r>
            <a:r>
              <a:rPr sz="2000" b="1" dirty="0" err="1">
                <a:solidFill>
                  <a:srgbClr val="FF0000"/>
                </a:solidFill>
              </a:rPr>
              <a:t>ele</a:t>
            </a:r>
            <a:r>
              <a:rPr sz="2000" b="1" dirty="0">
                <a:solidFill>
                  <a:srgbClr val="FF0000"/>
                </a:solidFill>
              </a:rPr>
              <a:t> é o </a:t>
            </a:r>
            <a:r>
              <a:rPr sz="2000" b="1" dirty="0" err="1">
                <a:solidFill>
                  <a:srgbClr val="FF0000"/>
                </a:solidFill>
              </a:rPr>
              <a:t>único</a:t>
            </a:r>
            <a:r>
              <a:rPr sz="2000" b="1" dirty="0">
                <a:solidFill>
                  <a:srgbClr val="FF0000"/>
                </a:solidFill>
              </a:rPr>
              <a:t> </a:t>
            </a:r>
            <a:r>
              <a:rPr sz="2000" b="1" dirty="0" err="1">
                <a:solidFill>
                  <a:srgbClr val="FF0000"/>
                </a:solidFill>
              </a:rPr>
              <a:t>juiz</a:t>
            </a:r>
            <a:r>
              <a:rPr sz="2000" b="1" dirty="0">
                <a:solidFill>
                  <a:srgbClr val="FF0000"/>
                </a:solidFill>
              </a:rPr>
              <a:t> da taxa de </a:t>
            </a:r>
            <a:r>
              <a:rPr sz="2000" b="1" dirty="0" err="1">
                <a:solidFill>
                  <a:srgbClr val="FF0000"/>
                </a:solidFill>
              </a:rPr>
              <a:t>retorno</a:t>
            </a:r>
            <a:r>
              <a:rPr sz="2000" b="1" dirty="0">
                <a:solidFill>
                  <a:srgbClr val="FF0000"/>
                </a:solidFill>
              </a:rPr>
              <a:t> que </a:t>
            </a:r>
            <a:r>
              <a:rPr sz="2000" b="1" dirty="0" err="1">
                <a:solidFill>
                  <a:srgbClr val="FF0000"/>
                </a:solidFill>
              </a:rPr>
              <a:t>deseja</a:t>
            </a:r>
            <a:r>
              <a:rPr sz="2000" b="1" dirty="0">
                <a:solidFill>
                  <a:srgbClr val="FF0000"/>
                </a:solidFill>
              </a:rPr>
              <a:t>. </a:t>
            </a:r>
            <a:r>
              <a:rPr sz="2000" dirty="0"/>
              <a:t>Se o </a:t>
            </a:r>
            <a:r>
              <a:rPr sz="2000" dirty="0" err="1"/>
              <a:t>empresário</a:t>
            </a:r>
            <a:r>
              <a:rPr sz="2000" dirty="0"/>
              <a:t> achar o </a:t>
            </a:r>
            <a:r>
              <a:rPr sz="2000" dirty="0" err="1"/>
              <a:t>negócio</a:t>
            </a:r>
            <a:r>
              <a:rPr sz="2000" dirty="0"/>
              <a:t> </a:t>
            </a:r>
            <a:r>
              <a:rPr sz="2000" dirty="0" err="1"/>
              <a:t>seguro</a:t>
            </a:r>
            <a:r>
              <a:rPr sz="2000" dirty="0"/>
              <a:t>, </a:t>
            </a:r>
            <a:r>
              <a:rPr sz="2000" dirty="0" err="1"/>
              <a:t>poderá</a:t>
            </a:r>
            <a:r>
              <a:rPr sz="2000" dirty="0"/>
              <a:t> </a:t>
            </a:r>
            <a:r>
              <a:rPr sz="2000" dirty="0" err="1"/>
              <a:t>contentar</a:t>
            </a:r>
            <a:r>
              <a:rPr sz="2000" dirty="0"/>
              <a:t>-se com </a:t>
            </a:r>
            <a:r>
              <a:rPr sz="2000" dirty="0" err="1"/>
              <a:t>uma</a:t>
            </a:r>
            <a:r>
              <a:rPr sz="2000" dirty="0"/>
              <a:t> taxa de </a:t>
            </a:r>
            <a:r>
              <a:rPr sz="2000" dirty="0" err="1"/>
              <a:t>retorno</a:t>
            </a:r>
            <a:r>
              <a:rPr sz="2000" dirty="0"/>
              <a:t> </a:t>
            </a:r>
            <a:r>
              <a:rPr sz="2000" dirty="0" err="1"/>
              <a:t>pequena</a:t>
            </a:r>
            <a:r>
              <a:rPr sz="2000" dirty="0"/>
              <a:t>, </a:t>
            </a:r>
            <a:r>
              <a:rPr sz="2000" dirty="0" err="1"/>
              <a:t>igual</a:t>
            </a:r>
            <a:r>
              <a:rPr sz="2000" dirty="0"/>
              <a:t> </a:t>
            </a:r>
            <a:r>
              <a:rPr sz="2000" dirty="0" err="1"/>
              <a:t>ou</a:t>
            </a:r>
            <a:r>
              <a:rPr sz="2000" dirty="0"/>
              <a:t> </a:t>
            </a:r>
            <a:r>
              <a:rPr sz="2000" dirty="0" err="1"/>
              <a:t>pouco</a:t>
            </a:r>
            <a:r>
              <a:rPr sz="2000" dirty="0"/>
              <a:t> superior à taxa de </a:t>
            </a:r>
            <a:r>
              <a:rPr sz="2000" dirty="0" err="1"/>
              <a:t>juros</a:t>
            </a:r>
            <a:r>
              <a:rPr sz="2000" dirty="0"/>
              <a:t> </a:t>
            </a:r>
            <a:r>
              <a:rPr sz="2000" dirty="0" err="1"/>
              <a:t>cobrada</a:t>
            </a:r>
            <a:r>
              <a:rPr sz="2000" dirty="0"/>
              <a:t>, </a:t>
            </a:r>
            <a:r>
              <a:rPr sz="2000" dirty="0" err="1"/>
              <a:t>na</a:t>
            </a:r>
            <a:r>
              <a:rPr sz="2000" dirty="0"/>
              <a:t> </a:t>
            </a:r>
            <a:r>
              <a:rPr sz="2000" dirty="0" err="1"/>
              <a:t>praça</a:t>
            </a:r>
            <a:r>
              <a:rPr sz="2000" dirty="0"/>
              <a:t>, para </a:t>
            </a:r>
            <a:r>
              <a:rPr sz="2000" dirty="0" err="1"/>
              <a:t>empréstimo</a:t>
            </a:r>
            <a:r>
              <a:rPr sz="2000" dirty="0"/>
              <a:t> de </a:t>
            </a:r>
            <a:r>
              <a:rPr sz="2000" dirty="0" err="1"/>
              <a:t>dinheiro</a:t>
            </a:r>
            <a:r>
              <a:rPr sz="2000" dirty="0"/>
              <a:t>. Se o </a:t>
            </a:r>
            <a:r>
              <a:rPr sz="2000" dirty="0" err="1"/>
              <a:t>empresário</a:t>
            </a:r>
            <a:r>
              <a:rPr sz="2000" dirty="0"/>
              <a:t> </a:t>
            </a:r>
            <a:r>
              <a:rPr sz="2000" dirty="0" err="1"/>
              <a:t>considerar</a:t>
            </a:r>
            <a:r>
              <a:rPr sz="2000" dirty="0"/>
              <a:t> o </a:t>
            </a:r>
            <a:r>
              <a:rPr sz="2000" dirty="0" err="1"/>
              <a:t>empreendimento</a:t>
            </a:r>
            <a:r>
              <a:rPr sz="2000" dirty="0"/>
              <a:t> </a:t>
            </a:r>
            <a:r>
              <a:rPr sz="2000" dirty="0" err="1"/>
              <a:t>arriscado</a:t>
            </a:r>
            <a:r>
              <a:rPr sz="2000" dirty="0"/>
              <a:t>, </a:t>
            </a:r>
            <a:r>
              <a:rPr sz="2000" dirty="0" err="1"/>
              <a:t>desejará</a:t>
            </a:r>
            <a:r>
              <a:rPr sz="2000" dirty="0"/>
              <a:t> </a:t>
            </a:r>
            <a:r>
              <a:rPr sz="2000" dirty="0" err="1"/>
              <a:t>uma</a:t>
            </a:r>
            <a:r>
              <a:rPr sz="2000" dirty="0"/>
              <a:t> taxa de </a:t>
            </a:r>
            <a:r>
              <a:rPr sz="2000" dirty="0" err="1"/>
              <a:t>retorno</a:t>
            </a:r>
            <a:r>
              <a:rPr sz="2000" dirty="0"/>
              <a:t> </a:t>
            </a:r>
            <a:r>
              <a:rPr sz="2000" dirty="0" err="1"/>
              <a:t>bem</a:t>
            </a:r>
            <a:r>
              <a:rPr sz="2000" dirty="0"/>
              <a:t> </a:t>
            </a:r>
            <a:r>
              <a:rPr sz="2000" dirty="0" err="1"/>
              <a:t>mais</a:t>
            </a:r>
            <a:r>
              <a:rPr sz="2000" dirty="0"/>
              <a:t> </a:t>
            </a:r>
            <a:r>
              <a:rPr sz="2000" dirty="0" err="1"/>
              <a:t>elevada</a:t>
            </a:r>
            <a:r>
              <a:rPr sz="2000" dirty="0"/>
              <a:t>. A taxa de </a:t>
            </a:r>
            <a:r>
              <a:rPr sz="2000" dirty="0" err="1"/>
              <a:t>retorno</a:t>
            </a:r>
            <a:r>
              <a:rPr sz="2000" dirty="0"/>
              <a:t>, </a:t>
            </a:r>
            <a:r>
              <a:rPr sz="2000" dirty="0" err="1"/>
              <a:t>em</a:t>
            </a:r>
            <a:r>
              <a:rPr sz="2000" dirty="0"/>
              <a:t> </a:t>
            </a:r>
            <a:r>
              <a:rPr sz="2000" dirty="0" err="1"/>
              <a:t>suma</a:t>
            </a:r>
            <a:r>
              <a:rPr sz="2000" dirty="0"/>
              <a:t>, </a:t>
            </a:r>
            <a:r>
              <a:rPr sz="2000" dirty="0" err="1"/>
              <a:t>depende</a:t>
            </a:r>
            <a:r>
              <a:rPr sz="2000" dirty="0"/>
              <a:t> das </a:t>
            </a:r>
            <a:r>
              <a:rPr sz="2000" dirty="0" err="1"/>
              <a:t>diretrizes</a:t>
            </a:r>
            <a:r>
              <a:rPr sz="2000" dirty="0"/>
              <a:t> </a:t>
            </a:r>
            <a:r>
              <a:rPr sz="2000" dirty="0" err="1"/>
              <a:t>financeiras</a:t>
            </a:r>
            <a:r>
              <a:rPr sz="2000" dirty="0"/>
              <a:t> da </a:t>
            </a:r>
            <a:r>
              <a:rPr sz="2000" dirty="0" err="1"/>
              <a:t>empresa</a:t>
            </a:r>
            <a:r>
              <a:rPr sz="2000" dirty="0"/>
              <a:t>; </a:t>
            </a:r>
            <a:r>
              <a:rPr sz="2000" dirty="0" err="1"/>
              <a:t>terá</a:t>
            </a:r>
            <a:r>
              <a:rPr sz="2000" dirty="0"/>
              <a:t> um valor </a:t>
            </a:r>
            <a:r>
              <a:rPr sz="2000" dirty="0" err="1"/>
              <a:t>eminentemente</a:t>
            </a:r>
            <a:r>
              <a:rPr sz="2000" dirty="0"/>
              <a:t> individual, </a:t>
            </a:r>
            <a:r>
              <a:rPr sz="2000" dirty="0" err="1"/>
              <a:t>variando</a:t>
            </a:r>
            <a:r>
              <a:rPr sz="2000" dirty="0"/>
              <a:t> com a </a:t>
            </a:r>
            <a:r>
              <a:rPr sz="2000" dirty="0" err="1"/>
              <a:t>conjuntura</a:t>
            </a:r>
            <a:r>
              <a:rPr sz="2000" dirty="0"/>
              <a:t> </a:t>
            </a:r>
            <a:r>
              <a:rPr sz="2000" dirty="0" err="1"/>
              <a:t>econômica</a:t>
            </a:r>
            <a:r>
              <a:rPr sz="2000" dirty="0"/>
              <a:t>, no </a:t>
            </a:r>
            <a:r>
              <a:rPr sz="2000" dirty="0" err="1"/>
              <a:t>momento</a:t>
            </a:r>
            <a:r>
              <a:rPr sz="2000" dirty="0"/>
              <a:t> de </a:t>
            </a:r>
            <a:r>
              <a:rPr sz="2000" dirty="0" err="1"/>
              <a:t>tomar</a:t>
            </a:r>
            <a:r>
              <a:rPr sz="2000" dirty="0"/>
              <a:t> a </a:t>
            </a:r>
            <a:r>
              <a:rPr sz="2000" dirty="0" err="1"/>
              <a:t>decisão</a:t>
            </a:r>
            <a:r>
              <a:rPr sz="2000" dirty="0"/>
              <a:t> de </a:t>
            </a:r>
            <a:r>
              <a:rPr sz="2000" dirty="0" err="1"/>
              <a:t>investir</a:t>
            </a:r>
            <a:r>
              <a:rPr sz="2000" dirty="0"/>
              <a:t>, e </a:t>
            </a:r>
            <a:r>
              <a:rPr sz="2000" dirty="0" err="1"/>
              <a:t>refletindo</a:t>
            </a:r>
            <a:r>
              <a:rPr sz="2000" dirty="0"/>
              <a:t> a </a:t>
            </a:r>
            <a:r>
              <a:rPr sz="2000" dirty="0" err="1"/>
              <a:t>personalidade</a:t>
            </a:r>
            <a:r>
              <a:rPr sz="2000" dirty="0"/>
              <a:t> e a </a:t>
            </a:r>
            <a:r>
              <a:rPr sz="2000" dirty="0" err="1"/>
              <a:t>atitude</a:t>
            </a:r>
            <a:r>
              <a:rPr sz="2000" dirty="0"/>
              <a:t> do </a:t>
            </a:r>
            <a:r>
              <a:rPr sz="2000" dirty="0" err="1"/>
              <a:t>empresário</a:t>
            </a:r>
            <a:r>
              <a:rPr sz="2000" dirty="0"/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Essencial de Matemática Financeira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5C504-58F1-2318-F264-E17A9AABC7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t>Para períodos muito longos (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𝑛</m:t>
                    </m:r>
                    <m:r>
                      <a:rPr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t>),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𝐹𝑅𝐶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t>!</a:t>
                </a:r>
              </a:p>
              <a:p>
                <a:pPr lvl="0"/>
                <a:r>
                  <a:t>Exemplo: taxa de 10%a.a., durante 30/40/50 anos, calcule a FRC: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𝐹𝑅𝐶</m:t>
                    </m:r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10%,30</m:t>
                        </m:r>
                      </m:e>
                    </m:d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10%.</m:t>
                        </m:r>
                        <m:sSup>
                          <m:sSup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1+10%</m:t>
                                </m:r>
                              </m:e>
                            </m:d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30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1+10%</m:t>
                                </m:r>
                              </m:e>
                            </m:d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30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10%.17,45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16,45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=0,1061=10,61%</m:t>
                    </m:r>
                  </m:oMath>
                </a14:m>
                <a:endParaRPr/>
              </a:p>
              <a:p>
                <a:pPr lvl="1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𝐹𝑅𝐶</m:t>
                    </m:r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10%,40</m:t>
                        </m:r>
                      </m:e>
                    </m:d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10%.</m:t>
                        </m:r>
                        <m:sSup>
                          <m:sSup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1+10%</m:t>
                                </m:r>
                              </m:e>
                            </m:d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40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1+10%</m:t>
                                </m:r>
                              </m:e>
                            </m:d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40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10%.45,26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44,26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=0,1023=10,23%</m:t>
                    </m:r>
                  </m:oMath>
                </a14:m>
                <a:endParaRPr/>
              </a:p>
              <a:p>
                <a:pPr lvl="1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𝐹𝑅𝐶</m:t>
                    </m:r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10%,50</m:t>
                        </m:r>
                      </m:e>
                    </m:d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10%.</m:t>
                        </m:r>
                        <m:sSup>
                          <m:sSup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1+10%</m:t>
                                </m:r>
                              </m:e>
                            </m:d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50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1+10%</m:t>
                                </m:r>
                              </m:e>
                            </m:d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50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10%.117,39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116,39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=0,1009=10,09%</m:t>
                    </m:r>
                  </m:oMath>
                </a14:m>
                <a:endParaRPr/>
              </a:p>
              <a:p>
                <a:pPr lvl="0"/>
                <a:r>
                  <a:t>Assim, para investimentos com FC muito longos, a equação 2 torna-se: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𝑉𝑃𝐿</m:t>
                    </m:r>
                    <m:r>
                      <a:rPr>
                        <a:latin typeface="Cambria Math" panose="02040503050406030204" pitchFamily="18" charset="0"/>
                      </a:rPr>
                      <m:t>=−</m:t>
                    </m:r>
                    <m:r>
                      <a:rPr>
                        <a:latin typeface="Cambria Math" panose="02040503050406030204" pitchFamily="18" charset="0"/>
                      </a:rPr>
                      <m:t>𝐼</m:t>
                    </m:r>
                    <m:r>
                      <a:rPr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  </m:t>
                    </m:r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</m:oMath>
                </a14:m>
                <a:endParaRPr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5C504-58F1-2318-F264-E17A9AABC7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21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Essencial de Matemática Financeira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5C504-58F1-2318-F264-E17A9AABC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Da equação 6 derivam (VPL = 0):</a:t>
            </a:r>
          </a:p>
          <a:p>
            <a:pPr lvl="1"/>
            <a:r>
              <a:t>O </a:t>
            </a:r>
            <a:r>
              <a:rPr i="1"/>
              <a:t>Método da Renda</a:t>
            </a:r>
          </a:p>
          <a:p>
            <a:pPr lvl="1"/>
            <a:r>
              <a:t>O </a:t>
            </a:r>
            <a:r>
              <a:rPr i="1"/>
              <a:t>Método da Remuneração do Capital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3C9F7A-0844-0C9F-745C-595915C1A03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lvl="0"/>
                <a:r>
                  <a:t>O </a:t>
                </a:r>
                <a:r>
                  <a:rPr i="1"/>
                  <a:t>Método da Renda</a:t>
                </a:r>
                <a:r>
                  <a:t>:</a:t>
                </a: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𝑖𝑚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ó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𝑣𝑒𝑙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𝐴𝑙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  </m:t>
                    </m:r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d>
                  </m:oMath>
                </a14:m>
                <a:endParaRPr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3C9F7A-0844-0C9F-745C-595915C1A0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647" t="-19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1D3C290-0A1C-BF66-84A7-0888B63645A3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pPr lvl="0"/>
                <a:r>
                  <a:t>O </a:t>
                </a:r>
                <a:r>
                  <a:rPr i="1"/>
                  <a:t>Método da Remuneração do Capital</a:t>
                </a:r>
                <a:r>
                  <a:t>:</a:t>
                </a:r>
              </a:p>
              <a:p>
                <a:pPr lvl="0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𝐴𝑙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𝑖𝑚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ó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𝑣𝑒𝑙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.</m:t>
                    </m:r>
                    <m:r>
                      <a:rPr>
                        <a:latin typeface="Cambria Math" panose="02040503050406030204" pitchFamily="18" charset="0"/>
                      </a:rPr>
                      <m:t>𝑖</m:t>
                    </m:r>
                    <m:r>
                      <a:rPr>
                        <a:latin typeface="Cambria Math" panose="02040503050406030204" pitchFamily="18" charset="0"/>
                      </a:rPr>
                      <m:t>  </m:t>
                    </m:r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d>
                  </m:oMath>
                </a14:m>
                <a:endParaRPr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1D3C290-0A1C-BF66-84A7-0888B63645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1647" t="-1961" r="-82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Essencial de Matemática Financeira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5C504-58F1-2318-F264-E17A9AABC7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spcBef>
                    <a:spcPts val="3000"/>
                  </a:spcBef>
                  <a:buNone/>
                </a:pPr>
                <a:r>
                  <a:rPr b="1"/>
                  <a:t>Métoda da Renda</a:t>
                </a:r>
              </a:p>
              <a:p>
                <a:pPr lvl="0"/>
                <a:r>
                  <a:t>Um imóvel tem aluguel igual a R$ 3.000,00 mensais, calcule seu valor de venda: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𝑖𝑚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ó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𝑣𝑒𝑙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𝐴𝑙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3000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%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/>
                      <m:t> </m:t>
                    </m:r>
                    <m:r>
                      <m:rPr>
                        <m:nor/>
                      </m:rPr>
                      <a:rPr/>
                      <m:t>R</m:t>
                    </m:r>
                    <m:r>
                      <m:rPr>
                        <m:nor/>
                      </m:rPr>
                      <a:rPr/>
                      <m:t>$</m:t>
                    </m:r>
                    <m:r>
                      <a:rPr>
                        <a:latin typeface="Cambria Math" panose="02040503050406030204" pitchFamily="18" charset="0"/>
                      </a:rPr>
                      <m:t> </m:t>
                    </m:r>
                    <m:r>
                      <a:rPr>
                        <a:latin typeface="Cambria Math" panose="02040503050406030204" pitchFamily="18" charset="0"/>
                      </a:rPr>
                      <m:t>600</m:t>
                    </m:r>
                    <m:r>
                      <a:rPr>
                        <a:latin typeface="Cambria Math" panose="02040503050406030204" pitchFamily="18" charset="0"/>
                      </a:rPr>
                      <m:t>.</m:t>
                    </m:r>
                    <m:r>
                      <a:rPr>
                        <a:latin typeface="Cambria Math" panose="02040503050406030204" pitchFamily="18" charset="0"/>
                      </a:rPr>
                      <m:t>000</m:t>
                    </m:r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r>
                      <a:rPr>
                        <a:latin typeface="Cambria Math" panose="02040503050406030204" pitchFamily="18" charset="0"/>
                      </a:rPr>
                      <m:t>00</m:t>
                    </m:r>
                  </m:oMath>
                </a14:m>
                <a:endParaRPr/>
              </a:p>
              <a:p>
                <a:pPr lvl="0"/>
                <a:r>
                  <a:t>Mais preciso: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𝑖𝑚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ó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𝑣𝑒𝑙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𝐴𝑙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3000</m:t>
                        </m:r>
                      </m:num>
                      <m:den>
                        <m:sSup>
                          <m:sSup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e>
                            </m:d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/>
                      <m:t> </m:t>
                    </m:r>
                    <m:r>
                      <m:rPr>
                        <m:nor/>
                      </m:rPr>
                      <a:rPr/>
                      <m:t>R</m:t>
                    </m:r>
                    <m:r>
                      <m:rPr>
                        <m:nor/>
                      </m:rPr>
                      <a:rPr/>
                      <m:t>$</m:t>
                    </m:r>
                    <m:r>
                      <a:rPr>
                        <a:latin typeface="Cambria Math" panose="02040503050406030204" pitchFamily="18" charset="0"/>
                      </a:rPr>
                      <m:t> </m:t>
                    </m:r>
                    <m:r>
                      <a:rPr>
                        <a:latin typeface="Cambria Math" panose="02040503050406030204" pitchFamily="18" charset="0"/>
                      </a:rPr>
                      <m:t>616</m:t>
                    </m:r>
                    <m:r>
                      <a:rPr>
                        <a:latin typeface="Cambria Math" panose="02040503050406030204" pitchFamily="18" charset="0"/>
                      </a:rPr>
                      <m:t>.</m:t>
                    </m:r>
                    <m:r>
                      <a:rPr>
                        <a:latin typeface="Cambria Math" panose="02040503050406030204" pitchFamily="18" charset="0"/>
                      </a:rPr>
                      <m:t>326</m:t>
                    </m:r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r>
                      <a:rPr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endParaRPr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5C504-58F1-2318-F264-E17A9AABC7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Essencial de Matemática Financeira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5C504-58F1-2318-F264-E17A9AABC7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spcBef>
                    <a:spcPts val="3000"/>
                  </a:spcBef>
                  <a:buNone/>
                </a:pPr>
                <a:r>
                  <a:rPr b="1"/>
                  <a:t>Método da Remuneração do Capital</a:t>
                </a:r>
              </a:p>
              <a:p>
                <a:pPr lvl="0"/>
                <a:r>
                  <a:t>Um imóvel possui VM de R$ 500.000,00, calcule o valor justo do aluguel, para uma taxa de 6% a.a.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𝐴𝑙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𝑖𝑚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ó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𝑣𝑒𝑙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.</m:t>
                    </m:r>
                    <m:r>
                      <a:rPr>
                        <a:latin typeface="Cambria Math" panose="02040503050406030204" pitchFamily="18" charset="0"/>
                      </a:rPr>
                      <m:t>𝑖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500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000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%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/>
                      <m:t> </m:t>
                    </m:r>
                    <m:r>
                      <m:rPr>
                        <m:nor/>
                      </m:rPr>
                      <a:rPr/>
                      <m:t>R</m:t>
                    </m:r>
                    <m:r>
                      <m:rPr>
                        <m:nor/>
                      </m:rPr>
                      <a:rPr/>
                      <m:t>$</m:t>
                    </m:r>
                    <m:r>
                      <a:rPr>
                        <a:latin typeface="Cambria Math" panose="02040503050406030204" pitchFamily="18" charset="0"/>
                      </a:rPr>
                      <m:t> </m:t>
                    </m:r>
                    <m:r>
                      <a:rPr>
                        <a:latin typeface="Cambria Math" panose="02040503050406030204" pitchFamily="18" charset="0"/>
                      </a:rPr>
                      <m:t>2</m:t>
                    </m:r>
                    <m:r>
                      <a:rPr>
                        <a:latin typeface="Cambria Math" panose="02040503050406030204" pitchFamily="18" charset="0"/>
                      </a:rPr>
                      <m:t>.</m:t>
                    </m:r>
                    <m:r>
                      <a:rPr>
                        <a:latin typeface="Cambria Math" panose="02040503050406030204" pitchFamily="18" charset="0"/>
                      </a:rPr>
                      <m:t>500</m:t>
                    </m:r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r>
                      <a:rPr>
                        <a:latin typeface="Cambria Math" panose="02040503050406030204" pitchFamily="18" charset="0"/>
                      </a:rPr>
                      <m:t>00</m:t>
                    </m:r>
                  </m:oMath>
                </a14:m>
                <a:endParaRPr/>
              </a:p>
              <a:p>
                <a:pPr lvl="0"/>
                <a:r>
                  <a:t>Mais preciso: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𝐴𝑙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𝑖𝑚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ó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𝑣𝑒𝑙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.</m:t>
                    </m:r>
                    <m:r>
                      <a:rPr>
                        <a:latin typeface="Cambria Math" panose="02040503050406030204" pitchFamily="18" charset="0"/>
                      </a:rPr>
                      <m:t>𝑖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500</m:t>
                    </m:r>
                    <m:r>
                      <a:rPr>
                        <a:latin typeface="Cambria Math" panose="02040503050406030204" pitchFamily="18" charset="0"/>
                      </a:rPr>
                      <m:t>.</m:t>
                    </m:r>
                    <m:r>
                      <a:rPr>
                        <a:latin typeface="Cambria Math" panose="02040503050406030204" pitchFamily="18" charset="0"/>
                      </a:rPr>
                      <m:t>000</m:t>
                    </m:r>
                    <m:r>
                      <a:rPr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begChr m:val="["/>
                        <m:endChr m:val="]"/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e>
                            </m:d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nor/>
                      </m:rPr>
                      <a:rPr/>
                      <m:t> </m:t>
                    </m:r>
                    <m:r>
                      <m:rPr>
                        <m:nor/>
                      </m:rPr>
                      <a:rPr/>
                      <m:t>R</m:t>
                    </m:r>
                    <m:r>
                      <m:rPr>
                        <m:nor/>
                      </m:rPr>
                      <a:rPr/>
                      <m:t>$</m:t>
                    </m:r>
                    <m:r>
                      <a:rPr>
                        <a:latin typeface="Cambria Math" panose="02040503050406030204" pitchFamily="18" charset="0"/>
                      </a:rPr>
                      <m:t> </m:t>
                    </m:r>
                    <m:r>
                      <a:rPr>
                        <a:latin typeface="Cambria Math" panose="02040503050406030204" pitchFamily="18" charset="0"/>
                      </a:rPr>
                      <m:t>2</m:t>
                    </m:r>
                    <m:r>
                      <a:rPr>
                        <a:latin typeface="Cambria Math" panose="02040503050406030204" pitchFamily="18" charset="0"/>
                      </a:rPr>
                      <m:t>.</m:t>
                    </m:r>
                    <m:r>
                      <a:rPr>
                        <a:latin typeface="Cambria Math" panose="02040503050406030204" pitchFamily="18" charset="0"/>
                      </a:rPr>
                      <m:t>435</m:t>
                    </m:r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r>
                      <a:rPr>
                        <a:latin typeface="Cambria Math" panose="02040503050406030204" pitchFamily="18" charset="0"/>
                      </a:rPr>
                      <m:t>00</m:t>
                    </m:r>
                  </m:oMath>
                </a14:m>
                <a:endParaRPr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5C504-58F1-2318-F264-E17A9AABC7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41" r="-110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Essencial de Matemática Financeira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5C504-58F1-2318-F264-E17A9AABC7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t>Para calcular a renda (ou prestação de um empréstimo) sobre um valor presente de um ativo, dada uma taxa de juros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t>, em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t> períodos, basta considerar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𝑉𝑃𝐿</m:t>
                    </m:r>
                    <m:r>
                      <a:rPr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t> e substituir (4) em (2):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𝑅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𝑃𝑉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.</m:t>
                        </m:r>
                        <m:sSup>
                          <m:sSup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</m:oMath>
                </a14:m>
                <a:r>
                  <a:t> ou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𝑅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𝑃𝑉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endParaRPr/>
              </a:p>
              <a:p>
                <a:pPr lvl="1"/>
                <a:r>
                  <a:t>Exemplo:</a:t>
                </a:r>
              </a:p>
              <a:p>
                <a:pPr lvl="2"/>
                <a:r>
                  <a:t>Dado um valor presente de R$ 4.000,00, a uma taxa de 0,76% a.m., calcule a prestação para pagamento em 12x: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𝑅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4000.0,76%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1+0,76%</m:t>
                                </m:r>
                              </m:e>
                            </m:d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−12</m:t>
                            </m:r>
                          </m:sup>
                        </m:sSup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30,4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1−0,91315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≈350,00</m:t>
                    </m:r>
                  </m:oMath>
                </a14:m>
                <a:endParaRPr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5C504-58F1-2318-F264-E17A9AABC7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2141" r="-110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Essencial de Matemática Financeira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5C504-58F1-2318-F264-E17A9AABC7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t>Para calcular o valor presente, dada a renda, os juros e número de prestações: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𝑃𝑉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𝑅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.</m:t>
                        </m:r>
                        <m:sSup>
                          <m:sSup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r>
                  <a:t> ou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𝑃𝑉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.</m:t>
                        </m:r>
                        <m:d>
                          <m:d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</m:oMath>
                </a14:m>
                <a:endParaRPr/>
              </a:p>
              <a:p>
                <a:pPr lvl="1"/>
                <a:r>
                  <a:t>Exemplo:</a:t>
                </a:r>
              </a:p>
              <a:p>
                <a:pPr lvl="2"/>
                <a:r>
                  <a:t>Dada uma prestação de R$ 1.000 mensais, a uma taxa de juros de 0,64% a.m., calcular o valor presente, considerando n = 60</a:t>
                </a:r>
              </a:p>
              <a:p>
                <a:pPr lvl="2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𝑃𝑉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1.000.</m:t>
                        </m:r>
                        <m:d>
                          <m:d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1+0,64%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−60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0,64%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1.000.</m:t>
                        </m:r>
                        <m:d>
                          <m:d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1−0,6819</m:t>
                            </m:r>
                          </m:e>
                        </m:d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0,64%</m:t>
                        </m:r>
                      </m:den>
                    </m:f>
                  </m:oMath>
                </a14:m>
                <a:endParaRPr/>
              </a:p>
              <a:p>
                <a:pPr lvl="2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𝑃𝑉</m:t>
                    </m:r>
                    <m:r>
                      <a:rPr>
                        <a:latin typeface="Cambria Math" panose="02040503050406030204" pitchFamily="18" charset="0"/>
                      </a:rPr>
                      <m:t>≈49.700,00</m:t>
                    </m:r>
                  </m:oMath>
                </a14:m>
                <a:endParaRPr/>
              </a:p>
              <a:p>
                <a:pPr lvl="0"/>
                <a:r>
                  <a:t>O período de capitalização importa!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5C504-58F1-2318-F264-E17A9AABC7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21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Essencial de Matemática Financeira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5C504-58F1-2318-F264-E17A9AABC7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spcBef>
                    <a:spcPts val="3000"/>
                  </a:spcBef>
                  <a:buNone/>
                </a:pPr>
                <a:r>
                  <a:rPr b="1" dirty="0" err="1"/>
                  <a:t>Revisitando</a:t>
                </a:r>
                <a:r>
                  <a:rPr b="1" dirty="0"/>
                  <a:t> o </a:t>
                </a:r>
                <a:r>
                  <a:rPr b="1" dirty="0" err="1"/>
                  <a:t>exemplo</a:t>
                </a:r>
                <a:r>
                  <a:rPr b="1" dirty="0"/>
                  <a:t> 2:</a:t>
                </a:r>
              </a:p>
              <a:p>
                <a:pPr lvl="0"/>
                <a:r>
                  <a:rPr dirty="0"/>
                  <a:t>Dados: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𝐼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95</m:t>
                    </m:r>
                    <m:r>
                      <a:rPr>
                        <a:latin typeface="Cambria Math" panose="02040503050406030204" pitchFamily="18" charset="0"/>
                      </a:rPr>
                      <m:t>.</m:t>
                    </m:r>
                    <m:r>
                      <a:rPr>
                        <a:latin typeface="Cambria Math" panose="02040503050406030204" pitchFamily="18" charset="0"/>
                      </a:rPr>
                      <m:t>000</m:t>
                    </m:r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r>
                      <a:rPr>
                        <a:latin typeface="Cambria Math" panose="02040503050406030204" pitchFamily="18" charset="0"/>
                      </a:rPr>
                      <m:t>00</m:t>
                    </m:r>
                  </m:oMath>
                </a14:m>
                <a:r>
                  <a:rPr dirty="0"/>
                  <a:t>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𝑅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2</m:t>
                    </m:r>
                    <m:r>
                      <a:rPr>
                        <a:latin typeface="Cambria Math" panose="02040503050406030204" pitchFamily="18" charset="0"/>
                      </a:rPr>
                      <m:t>.</m:t>
                    </m:r>
                    <m:r>
                      <a:rPr>
                        <a:latin typeface="Cambria Math" panose="02040503050406030204" pitchFamily="18" charset="0"/>
                      </a:rPr>
                      <m:t>000</m:t>
                    </m:r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r>
                      <a:rPr>
                        <a:latin typeface="Cambria Math" panose="02040503050406030204" pitchFamily="18" charset="0"/>
                      </a:rPr>
                      <m:t>00</m:t>
                    </m:r>
                  </m:oMath>
                </a14:m>
                <a:r>
                  <a:rPr dirty="0"/>
                  <a:t>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𝐶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1</m:t>
                    </m:r>
                    <m:r>
                      <a:rPr>
                        <a:latin typeface="Cambria Math" panose="02040503050406030204" pitchFamily="18" charset="0"/>
                      </a:rPr>
                      <m:t>.</m:t>
                    </m:r>
                    <m:r>
                      <a:rPr>
                        <a:latin typeface="Cambria Math" panose="02040503050406030204" pitchFamily="18" charset="0"/>
                      </a:rPr>
                      <m:t>000</m:t>
                    </m:r>
                  </m:oMath>
                </a14:m>
                <a:r>
                  <a:rPr dirty="0"/>
                  <a:t>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𝑖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0</m:t>
                    </m:r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r>
                      <a:rPr>
                        <a:latin typeface="Cambria Math" panose="02040503050406030204" pitchFamily="18" charset="0"/>
                      </a:rPr>
                      <m:t>64</m:t>
                    </m:r>
                    <m:r>
                      <a:rPr>
                        <a:latin typeface="Cambria Math" panose="02040503050406030204" pitchFamily="18" charset="0"/>
                      </a:rPr>
                      <m:t>%</m:t>
                    </m:r>
                    <m:r>
                      <a:rPr>
                        <a:latin typeface="Cambria Math" panose="02040503050406030204" pitchFamily="18" charset="0"/>
                      </a:rPr>
                      <m:t>𝑎</m:t>
                    </m:r>
                    <m:r>
                      <a:rPr>
                        <a:latin typeface="Cambria Math" panose="02040503050406030204" pitchFamily="18" charset="0"/>
                      </a:rPr>
                      <m:t>.</m:t>
                    </m:r>
                    <m:r>
                      <a:rPr>
                        <a:latin typeface="Cambria Math" panose="02040503050406030204" pitchFamily="18" charset="0"/>
                      </a:rPr>
                      <m:t>𝑚</m:t>
                    </m:r>
                    <m:r>
                      <a:rPr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dirty="0"/>
                  <a:t>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𝑇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dirty="0"/>
                  <a:t>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𝑉𝐹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57</m:t>
                    </m:r>
                    <m:r>
                      <a:rPr>
                        <a:latin typeface="Cambria Math" panose="02040503050406030204" pitchFamily="18" charset="0"/>
                      </a:rPr>
                      <m:t>.</m:t>
                    </m:r>
                    <m:r>
                      <a:rPr>
                        <a:latin typeface="Cambria Math" panose="02040503050406030204" pitchFamily="18" charset="0"/>
                      </a:rPr>
                      <m:t>000</m:t>
                    </m:r>
                  </m:oMath>
                </a14:m>
                <a:endParaRPr dirty="0"/>
              </a:p>
              <a:p>
                <a:pPr lvl="0"/>
                <a:r>
                  <a:rPr dirty="0" err="1"/>
                  <a:t>Solução</a:t>
                </a:r>
                <a:r>
                  <a:rPr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𝐹𝑅𝐶</m:t>
                    </m:r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64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%,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60</m:t>
                        </m:r>
                      </m:e>
                    </m:d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0064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.</m:t>
                        </m:r>
                        <m:sSup>
                          <m:sSup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0064</m:t>
                                </m:r>
                              </m:e>
                            </m:d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60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0064</m:t>
                                </m:r>
                              </m:e>
                            </m:d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60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≈</m:t>
                    </m:r>
                    <m:r>
                      <a:rPr>
                        <a:latin typeface="Cambria Math" panose="02040503050406030204" pitchFamily="18" charset="0"/>
                      </a:rPr>
                      <m:t>0</m:t>
                    </m:r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r>
                      <a:rPr>
                        <a:latin typeface="Cambria Math" panose="02040503050406030204" pitchFamily="18" charset="0"/>
                      </a:rPr>
                      <m:t>02</m:t>
                    </m:r>
                  </m:oMath>
                </a14:m>
                <a:endParaRPr dirty="0"/>
              </a:p>
              <a:p>
                <a:pPr lvl="1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𝐹𝐴𝐶</m:t>
                    </m:r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64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%,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60</m:t>
                        </m:r>
                      </m:e>
                    </m:d>
                    <m:r>
                      <a:rPr>
                        <a:latin typeface="Cambria Math" panose="02040503050406030204" pitchFamily="18" charset="0"/>
                      </a:rPr>
                      <m:t>≈</m:t>
                    </m:r>
                    <m:r>
                      <a:rPr>
                        <a:latin typeface="Cambria Math" panose="02040503050406030204" pitchFamily="18" charset="0"/>
                      </a:rPr>
                      <m:t>𝐹𝐴𝐶</m:t>
                    </m:r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%,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0</m:t>
                    </m:r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r>
                      <a:rPr>
                        <a:latin typeface="Cambria Math" panose="02040503050406030204" pitchFamily="18" charset="0"/>
                      </a:rPr>
                      <m:t>6806</m:t>
                    </m:r>
                  </m:oMath>
                </a14:m>
                <a:endParaRPr dirty="0"/>
              </a:p>
              <a:p>
                <a:pPr lvl="1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𝑉𝑃𝐿</m:t>
                    </m:r>
                    <m:r>
                      <a:rPr>
                        <a:latin typeface="Cambria Math" panose="02040503050406030204" pitchFamily="18" charset="0"/>
                      </a:rPr>
                      <m:t>=−</m:t>
                    </m:r>
                    <m:r>
                      <a:rPr>
                        <a:latin typeface="Cambria Math" panose="02040503050406030204" pitchFamily="18" charset="0"/>
                      </a:rPr>
                      <m:t>95</m:t>
                    </m:r>
                    <m:r>
                      <a:rPr>
                        <a:latin typeface="Cambria Math" panose="02040503050406030204" pitchFamily="18" charset="0"/>
                      </a:rPr>
                      <m:t>.</m:t>
                    </m:r>
                    <m:r>
                      <a:rPr>
                        <a:latin typeface="Cambria Math" panose="02040503050406030204" pitchFamily="18" charset="0"/>
                      </a:rPr>
                      <m:t>000</m:t>
                    </m:r>
                    <m:r>
                      <a:rPr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000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000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02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+</m:t>
                    </m:r>
                    <m:r>
                      <a:rPr>
                        <a:latin typeface="Cambria Math" panose="02040503050406030204" pitchFamily="18" charset="0"/>
                      </a:rPr>
                      <m:t>57</m:t>
                    </m:r>
                    <m:r>
                      <a:rPr>
                        <a:latin typeface="Cambria Math" panose="02040503050406030204" pitchFamily="18" charset="0"/>
                      </a:rPr>
                      <m:t>.</m:t>
                    </m:r>
                    <m:r>
                      <a:rPr>
                        <a:latin typeface="Cambria Math" panose="02040503050406030204" pitchFamily="18" charset="0"/>
                      </a:rPr>
                      <m:t>000</m:t>
                    </m:r>
                    <m:r>
                      <a:rPr>
                        <a:latin typeface="Cambria Math" panose="02040503050406030204" pitchFamily="18" charset="0"/>
                      </a:rPr>
                      <m:t>×</m:t>
                    </m:r>
                    <m:r>
                      <a:rPr>
                        <a:latin typeface="Cambria Math" panose="02040503050406030204" pitchFamily="18" charset="0"/>
                      </a:rPr>
                      <m:t>0</m:t>
                    </m:r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r>
                      <a:rPr>
                        <a:latin typeface="Cambria Math" panose="02040503050406030204" pitchFamily="18" charset="0"/>
                      </a:rPr>
                      <m:t>6806</m:t>
                    </m:r>
                    <m:r>
                      <a:rPr>
                        <a:latin typeface="Cambria Math" panose="02040503050406030204" pitchFamily="18" charset="0"/>
                      </a:rPr>
                      <m:t>=−</m:t>
                    </m:r>
                    <m:r>
                      <a:rPr>
                        <a:latin typeface="Cambria Math" panose="02040503050406030204" pitchFamily="18" charset="0"/>
                      </a:rPr>
                      <m:t>95</m:t>
                    </m:r>
                    <m:r>
                      <a:rPr>
                        <a:latin typeface="Cambria Math" panose="02040503050406030204" pitchFamily="18" charset="0"/>
                      </a:rPr>
                      <m:t>.</m:t>
                    </m:r>
                    <m:r>
                      <a:rPr>
                        <a:latin typeface="Cambria Math" panose="02040503050406030204" pitchFamily="18" charset="0"/>
                      </a:rPr>
                      <m:t>000</m:t>
                    </m:r>
                    <m:r>
                      <a:rPr>
                        <a:latin typeface="Cambria Math" panose="02040503050406030204" pitchFamily="18" charset="0"/>
                      </a:rPr>
                      <m:t>+</m:t>
                    </m:r>
                    <m:r>
                      <a:rPr>
                        <a:latin typeface="Cambria Math" panose="02040503050406030204" pitchFamily="18" charset="0"/>
                      </a:rPr>
                      <m:t>50</m:t>
                    </m:r>
                    <m:r>
                      <a:rPr>
                        <a:latin typeface="Cambria Math" panose="02040503050406030204" pitchFamily="18" charset="0"/>
                      </a:rPr>
                      <m:t>.</m:t>
                    </m:r>
                    <m:r>
                      <a:rPr>
                        <a:latin typeface="Cambria Math" panose="02040503050406030204" pitchFamily="18" charset="0"/>
                      </a:rPr>
                      <m:t>000</m:t>
                    </m:r>
                    <m:r>
                      <a:rPr>
                        <a:latin typeface="Cambria Math" panose="02040503050406030204" pitchFamily="18" charset="0"/>
                      </a:rPr>
                      <m:t>+</m:t>
                    </m:r>
                    <m:r>
                      <a:rPr>
                        <a:latin typeface="Cambria Math" panose="02040503050406030204" pitchFamily="18" charset="0"/>
                      </a:rPr>
                      <m:t>38</m:t>
                    </m:r>
                    <m:r>
                      <a:rPr>
                        <a:latin typeface="Cambria Math" panose="02040503050406030204" pitchFamily="18" charset="0"/>
                      </a:rPr>
                      <m:t>.</m:t>
                    </m:r>
                    <m:r>
                      <a:rPr>
                        <a:latin typeface="Cambria Math" panose="02040503050406030204" pitchFamily="18" charset="0"/>
                      </a:rPr>
                      <m:t>800</m:t>
                    </m:r>
                  </m:oMath>
                </a14:m>
                <a:endParaRPr dirty="0"/>
              </a:p>
              <a:p>
                <a:pPr lvl="1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𝑉𝑃𝐿</m:t>
                    </m:r>
                    <m:r>
                      <a:rPr>
                        <a:latin typeface="Cambria Math" panose="02040503050406030204" pitchFamily="18" charset="0"/>
                      </a:rPr>
                      <m:t>≈−</m:t>
                    </m:r>
                    <m:r>
                      <a:rPr>
                        <a:latin typeface="Cambria Math" panose="02040503050406030204" pitchFamily="18" charset="0"/>
                      </a:rPr>
                      <m:t>6</m:t>
                    </m:r>
                    <m:r>
                      <a:rPr>
                        <a:latin typeface="Cambria Math" panose="02040503050406030204" pitchFamily="18" charset="0"/>
                      </a:rPr>
                      <m:t>.</m:t>
                    </m:r>
                    <m:r>
                      <a:rPr>
                        <a:latin typeface="Cambria Math" panose="02040503050406030204" pitchFamily="18" charset="0"/>
                      </a:rPr>
                      <m:t>200</m:t>
                    </m:r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r>
                      <a:rPr>
                        <a:latin typeface="Cambria Math" panose="02040503050406030204" pitchFamily="18" charset="0"/>
                      </a:rPr>
                      <m:t>00</m:t>
                    </m:r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5C504-58F1-2318-F264-E17A9AABC7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41" b="-1162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Essencial de Matemática Financeira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5C504-58F1-2318-F264-E17A9AABC7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spcBef>
                    <a:spcPts val="3000"/>
                  </a:spcBef>
                  <a:buNone/>
                </a:pPr>
                <a:r>
                  <a:rPr b="1" dirty="0"/>
                  <a:t>Taxa interna de </a:t>
                </a:r>
                <a:r>
                  <a:rPr b="1" dirty="0" err="1"/>
                  <a:t>retorno</a:t>
                </a:r>
                <a:endParaRPr b="1" dirty="0"/>
              </a:p>
              <a:p>
                <a:pPr lvl="0"/>
                <a:r>
                  <a:rPr dirty="0"/>
                  <a:t>Dados </a:t>
                </a:r>
                <a:r>
                  <a:rPr dirty="0" err="1"/>
                  <a:t>os</a:t>
                </a:r>
                <a:r>
                  <a:rPr dirty="0"/>
                  <a:t> </a:t>
                </a:r>
                <a:r>
                  <a:rPr dirty="0" err="1"/>
                  <a:t>valores</a:t>
                </a:r>
                <a:r>
                  <a:rPr dirty="0"/>
                  <a:t> do </a:t>
                </a:r>
                <a:r>
                  <a:rPr dirty="0" err="1"/>
                  <a:t>investimento</a:t>
                </a:r>
                <a:r>
                  <a:rPr dirty="0"/>
                  <a:t> (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dirty="0"/>
                  <a:t>), a Renda (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dirty="0"/>
                  <a:t>), o Custo (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dirty="0"/>
                  <a:t>) e o </a:t>
                </a:r>
                <a:r>
                  <a:rPr dirty="0" err="1"/>
                  <a:t>número</a:t>
                </a:r>
                <a:r>
                  <a:rPr dirty="0"/>
                  <a:t> de </a:t>
                </a:r>
                <a:r>
                  <a:rPr dirty="0" err="1"/>
                  <a:t>períodos</a:t>
                </a:r>
                <a:r>
                  <a:rPr dirty="0"/>
                  <a:t> (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dirty="0"/>
                  <a:t>), a TIR é o valor da taxa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dirty="0"/>
                  <a:t> que </a:t>
                </a:r>
                <a:r>
                  <a:rPr dirty="0" err="1"/>
                  <a:t>zera</a:t>
                </a:r>
                <a:r>
                  <a:rPr dirty="0"/>
                  <a:t> o VPL </a:t>
                </a:r>
                <a:r>
                  <a:rPr dirty="0" err="1"/>
                  <a:t>na</a:t>
                </a:r>
                <a:r>
                  <a:rPr dirty="0"/>
                  <a:t> </a:t>
                </a:r>
                <a:r>
                  <a:rPr dirty="0" err="1"/>
                  <a:t>equação</a:t>
                </a:r>
                <a:r>
                  <a:rPr dirty="0"/>
                  <a:t> 1: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0=−</m:t>
                    </m:r>
                    <m:r>
                      <a:rPr>
                        <a:latin typeface="Cambria Math" panose="02040503050406030204" pitchFamily="18" charset="0"/>
                      </a:rPr>
                      <m:t>𝐼</m:t>
                    </m:r>
                    <m:r>
                      <a:rPr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undOvr"/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f>
                          <m:f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num>
                          <m:den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𝑇𝐼𝑅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>
                        <a:latin typeface="Cambria Math" panose="02040503050406030204" pitchFamily="18" charset="0"/>
                      </a:rPr>
                      <m:t>  </m:t>
                    </m:r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d>
                  </m:oMath>
                </a14:m>
                <a:endParaRPr dirty="0"/>
              </a:p>
              <a:p>
                <a:pPr lvl="0"/>
                <a:r>
                  <a:rPr dirty="0"/>
                  <a:t>Se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𝑇𝐼𝑅</m:t>
                    </m:r>
                    <m:r>
                      <a:rPr>
                        <a:latin typeface="Cambria Math" panose="02040503050406030204" pitchFamily="18" charset="0"/>
                      </a:rPr>
                      <m:t>&gt;</m:t>
                    </m:r>
                    <m:r>
                      <a:rPr>
                        <a:latin typeface="Cambria Math" panose="02040503050406030204" pitchFamily="18" charset="0"/>
                      </a:rPr>
                      <m:t>𝑇𝑀𝐴</m:t>
                    </m:r>
                  </m:oMath>
                </a14:m>
                <a:r>
                  <a:rPr dirty="0"/>
                  <a:t>: </a:t>
                </a:r>
                <a:r>
                  <a:rPr dirty="0" err="1"/>
                  <a:t>aceita</a:t>
                </a:r>
                <a:r>
                  <a:rPr dirty="0"/>
                  <a:t>-se o </a:t>
                </a:r>
                <a:r>
                  <a:rPr dirty="0" err="1"/>
                  <a:t>projeto</a:t>
                </a:r>
                <a:r>
                  <a:rPr dirty="0"/>
                  <a:t>!</a:t>
                </a:r>
              </a:p>
              <a:p>
                <a:pPr lvl="0"/>
                <a:r>
                  <a:rPr dirty="0"/>
                  <a:t>Caso </a:t>
                </a:r>
                <a:r>
                  <a:rPr dirty="0" err="1"/>
                  <a:t>contrário</a:t>
                </a:r>
                <a:r>
                  <a:rPr dirty="0"/>
                  <a:t>, </a:t>
                </a:r>
                <a:r>
                  <a:rPr dirty="0" err="1"/>
                  <a:t>rejeita</a:t>
                </a:r>
                <a:r>
                  <a:rPr dirty="0"/>
                  <a:t>-se!</a:t>
                </a:r>
              </a:p>
              <a:p>
                <a:pPr lvl="0"/>
                <a:r>
                  <a:rPr dirty="0"/>
                  <a:t>A TIR é </a:t>
                </a:r>
                <a:r>
                  <a:rPr dirty="0" err="1"/>
                  <a:t>muito</a:t>
                </a:r>
                <a:r>
                  <a:rPr dirty="0"/>
                  <a:t> </a:t>
                </a:r>
                <a:r>
                  <a:rPr dirty="0" err="1"/>
                  <a:t>utilizada</a:t>
                </a:r>
                <a:r>
                  <a:rPr dirty="0"/>
                  <a:t> </a:t>
                </a:r>
                <a:r>
                  <a:rPr dirty="0" err="1"/>
                  <a:t>nas</a:t>
                </a:r>
                <a:r>
                  <a:rPr dirty="0"/>
                  <a:t> </a:t>
                </a:r>
                <a:r>
                  <a:rPr dirty="0" err="1"/>
                  <a:t>empresas</a:t>
                </a:r>
                <a:r>
                  <a:rPr dirty="0"/>
                  <a:t> para </a:t>
                </a:r>
                <a:r>
                  <a:rPr dirty="0" err="1"/>
                  <a:t>comparar</a:t>
                </a:r>
                <a:r>
                  <a:rPr dirty="0"/>
                  <a:t> </a:t>
                </a:r>
                <a:r>
                  <a:rPr dirty="0" err="1"/>
                  <a:t>diferentes</a:t>
                </a:r>
                <a:r>
                  <a:rPr dirty="0"/>
                  <a:t> </a:t>
                </a:r>
                <a:r>
                  <a:rPr dirty="0" err="1"/>
                  <a:t>projetos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5C504-58F1-2318-F264-E17A9AABC7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Essencial de Matemática Financeira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5C504-58F1-2318-F264-E17A9AABC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Taxa interna de retorno</a:t>
            </a:r>
          </a:p>
          <a:p>
            <a:pPr lvl="0"/>
            <a:r>
              <a:t>Exemplo:</a:t>
            </a:r>
          </a:p>
          <a:p>
            <a:pPr lvl="1"/>
            <a:r>
              <a:t>Construtora pode investir R$ 1.000.000,00 num terreno cujo VGV estimado é de R$ 10.000.000,00, com prazo de entrega de 5 anos</a:t>
            </a:r>
          </a:p>
          <a:p>
            <a:pPr lvl="1"/>
            <a:r>
              <a:t>Ou pode investir R$ 800.000,00 em outro terreno cujo VGV estimado é de R$ 8.000.000,00, com prazo de entrega de 4 anos</a:t>
            </a:r>
          </a:p>
          <a:p>
            <a:pPr lvl="1"/>
            <a:r>
              <a:t>Considere que as receitas sejam constantes, anualmente.</a:t>
            </a:r>
          </a:p>
          <a:p>
            <a:pPr lvl="1"/>
            <a:r>
              <a:t>Considere que o lucro sobre as receitas seja de 20%</a:t>
            </a:r>
          </a:p>
          <a:p>
            <a:pPr lvl="1"/>
            <a:r>
              <a:t>Se a TMA da construtora é de 15% a.a., qual projeto escolher?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Essencial de Matemática Financeira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5C504-58F1-2318-F264-E17A9AABC7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spcBef>
                    <a:spcPts val="3000"/>
                  </a:spcBef>
                  <a:buNone/>
                </a:pPr>
                <a:r>
                  <a:rPr b="1"/>
                  <a:t>Comparação por VPL</a:t>
                </a:r>
              </a:p>
              <a:p>
                <a:pPr lvl="0"/>
                <a:r>
                  <a:t>Cálculo dos FRC: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𝐹𝑅𝐶</m:t>
                    </m:r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%,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.</m:t>
                        </m:r>
                        <m:sSup>
                          <m:sSup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e>
                            </m:d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e>
                            </m:d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0</m:t>
                    </m:r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r>
                      <a:rPr>
                        <a:latin typeface="Cambria Math" panose="02040503050406030204" pitchFamily="18" charset="0"/>
                      </a:rPr>
                      <m:t>2983</m:t>
                    </m:r>
                  </m:oMath>
                </a14:m>
                <a:endParaRPr/>
              </a:p>
              <a:p>
                <a:pPr lvl="1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𝐹𝑅𝐶</m:t>
                    </m:r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%,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.</m:t>
                        </m:r>
                        <m:sSup>
                          <m:sSup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e>
                            </m:d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e>
                            </m:d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0</m:t>
                    </m:r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r>
                      <a:rPr>
                        <a:latin typeface="Cambria Math" panose="02040503050406030204" pitchFamily="18" charset="0"/>
                      </a:rPr>
                      <m:t>3503</m:t>
                    </m:r>
                  </m:oMath>
                </a14:m>
                <a:endParaRPr/>
              </a:p>
              <a:p>
                <a:pPr lvl="0"/>
                <a:r>
                  <a:t>Cálculo dos VPL: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𝑉𝑃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=−</m:t>
                    </m:r>
                    <m:r>
                      <a:rPr>
                        <a:latin typeface="Cambria Math" panose="02040503050406030204" pitchFamily="18" charset="0"/>
                      </a:rPr>
                      <m:t>1</m:t>
                    </m:r>
                    <m:r>
                      <a:rPr>
                        <a:latin typeface="Cambria Math" panose="02040503050406030204" pitchFamily="18" charset="0"/>
                      </a:rPr>
                      <m:t>.</m:t>
                    </m:r>
                    <m:r>
                      <a:rPr>
                        <a:latin typeface="Cambria Math" panose="02040503050406030204" pitchFamily="18" charset="0"/>
                      </a:rPr>
                      <m:t>000</m:t>
                    </m:r>
                    <m:r>
                      <a:rPr>
                        <a:latin typeface="Cambria Math" panose="02040503050406030204" pitchFamily="18" charset="0"/>
                      </a:rPr>
                      <m:t>.</m:t>
                    </m:r>
                    <m:r>
                      <a:rPr>
                        <a:latin typeface="Cambria Math" panose="02040503050406030204" pitchFamily="18" charset="0"/>
                      </a:rPr>
                      <m:t>000</m:t>
                    </m:r>
                    <m:r>
                      <a:rPr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%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000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000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2983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400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000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2983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𝑅</m:t>
                    </m:r>
                    <m:r>
                      <a:rPr>
                        <a:latin typeface="Cambria Math" panose="02040503050406030204" pitchFamily="18" charset="0"/>
                      </a:rPr>
                      <m:t>$</m:t>
                    </m:r>
                    <m:r>
                      <a:rPr>
                        <a:latin typeface="Cambria Math" panose="02040503050406030204" pitchFamily="18" charset="0"/>
                      </a:rPr>
                      <m:t>340</m:t>
                    </m:r>
                    <m:r>
                      <a:rPr>
                        <a:latin typeface="Cambria Math" panose="02040503050406030204" pitchFamily="18" charset="0"/>
                      </a:rPr>
                      <m:t>.</m:t>
                    </m:r>
                    <m:r>
                      <a:rPr>
                        <a:latin typeface="Cambria Math" panose="02040503050406030204" pitchFamily="18" charset="0"/>
                      </a:rPr>
                      <m:t>931</m:t>
                    </m:r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r>
                      <a:rPr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endParaRPr/>
              </a:p>
              <a:p>
                <a:pPr lvl="1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𝑉𝑃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=−</m:t>
                    </m:r>
                    <m:r>
                      <a:rPr>
                        <a:latin typeface="Cambria Math" panose="02040503050406030204" pitchFamily="18" charset="0"/>
                      </a:rPr>
                      <m:t>800</m:t>
                    </m:r>
                    <m:r>
                      <a:rPr>
                        <a:latin typeface="Cambria Math" panose="02040503050406030204" pitchFamily="18" charset="0"/>
                      </a:rPr>
                      <m:t>.</m:t>
                    </m:r>
                    <m:r>
                      <a:rPr>
                        <a:latin typeface="Cambria Math" panose="02040503050406030204" pitchFamily="18" charset="0"/>
                      </a:rPr>
                      <m:t>000</m:t>
                    </m:r>
                    <m:r>
                      <a:rPr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%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000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000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3503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400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000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3503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𝑅</m:t>
                    </m:r>
                    <m:r>
                      <a:rPr>
                        <a:latin typeface="Cambria Math" panose="02040503050406030204" pitchFamily="18" charset="0"/>
                      </a:rPr>
                      <m:t>$</m:t>
                    </m:r>
                    <m:r>
                      <a:rPr>
                        <a:latin typeface="Cambria Math" panose="02040503050406030204" pitchFamily="18" charset="0"/>
                      </a:rPr>
                      <m:t>341</m:t>
                    </m:r>
                    <m:r>
                      <a:rPr>
                        <a:latin typeface="Cambria Math" panose="02040503050406030204" pitchFamily="18" charset="0"/>
                      </a:rPr>
                      <m:t>.</m:t>
                    </m:r>
                    <m:r>
                      <a:rPr>
                        <a:latin typeface="Cambria Math" panose="02040503050406030204" pitchFamily="18" charset="0"/>
                      </a:rPr>
                      <m:t>878</m:t>
                    </m:r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r>
                      <a:rPr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endParaRPr/>
              </a:p>
              <a:p>
                <a:pPr lvl="1"/>
                <a:r>
                  <a:t>Os dois projetos são aceitáveis! Os VPL’s são praticamente idênticos!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5C504-58F1-2318-F264-E17A9AABC7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41" b="-581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Essencial de Matemática Financeira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5C504-58F1-2318-F264-E17A9AABC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Comparação por VPL</a:t>
            </a:r>
          </a:p>
          <a:p>
            <a:pPr lvl="0"/>
            <a:r>
              <a:t>Analisando os FC e os VPL, algumas pessoas podem pensar:</a:t>
            </a:r>
          </a:p>
          <a:p>
            <a:pPr lvl="1"/>
            <a:r>
              <a:t>“Os dois projetos são similares, porém no primeiro a construtora lucra por 1 ano a mais”</a:t>
            </a:r>
          </a:p>
          <a:p>
            <a:pPr lvl="1"/>
            <a:r>
              <a:t>“A construtora investe 200.000 a mais, porém fatura 25% mais e portanto lucra 400.000 a mais”!</a:t>
            </a:r>
          </a:p>
          <a:p>
            <a:pPr lvl="2"/>
            <a:r>
              <a:t>“Portanto, vale a pena investir 200.000 mais e fazer o projeto com maior VGV!”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Essencial de Matemática Financeira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5C504-58F1-2318-F264-E17A9AABC7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spcBef>
                    <a:spcPts val="3000"/>
                  </a:spcBef>
                  <a:buNone/>
                </a:pPr>
                <a:r>
                  <a:rPr b="1"/>
                  <a:t>Comparação por TIR</a:t>
                </a:r>
              </a:p>
              <a:p>
                <a:pPr lvl="0"/>
                <a:r>
                  <a:t>Cálculos das TIR: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𝑇𝐼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⇒0=−1.000.000+</m:t>
                    </m:r>
                    <m:nary>
                      <m:naryPr>
                        <m:chr m:val="∑"/>
                        <m:limLoc m:val="undOvr"/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  <m:e>
                        <m:f>
                          <m:f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400.000</m:t>
                            </m:r>
                          </m:num>
                          <m:den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𝑇𝐼</m:t>
                                    </m:r>
                                    <m:sSub>
                                      <m:sSub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endParaRPr/>
              </a:p>
              <a:p>
                <a:pPr lvl="2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𝑇𝐼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=28,65%</m:t>
                    </m:r>
                  </m:oMath>
                </a14:m>
                <a:endParaRPr/>
              </a:p>
              <a:p>
                <a:pPr lvl="1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𝑇𝐼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⇒0=−800.000+</m:t>
                    </m:r>
                    <m:nary>
                      <m:naryPr>
                        <m:chr m:val="∑"/>
                        <m:limLoc m:val="undOvr"/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f>
                          <m:f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400.000</m:t>
                            </m:r>
                          </m:num>
                          <m:den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𝑇𝐼</m:t>
                                    </m:r>
                                    <m:sSub>
                                      <m:sSubPr>
                                        <m:ctrlPr>
                                          <a:rPr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endParaRPr/>
              </a:p>
              <a:p>
                <a:pPr lvl="2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𝑇𝐼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=34,90%</m:t>
                    </m:r>
                  </m:oMath>
                </a14:m>
                <a:endParaRPr/>
              </a:p>
              <a:p>
                <a:pPr lvl="0"/>
                <a:r>
                  <a:t>Ao contrário do raciocínio falacioso do último slide, a TIR elenca o projeto 2 como o mais rentável para a construtora!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5C504-58F1-2318-F264-E17A9AABC7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Essencial de Matemática Financeira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5C504-58F1-2318-F264-E17A9AABC7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spcBef>
                    <a:spcPts val="3000"/>
                  </a:spcBef>
                  <a:buNone/>
                </a:pPr>
                <a:r>
                  <a:rPr b="1"/>
                  <a:t>Indicadores: rentabilidade e lucratividade</a:t>
                </a:r>
              </a:p>
              <a:p>
                <a:pPr lvl="0"/>
                <a:r>
                  <a:t>Lucratividade:</a:t>
                </a:r>
              </a:p>
              <a:p>
                <a:pPr lvl="1"/>
                <a:r>
                  <a:t>é a razão entre o lucro líquido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í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𝑞𝑢𝑖𝑑𝑜</m:t>
                        </m:r>
                      </m:sub>
                    </m:sSub>
                  </m:oMath>
                </a14:m>
                <a:r>
                  <a:t>) e a receita bruta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𝑏𝑟𝑢𝑡𝑎</m:t>
                        </m:r>
                      </m:sub>
                    </m:sSub>
                  </m:oMath>
                </a14:m>
                <a:r>
                  <a:t>):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𝐿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í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𝑞𝑢𝑖𝑑𝑜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𝑏𝑟𝑢𝑡𝑎</m:t>
                            </m:r>
                          </m:sub>
                        </m:sSub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  </m:t>
                    </m:r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</m:oMath>
                </a14:m>
                <a:endParaRPr/>
              </a:p>
              <a:p>
                <a:pPr lvl="0"/>
                <a:r>
                  <a:t>Rentabilidade:</a:t>
                </a:r>
              </a:p>
              <a:p>
                <a:pPr lvl="1"/>
                <a:r>
                  <a:t>é a razão entre o lucro líquido e o investimento (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t>):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/>
                      <m:t>ROI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í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𝑞𝑢𝑖𝑑𝑜</m:t>
                            </m:r>
                          </m:sub>
                        </m:sSub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𝐼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  </m:t>
                    </m:r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d>
                  </m:oMath>
                </a14:m>
                <a:endParaRPr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5C504-58F1-2318-F264-E17A9AABC7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95C04-CC6F-1CD5-4027-3306C4B75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0600"/>
            <a:ext cx="10515600" cy="700088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Lucratividade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3C9F7A-0844-0C9F-745C-595915C1A03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lvl="0"/>
                <a:r>
                  <a:t>Projeto 1:</a:t>
                </a: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í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𝑞𝑢𝑖𝑑𝑜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𝑏𝑟𝑢𝑡𝑎</m:t>
                            </m:r>
                          </m:sub>
                        </m:sSub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400.000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2.000.000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=20%/</m:t>
                    </m:r>
                    <m:r>
                      <m:rPr>
                        <m:nor/>
                      </m:rPr>
                      <a:rPr/>
                      <m:t>ano</m:t>
                    </m:r>
                  </m:oMath>
                </a14:m>
                <a:endParaRPr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3C9F7A-0844-0C9F-745C-595915C1A0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647" t="-19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1D3C290-0A1C-BF66-84A7-0888B63645A3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pPr lvl="0"/>
                <a:r>
                  <a:t>Projeto 2:</a:t>
                </a: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í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𝑞𝑢𝑖𝑑𝑜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𝑏𝑟𝑢𝑡𝑎</m:t>
                            </m:r>
                          </m:sub>
                        </m:sSub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400.000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2.000.000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=20%/</m:t>
                    </m:r>
                    <m:r>
                      <m:rPr>
                        <m:nor/>
                      </m:rPr>
                      <a:rPr/>
                      <m:t>ano</m:t>
                    </m:r>
                  </m:oMath>
                </a14:m>
                <a:endParaRPr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1D3C290-0A1C-BF66-84A7-0888B63645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1647" t="-19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95C04-CC6F-1CD5-4027-3306C4B75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0600"/>
            <a:ext cx="10515600" cy="700088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Rentabilidade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3C9F7A-0844-0C9F-745C-595915C1A03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lvl="0"/>
                <a:r>
                  <a:t>Projeto 1:</a:t>
                </a: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/>
                          <m:t>ROI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𝑉𝑃</m:t>
                        </m:r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341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000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000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000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34</m:t>
                    </m:r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r>
                      <a:rPr>
                        <a:latin typeface="Cambria Math" panose="02040503050406030204" pitchFamily="18" charset="0"/>
                      </a:rPr>
                      <m:t>10</m:t>
                    </m:r>
                    <m:r>
                      <a:rPr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endParaRPr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3C9F7A-0844-0C9F-745C-595915C1A0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647" t="-19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1D3C290-0A1C-BF66-84A7-0888B63645A3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pPr lvl="0"/>
                <a:r>
                  <a:t>Projeto 2:</a:t>
                </a: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/>
                          <m:t>ROI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𝑉𝑃</m:t>
                        </m:r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341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000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800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000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42</m:t>
                    </m:r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r>
                      <a:rPr>
                        <a:latin typeface="Cambria Math" panose="02040503050406030204" pitchFamily="18" charset="0"/>
                      </a:rPr>
                      <m:t>625</m:t>
                    </m:r>
                    <m:r>
                      <a:rPr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endParaRPr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1D3C290-0A1C-BF66-84A7-0888B63645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1647" t="-19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Lucratividade </a:t>
            </a:r>
            <a:r>
              <a:rPr i="1"/>
              <a:t>vs.</a:t>
            </a:r>
            <a:r>
              <a:t> Rentabilidade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5C504-58F1-2318-F264-E17A9AABC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O raciocínio é o seguinte:</a:t>
            </a:r>
          </a:p>
          <a:p>
            <a:pPr lvl="1"/>
            <a:r>
              <a:t>o VPL é o mesmo para ambos os projetos</a:t>
            </a:r>
          </a:p>
          <a:p>
            <a:pPr lvl="1"/>
            <a:r>
              <a:t>porém, no projeto 2 o investimento é menor (e retorna mais rápido)!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Comparação por TIR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5C504-58F1-2318-F264-E17A9AABC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Um bom exercício para este momento é:</a:t>
            </a:r>
          </a:p>
          <a:p>
            <a:pPr lvl="1"/>
            <a:r>
              <a:t>Imagine que o Projeto 2 atrasou.</a:t>
            </a:r>
          </a:p>
          <a:p>
            <a:pPr lvl="2"/>
            <a:r>
              <a:t>Irá apresentar o mesmo resultado (20% de R$ 8.000.000,00)</a:t>
            </a:r>
          </a:p>
          <a:p>
            <a:pPr lvl="2"/>
            <a:r>
              <a:t>Porém, agora com prazo de 5 anos</a:t>
            </a:r>
          </a:p>
          <a:p>
            <a:pPr lvl="2"/>
            <a:r>
              <a:t>Calcule a nova TIR do Projeto 2.</a:t>
            </a:r>
          </a:p>
          <a:p>
            <a:pPr lvl="2"/>
            <a:r>
              <a:t>Compare-a à TIR inicial e à TIR do primeiro projeto</a:t>
            </a:r>
          </a:p>
          <a:p>
            <a:pPr lvl="2"/>
            <a:r>
              <a:t>Faça também o cálculo do novo VPL e das rentabilidades!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09A65-87C6-A0D0-64A7-121C4D105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1080656"/>
            <a:ext cx="4337050" cy="3481820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Avaliação de Aluguéis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Método da Renda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5C504-58F1-2318-F264-E17A9AABC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O </a:t>
            </a:r>
            <a:r>
              <a:rPr i="1"/>
              <a:t>Método da Renda</a:t>
            </a:r>
            <a:r>
              <a:t> é um dos métodos reconhecidos pela ABNT (2011) para “identificar o valor de um bem”.</a:t>
            </a:r>
          </a:p>
          <a:p>
            <a:pPr lvl="1"/>
            <a:r>
              <a:t>Em outras palavras, o </a:t>
            </a:r>
            <a:r>
              <a:rPr i="1"/>
              <a:t>Método da Renda</a:t>
            </a:r>
            <a:r>
              <a:t> é um método para a estimação do valor de mercado de um bem imóvel.</a:t>
            </a:r>
          </a:p>
          <a:p>
            <a:pPr lvl="0"/>
            <a:r>
              <a:t>O </a:t>
            </a:r>
            <a:r>
              <a:rPr i="1"/>
              <a:t>Método da Renda</a:t>
            </a:r>
            <a:r>
              <a:t> consiste em utilizar a renda (aluguel) que um imóvel produz fins de determinar o seu valor de mercado.</a:t>
            </a:r>
          </a:p>
          <a:p>
            <a:pPr lvl="0"/>
            <a:r>
              <a:t>Antigamente alguns autores se referiam ao </a:t>
            </a:r>
            <a:r>
              <a:rPr i="1"/>
              <a:t>Método da Renda</a:t>
            </a:r>
            <a:r>
              <a:t> também quando utilizado para a determinação do valor justo do aluguel dos imóveis</a:t>
            </a:r>
          </a:p>
          <a:p>
            <a:pPr lvl="1"/>
            <a:r>
              <a:t>Na atualidade, para este segundo propósito, adotou-se o termo de </a:t>
            </a:r>
            <a:r>
              <a:rPr i="1"/>
              <a:t>Método de Remuneração do Capital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Método da Remuneração do Capital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5C504-58F1-2318-F264-E17A9AABC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Na ABNT (2011, item 11.4.2), quando utilizado o </a:t>
            </a:r>
            <a:r>
              <a:rPr i="1"/>
              <a:t>Método da Remuneração do Capital</a:t>
            </a:r>
            <a:r>
              <a:t> para determinação dos aluguéis:</a:t>
            </a:r>
          </a:p>
          <a:p>
            <a:pPr lvl="1"/>
            <a:r>
              <a:t>Neste caso, o aluguel é determinado em função do valor do imóvel, podendo ser empregado em casos de imóveis isolados e atípicos, para os quais a utilização da comparação direta seja impraticável.</a:t>
            </a:r>
          </a:p>
          <a:p>
            <a:pPr lvl="1"/>
            <a:r>
              <a:t>Sua utilização exige a determinação da taxa de remuneração e do valor do imóvel.</a:t>
            </a:r>
          </a:p>
          <a:p>
            <a:pPr lvl="1"/>
            <a:r>
              <a:t>A taxa de remuneração deve ser objeto de pesquisa específica para cada caso, pois varia para cada tipo de imóvel, localização e, também, ao longo do tempo, dependendo da conjuntura econômica.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Método da Remuneração do Capital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5C504-58F1-2318-F264-E17A9AABC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Segundo D’Amato and Alonso (2019), p. 123:</a:t>
            </a:r>
          </a:p>
          <a:p>
            <a:pPr marL="1270000" lvl="0" indent="0">
              <a:buNone/>
            </a:pPr>
            <a:r>
              <a:rPr sz="2000"/>
              <a:t>Apesar de ser método de grande aplicação, alguns estudiosos já estão percebendo a inversão “causa-efeito” da premissa de que todo imóvel vale (efeito) pela sua capacidade de produzir renda (causa). Talvez o fato de se partir do “efeito” (valor do imóvel) para se obter a “causa” (renda) conduza a resultados distorcidos da realidade, a menos que nos cálculos se apliquem múltiplos fatores corretivos; para o terreno: localização, área, testada, profundidade, formato, sub ou superaproveitamento; para a construção: áreas privativa e total, grupamento, padrão, idade, estado de conservação, distribuição entre andares e dos ambientes (layout). […] Na realidade se verifica que são dois mercados diferentes, o de venda e o de locação, com tendência, comportamentos e público alvo também diversos.</a:t>
            </a:r>
          </a:p>
          <a:p>
            <a:pPr lvl="0"/>
            <a:r>
              <a:t>Obs. Droubi:</a:t>
            </a:r>
          </a:p>
          <a:p>
            <a:pPr lvl="1"/>
            <a:r>
              <a:t>São dois mercados diferentes!</a:t>
            </a:r>
          </a:p>
          <a:p>
            <a:pPr lvl="1"/>
            <a:r>
              <a:t>Mas eles se equilibram!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Método da Remuneração do Capital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5C504-58F1-2318-F264-E17A9AABC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É o inverso do método da renda (D’Amato and Alonso 2019, 95)!</a:t>
            </a:r>
          </a:p>
          <a:p>
            <a:pPr marL="1270000" lvl="0" indent="0">
              <a:buNone/>
            </a:pPr>
            <a:r>
              <a:rPr sz="2000"/>
              <a:t>“quando usado inversamente, para fixação de aluguéis, o método denominar-se-á da remuneração dos capitais”</a:t>
            </a:r>
          </a:p>
          <a:p>
            <a:pPr lvl="0"/>
            <a:r>
              <a:t>A taxa de remuneração deve ser determinada mediante pesquisa, conforme item 11.4.2 da NBR 14.653-2 (2011):</a:t>
            </a:r>
          </a:p>
          <a:p>
            <a:pPr marL="1270000" lvl="0" indent="0">
              <a:buNone/>
            </a:pPr>
            <a:r>
              <a:rPr sz="2000"/>
              <a:t>A taxa de remuneração deve ser objeto de pesquisa específica para cada caso, pois varia para cada tipo de imóvel, localização e, também ao longo do tempo, dependendo da conjuntura econômica.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Método da Remuneração do Capital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5C504-58F1-2318-F264-E17A9AABC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Deve-se levar em conta:</a:t>
            </a:r>
          </a:p>
          <a:p>
            <a:pPr lvl="1"/>
            <a:r>
              <a:t>Taxa de Vacância</a:t>
            </a:r>
          </a:p>
          <a:p>
            <a:pPr lvl="1"/>
            <a:r>
              <a:t>Taxas de administração</a:t>
            </a:r>
          </a:p>
          <a:p>
            <a:pPr lvl="1"/>
            <a:r>
              <a:t>Impostos</a:t>
            </a:r>
          </a:p>
          <a:p>
            <a:pPr lvl="1"/>
            <a:r>
              <a:t>Compensação pela falta de liquidez</a:t>
            </a:r>
          </a:p>
          <a:p>
            <a:pPr lvl="1"/>
            <a:r>
              <a:t>Manutenção e Depreciação</a:t>
            </a:r>
          </a:p>
          <a:p>
            <a:pPr lvl="1"/>
            <a:r>
              <a:t>Valorização</a:t>
            </a:r>
          </a:p>
          <a:p>
            <a:pPr lvl="0"/>
            <a:r>
              <a:t>Um método é levar em conta estas variáveis na taxa de desconto: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Taxa composta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5C504-58F1-2318-F264-E17A9AABC7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t>Uma vez obtidas as taxas de desconto para o terreno e para as benfeitorias, pode-se calcular a </a:t>
                </a:r>
                <a:r>
                  <a:rPr b="1"/>
                  <a:t>taxa composta</a:t>
                </a:r>
                <a:r>
                  <a:t>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𝑖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.</m:t>
                        </m:r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.</m:t>
                        </m:r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den>
                    </m:f>
                  </m:oMath>
                </a14:m>
                <a:endParaRPr/>
              </a:p>
              <a:p>
                <a:pPr lvl="0"/>
                <a:r>
                  <a:t>Com a taxa composta, os valores do terreno e do capital (benfeitorias), pode ser feito o cálculo do valor do aluguel.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5C504-58F1-2318-F264-E17A9AABC7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21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Taxa composta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5C504-58F1-2318-F264-E17A9AABC7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t>Exemplo (adaptado de D’Amato and Alonso (2019), p. 87):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250</m:t>
                    </m:r>
                    <m:r>
                      <a:rPr>
                        <a:latin typeface="Cambria Math" panose="02040503050406030204" pitchFamily="18" charset="0"/>
                      </a:rPr>
                      <m:t>.</m:t>
                    </m:r>
                    <m:r>
                      <a:rPr>
                        <a:latin typeface="Cambria Math" panose="02040503050406030204" pitchFamily="18" charset="0"/>
                      </a:rPr>
                      <m:t>000</m:t>
                    </m:r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r>
                      <a:rPr>
                        <a:latin typeface="Cambria Math" panose="02040503050406030204" pitchFamily="18" charset="0"/>
                      </a:rPr>
                      <m:t>00</m:t>
                    </m:r>
                  </m:oMath>
                </a14:m>
                <a:endParaRPr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450</m:t>
                    </m:r>
                    <m:r>
                      <a:rPr>
                        <a:latin typeface="Cambria Math" panose="02040503050406030204" pitchFamily="18" charset="0"/>
                      </a:rPr>
                      <m:t>.</m:t>
                    </m:r>
                    <m:r>
                      <a:rPr>
                        <a:latin typeface="Cambria Math" panose="02040503050406030204" pitchFamily="18" charset="0"/>
                      </a:rPr>
                      <m:t>000</m:t>
                    </m:r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r>
                      <a:rPr>
                        <a:latin typeface="Cambria Math" panose="02040503050406030204" pitchFamily="18" charset="0"/>
                      </a:rPr>
                      <m:t>00</m:t>
                    </m:r>
                  </m:oMath>
                </a14:m>
                <a:endParaRPr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795</m:t>
                    </m:r>
                    <m:r>
                      <a:rPr>
                        <a:latin typeface="Cambria Math" panose="02040503050406030204" pitchFamily="18" charset="0"/>
                      </a:rPr>
                      <m:t>.</m:t>
                    </m:r>
                    <m:r>
                      <a:rPr>
                        <a:latin typeface="Cambria Math" panose="02040503050406030204" pitchFamily="18" charset="0"/>
                      </a:rPr>
                      <m:t>000</m:t>
                    </m:r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r>
                      <a:rPr>
                        <a:latin typeface="Cambria Math" panose="02040503050406030204" pitchFamily="18" charset="0"/>
                      </a:rPr>
                      <m:t>00</m:t>
                    </m:r>
                  </m:oMath>
                </a14:m>
                <a:r>
                  <a:t> (Fator de Comercialização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t> 14%)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𝑖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250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000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08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450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000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125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250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000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450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000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000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56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250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700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000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10</m:t>
                    </m:r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r>
                      <a:rPr>
                        <a:latin typeface="Cambria Math" panose="02040503050406030204" pitchFamily="18" charset="0"/>
                      </a:rPr>
                      <m:t>89</m:t>
                    </m:r>
                  </m:oMath>
                </a14:m>
                <a:endParaRPr/>
              </a:p>
              <a:p>
                <a:pPr lvl="2"/>
                <a:r>
                  <a:t>Taxa ao mês: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𝑚𝑒𝑛𝑠𝑎𝑙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𝑎𝑛𝑢𝑎𝑙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−</m:t>
                    </m:r>
                    <m:r>
                      <a:rPr>
                        <a:latin typeface="Cambria Math" panose="02040503050406030204" pitchFamily="18" charset="0"/>
                      </a:rPr>
                      <m:t>1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0</m:t>
                    </m:r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r>
                      <a:rPr>
                        <a:latin typeface="Cambria Math" panose="02040503050406030204" pitchFamily="18" charset="0"/>
                      </a:rPr>
                      <m:t>865</m:t>
                    </m:r>
                    <m:r>
                      <a:rPr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endParaRPr/>
              </a:p>
              <a:p>
                <a:pPr lvl="2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𝐴𝑙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795</m:t>
                    </m:r>
                    <m:r>
                      <a:rPr>
                        <a:latin typeface="Cambria Math" panose="02040503050406030204" pitchFamily="18" charset="0"/>
                      </a:rPr>
                      <m:t>.</m:t>
                    </m:r>
                    <m:r>
                      <a:rPr>
                        <a:latin typeface="Cambria Math" panose="02040503050406030204" pitchFamily="18" charset="0"/>
                      </a:rPr>
                      <m:t>000</m:t>
                    </m:r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r>
                      <a:rPr>
                        <a:latin typeface="Cambria Math" panose="02040503050406030204" pitchFamily="18" charset="0"/>
                      </a:rPr>
                      <m:t>00</m:t>
                    </m:r>
                    <m:r>
                      <a:rPr>
                        <a:latin typeface="Cambria Math" panose="02040503050406030204" pitchFamily="18" charset="0"/>
                      </a:rPr>
                      <m:t>.</m:t>
                    </m:r>
                    <m:r>
                      <a:rPr>
                        <a:latin typeface="Cambria Math" panose="02040503050406030204" pitchFamily="18" charset="0"/>
                      </a:rPr>
                      <m:t>0</m:t>
                    </m:r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r>
                      <a:rPr>
                        <a:latin typeface="Cambria Math" panose="02040503050406030204" pitchFamily="18" charset="0"/>
                      </a:rPr>
                      <m:t>865</m:t>
                    </m:r>
                    <m:r>
                      <a:rPr>
                        <a:latin typeface="Cambria Math" panose="02040503050406030204" pitchFamily="18" charset="0"/>
                      </a:rPr>
                      <m:t>%=</m:t>
                    </m:r>
                    <m:r>
                      <m:rPr>
                        <m:nor/>
                      </m:rPr>
                      <a:rPr/>
                      <m:t>R</m:t>
                    </m:r>
                    <m:r>
                      <m:rPr>
                        <m:nor/>
                      </m:rPr>
                      <a:rPr/>
                      <m:t>$</m:t>
                    </m:r>
                    <m:r>
                      <a:rPr>
                        <a:latin typeface="Cambria Math" panose="02040503050406030204" pitchFamily="18" charset="0"/>
                      </a:rPr>
                      <m:t>6</m:t>
                    </m:r>
                    <m:r>
                      <a:rPr>
                        <a:latin typeface="Cambria Math" panose="02040503050406030204" pitchFamily="18" charset="0"/>
                      </a:rPr>
                      <m:t>.</m:t>
                    </m:r>
                    <m:r>
                      <a:rPr>
                        <a:latin typeface="Cambria Math" panose="02040503050406030204" pitchFamily="18" charset="0"/>
                      </a:rPr>
                      <m:t>876</m:t>
                    </m:r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r>
                      <a:rPr>
                        <a:latin typeface="Cambria Math" panose="02040503050406030204" pitchFamily="18" charset="0"/>
                      </a:rPr>
                      <m:t>75</m:t>
                    </m:r>
                    <m:r>
                      <a:rPr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nor/>
                      </m:rPr>
                      <a:rPr/>
                      <m:t>m</m:t>
                    </m:r>
                    <m:r>
                      <m:rPr>
                        <m:nor/>
                      </m:rPr>
                      <a:rPr/>
                      <m:t>ê</m:t>
                    </m:r>
                    <m:r>
                      <m:rPr>
                        <m:nor/>
                      </m:rPr>
                      <a:rPr/>
                      <m:t>s</m:t>
                    </m:r>
                  </m:oMath>
                </a14:m>
                <a:endParaRPr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5C504-58F1-2318-F264-E17A9AABC7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21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Método da Renda com aluguel líquido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5C504-58F1-2318-F264-E17A9AABC7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t>Segundo Malpezzi and Wachter (2002):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𝑖𝑚𝑜𝑣𝑒𝑙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f>
                          <m:f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f>
                          <m:f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sSup>
                              <m:s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</m:oMath>
                </a14:m>
                <a:endParaRPr/>
              </a:p>
              <a:p>
                <a:pPr lvl="0"/>
                <a:r>
                  <a:t>Obs.: A valorização (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t>) pode ser levada em conta subtraindo-a da taxa de desconto (Malpezzi and Wachter 2002):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𝑖𝑚𝑜𝑣𝑒𝑙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𝑔</m:t>
                        </m:r>
                      </m:den>
                    </m:f>
                  </m:oMath>
                </a14:m>
                <a:endParaRPr/>
              </a:p>
              <a:p>
                <a:pPr lvl="1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𝑖</m:t>
                    </m:r>
                    <m:r>
                      <a:rPr>
                        <a:latin typeface="Cambria Math" panose="02040503050406030204" pitchFamily="18" charset="0"/>
                      </a:rPr>
                      <m:t>−</m:t>
                    </m:r>
                    <m:r>
                      <a:rPr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t> é chamada de taxa de capitalização, ou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t> (</a:t>
                </a:r>
                <a:r>
                  <a:rPr i="1"/>
                  <a:t>cap rate</a:t>
                </a:r>
                <a:r>
                  <a:t>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𝑖𝑚𝑜𝑣𝑒𝑙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endParaRPr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5C504-58F1-2318-F264-E17A9AABC7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2141" r="-121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Método da Renda com aluguel líquido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5C504-58F1-2318-F264-E17A9AABC7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t>Segundo D’Amato and Alonso (2019), p. 100, deve-se deduzir, em média, 30% do aluguel bruto!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𝑖𝑚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ó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𝑣𝑒𝑙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𝐴𝑙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3000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%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/>
                      <m:t> </m:t>
                    </m:r>
                    <m:r>
                      <m:rPr>
                        <m:nor/>
                      </m:rPr>
                      <a:rPr/>
                      <m:t>R</m:t>
                    </m:r>
                    <m:r>
                      <m:rPr>
                        <m:nor/>
                      </m:rPr>
                      <a:rPr/>
                      <m:t>$</m:t>
                    </m:r>
                    <m:r>
                      <a:rPr>
                        <a:latin typeface="Cambria Math" panose="02040503050406030204" pitchFamily="18" charset="0"/>
                      </a:rPr>
                      <m:t>420</m:t>
                    </m:r>
                    <m:r>
                      <a:rPr>
                        <a:latin typeface="Cambria Math" panose="02040503050406030204" pitchFamily="18" charset="0"/>
                      </a:rPr>
                      <m:t>.</m:t>
                    </m:r>
                    <m:r>
                      <a:rPr>
                        <a:latin typeface="Cambria Math" panose="02040503050406030204" pitchFamily="18" charset="0"/>
                      </a:rPr>
                      <m:t>000</m:t>
                    </m:r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r>
                      <a:rPr>
                        <a:latin typeface="Cambria Math" panose="02040503050406030204" pitchFamily="18" charset="0"/>
                      </a:rPr>
                      <m:t>00</m:t>
                    </m:r>
                  </m:oMath>
                </a14:m>
                <a:endParaRPr/>
              </a:p>
              <a:p>
                <a:pPr lvl="0"/>
                <a:r>
                  <a:t>Estimando-se uma taxa de valorização de 2% a.a.: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𝑖𝑚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ó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𝑣𝑒𝑙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𝐴𝑙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3000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%−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%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/>
                      <m:t> </m:t>
                    </m:r>
                    <m:r>
                      <m:rPr>
                        <m:nor/>
                      </m:rPr>
                      <a:rPr/>
                      <m:t>R</m:t>
                    </m:r>
                    <m:r>
                      <m:rPr>
                        <m:nor/>
                      </m:rPr>
                      <a:rPr/>
                      <m:t>$</m:t>
                    </m:r>
                    <m:r>
                      <a:rPr>
                        <a:latin typeface="Cambria Math" panose="02040503050406030204" pitchFamily="18" charset="0"/>
                      </a:rPr>
                      <m:t>630</m:t>
                    </m:r>
                    <m:r>
                      <a:rPr>
                        <a:latin typeface="Cambria Math" panose="02040503050406030204" pitchFamily="18" charset="0"/>
                      </a:rPr>
                      <m:t>.</m:t>
                    </m:r>
                    <m:r>
                      <a:rPr>
                        <a:latin typeface="Cambria Math" panose="02040503050406030204" pitchFamily="18" charset="0"/>
                      </a:rPr>
                      <m:t>000</m:t>
                    </m:r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r>
                      <a:rPr>
                        <a:latin typeface="Cambria Math" panose="02040503050406030204" pitchFamily="18" charset="0"/>
                      </a:rPr>
                      <m:t>00</m:t>
                    </m:r>
                  </m:oMath>
                </a14:m>
                <a:endParaRPr/>
              </a:p>
              <a:p>
                <a:pPr lvl="0"/>
                <a:r>
                  <a:t>Pequenos ajustes fazem grande diferença no VP!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5C504-58F1-2318-F264-E17A9AABC7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21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O investimento em imóveis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5C504-58F1-2318-F264-E17A9AABC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Exemplo:</a:t>
            </a:r>
          </a:p>
          <a:p>
            <a:pPr lvl="1"/>
            <a:r>
              <a:t>Dado que um apartamento está anunciado em R$ 400.000,00</a:t>
            </a:r>
          </a:p>
          <a:p>
            <a:pPr lvl="1"/>
            <a:r>
              <a:t>Que a sua (investidor) TMA é igual 10% a.a.</a:t>
            </a:r>
          </a:p>
          <a:p>
            <a:pPr lvl="1"/>
            <a:r>
              <a:t>Que o aluguel do imóvel é R$ 3.000,00/mês</a:t>
            </a:r>
          </a:p>
          <a:p>
            <a:pPr lvl="1"/>
            <a:r>
              <a:t>Que a expectativa é que o aluguel se reajuste a uma taxa de 1,5% a.a.</a:t>
            </a:r>
          </a:p>
          <a:p>
            <a:pPr lvl="1"/>
            <a:r>
              <a:t>Que os custos (inclusive taxa de vacância) são da ordem de 30% do valor do aluguel</a:t>
            </a:r>
          </a:p>
          <a:p>
            <a:pPr lvl="1"/>
            <a:r>
              <a:t>Que você (investidor) considera um prazo de 30 anos para amortizar o investimento</a:t>
            </a:r>
          </a:p>
          <a:p>
            <a:pPr lvl="1"/>
            <a:r>
              <a:t>Quanto você pode pagar pelo apartamento?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O investimento em imóveis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5C504-58F1-2318-F264-E17A9AABC7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t>Solução: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𝐹𝑅𝐶</m:t>
                    </m:r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%,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30</m:t>
                        </m:r>
                      </m:e>
                    </m:d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%.</m:t>
                        </m:r>
                        <m:sSup>
                          <m:sSup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e>
                            </m:d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30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e>
                            </m:d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30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0</m:t>
                    </m:r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r>
                      <a:rPr>
                        <a:latin typeface="Cambria Math" panose="02040503050406030204" pitchFamily="18" charset="0"/>
                      </a:rPr>
                      <m:t>09305</m:t>
                    </m:r>
                  </m:oMath>
                </a14:m>
                <a:endParaRPr/>
              </a:p>
              <a:p>
                <a:pPr lvl="1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𝑉𝑃𝐿</m:t>
                    </m:r>
                    <m:r>
                      <a:rPr>
                        <a:latin typeface="Cambria Math" panose="02040503050406030204" pitchFamily="18" charset="0"/>
                      </a:rPr>
                      <m:t>=−</m:t>
                    </m:r>
                    <m:r>
                      <a:rPr>
                        <a:latin typeface="Cambria Math" panose="02040503050406030204" pitchFamily="18" charset="0"/>
                      </a:rPr>
                      <m:t>400</m:t>
                    </m:r>
                    <m:r>
                      <a:rPr>
                        <a:latin typeface="Cambria Math" panose="02040503050406030204" pitchFamily="18" charset="0"/>
                      </a:rPr>
                      <m:t>.</m:t>
                    </m:r>
                    <m:r>
                      <a:rPr>
                        <a:latin typeface="Cambria Math" panose="02040503050406030204" pitchFamily="18" charset="0"/>
                      </a:rPr>
                      <m:t>000</m:t>
                    </m:r>
                    <m:r>
                      <a:rPr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.</m:t>
                        </m:r>
                        <m:d>
                          <m:d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3000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900</m:t>
                            </m:r>
                          </m:e>
                        </m:d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305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%</m:t>
                        </m:r>
                      </m:den>
                    </m:f>
                  </m:oMath>
                </a14:m>
                <a:endParaRPr/>
              </a:p>
              <a:p>
                <a:pPr lvl="1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𝑉𝑃𝐿</m:t>
                    </m:r>
                    <m:r>
                      <a:rPr>
                        <a:latin typeface="Cambria Math" panose="02040503050406030204" pitchFamily="18" charset="0"/>
                      </a:rPr>
                      <m:t>=−</m:t>
                    </m:r>
                    <m:r>
                      <a:rPr>
                        <a:latin typeface="Cambria Math" panose="02040503050406030204" pitchFamily="18" charset="0"/>
                      </a:rPr>
                      <m:t>400</m:t>
                    </m:r>
                    <m:r>
                      <a:rPr>
                        <a:latin typeface="Cambria Math" panose="02040503050406030204" pitchFamily="18" charset="0"/>
                      </a:rPr>
                      <m:t>.</m:t>
                    </m:r>
                    <m:r>
                      <a:rPr>
                        <a:latin typeface="Cambria Math" panose="02040503050406030204" pitchFamily="18" charset="0"/>
                      </a:rPr>
                      <m:t>000</m:t>
                    </m:r>
                    <m:r>
                      <a:rPr>
                        <a:latin typeface="Cambria Math" panose="02040503050406030204" pitchFamily="18" charset="0"/>
                      </a:rPr>
                      <m:t>+</m:t>
                    </m:r>
                    <m:r>
                      <a:rPr>
                        <a:latin typeface="Cambria Math" panose="02040503050406030204" pitchFamily="18" charset="0"/>
                      </a:rPr>
                      <m:t>270</m:t>
                    </m:r>
                    <m:r>
                      <a:rPr>
                        <a:latin typeface="Cambria Math" panose="02040503050406030204" pitchFamily="18" charset="0"/>
                      </a:rPr>
                      <m:t>.</m:t>
                    </m:r>
                    <m:r>
                      <a:rPr>
                        <a:latin typeface="Cambria Math" panose="02040503050406030204" pitchFamily="18" charset="0"/>
                      </a:rPr>
                      <m:t>822</m:t>
                    </m:r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r>
                      <a:rPr>
                        <a:latin typeface="Cambria Math" panose="02040503050406030204" pitchFamily="18" charset="0"/>
                      </a:rPr>
                      <m:t>10</m:t>
                    </m:r>
                    <m:r>
                      <a:rPr>
                        <a:latin typeface="Cambria Math" panose="02040503050406030204" pitchFamily="18" charset="0"/>
                      </a:rPr>
                      <m:t>=−</m:t>
                    </m:r>
                    <m:r>
                      <a:rPr>
                        <a:latin typeface="Cambria Math" panose="02040503050406030204" pitchFamily="18" charset="0"/>
                      </a:rPr>
                      <m:t>129</m:t>
                    </m:r>
                    <m:r>
                      <a:rPr>
                        <a:latin typeface="Cambria Math" panose="02040503050406030204" pitchFamily="18" charset="0"/>
                      </a:rPr>
                      <m:t>.</m:t>
                    </m:r>
                    <m:r>
                      <a:rPr>
                        <a:latin typeface="Cambria Math" panose="02040503050406030204" pitchFamily="18" charset="0"/>
                      </a:rPr>
                      <m:t>177</m:t>
                    </m:r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r>
                      <a:rPr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endParaRPr/>
              </a:p>
              <a:p>
                <a:pPr lvl="1"/>
                <a:r>
                  <a:t>R.: R$ 270.000,00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5C504-58F1-2318-F264-E17A9AABC7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21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O investimento em imóveis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5C504-58F1-2318-F264-E17A9AABC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A casa própria</a:t>
            </a:r>
          </a:p>
          <a:p>
            <a:pPr lvl="0"/>
            <a:r>
              <a:t>Suponha que:</a:t>
            </a:r>
          </a:p>
          <a:p>
            <a:pPr lvl="1"/>
            <a:r>
              <a:t>Uma casa está anunciada por R$ 500.000,00</a:t>
            </a:r>
          </a:p>
          <a:p>
            <a:pPr lvl="1"/>
            <a:r>
              <a:t>Você pode financiá-la, mediante entrada de 20% (R$ 100.000)</a:t>
            </a:r>
          </a:p>
          <a:p>
            <a:pPr lvl="1"/>
            <a:r>
              <a:t>Após adquirí-la, você pagará ao banco uma parcela de R$ 2.000,00 mensais por 30 anos</a:t>
            </a:r>
          </a:p>
          <a:p>
            <a:pPr lvl="1"/>
            <a:r>
              <a:t>O aluguel da casa é R$ 3.000,00 mensais</a:t>
            </a:r>
          </a:p>
          <a:p>
            <a:pPr lvl="1"/>
            <a:r>
              <a:t>A sua TMA é de 10% a.a.</a:t>
            </a:r>
          </a:p>
          <a:p>
            <a:pPr lvl="1"/>
            <a:r>
              <a:t>Você compra a casa?</a:t>
            </a:r>
          </a:p>
          <a:p>
            <a:pPr lvl="1"/>
            <a:r>
              <a:t>Considere que não há valor residual e despreze os custos de manutenção da casa, inflação, etc.!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O investimento em imóveis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5C504-58F1-2318-F264-E17A9AABC7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spcBef>
                    <a:spcPts val="3000"/>
                  </a:spcBef>
                  <a:buNone/>
                </a:pPr>
                <a:r>
                  <a:rPr b="1"/>
                  <a:t>A casa própria</a:t>
                </a:r>
              </a:p>
              <a:p>
                <a:pPr lvl="0"/>
                <a:r>
                  <a:t>Solução: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𝐹𝑅𝐶</m:t>
                    </m:r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10%,30</m:t>
                        </m:r>
                      </m:e>
                    </m:d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10%.</m:t>
                        </m:r>
                        <m:sSup>
                          <m:sSup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1+10%</m:t>
                                </m:r>
                              </m:e>
                            </m:d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30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1+10%</m:t>
                                </m:r>
                              </m:e>
                            </m:d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30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=10,61%</m:t>
                    </m:r>
                  </m:oMath>
                </a14:m>
                <a:endParaRPr/>
              </a:p>
              <a:p>
                <a:pPr lvl="1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𝑉𝑃𝐿</m:t>
                    </m:r>
                    <m:r>
                      <a:rPr>
                        <a:latin typeface="Cambria Math" panose="02040503050406030204" pitchFamily="18" charset="0"/>
                      </a:rPr>
                      <m:t>=−100.000+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12.</m:t>
                        </m:r>
                        <m:d>
                          <m:d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3000−2000</m:t>
                            </m:r>
                          </m:e>
                        </m:d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10,61%</m:t>
                        </m:r>
                      </m:den>
                    </m:f>
                  </m:oMath>
                </a14:m>
                <a:endParaRPr/>
              </a:p>
              <a:p>
                <a:pPr lvl="1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𝑉𝑃𝐿</m:t>
                    </m:r>
                    <m:r>
                      <a:rPr>
                        <a:latin typeface="Cambria Math" panose="02040503050406030204" pitchFamily="18" charset="0"/>
                      </a:rPr>
                      <m:t>=−100.000+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12.000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10,61%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=−100.000+113.100,80=13.100,80</m:t>
                    </m:r>
                  </m:oMath>
                </a14:m>
                <a:endParaRPr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5C504-58F1-2318-F264-E17A9AABC7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O investimento em imóveis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5C504-58F1-2318-F264-E17A9AABC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A casa própria (2)</a:t>
            </a:r>
          </a:p>
          <a:p>
            <a:pPr lvl="0"/>
            <a:r>
              <a:t>Suponha que:</a:t>
            </a:r>
          </a:p>
          <a:p>
            <a:pPr lvl="1"/>
            <a:r>
              <a:t>Um terreno está anunciado por R$ 100.000,00</a:t>
            </a:r>
          </a:p>
          <a:p>
            <a:pPr lvl="1"/>
            <a:r>
              <a:t>Você quer construir uma casa com orçamento de R$ 400.000,00</a:t>
            </a:r>
          </a:p>
          <a:p>
            <a:pPr lvl="1"/>
            <a:r>
              <a:t>Você pode fazer ATC, mediante entrada de 20% (R$ 100.000)</a:t>
            </a:r>
          </a:p>
          <a:p>
            <a:pPr lvl="1"/>
            <a:r>
              <a:t>Você pagará ao banco inicialmente uma parcela de R$ 5.000,00 mensais</a:t>
            </a:r>
          </a:p>
          <a:p>
            <a:pPr lvl="1"/>
            <a:r>
              <a:t>Porém, ao longo de 30 anos esta parcela será reduzida a uma taxa de 2,5% a.a.</a:t>
            </a:r>
          </a:p>
          <a:p>
            <a:pPr lvl="1"/>
            <a:r>
              <a:t>O aluguel de uma casa similar é R$ 4.000,00 mensais</a:t>
            </a:r>
          </a:p>
          <a:p>
            <a:pPr lvl="1"/>
            <a:r>
              <a:t>Porém estima-se que este aumentará a uma taxa de 2,5% a.a.</a:t>
            </a:r>
          </a:p>
          <a:p>
            <a:pPr lvl="1"/>
            <a:r>
              <a:t>A sua TMA é de 10% a.a.</a:t>
            </a:r>
          </a:p>
          <a:p>
            <a:pPr lvl="1"/>
            <a:r>
              <a:t>Você estima uma valor residual, ao final de 30 anos, de 20% para o imóvel.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O investimento em imóveis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5C504-58F1-2318-F264-E17A9AABC7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spcBef>
                    <a:spcPts val="3000"/>
                  </a:spcBef>
                  <a:buNone/>
                </a:pPr>
                <a:r>
                  <a:rPr b="1"/>
                  <a:t>A casa própria (2)</a:t>
                </a:r>
              </a:p>
              <a:p>
                <a:pPr lvl="0"/>
                <a:r>
                  <a:t>Informações:</a:t>
                </a:r>
              </a:p>
              <a:p>
                <a:pPr lvl="1"/>
                <a:r>
                  <a:t>Os terrenos não costumam ser depreciados, nem legalmente, nem do ponto de vista econômico, pois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𝐶</m:t>
                    </m:r>
                    <m:r>
                      <a:rPr>
                        <a:latin typeface="Cambria Math" panose="02040503050406030204" pitchFamily="18" charset="0"/>
                      </a:rPr>
                      <m:t>−</m:t>
                    </m:r>
                    <m:r>
                      <a:rPr>
                        <a:latin typeface="Cambria Math" panose="02040503050406030204" pitchFamily="18" charset="0"/>
                      </a:rPr>
                      <m:t>𝐿</m:t>
                    </m:r>
                    <m:r>
                      <a:rPr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t>, em geral, isto é, o seu valor se mantém constante ou até aumenta (Machline 1966, 58).</a:t>
                </a:r>
              </a:p>
              <a:p>
                <a:pPr lvl="0"/>
                <a:r>
                  <a:t>Você compra a casa?</a:t>
                </a:r>
              </a:p>
              <a:p>
                <a:pPr lvl="0"/>
                <a:r>
                  <a:t>Despreze os custos de manutenção e outras taxas!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5C504-58F1-2318-F264-E17A9AABC7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O investimento em imóveis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5C504-58F1-2318-F264-E17A9AABC7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spcBef>
                    <a:spcPts val="3000"/>
                  </a:spcBef>
                  <a:buNone/>
                </a:pPr>
                <a:r>
                  <a:rPr b="1"/>
                  <a:t>A casa própria (2)</a:t>
                </a:r>
              </a:p>
              <a:p>
                <a:pPr lvl="0"/>
                <a:r>
                  <a:t>Solução: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𝐹𝑅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𝐹𝑅𝐶</m:t>
                    </m:r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%−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%,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30</m:t>
                        </m:r>
                      </m:e>
                    </m:d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%.</m:t>
                        </m:r>
                        <m:sSup>
                          <m:sSup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e>
                            </m:d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30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e>
                            </m:d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30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==</m:t>
                    </m:r>
                    <m:r>
                      <a:rPr>
                        <a:latin typeface="Cambria Math" panose="02040503050406030204" pitchFamily="18" charset="0"/>
                      </a:rPr>
                      <m:t>0</m:t>
                    </m:r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r>
                      <a:rPr>
                        <a:latin typeface="Cambria Math" panose="02040503050406030204" pitchFamily="18" charset="0"/>
                      </a:rPr>
                      <m:t>08467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8</m:t>
                    </m:r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r>
                      <a:rPr>
                        <a:latin typeface="Cambria Math" panose="02040503050406030204" pitchFamily="18" charset="0"/>
                      </a:rPr>
                      <m:t>47</m:t>
                    </m:r>
                    <m:r>
                      <a:rPr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endParaRPr/>
              </a:p>
              <a:p>
                <a:pPr lvl="1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𝐹𝑅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𝐹𝑅𝐶</m:t>
                    </m:r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%+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%,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30</m:t>
                        </m:r>
                      </m:e>
                    </m:d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%.</m:t>
                        </m:r>
                        <m:sSup>
                          <m:sSup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e>
                            </m:d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30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e>
                            </m:d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30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0</m:t>
                    </m:r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r>
                      <a:rPr>
                        <a:latin typeface="Cambria Math" panose="02040503050406030204" pitchFamily="18" charset="0"/>
                      </a:rPr>
                      <m:t>1288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12</m:t>
                    </m:r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r>
                      <a:rPr>
                        <a:latin typeface="Cambria Math" panose="02040503050406030204" pitchFamily="18" charset="0"/>
                      </a:rPr>
                      <m:t>88</m:t>
                    </m:r>
                    <m:r>
                      <a:rPr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endParaRPr/>
              </a:p>
              <a:p>
                <a:pPr lvl="1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𝐹𝐶𝐴</m:t>
                    </m:r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%,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30</m:t>
                        </m:r>
                      </m:e>
                    </m:d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e>
                            </m:d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30</m:t>
                            </m:r>
                          </m:sup>
                        </m:sSup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0</m:t>
                    </m:r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r>
                      <a:rPr>
                        <a:latin typeface="Cambria Math" panose="02040503050406030204" pitchFamily="18" charset="0"/>
                      </a:rPr>
                      <m:t>0573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5</m:t>
                    </m:r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r>
                      <a:rPr>
                        <a:latin typeface="Cambria Math" panose="02040503050406030204" pitchFamily="18" charset="0"/>
                      </a:rPr>
                      <m:t>73</m:t>
                    </m:r>
                    <m:r>
                      <a:rPr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endParaRPr/>
              </a:p>
              <a:p>
                <a:pPr lvl="1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𝑉𝑃𝐿</m:t>
                    </m:r>
                    <m:r>
                      <a:rPr>
                        <a:latin typeface="Cambria Math" panose="02040503050406030204" pitchFamily="18" charset="0"/>
                      </a:rPr>
                      <m:t>=−</m:t>
                    </m:r>
                    <m:r>
                      <a:rPr>
                        <a:latin typeface="Cambria Math" panose="02040503050406030204" pitchFamily="18" charset="0"/>
                      </a:rPr>
                      <m:t>100</m:t>
                    </m:r>
                    <m:r>
                      <a:rPr>
                        <a:latin typeface="Cambria Math" panose="02040503050406030204" pitchFamily="18" charset="0"/>
                      </a:rPr>
                      <m:t>.</m:t>
                    </m:r>
                    <m:r>
                      <a:rPr>
                        <a:latin typeface="Cambria Math" panose="02040503050406030204" pitchFamily="18" charset="0"/>
                      </a:rPr>
                      <m:t>000</m:t>
                    </m:r>
                    <m:r>
                      <a:rPr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.</m:t>
                        </m:r>
                        <m:d>
                          <m:d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000</m:t>
                            </m:r>
                          </m:e>
                        </m:d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47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%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.</m:t>
                        </m:r>
                        <m:d>
                          <m:d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000</m:t>
                            </m:r>
                          </m:e>
                        </m:d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88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%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+</m:t>
                    </m:r>
                    <m:r>
                      <a:rPr>
                        <a:latin typeface="Cambria Math" panose="02040503050406030204" pitchFamily="18" charset="0"/>
                      </a:rPr>
                      <m:t>20</m:t>
                    </m:r>
                    <m:r>
                      <a:rPr>
                        <a:latin typeface="Cambria Math" panose="02040503050406030204" pitchFamily="18" charset="0"/>
                      </a:rPr>
                      <m:t>%.</m:t>
                    </m:r>
                    <m:r>
                      <a:rPr>
                        <a:latin typeface="Cambria Math" panose="02040503050406030204" pitchFamily="18" charset="0"/>
                      </a:rPr>
                      <m:t>500</m:t>
                    </m:r>
                    <m:r>
                      <a:rPr>
                        <a:latin typeface="Cambria Math" panose="02040503050406030204" pitchFamily="18" charset="0"/>
                      </a:rPr>
                      <m:t>.</m:t>
                    </m:r>
                    <m:r>
                      <a:rPr>
                        <a:latin typeface="Cambria Math" panose="02040503050406030204" pitchFamily="18" charset="0"/>
                      </a:rPr>
                      <m:t>000</m:t>
                    </m:r>
                    <m:r>
                      <a:rPr>
                        <a:latin typeface="Cambria Math" panose="02040503050406030204" pitchFamily="18" charset="0"/>
                      </a:rPr>
                      <m:t>.</m:t>
                    </m:r>
                    <m:r>
                      <a:rPr>
                        <a:latin typeface="Cambria Math" panose="02040503050406030204" pitchFamily="18" charset="0"/>
                      </a:rPr>
                      <m:t>5</m:t>
                    </m:r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r>
                      <a:rPr>
                        <a:latin typeface="Cambria Math" panose="02040503050406030204" pitchFamily="18" charset="0"/>
                      </a:rPr>
                      <m:t>73</m:t>
                    </m:r>
                    <m:r>
                      <a:rPr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endParaRPr/>
              </a:p>
              <a:p>
                <a:pPr lvl="1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𝑉𝑃𝐿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100</m:t>
                    </m:r>
                    <m:r>
                      <a:rPr>
                        <a:latin typeface="Cambria Math" panose="02040503050406030204" pitchFamily="18" charset="0"/>
                      </a:rPr>
                      <m:t>.</m:t>
                    </m:r>
                    <m:r>
                      <a:rPr>
                        <a:latin typeface="Cambria Math" panose="02040503050406030204" pitchFamily="18" charset="0"/>
                      </a:rPr>
                      <m:t>000</m:t>
                    </m:r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r>
                      <a:rPr>
                        <a:latin typeface="Cambria Math" panose="02040503050406030204" pitchFamily="18" charset="0"/>
                      </a:rPr>
                      <m:t>00</m:t>
                    </m:r>
                    <m:r>
                      <a:rPr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48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000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47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%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000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88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%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+</m:t>
                    </m:r>
                    <m:r>
                      <a:rPr>
                        <a:latin typeface="Cambria Math" panose="02040503050406030204" pitchFamily="18" charset="0"/>
                      </a:rPr>
                      <m:t>100</m:t>
                    </m:r>
                    <m:r>
                      <a:rPr>
                        <a:latin typeface="Cambria Math" panose="02040503050406030204" pitchFamily="18" charset="0"/>
                      </a:rPr>
                      <m:t>.</m:t>
                    </m:r>
                    <m:r>
                      <a:rPr>
                        <a:latin typeface="Cambria Math" panose="02040503050406030204" pitchFamily="18" charset="0"/>
                      </a:rPr>
                      <m:t>000</m:t>
                    </m:r>
                    <m:r>
                      <a:rPr>
                        <a:latin typeface="Cambria Math" panose="02040503050406030204" pitchFamily="18" charset="0"/>
                      </a:rPr>
                      <m:t>.</m:t>
                    </m:r>
                    <m:r>
                      <a:rPr>
                        <a:latin typeface="Cambria Math" panose="02040503050406030204" pitchFamily="18" charset="0"/>
                      </a:rPr>
                      <m:t>5</m:t>
                    </m:r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r>
                      <a:rPr>
                        <a:latin typeface="Cambria Math" panose="02040503050406030204" pitchFamily="18" charset="0"/>
                      </a:rPr>
                      <m:t>73</m:t>
                    </m:r>
                    <m:r>
                      <a:rPr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endParaRPr/>
              </a:p>
              <a:p>
                <a:pPr lvl="1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𝑉𝑃𝐿</m:t>
                    </m:r>
                    <m:r>
                      <a:rPr>
                        <a:latin typeface="Cambria Math" panose="02040503050406030204" pitchFamily="18" charset="0"/>
                      </a:rPr>
                      <m:t>=−</m:t>
                    </m:r>
                    <m:r>
                      <a:rPr>
                        <a:latin typeface="Cambria Math" panose="02040503050406030204" pitchFamily="18" charset="0"/>
                      </a:rPr>
                      <m:t>100</m:t>
                    </m:r>
                    <m:r>
                      <a:rPr>
                        <a:latin typeface="Cambria Math" panose="02040503050406030204" pitchFamily="18" charset="0"/>
                      </a:rPr>
                      <m:t>.</m:t>
                    </m:r>
                    <m:r>
                      <a:rPr>
                        <a:latin typeface="Cambria Math" panose="02040503050406030204" pitchFamily="18" charset="0"/>
                      </a:rPr>
                      <m:t>000</m:t>
                    </m:r>
                    <m:r>
                      <a:rPr>
                        <a:latin typeface="Cambria Math" panose="02040503050406030204" pitchFamily="18" charset="0"/>
                      </a:rPr>
                      <m:t>+</m:t>
                    </m:r>
                    <m:r>
                      <a:rPr>
                        <a:latin typeface="Cambria Math" panose="02040503050406030204" pitchFamily="18" charset="0"/>
                      </a:rPr>
                      <m:t>566</m:t>
                    </m:r>
                    <m:r>
                      <a:rPr>
                        <a:latin typeface="Cambria Math" panose="02040503050406030204" pitchFamily="18" charset="0"/>
                      </a:rPr>
                      <m:t>.</m:t>
                    </m:r>
                    <m:r>
                      <a:rPr>
                        <a:latin typeface="Cambria Math" panose="02040503050406030204" pitchFamily="18" charset="0"/>
                      </a:rPr>
                      <m:t>706</m:t>
                    </m:r>
                    <m:r>
                      <a:rPr>
                        <a:latin typeface="Cambria Math" panose="02040503050406030204" pitchFamily="18" charset="0"/>
                      </a:rPr>
                      <m:t>−</m:t>
                    </m:r>
                    <m:r>
                      <a:rPr>
                        <a:latin typeface="Cambria Math" panose="02040503050406030204" pitchFamily="18" charset="0"/>
                      </a:rPr>
                      <m:t>465</m:t>
                    </m:r>
                    <m:r>
                      <a:rPr>
                        <a:latin typeface="Cambria Math" panose="02040503050406030204" pitchFamily="18" charset="0"/>
                      </a:rPr>
                      <m:t>.</m:t>
                    </m:r>
                    <m:r>
                      <a:rPr>
                        <a:latin typeface="Cambria Math" panose="02040503050406030204" pitchFamily="18" charset="0"/>
                      </a:rPr>
                      <m:t>838</m:t>
                    </m:r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r>
                      <a:rPr>
                        <a:latin typeface="Cambria Math" panose="02040503050406030204" pitchFamily="18" charset="0"/>
                      </a:rPr>
                      <m:t>50</m:t>
                    </m:r>
                    <m:r>
                      <a:rPr>
                        <a:latin typeface="Cambria Math" panose="02040503050406030204" pitchFamily="18" charset="0"/>
                      </a:rPr>
                      <m:t>+</m:t>
                    </m:r>
                    <m:r>
                      <a:rPr>
                        <a:latin typeface="Cambria Math" panose="02040503050406030204" pitchFamily="18" charset="0"/>
                      </a:rPr>
                      <m:t>5</m:t>
                    </m:r>
                    <m:r>
                      <a:rPr>
                        <a:latin typeface="Cambria Math" panose="02040503050406030204" pitchFamily="18" charset="0"/>
                      </a:rPr>
                      <m:t>.</m:t>
                    </m:r>
                    <m:r>
                      <a:rPr>
                        <a:latin typeface="Cambria Math" panose="02040503050406030204" pitchFamily="18" charset="0"/>
                      </a:rPr>
                      <m:t>730</m:t>
                    </m:r>
                  </m:oMath>
                </a14:m>
                <a:endParaRPr/>
              </a:p>
              <a:p>
                <a:pPr lvl="1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𝑉𝑃𝐿</m:t>
                    </m:r>
                    <m:r>
                      <a:rPr>
                        <a:latin typeface="Cambria Math" panose="02040503050406030204" pitchFamily="18" charset="0"/>
                      </a:rPr>
                      <m:t>≈</m:t>
                    </m:r>
                    <m:r>
                      <a:rPr>
                        <a:latin typeface="Cambria Math" panose="02040503050406030204" pitchFamily="18" charset="0"/>
                      </a:rPr>
                      <m:t>6</m:t>
                    </m:r>
                    <m:r>
                      <a:rPr>
                        <a:latin typeface="Cambria Math" panose="02040503050406030204" pitchFamily="18" charset="0"/>
                      </a:rPr>
                      <m:t>.</m:t>
                    </m:r>
                    <m:r>
                      <a:rPr>
                        <a:latin typeface="Cambria Math" panose="02040503050406030204" pitchFamily="18" charset="0"/>
                      </a:rPr>
                      <m:t>600</m:t>
                    </m:r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r>
                      <a:rPr>
                        <a:latin typeface="Cambria Math" panose="02040503050406030204" pitchFamily="18" charset="0"/>
                      </a:rPr>
                      <m:t>00</m:t>
                    </m:r>
                  </m:oMath>
                </a14:m>
                <a:endParaRPr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5C504-58F1-2318-F264-E17A9AABC7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41" b="-1789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O investimento em imóveis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5C504-58F1-2318-F264-E17A9AABC7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spcBef>
                    <a:spcPts val="3000"/>
                  </a:spcBef>
                  <a:buNone/>
                </a:pPr>
                <a:r>
                  <a:rPr b="1"/>
                  <a:t>Levando em conta a inflação</a:t>
                </a:r>
              </a:p>
              <a:p>
                <a:pPr lvl="0"/>
                <a:r>
                  <a:t>Segundo Machline (1966, 73):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𝑖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endParaRPr/>
              </a:p>
              <a:p>
                <a:pPr lvl="2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t> é a taxa real de juros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t> é a taxa aparente de juros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t> é a taxa de inflação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5C504-58F1-2318-F264-E17A9AABC7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O investimento em imóveis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5C504-58F1-2318-F264-E17A9AABC7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spcBef>
                    <a:spcPts val="3000"/>
                  </a:spcBef>
                  <a:buNone/>
                </a:pPr>
                <a:r>
                  <a:rPr b="1"/>
                  <a:t>Levando em conta a inflação</a:t>
                </a:r>
              </a:p>
              <a:p>
                <a:pPr lvl="0"/>
                <a:r>
                  <a:t>Exemplo (Machline 1966, 78):</a:t>
                </a:r>
              </a:p>
              <a:p>
                <a:pPr lvl="1"/>
                <a:r>
                  <a:t>Aquisição de um terreno: R$ 5000.000,00 (1960)</a:t>
                </a:r>
              </a:p>
              <a:p>
                <a:pPr lvl="1"/>
                <a:r>
                  <a:t>Venda do terreno: R$ 45.000.000,00 (1964)</a:t>
                </a:r>
              </a:p>
              <a:p>
                <a:pPr lvl="1"/>
                <a:r>
                  <a:t>Dado que a taxa de inflação foi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𝑑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50</m:t>
                    </m:r>
                    <m:r>
                      <a:rPr>
                        <a:latin typeface="Cambria Math" panose="02040503050406030204" pitchFamily="18" charset="0"/>
                      </a:rPr>
                      <m:t>%</m:t>
                    </m:r>
                    <m:r>
                      <m:rPr>
                        <m:nor/>
                      </m:rPr>
                      <a:rPr/>
                      <m:t> </m:t>
                    </m:r>
                    <m:r>
                      <m:rPr>
                        <m:nor/>
                      </m:rPr>
                      <a:rPr/>
                      <m:t>a</m:t>
                    </m:r>
                    <m:r>
                      <m:rPr>
                        <m:nor/>
                      </m:rPr>
                      <a:rPr/>
                      <m:t>.</m:t>
                    </m:r>
                    <m:r>
                      <m:rPr>
                        <m:nor/>
                      </m:rPr>
                      <a:rPr/>
                      <m:t>a</m:t>
                    </m:r>
                    <m:r>
                      <m:rPr>
                        <m:nor/>
                      </m:rPr>
                      <a:rPr/>
                      <m:t>.</m:t>
                    </m:r>
                  </m:oMath>
                </a14:m>
                <a:r>
                  <a:t>, qual o retorno real?</a:t>
                </a:r>
              </a:p>
              <a:p>
                <a:pPr lvl="1"/>
                <a:r>
                  <a:t>Solução:</a:t>
                </a:r>
              </a:p>
              <a:p>
                <a:pPr lvl="2"/>
                <a:r>
                  <a:t>Taxa aparente: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𝑒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45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000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000</m:t>
                            </m:r>
                          </m:e>
                        </m:d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−</m:t>
                    </m:r>
                    <m:r>
                      <a:rPr>
                        <a:latin typeface="Cambria Math" panose="02040503050406030204" pitchFamily="18" charset="0"/>
                      </a:rPr>
                      <m:t>1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73</m:t>
                    </m:r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r>
                      <a:rPr>
                        <a:latin typeface="Cambria Math" panose="02040503050406030204" pitchFamily="18" charset="0"/>
                      </a:rPr>
                      <m:t>2</m:t>
                    </m:r>
                    <m:r>
                      <a:rPr>
                        <a:latin typeface="Cambria Math" panose="02040503050406030204" pitchFamily="18" charset="0"/>
                      </a:rPr>
                      <m:t>%</m:t>
                    </m:r>
                    <m:r>
                      <m:rPr>
                        <m:nor/>
                      </m:rPr>
                      <a:rPr/>
                      <m:t> </m:t>
                    </m:r>
                    <m:r>
                      <m:rPr>
                        <m:nor/>
                      </m:rPr>
                      <a:rPr/>
                      <m:t>a</m:t>
                    </m:r>
                    <m:r>
                      <m:rPr>
                        <m:nor/>
                      </m:rPr>
                      <a:rPr/>
                      <m:t>.</m:t>
                    </m:r>
                    <m:r>
                      <m:rPr>
                        <m:nor/>
                      </m:rPr>
                      <a:rPr/>
                      <m:t>a</m:t>
                    </m:r>
                    <m:r>
                      <m:rPr>
                        <m:nor/>
                      </m:rPr>
                      <a:rPr/>
                      <m:t>.</m:t>
                    </m:r>
                  </m:oMath>
                </a14:m>
                <a:endParaRPr/>
              </a:p>
              <a:p>
                <a:pPr lvl="2"/>
                <a:r>
                  <a:t>Taxa real: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𝑖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732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232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15</m:t>
                    </m:r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r>
                      <a:rPr>
                        <a:latin typeface="Cambria Math" panose="02040503050406030204" pitchFamily="18" charset="0"/>
                      </a:rPr>
                      <m:t>5</m:t>
                    </m:r>
                    <m:r>
                      <a:rPr>
                        <a:latin typeface="Cambria Math" panose="02040503050406030204" pitchFamily="18" charset="0"/>
                      </a:rPr>
                      <m:t>%</m:t>
                    </m:r>
                    <m:r>
                      <m:rPr>
                        <m:nor/>
                      </m:rPr>
                      <a:rPr/>
                      <m:t> </m:t>
                    </m:r>
                    <m:r>
                      <m:rPr>
                        <m:nor/>
                      </m:rPr>
                      <a:rPr/>
                      <m:t>a</m:t>
                    </m:r>
                    <m:r>
                      <m:rPr>
                        <m:nor/>
                      </m:rPr>
                      <a:rPr/>
                      <m:t>.</m:t>
                    </m:r>
                    <m:r>
                      <m:rPr>
                        <m:nor/>
                      </m:rPr>
                      <a:rPr/>
                      <m:t>a</m:t>
                    </m:r>
                    <m:r>
                      <m:rPr>
                        <m:nor/>
                      </m:rPr>
                      <a:rPr/>
                      <m:t>.</m:t>
                    </m:r>
                  </m:oMath>
                </a14:m>
                <a:endParaRPr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5C504-58F1-2318-F264-E17A9AABC7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O investimento em imóveis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5C504-58F1-2318-F264-E17A9AABC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Deve-se levar em conta que cada pequeno ajuste, seja na taxa, seja na renda esperada, leva a grandes diferenças no valor do imóvel!</a:t>
            </a:r>
          </a:p>
          <a:p>
            <a:pPr lvl="1"/>
            <a:r>
              <a:t>Isto é esperado, porque o fluxo de caixa é muito extenso!</a:t>
            </a:r>
          </a:p>
          <a:p>
            <a:pPr lvl="0"/>
            <a:r>
              <a:t>Se a sensibilidade é alta, o que isso significa?</a:t>
            </a:r>
          </a:p>
          <a:p>
            <a:pPr lvl="1"/>
            <a:r>
              <a:t>Que o risco do investimento é alto!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Aparte: Administração de carteiras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5C504-58F1-2318-F264-E17A9AABC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No mercado de capitais existe um almoço grátis: a diversificação!</a:t>
            </a:r>
          </a:p>
          <a:p>
            <a:pPr lvl="0"/>
            <a:r>
              <a:t>Sejam dois ativos, A e B:</a:t>
            </a:r>
          </a:p>
          <a:p>
            <a:pPr lvl="1"/>
            <a:r>
              <a:t>Ambos tem preço de aquisição, na data 0, igual a 100;</a:t>
            </a:r>
          </a:p>
          <a:p>
            <a:pPr lvl="1"/>
            <a:r>
              <a:t>O investidor adquire R$ 500.000,00 em ativos, sendo 50% do ativo A e 50% do ativo B</a:t>
            </a:r>
          </a:p>
          <a:p>
            <a:pPr lvl="1"/>
            <a:r>
              <a:t>No ano 1, o ativo A valoriza 50%, enquanto o ativo B desvaloriza 50%</a:t>
            </a:r>
          </a:p>
          <a:p>
            <a:pPr lvl="1"/>
            <a:r>
              <a:t>Ao final do primeiro ano, o investidor faz o rebalanceamento da carteira</a:t>
            </a:r>
          </a:p>
          <a:p>
            <a:pPr lvl="1"/>
            <a:r>
              <a:t>No ano 2, o ativo A desvaloriza 33,333% e o ativo B valoriza 100%</a:t>
            </a:r>
          </a:p>
          <a:p>
            <a:pPr lvl="1"/>
            <a:r>
              <a:t>Calcule o valor da carteira ao fim do segundo período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Aparte: Administração de carteiras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5C504-58F1-2318-F264-E17A9AABC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Solução:</a:t>
            </a:r>
          </a:p>
          <a:p>
            <a:pPr lvl="0"/>
            <a:r>
              <a:t>É possível fazer isto no mercado imobiliário?</a:t>
            </a:r>
          </a:p>
          <a:p>
            <a:pPr lvl="1"/>
            <a:r>
              <a:t>Não, devido aos altos custos de transação!</a:t>
            </a:r>
          </a:p>
          <a:p>
            <a:pPr lvl="1"/>
            <a:r>
              <a:t>Mercado imobiliário não é um mercado perfeito!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09A65-87C6-A0D0-64A7-121C4D105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1080656"/>
            <a:ext cx="4337050" cy="3481820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Aplicações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Método da Renda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2184400"/>
          <a:ext cx="105156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Área (m2)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Aluguel (R$/mês)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Preco de Venda (R$)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Vacância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Despesas Operacionais (R$)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580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70.000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640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80.000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610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75.000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550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71.500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625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77.000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630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71.000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75.000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838200" y="5664200"/>
            <a:ext cx="10515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Exemplo Método da Renda. Fonte: Apostila Prof. Norberto.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5C504-58F1-2318-F264-E17A9AABC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Calcular: valor de mercado de um imóvel com aluguel de R$ 600,00.</a:t>
            </a:r>
          </a:p>
          <a:p>
            <a:pPr lvl="0"/>
            <a:r>
              <a:t>Considerar:</a:t>
            </a:r>
          </a:p>
          <a:p>
            <a:pPr lvl="1"/>
            <a:r>
              <a:t>Taxa de Vacância: 7%; Despesas Operacionais: R$ 125,00/mês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Método da Renda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2184400"/>
          <a:ext cx="104648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8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8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8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8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08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08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081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Área (m2)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Aluguel (R$/mês)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Preco de Venda (R$)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Vacância (R$)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Despesas Operacionais (R$)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Renda Líquida (R$)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Rentabilidade (%)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580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70.000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40,60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429,40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0,61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640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80.000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51,20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468,80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0,59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610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75.000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48,80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436,20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0,58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550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71.500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27,50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387,50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0,54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625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77.000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43,75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461,25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0,60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630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71.000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50,40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449,60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0,63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75.000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36,00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434,00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0,58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838200" y="5664200"/>
            <a:ext cx="10515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Exemplo Método da Renda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5C504-58F1-2318-F264-E17A9AABC7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lang="pt-BR" dirty="0"/>
                  <a:t>Rentabilidade </a:t>
                </a:r>
                <a:r>
                  <a:rPr lang="pt-BR" dirty="0" err="1"/>
                  <a:t>média</a:t>
                </a:r>
                <a:r>
                  <a:rPr lang="pt-BR" dirty="0"/>
                  <a:t>: 0,59% a.m.</a:t>
                </a:r>
              </a:p>
              <a:p>
                <a:pPr lvl="0"/>
                <a:r>
                  <a:rPr lang="pt-BR" dirty="0"/>
                  <a:t>Valor da </a:t>
                </a:r>
                <a:r>
                  <a:rPr lang="pt-BR" dirty="0" err="1"/>
                  <a:t>Vacância</a:t>
                </a:r>
                <a:r>
                  <a:rPr lang="pt-BR" dirty="0"/>
                  <a:t>: 7%*600 = R$ 42,00 /</a:t>
                </a:r>
                <a:r>
                  <a:rPr lang="pt-BR" dirty="0" err="1"/>
                  <a:t>mês</a:t>
                </a:r>
                <a:endParaRPr lang="pt-BR" dirty="0"/>
              </a:p>
              <a:p>
                <a:pPr lvl="0"/>
                <a:r>
                  <a:rPr lang="pt-BR" dirty="0" err="1"/>
                  <a:t>Despesas</a:t>
                </a:r>
                <a:r>
                  <a:rPr lang="pt-BR" dirty="0"/>
                  <a:t>: R$ 125,00/</a:t>
                </a:r>
                <a:r>
                  <a:rPr lang="pt-BR" dirty="0" err="1"/>
                  <a:t>mês</a:t>
                </a:r>
                <a:endParaRPr lang="pt-BR" dirty="0"/>
              </a:p>
              <a:p>
                <a:pPr lvl="0"/>
                <a:r>
                  <a:rPr lang="pt-BR" dirty="0"/>
                  <a:t>Valor do </a:t>
                </a:r>
                <a:r>
                  <a:rPr lang="pt-BR" dirty="0" err="1"/>
                  <a:t>imóvel</a:t>
                </a:r>
                <a:r>
                  <a:rPr lang="pt-BR" dirty="0"/>
                  <a:t>:</a:t>
                </a: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𝑖𝑚𝑜𝑣𝑒𝑙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600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42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125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59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%</m:t>
                        </m:r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pt-BR"/>
                      <m:t>R</m:t>
                    </m:r>
                    <m:r>
                      <m:rPr>
                        <m:nor/>
                      </m:rPr>
                      <a:rPr lang="pt-BR"/>
                      <m:t>$</m:t>
                    </m:r>
                    <m:r>
                      <a:rPr lang="pt-BR">
                        <a:latin typeface="Cambria Math" panose="02040503050406030204" pitchFamily="18" charset="0"/>
                      </a:rPr>
                      <m:t> </m:t>
                    </m:r>
                    <m:r>
                      <a:rPr lang="pt-BR" b="0" i="0" smtClean="0">
                        <a:latin typeface="Cambria Math" panose="02040503050406030204" pitchFamily="18" charset="0"/>
                      </a:rPr>
                      <m:t>73</m:t>
                    </m:r>
                    <m:r>
                      <a:rPr lang="pt-BR" b="0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pt-BR" b="0" i="0" smtClean="0">
                        <a:latin typeface="Cambria Math" panose="02040503050406030204" pitchFamily="18" charset="0"/>
                      </a:rPr>
                      <m:t>320</m:t>
                    </m:r>
                    <m:r>
                      <a:rPr lang="pt-BR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b="0" i="0" smtClean="0">
                        <a:latin typeface="Cambria Math" panose="02040503050406030204" pitchFamily="18" charset="0"/>
                      </a:rPr>
                      <m:t>00</m:t>
                    </m:r>
                  </m:oMath>
                </a14:m>
                <a:endParaRPr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5C504-58F1-2318-F264-E17A9AABC7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21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8FE57-6952-DCF2-0990-90E39B648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Método da Remuneração do Capital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A29933-B652-DA47-BFD3-9E7FA42D22D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lvl="0"/>
            <a:r>
              <a:t>Exemplo (D’Amato and Alonso 2019, 94):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6364863"/>
              </p:ext>
            </p:extLst>
          </p:nvPr>
        </p:nvGraphicFramePr>
        <p:xfrm>
          <a:off x="5181600" y="977900"/>
          <a:ext cx="61722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Preco de Venda (R$)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Aluguel (R$/mês)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420.000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2.000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450.000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2.800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320.000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1.400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260.000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1.250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460.000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2.700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690.000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4.000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650.000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3.800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380.000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1.240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550.000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3.300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560.000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3.500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420.000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2.500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320.000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1.800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430.000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2.500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290.000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 dirty="0"/>
                        <a:t>1.300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8FE57-6952-DCF2-0990-90E39B648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Método da Remuneração do Capital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A29933-B652-DA47-BFD3-9E7FA42D22D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lvl="0"/>
            <a:r>
              <a:t>Exemplo (D’Amato and Alonso 2019, 94):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421044"/>
              </p:ext>
            </p:extLst>
          </p:nvPr>
        </p:nvGraphicFramePr>
        <p:xfrm>
          <a:off x="5181600" y="977900"/>
          <a:ext cx="6159500" cy="527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1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1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1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1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Preco de Venda (R$)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Aluguel (R$/mês)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Taxa Mensal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Taxa Anual (%)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420.000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2.000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0,48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5,87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450.000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2.800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0,62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7,73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320.000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1.400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0,44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5,38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260.000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1.250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0,48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5,92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460.000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2.700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0,59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7,28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690.000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4.000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0,58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7,18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650.000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3.800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0,58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7,25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380.000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1.240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0,33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3,99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550.000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3.300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0,60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7,44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560.000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3.500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0,62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7,76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420.000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2.500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0,60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7,38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320.000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1.800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0,56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6,96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430.000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2.500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0,58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7,20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290.000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1.300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/>
                        <a:t>0,45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600" dirty="0"/>
                        <a:t>5,51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Método da Remuneração do Capital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5C504-58F1-2318-F264-E17A9AABC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6143"/>
            <a:ext cx="10515600" cy="4380819"/>
          </a:xfrm>
        </p:spPr>
        <p:txBody>
          <a:bodyPr/>
          <a:lstStyle/>
          <a:p>
            <a:pPr lvl="0" indent="0">
              <a:buNone/>
            </a:pPr>
            <a:r>
              <a:rPr sz="1600" dirty="0" err="1">
                <a:solidFill>
                  <a:srgbClr val="4758AB"/>
                </a:solidFill>
                <a:latin typeface="Courier"/>
              </a:rPr>
              <a:t>t.test</a:t>
            </a:r>
            <a:r>
              <a:rPr sz="1600" dirty="0">
                <a:solidFill>
                  <a:srgbClr val="003B4F"/>
                </a:solidFill>
                <a:latin typeface="Courier"/>
              </a:rPr>
              <a:t>(</a:t>
            </a:r>
            <a:r>
              <a:rPr sz="1600" dirty="0" err="1">
                <a:solidFill>
                  <a:srgbClr val="003B4F"/>
                </a:solidFill>
                <a:latin typeface="Courier"/>
              </a:rPr>
              <a:t>df</a:t>
            </a:r>
            <a:r>
              <a:rPr sz="1600" dirty="0" err="1">
                <a:solidFill>
                  <a:srgbClr val="5E5E5E"/>
                </a:solidFill>
                <a:latin typeface="Courier"/>
              </a:rPr>
              <a:t>$</a:t>
            </a:r>
            <a:r>
              <a:rPr sz="1600" dirty="0" err="1">
                <a:solidFill>
                  <a:srgbClr val="003B4F"/>
                </a:solidFill>
                <a:latin typeface="Courier"/>
              </a:rPr>
              <a:t>TaxaAnual</a:t>
            </a:r>
            <a:r>
              <a:rPr sz="1600" dirty="0">
                <a:solidFill>
                  <a:srgbClr val="003B4F"/>
                </a:solidFill>
                <a:latin typeface="Courier"/>
              </a:rPr>
              <a:t>, </a:t>
            </a:r>
            <a:r>
              <a:rPr sz="1600" dirty="0" err="1">
                <a:solidFill>
                  <a:srgbClr val="657422"/>
                </a:solidFill>
                <a:latin typeface="Courier"/>
              </a:rPr>
              <a:t>conf.level</a:t>
            </a:r>
            <a:r>
              <a:rPr sz="1600" dirty="0">
                <a:solidFill>
                  <a:srgbClr val="657422"/>
                </a:solidFill>
                <a:latin typeface="Courier"/>
              </a:rPr>
              <a:t> =</a:t>
            </a:r>
            <a:r>
              <a:rPr sz="1600" dirty="0">
                <a:solidFill>
                  <a:srgbClr val="003B4F"/>
                </a:solidFill>
                <a:latin typeface="Courier"/>
              </a:rPr>
              <a:t> .</a:t>
            </a:r>
            <a:r>
              <a:rPr sz="1600" dirty="0">
                <a:solidFill>
                  <a:srgbClr val="AD0000"/>
                </a:solidFill>
                <a:latin typeface="Courier"/>
              </a:rPr>
              <a:t>80</a:t>
            </a:r>
            <a:r>
              <a:rPr sz="1600" dirty="0"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 sz="1600" dirty="0">
                <a:latin typeface="Courier"/>
              </a:rPr>
              <a:t>
    One Sample t-test
data:  </a:t>
            </a:r>
            <a:r>
              <a:rPr sz="1600" dirty="0" err="1">
                <a:latin typeface="Courier"/>
              </a:rPr>
              <a:t>df$TaxaAnual</a:t>
            </a:r>
            <a:r>
              <a:rPr sz="1600" dirty="0">
                <a:latin typeface="Courier"/>
              </a:rPr>
              <a:t>
t = 22.276, </a:t>
            </a:r>
            <a:r>
              <a:rPr sz="1600" dirty="0" err="1">
                <a:latin typeface="Courier"/>
              </a:rPr>
              <a:t>df</a:t>
            </a:r>
            <a:r>
              <a:rPr sz="1600" dirty="0">
                <a:latin typeface="Courier"/>
              </a:rPr>
              <a:t> = 13, p-value = 9.712e-12
alternative hypothesis: true mean is not equal to 0
80 percent confidence interval:
 6.230468 7.034485
sample estimates:
mean of x </a:t>
            </a:r>
            <a:r>
              <a:rPr dirty="0">
                <a:latin typeface="Courier"/>
              </a:rPr>
              <a:t>
</a:t>
            </a:r>
            <a:r>
              <a:rPr sz="1600" dirty="0">
                <a:latin typeface="Courier"/>
              </a:rPr>
              <a:t> 6.632477 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Método da Remuneração do Capital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5C504-58F1-2318-F264-E17A9AABC7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t>Para avaliar um imóvel com VM de R$ 500.000,00: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𝐴𝑙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500</m:t>
                    </m:r>
                    <m:r>
                      <a:rPr>
                        <a:latin typeface="Cambria Math" panose="02040503050406030204" pitchFamily="18" charset="0"/>
                      </a:rPr>
                      <m:t>.</m:t>
                    </m:r>
                    <m:r>
                      <a:rPr>
                        <a:latin typeface="Cambria Math" panose="02040503050406030204" pitchFamily="18" charset="0"/>
                      </a:rPr>
                      <m:t>000</m:t>
                    </m:r>
                    <m:r>
                      <a:rPr>
                        <a:latin typeface="Cambria Math" panose="02040503050406030204" pitchFamily="18" charset="0"/>
                      </a:rPr>
                      <m:t>.</m:t>
                    </m:r>
                    <m:r>
                      <a:rPr>
                        <a:latin typeface="Cambria Math" panose="02040503050406030204" pitchFamily="18" charset="0"/>
                      </a:rPr>
                      <m:t>6</m:t>
                    </m:r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r>
                      <a:rPr>
                        <a:latin typeface="Cambria Math" panose="02040503050406030204" pitchFamily="18" charset="0"/>
                      </a:rPr>
                      <m:t>63</m:t>
                    </m:r>
                    <m:r>
                      <a:rPr>
                        <a:latin typeface="Cambria Math" panose="02040503050406030204" pitchFamily="18" charset="0"/>
                      </a:rPr>
                      <m:t>%/</m:t>
                    </m:r>
                    <m:r>
                      <a:rPr>
                        <a:latin typeface="Cambria Math" panose="02040503050406030204" pitchFamily="18" charset="0"/>
                      </a:rPr>
                      <m:t>12</m:t>
                    </m:r>
                    <m:r>
                      <a:rPr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t> R$ 2.750,00/mês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𝐴𝑙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500</m:t>
                    </m:r>
                    <m:r>
                      <a:rPr>
                        <a:latin typeface="Cambria Math" panose="02040503050406030204" pitchFamily="18" charset="0"/>
                      </a:rPr>
                      <m:t>.</m:t>
                    </m:r>
                    <m:r>
                      <a:rPr>
                        <a:latin typeface="Cambria Math" panose="02040503050406030204" pitchFamily="18" charset="0"/>
                      </a:rPr>
                      <m:t>000</m:t>
                    </m:r>
                    <m:r>
                      <a:rPr>
                        <a:latin typeface="Cambria Math" panose="02040503050406030204" pitchFamily="18" charset="0"/>
                      </a:rPr>
                      <m:t>.</m:t>
                    </m:r>
                    <m:r>
                      <a:rPr>
                        <a:latin typeface="Cambria Math" panose="02040503050406030204" pitchFamily="18" charset="0"/>
                      </a:rPr>
                      <m:t>6</m:t>
                    </m:r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r>
                      <a:rPr>
                        <a:latin typeface="Cambria Math" panose="02040503050406030204" pitchFamily="18" charset="0"/>
                      </a:rPr>
                      <m:t>23</m:t>
                    </m:r>
                    <m:r>
                      <a:rPr>
                        <a:latin typeface="Cambria Math" panose="02040503050406030204" pitchFamily="18" charset="0"/>
                      </a:rPr>
                      <m:t>%/</m:t>
                    </m:r>
                    <m:r>
                      <a:rPr>
                        <a:latin typeface="Cambria Math" panose="02040503050406030204" pitchFamily="18" charset="0"/>
                      </a:rPr>
                      <m:t>12</m:t>
                    </m:r>
                    <m:r>
                      <a:rPr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t> R$ 2.600,00/mês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𝐴𝑙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500</m:t>
                    </m:r>
                    <m:r>
                      <a:rPr>
                        <a:latin typeface="Cambria Math" panose="02040503050406030204" pitchFamily="18" charset="0"/>
                      </a:rPr>
                      <m:t>.</m:t>
                    </m:r>
                    <m:r>
                      <a:rPr>
                        <a:latin typeface="Cambria Math" panose="02040503050406030204" pitchFamily="18" charset="0"/>
                      </a:rPr>
                      <m:t>000</m:t>
                    </m:r>
                    <m:r>
                      <a:rPr>
                        <a:latin typeface="Cambria Math" panose="02040503050406030204" pitchFamily="18" charset="0"/>
                      </a:rPr>
                      <m:t>.</m:t>
                    </m:r>
                    <m:r>
                      <a:rPr>
                        <a:latin typeface="Cambria Math" panose="02040503050406030204" pitchFamily="18" charset="0"/>
                      </a:rPr>
                      <m:t>7</m:t>
                    </m:r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r>
                      <a:rPr>
                        <a:latin typeface="Cambria Math" panose="02040503050406030204" pitchFamily="18" charset="0"/>
                      </a:rPr>
                      <m:t>03</m:t>
                    </m:r>
                    <m:r>
                      <a:rPr>
                        <a:latin typeface="Cambria Math" panose="02040503050406030204" pitchFamily="18" charset="0"/>
                      </a:rPr>
                      <m:t>%/</m:t>
                    </m:r>
                    <m:r>
                      <a:rPr>
                        <a:latin typeface="Cambria Math" panose="02040503050406030204" pitchFamily="18" charset="0"/>
                      </a:rPr>
                      <m:t>12</m:t>
                    </m:r>
                    <m:r>
                      <a:rPr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t> R$ 2.900,00/mês</a:t>
                </a:r>
              </a:p>
              <a:p>
                <a:pPr lvl="0"/>
                <a:r>
                  <a:t>Valor locativo estimado: R$ 2.750,00 [2.600,00; 2.900,00]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5C504-58F1-2318-F264-E17A9AABC7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21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Método da Remuneração do Capital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5C504-58F1-2318-F264-E17A9AABC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8171"/>
            <a:ext cx="10515600" cy="4478791"/>
          </a:xfrm>
        </p:spPr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lang="pt-BR" sz="1600" b="1" dirty="0"/>
              <a:t>Em uma perícia, faça isto:</a:t>
            </a:r>
          </a:p>
          <a:p>
            <a:pPr lvl="0" indent="0">
              <a:buNone/>
            </a:pPr>
            <a:r>
              <a:rPr sz="1600" dirty="0" err="1">
                <a:solidFill>
                  <a:srgbClr val="4758AB"/>
                </a:solidFill>
                <a:latin typeface="Courier"/>
              </a:rPr>
              <a:t>t.test</a:t>
            </a:r>
            <a:r>
              <a:rPr sz="1600" dirty="0">
                <a:solidFill>
                  <a:srgbClr val="003B4F"/>
                </a:solidFill>
                <a:latin typeface="Courier"/>
              </a:rPr>
              <a:t>(</a:t>
            </a:r>
            <a:r>
              <a:rPr sz="1600" dirty="0" err="1">
                <a:solidFill>
                  <a:srgbClr val="003B4F"/>
                </a:solidFill>
                <a:latin typeface="Courier"/>
              </a:rPr>
              <a:t>df</a:t>
            </a:r>
            <a:r>
              <a:rPr sz="1600" dirty="0" err="1">
                <a:solidFill>
                  <a:srgbClr val="5E5E5E"/>
                </a:solidFill>
                <a:latin typeface="Courier"/>
              </a:rPr>
              <a:t>$</a:t>
            </a:r>
            <a:r>
              <a:rPr sz="1600" dirty="0" err="1">
                <a:solidFill>
                  <a:srgbClr val="003B4F"/>
                </a:solidFill>
                <a:latin typeface="Courier"/>
              </a:rPr>
              <a:t>TaxaMensal</a:t>
            </a:r>
            <a:r>
              <a:rPr sz="1600" dirty="0">
                <a:solidFill>
                  <a:srgbClr val="003B4F"/>
                </a:solidFill>
                <a:latin typeface="Courier"/>
              </a:rPr>
              <a:t>, </a:t>
            </a:r>
            <a:r>
              <a:rPr sz="1600" dirty="0" err="1">
                <a:solidFill>
                  <a:srgbClr val="657422"/>
                </a:solidFill>
                <a:latin typeface="Courier"/>
              </a:rPr>
              <a:t>conf.level</a:t>
            </a:r>
            <a:r>
              <a:rPr sz="1600" dirty="0">
                <a:solidFill>
                  <a:srgbClr val="657422"/>
                </a:solidFill>
                <a:latin typeface="Courier"/>
              </a:rPr>
              <a:t> =</a:t>
            </a:r>
            <a:r>
              <a:rPr sz="1600" dirty="0">
                <a:solidFill>
                  <a:srgbClr val="003B4F"/>
                </a:solidFill>
                <a:latin typeface="Courier"/>
              </a:rPr>
              <a:t> .</a:t>
            </a:r>
            <a:r>
              <a:rPr sz="1600" dirty="0">
                <a:solidFill>
                  <a:srgbClr val="AD0000"/>
                </a:solidFill>
                <a:latin typeface="Courier"/>
              </a:rPr>
              <a:t>80</a:t>
            </a:r>
            <a:r>
              <a:rPr sz="1600" dirty="0"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 sz="1600" dirty="0">
                <a:latin typeface="Courier"/>
              </a:rPr>
              <a:t>
    One Sample t-test
data:  </a:t>
            </a:r>
            <a:r>
              <a:rPr sz="1600" dirty="0" err="1">
                <a:latin typeface="Courier"/>
              </a:rPr>
              <a:t>df$TaxaMensal</a:t>
            </a:r>
            <a:r>
              <a:rPr sz="1600" dirty="0">
                <a:latin typeface="Courier"/>
              </a:rPr>
              <a:t>
t = 22.808, </a:t>
            </a:r>
            <a:r>
              <a:rPr sz="1600" dirty="0" err="1">
                <a:latin typeface="Courier"/>
              </a:rPr>
              <a:t>df</a:t>
            </a:r>
            <a:r>
              <a:rPr sz="1600" dirty="0">
                <a:latin typeface="Courier"/>
              </a:rPr>
              <a:t> = 13, p-value = 7.196e-12
alternative hypothesis: true mean is not equal to 0
80 percent confidence interval:
 0.5044509 0.5679332
sample estimates:
mean of x 
0.5361921 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Método da Remuneração do Capital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5C504-58F1-2318-F264-E17A9AABC7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t>Para avaliar um imóvel com VM de R$ 500.000,00: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𝐴𝑙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500</m:t>
                    </m:r>
                    <m:r>
                      <a:rPr>
                        <a:latin typeface="Cambria Math" panose="02040503050406030204" pitchFamily="18" charset="0"/>
                      </a:rPr>
                      <m:t>.</m:t>
                    </m:r>
                    <m:r>
                      <a:rPr>
                        <a:latin typeface="Cambria Math" panose="02040503050406030204" pitchFamily="18" charset="0"/>
                      </a:rPr>
                      <m:t>000</m:t>
                    </m:r>
                    <m:r>
                      <a:rPr>
                        <a:latin typeface="Cambria Math" panose="02040503050406030204" pitchFamily="18" charset="0"/>
                      </a:rPr>
                      <m:t>.</m:t>
                    </m:r>
                    <m:r>
                      <a:rPr>
                        <a:latin typeface="Cambria Math" panose="02040503050406030204" pitchFamily="18" charset="0"/>
                      </a:rPr>
                      <m:t>0</m:t>
                    </m:r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r>
                      <a:rPr>
                        <a:latin typeface="Cambria Math" panose="02040503050406030204" pitchFamily="18" charset="0"/>
                      </a:rPr>
                      <m:t>54</m:t>
                    </m:r>
                    <m:r>
                      <a:rPr>
                        <a:latin typeface="Cambria Math" panose="02040503050406030204" pitchFamily="18" charset="0"/>
                      </a:rPr>
                      <m:t>%≈</m:t>
                    </m:r>
                  </m:oMath>
                </a14:m>
                <a:r>
                  <a:t> R$ 2.700,00/mês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𝐴𝑙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500</m:t>
                    </m:r>
                    <m:r>
                      <a:rPr>
                        <a:latin typeface="Cambria Math" panose="02040503050406030204" pitchFamily="18" charset="0"/>
                      </a:rPr>
                      <m:t>.</m:t>
                    </m:r>
                    <m:r>
                      <a:rPr>
                        <a:latin typeface="Cambria Math" panose="02040503050406030204" pitchFamily="18" charset="0"/>
                      </a:rPr>
                      <m:t>000</m:t>
                    </m:r>
                    <m:r>
                      <a:rPr>
                        <a:latin typeface="Cambria Math" panose="02040503050406030204" pitchFamily="18" charset="0"/>
                      </a:rPr>
                      <m:t>.</m:t>
                    </m:r>
                    <m:r>
                      <a:rPr>
                        <a:latin typeface="Cambria Math" panose="02040503050406030204" pitchFamily="18" charset="0"/>
                      </a:rPr>
                      <m:t>0</m:t>
                    </m:r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r>
                      <a:rPr>
                        <a:latin typeface="Cambria Math" panose="02040503050406030204" pitchFamily="18" charset="0"/>
                      </a:rPr>
                      <m:t>50</m:t>
                    </m:r>
                    <m:r>
                      <a:rPr>
                        <a:latin typeface="Cambria Math" panose="02040503050406030204" pitchFamily="18" charset="0"/>
                      </a:rPr>
                      <m:t>%≈</m:t>
                    </m:r>
                  </m:oMath>
                </a14:m>
                <a:r>
                  <a:t> R$ 2.500,00/mês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𝐴𝑙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500</m:t>
                    </m:r>
                    <m:r>
                      <a:rPr>
                        <a:latin typeface="Cambria Math" panose="02040503050406030204" pitchFamily="18" charset="0"/>
                      </a:rPr>
                      <m:t>.</m:t>
                    </m:r>
                    <m:r>
                      <a:rPr>
                        <a:latin typeface="Cambria Math" panose="02040503050406030204" pitchFamily="18" charset="0"/>
                      </a:rPr>
                      <m:t>000</m:t>
                    </m:r>
                    <m:r>
                      <a:rPr>
                        <a:latin typeface="Cambria Math" panose="02040503050406030204" pitchFamily="18" charset="0"/>
                      </a:rPr>
                      <m:t>.</m:t>
                    </m:r>
                    <m:r>
                      <a:rPr>
                        <a:latin typeface="Cambria Math" panose="02040503050406030204" pitchFamily="18" charset="0"/>
                      </a:rPr>
                      <m:t>0</m:t>
                    </m:r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r>
                      <a:rPr>
                        <a:latin typeface="Cambria Math" panose="02040503050406030204" pitchFamily="18" charset="0"/>
                      </a:rPr>
                      <m:t>57</m:t>
                    </m:r>
                    <m:r>
                      <a:rPr>
                        <a:latin typeface="Cambria Math" panose="02040503050406030204" pitchFamily="18" charset="0"/>
                      </a:rPr>
                      <m:t>%≈</m:t>
                    </m:r>
                  </m:oMath>
                </a14:m>
                <a:r>
                  <a:t> R$ 2.850,00/mês</a:t>
                </a:r>
              </a:p>
              <a:p>
                <a:pPr lvl="0"/>
                <a:r>
                  <a:t>Valor locativo: R$ 2.700,00 [2.500,00; 2.800,00]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5C504-58F1-2318-F264-E17A9AABC7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21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8FE57-6952-DCF2-0990-90E39B648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Método da Remuneração do Capital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A29933-B652-DA47-BFD3-9E7FA42D22D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lvl="0"/>
            <a:r>
              <a:t>Mesmos dados de D’Amato and Alonso (2019), p. 94:</a:t>
            </a:r>
          </a:p>
        </p:txBody>
      </p:sp>
      <p:pic>
        <p:nvPicPr>
          <p:cNvPr id="3" name="Picture 1" descr="01_files/figure-pptx/unnamed-chunk-11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81600" y="1866900"/>
            <a:ext cx="6172200" cy="3086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5C504-58F1-2318-F264-E17A9AABC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fit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(Aluguel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PrecoVenda,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df)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predict</a:t>
            </a:r>
            <a:r>
              <a:rPr>
                <a:solidFill>
                  <a:srgbClr val="003B4F"/>
                </a:solidFill>
                <a:latin typeface="Courier"/>
              </a:rPr>
              <a:t>(fit, </a:t>
            </a:r>
            <a:r>
              <a:rPr>
                <a:solidFill>
                  <a:srgbClr val="657422"/>
                </a:solidFill>
                <a:latin typeface="Courier"/>
              </a:rPr>
              <a:t>newdata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list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PrecoVenda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500000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657422"/>
                </a:solidFill>
                <a:latin typeface="Courier"/>
              </a:rPr>
              <a:t>interval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"confidence"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level =</a:t>
            </a:r>
            <a:r>
              <a:rPr>
                <a:solidFill>
                  <a:srgbClr val="003B4F"/>
                </a:solidFill>
                <a:latin typeface="Courier"/>
              </a:rPr>
              <a:t> .</a:t>
            </a:r>
            <a:r>
              <a:rPr>
                <a:solidFill>
                  <a:srgbClr val="AD0000"/>
                </a:solidFill>
                <a:latin typeface="Courier"/>
              </a:rPr>
              <a:t>80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fit      lwr      upr
1 2840.258 2723.016 2957.501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8FE57-6952-DCF2-0990-90E39B648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Método da Remuneração do Capital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A29933-B652-DA47-BFD3-9E7FA42D22D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lvl="0"/>
            <a:r>
              <a:t>Mesmos dados, passando pela origem:</a:t>
            </a:r>
          </a:p>
        </p:txBody>
      </p:sp>
      <p:pic>
        <p:nvPicPr>
          <p:cNvPr id="3" name="Picture 1" descr="01_files/figure-pptx/unnamed-chunk-13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81600" y="1866900"/>
            <a:ext cx="6172200" cy="3086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5C504-58F1-2318-F264-E17A9AABC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fit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(Aluguel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PrecoVenda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df)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predict</a:t>
            </a:r>
            <a:r>
              <a:rPr>
                <a:solidFill>
                  <a:srgbClr val="003B4F"/>
                </a:solidFill>
                <a:latin typeface="Courier"/>
              </a:rPr>
              <a:t>(fit, </a:t>
            </a:r>
            <a:r>
              <a:rPr>
                <a:solidFill>
                  <a:srgbClr val="657422"/>
                </a:solidFill>
                <a:latin typeface="Courier"/>
              </a:rPr>
              <a:t>newdata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list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PrecoVenda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500000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657422"/>
                </a:solidFill>
                <a:latin typeface="Courier"/>
              </a:rPr>
              <a:t>interval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"confidence"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level =</a:t>
            </a:r>
            <a:r>
              <a:rPr>
                <a:solidFill>
                  <a:srgbClr val="003B4F"/>
                </a:solidFill>
                <a:latin typeface="Courier"/>
              </a:rPr>
              <a:t> .</a:t>
            </a:r>
            <a:r>
              <a:rPr>
                <a:solidFill>
                  <a:srgbClr val="AD0000"/>
                </a:solidFill>
                <a:latin typeface="Courier"/>
              </a:rPr>
              <a:t>80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fit      lwr      upr
1 2808.721 2672.885 2944.557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Para entender</a:t>
            </a:r>
          </a:p>
        </p:txBody>
      </p:sp>
      <p:pic>
        <p:nvPicPr>
          <p:cNvPr id="3" name="Picture 1" descr="01_files/figure-pptx/unnamed-chunk-15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08200" y="2184400"/>
            <a:ext cx="7975600" cy="3987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8FE57-6952-DCF2-0990-90E39B648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Para entender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A29933-B652-DA47-BFD3-9E7FA42D22D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Retirando um outlier</a:t>
            </a:r>
          </a:p>
        </p:txBody>
      </p:sp>
      <p:pic>
        <p:nvPicPr>
          <p:cNvPr id="3" name="Picture 1" descr="01_files/figure-pptx/unnamed-chunk-16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81600" y="1866900"/>
            <a:ext cx="6172200" cy="3086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Para entender</a:t>
            </a:r>
          </a:p>
        </p:txBody>
      </p:sp>
      <p:pic>
        <p:nvPicPr>
          <p:cNvPr id="3" name="Picture 1" descr="01_files/figure-pptx/unnamed-chunk-17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08200" y="2184400"/>
            <a:ext cx="7975600" cy="3987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5C504-58F1-2318-F264-E17A9AABC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Importante observar: este mercado é influenciado totalmente pelas taxas de juros. É um mercado de bens de investimento, e não um mercado de consumo!</a:t>
            </a:r>
          </a:p>
          <a:p>
            <a:pPr lvl="1"/>
            <a:r>
              <a:t>Mas os imóveis não são apenas bens de investimento!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Para entender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5C504-58F1-2318-F264-E17A9AABC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Economia Urbana</a:t>
            </a:r>
          </a:p>
          <a:p>
            <a:pPr marL="0" lvl="0" indent="0">
              <a:buNone/>
            </a:pPr>
            <a:r>
              <a:rPr>
                <a:hlinkClick r:id="rId2"/>
              </a:rPr>
              <a:t>https://youtu.be/BSMJk8gSyrs?si=MUBWrkpX2oyZbbbA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CFA-4A74-9B40-CC3E-92D78F85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7"/>
            <a:ext cx="10515600" cy="89152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Referências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5C504-58F1-2318-F264-E17A9AABC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53588"/>
            <a:ext cx="10515600" cy="3987945"/>
          </a:xfrm>
        </p:spPr>
        <p:txBody>
          <a:bodyPr/>
          <a:lstStyle/>
          <a:p>
            <a:pPr marL="0" lvl="0" indent="0">
              <a:buNone/>
            </a:pPr>
            <a:r>
              <a:rPr sz="2000" dirty="0"/>
              <a:t>ABNT. 2011. </a:t>
            </a:r>
            <a:r>
              <a:rPr sz="2000" i="1" dirty="0"/>
              <a:t>NBR 14653-2: </a:t>
            </a:r>
            <a:r>
              <a:rPr sz="2000" i="1" dirty="0" err="1"/>
              <a:t>Avaliacao</a:t>
            </a:r>
            <a:r>
              <a:rPr sz="2000" i="1" dirty="0"/>
              <a:t> de Bens – </a:t>
            </a:r>
            <a:r>
              <a:rPr sz="2000" i="1" dirty="0" err="1"/>
              <a:t>Parte</a:t>
            </a:r>
            <a:r>
              <a:rPr sz="2000" i="1" dirty="0"/>
              <a:t> 2: </a:t>
            </a:r>
            <a:r>
              <a:rPr sz="2000" i="1" dirty="0" err="1"/>
              <a:t>Imoveis</a:t>
            </a:r>
            <a:r>
              <a:rPr sz="2000" i="1" dirty="0"/>
              <a:t> Urbanos</a:t>
            </a:r>
            <a:r>
              <a:rPr sz="2000" dirty="0"/>
              <a:t>. Rio de Janeiro: </a:t>
            </a:r>
            <a:r>
              <a:rPr sz="2000" dirty="0" err="1"/>
              <a:t>Associacao</a:t>
            </a:r>
            <a:r>
              <a:rPr sz="2000" dirty="0"/>
              <a:t> Brasileira de Normas </a:t>
            </a:r>
            <a:r>
              <a:rPr sz="2000" dirty="0" err="1"/>
              <a:t>Tecnicas</a:t>
            </a:r>
            <a:r>
              <a:rPr sz="2000" dirty="0"/>
              <a:t>.</a:t>
            </a:r>
          </a:p>
          <a:p>
            <a:pPr marL="0" lvl="0" indent="0">
              <a:buNone/>
            </a:pPr>
            <a:r>
              <a:rPr sz="2000" dirty="0"/>
              <a:t>D’Amato, </a:t>
            </a:r>
            <a:r>
              <a:rPr sz="2000" dirty="0" err="1"/>
              <a:t>Mônica</a:t>
            </a:r>
            <a:r>
              <a:rPr sz="2000" dirty="0"/>
              <a:t>, and Nelson Roberto Pereira Alonso. 2019. </a:t>
            </a:r>
            <a:r>
              <a:rPr sz="2000" i="1" dirty="0" err="1"/>
              <a:t>Avaliação</a:t>
            </a:r>
            <a:r>
              <a:rPr sz="2000" i="1" dirty="0"/>
              <a:t> de </a:t>
            </a:r>
            <a:r>
              <a:rPr sz="2000" i="1" dirty="0" err="1"/>
              <a:t>Aluguéis</a:t>
            </a:r>
            <a:r>
              <a:rPr sz="2000" dirty="0"/>
              <a:t>. Edited by Leud. 4th ed. São Paulo.</a:t>
            </a:r>
          </a:p>
          <a:p>
            <a:pPr marL="0" lvl="0" indent="0">
              <a:buNone/>
            </a:pPr>
            <a:r>
              <a:rPr sz="2000" dirty="0"/>
              <a:t>GRANELLE, J-J. 1998. </a:t>
            </a:r>
            <a:r>
              <a:rPr sz="2000" i="1" dirty="0" err="1"/>
              <a:t>Économie</a:t>
            </a:r>
            <a:r>
              <a:rPr sz="2000" i="1" dirty="0"/>
              <a:t> </a:t>
            </a:r>
            <a:r>
              <a:rPr sz="2000" i="1" dirty="0" err="1"/>
              <a:t>Immobilière</a:t>
            </a:r>
            <a:r>
              <a:rPr sz="2000" i="1" dirty="0"/>
              <a:t>. Analyses Et Applications</a:t>
            </a:r>
            <a:r>
              <a:rPr sz="2000" dirty="0"/>
              <a:t>. Paris: Economica.</a:t>
            </a:r>
          </a:p>
          <a:p>
            <a:pPr marL="0" lvl="0" indent="0">
              <a:buNone/>
            </a:pPr>
            <a:r>
              <a:rPr sz="2000" dirty="0"/>
              <a:t>Lacerda, Norma, and Pedro Abramo. 2020. “O Mercado de </a:t>
            </a:r>
            <a:r>
              <a:rPr sz="2000" dirty="0" err="1"/>
              <a:t>Aluguel</a:t>
            </a:r>
            <a:r>
              <a:rPr sz="2000" dirty="0"/>
              <a:t> de </a:t>
            </a:r>
            <a:r>
              <a:rPr sz="2000" dirty="0" err="1"/>
              <a:t>Imóveis</a:t>
            </a:r>
            <a:r>
              <a:rPr sz="2000" dirty="0"/>
              <a:t> </a:t>
            </a:r>
            <a:r>
              <a:rPr sz="2000" dirty="0" err="1"/>
              <a:t>Comerciais</a:t>
            </a:r>
            <a:r>
              <a:rPr sz="2000" dirty="0"/>
              <a:t> e de Serviços Em Centros </a:t>
            </a:r>
            <a:r>
              <a:rPr sz="2000" dirty="0" err="1"/>
              <a:t>Históricos</a:t>
            </a:r>
            <a:r>
              <a:rPr sz="2000" dirty="0"/>
              <a:t> </a:t>
            </a:r>
            <a:r>
              <a:rPr sz="2000" dirty="0" err="1"/>
              <a:t>Brasileiros</a:t>
            </a:r>
            <a:r>
              <a:rPr sz="2000" dirty="0"/>
              <a:t>: </a:t>
            </a:r>
            <a:r>
              <a:rPr sz="2000" dirty="0" err="1"/>
              <a:t>Implicações</a:t>
            </a:r>
            <a:r>
              <a:rPr sz="2000" dirty="0"/>
              <a:t> Da </a:t>
            </a:r>
            <a:r>
              <a:rPr sz="2000" dirty="0" err="1"/>
              <a:t>Conservação</a:t>
            </a:r>
            <a:r>
              <a:rPr sz="2000" dirty="0"/>
              <a:t> </a:t>
            </a:r>
            <a:r>
              <a:rPr sz="2000" dirty="0" err="1"/>
              <a:t>Inovadora</a:t>
            </a:r>
            <a:r>
              <a:rPr sz="2000" dirty="0"/>
              <a:t> e Da </a:t>
            </a:r>
            <a:r>
              <a:rPr sz="2000" dirty="0" err="1"/>
              <a:t>Destruição</a:t>
            </a:r>
            <a:r>
              <a:rPr sz="2000" dirty="0"/>
              <a:t> </a:t>
            </a:r>
            <a:r>
              <a:rPr sz="2000" dirty="0" err="1"/>
              <a:t>Aniquiladora</a:t>
            </a:r>
            <a:r>
              <a:rPr sz="2000" dirty="0"/>
              <a:t> Nos </a:t>
            </a:r>
            <a:r>
              <a:rPr sz="2000" dirty="0" err="1"/>
              <a:t>Preços</a:t>
            </a:r>
            <a:r>
              <a:rPr sz="2000" dirty="0"/>
              <a:t> Dos Bens </a:t>
            </a:r>
            <a:r>
              <a:rPr sz="2000" dirty="0" err="1"/>
              <a:t>Patrimoniais</a:t>
            </a:r>
            <a:r>
              <a:rPr sz="2000" dirty="0"/>
              <a:t>.” </a:t>
            </a:r>
            <a:r>
              <a:rPr sz="2000" i="1" dirty="0" err="1"/>
              <a:t>Revista</a:t>
            </a:r>
            <a:r>
              <a:rPr sz="2000" i="1" dirty="0"/>
              <a:t> Brasileira de </a:t>
            </a:r>
            <a:r>
              <a:rPr sz="2000" i="1" dirty="0" err="1"/>
              <a:t>Estudos</a:t>
            </a:r>
            <a:r>
              <a:rPr sz="2000" i="1" dirty="0"/>
              <a:t> Urbanos e </a:t>
            </a:r>
            <a:r>
              <a:rPr sz="2000" i="1" dirty="0" err="1"/>
              <a:t>Regionais</a:t>
            </a:r>
            <a:r>
              <a:rPr sz="2000" dirty="0"/>
              <a:t> 22 (E202027pt): 1–27. https://doi.org/</a:t>
            </a:r>
            <a:r>
              <a:rPr sz="2000" dirty="0">
                <a:hlinkClick r:id="rId2"/>
              </a:rPr>
              <a:t>https://doi.org/10.22296/2317-1529.rbeur.202027pt</a:t>
            </a:r>
            <a:r>
              <a:rPr sz="2000" dirty="0"/>
              <a:t>.</a:t>
            </a:r>
          </a:p>
          <a:p>
            <a:pPr marL="0" lvl="0" indent="0">
              <a:buNone/>
            </a:pPr>
            <a:r>
              <a:rPr sz="2000" dirty="0" err="1"/>
              <a:t>Machline</a:t>
            </a:r>
            <a:r>
              <a:rPr sz="2000" dirty="0"/>
              <a:t>, Claude. 1966. “</a:t>
            </a:r>
            <a:r>
              <a:rPr sz="2000" dirty="0" err="1"/>
              <a:t>Análise</a:t>
            </a:r>
            <a:r>
              <a:rPr sz="2000" dirty="0"/>
              <a:t> de Investimentos e </a:t>
            </a:r>
            <a:r>
              <a:rPr sz="2000" dirty="0" err="1"/>
              <a:t>Inflação</a:t>
            </a:r>
            <a:r>
              <a:rPr sz="2000" dirty="0"/>
              <a:t>.” </a:t>
            </a:r>
            <a:r>
              <a:rPr sz="2000" i="1" dirty="0" err="1"/>
              <a:t>Revista</a:t>
            </a:r>
            <a:r>
              <a:rPr sz="2000" i="1" dirty="0"/>
              <a:t> de </a:t>
            </a:r>
            <a:r>
              <a:rPr sz="2000" i="1" dirty="0" err="1"/>
              <a:t>Administração</a:t>
            </a:r>
            <a:r>
              <a:rPr sz="2000" i="1" dirty="0"/>
              <a:t> de </a:t>
            </a:r>
            <a:r>
              <a:rPr sz="2000" i="1" dirty="0" err="1"/>
              <a:t>Empresas</a:t>
            </a:r>
            <a:r>
              <a:rPr sz="2000" dirty="0"/>
              <a:t>, no. 18: 51–126. </a:t>
            </a:r>
            <a:r>
              <a:rPr sz="2000" dirty="0">
                <a:hlinkClick r:id="rId3"/>
              </a:rPr>
              <a:t>https://doi.org/10.1590/S0034-75901966000100002</a:t>
            </a:r>
            <a:r>
              <a:rPr sz="2000" dirty="0"/>
              <a:t>.</a:t>
            </a:r>
          </a:p>
          <a:p>
            <a:pPr marL="0" lvl="0" indent="0">
              <a:buNone/>
            </a:pPr>
            <a:r>
              <a:rPr sz="2000" dirty="0" err="1"/>
              <a:t>Malpezzi</a:t>
            </a:r>
            <a:r>
              <a:rPr sz="2000" dirty="0"/>
              <a:t>, Stephen, and Susan M. Wachter. 2002. “The Role of Speculation in Real Estate Cycles.” https://doi.org/</a:t>
            </a:r>
            <a:r>
              <a:rPr sz="2000" dirty="0">
                <a:hlinkClick r:id="rId4"/>
              </a:rPr>
              <a:t>https://dx.doi.org/10.2139/ssrn.2585241</a:t>
            </a:r>
            <a:r>
              <a:rPr sz="2000"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4990</Words>
  <Application>Microsoft Office PowerPoint</Application>
  <PresentationFormat>Widescreen</PresentationFormat>
  <Paragraphs>811</Paragraphs>
  <Slides>78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85" baseType="lpstr">
      <vt:lpstr>Aptos</vt:lpstr>
      <vt:lpstr>Aptos Display</vt:lpstr>
      <vt:lpstr>Arial</vt:lpstr>
      <vt:lpstr>Calibri Light</vt:lpstr>
      <vt:lpstr>Cambria Math</vt:lpstr>
      <vt:lpstr>Courier</vt:lpstr>
      <vt:lpstr>Office Theme</vt:lpstr>
      <vt:lpstr>Avaliação de Aluguéis</vt:lpstr>
      <vt:lpstr>Introdução</vt:lpstr>
      <vt:lpstr>Introdução</vt:lpstr>
      <vt:lpstr>Relação entre Estoque e Fluxo:</vt:lpstr>
      <vt:lpstr>Matemática Financeira</vt:lpstr>
      <vt:lpstr>Essencial de Matemática Financeira</vt:lpstr>
      <vt:lpstr>PowerPoint Presentation</vt:lpstr>
      <vt:lpstr>Essencial de Matemática Financeira</vt:lpstr>
      <vt:lpstr>PowerPoint Presentation</vt:lpstr>
      <vt:lpstr>Essencial de Matemática Financeira</vt:lpstr>
      <vt:lpstr>Essencial de Matemática Financeira</vt:lpstr>
      <vt:lpstr>Essencial de Matemática Financeira</vt:lpstr>
      <vt:lpstr>Essencial de Matemática Financeira</vt:lpstr>
      <vt:lpstr>Reflexões</vt:lpstr>
      <vt:lpstr>Reflexões</vt:lpstr>
      <vt:lpstr>Reflexões</vt:lpstr>
      <vt:lpstr>Reflexões</vt:lpstr>
      <vt:lpstr>Essencial de Matemática Financeira</vt:lpstr>
      <vt:lpstr>Essencial de Matemática Financeira</vt:lpstr>
      <vt:lpstr>PowerPoint Presentation</vt:lpstr>
      <vt:lpstr>Essencial de Matemática Financeira</vt:lpstr>
      <vt:lpstr>Essencial de Matemática Financeira</vt:lpstr>
      <vt:lpstr>Essencial de Matemática Financeira</vt:lpstr>
      <vt:lpstr>Essencial de Matemática Financeira</vt:lpstr>
      <vt:lpstr>Essencial de Matemática Financeira</vt:lpstr>
      <vt:lpstr>Essencial de Matemática Financeira</vt:lpstr>
      <vt:lpstr>Essencial de Matemática Financeira</vt:lpstr>
      <vt:lpstr>Essencial de Matemática Financeira</vt:lpstr>
      <vt:lpstr>Essencial de Matemática Financeira</vt:lpstr>
      <vt:lpstr>Essencial de Matemática Financeira</vt:lpstr>
      <vt:lpstr>Essencial de Matemática Financeira</vt:lpstr>
      <vt:lpstr>Lucratividade</vt:lpstr>
      <vt:lpstr>Rentabilidade</vt:lpstr>
      <vt:lpstr>Lucratividade vs. Rentabilidade</vt:lpstr>
      <vt:lpstr>Comparação por TIR</vt:lpstr>
      <vt:lpstr>Avaliação de Aluguéis</vt:lpstr>
      <vt:lpstr>Método da Renda</vt:lpstr>
      <vt:lpstr>Método da Remuneração do Capital</vt:lpstr>
      <vt:lpstr>Método da Remuneração do Capital</vt:lpstr>
      <vt:lpstr>Método da Remuneração do Capital</vt:lpstr>
      <vt:lpstr>Método da Remuneração do Capital</vt:lpstr>
      <vt:lpstr>Taxa composta</vt:lpstr>
      <vt:lpstr>Taxa composta</vt:lpstr>
      <vt:lpstr>Método da Renda com aluguel líquido</vt:lpstr>
      <vt:lpstr>Método da Renda com aluguel líquido</vt:lpstr>
      <vt:lpstr>O investimento em imóveis</vt:lpstr>
      <vt:lpstr>O investimento em imóveis</vt:lpstr>
      <vt:lpstr>O investimento em imóveis</vt:lpstr>
      <vt:lpstr>O investimento em imóveis</vt:lpstr>
      <vt:lpstr>O investimento em imóveis</vt:lpstr>
      <vt:lpstr>O investimento em imóveis</vt:lpstr>
      <vt:lpstr>O investimento em imóveis</vt:lpstr>
      <vt:lpstr>O investimento em imóveis</vt:lpstr>
      <vt:lpstr>O investimento em imóveis</vt:lpstr>
      <vt:lpstr>O investimento em imóveis</vt:lpstr>
      <vt:lpstr>Aparte: Administração de carteiras</vt:lpstr>
      <vt:lpstr>Aparte: Administração de carteiras (2)</vt:lpstr>
      <vt:lpstr>Aplicações</vt:lpstr>
      <vt:lpstr>Método da Renda</vt:lpstr>
      <vt:lpstr>PowerPoint Presentation</vt:lpstr>
      <vt:lpstr>Método da Renda</vt:lpstr>
      <vt:lpstr>PowerPoint Presentation</vt:lpstr>
      <vt:lpstr>Método da Remuneração do Capital</vt:lpstr>
      <vt:lpstr>Método da Remuneração do Capital</vt:lpstr>
      <vt:lpstr>Método da Remuneração do Capital</vt:lpstr>
      <vt:lpstr>Método da Remuneração do Capital</vt:lpstr>
      <vt:lpstr>Método da Remuneração do Capital</vt:lpstr>
      <vt:lpstr>Método da Remuneração do Capital</vt:lpstr>
      <vt:lpstr>Método da Remuneração do Capital</vt:lpstr>
      <vt:lpstr>PowerPoint Presentation</vt:lpstr>
      <vt:lpstr>Método da Remuneração do Capital</vt:lpstr>
      <vt:lpstr>PowerPoint Presentation</vt:lpstr>
      <vt:lpstr>Para entender</vt:lpstr>
      <vt:lpstr>Para entender</vt:lpstr>
      <vt:lpstr>Para entender</vt:lpstr>
      <vt:lpstr>PowerPoint Presentation</vt:lpstr>
      <vt:lpstr>Para entender</vt:lpstr>
      <vt:lpstr>Referências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12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Avaliação de Aluguéis</dc:title>
  <dc:creator>Luiz Fernando Palin Droubi</dc:creator>
  <cp:keywords/>
  <cp:lastModifiedBy>Luiz F P Droubi</cp:lastModifiedBy>
  <cp:revision>5</cp:revision>
  <cp:lastPrinted>2025-08-16T12:46:23Z</cp:lastPrinted>
  <dcterms:created xsi:type="dcterms:W3CDTF">2025-08-12T15:49:05Z</dcterms:created>
  <dcterms:modified xsi:type="dcterms:W3CDTF">2025-08-16T12:50:44Z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ibliography">
    <vt:lpwstr>referencias.bib</vt:lpwstr>
  </property>
  <property fmtid="{D5CDD505-2E9C-101B-9397-08002B2CF9AE}" pid="5" name="by-author">
    <vt:lpwstr/>
  </property>
  <property fmtid="{D5CDD505-2E9C-101B-9397-08002B2CF9AE}" pid="6" name="date">
    <vt:lpwstr>2025-08-12</vt:lpwstr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subtitle">
    <vt:lpwstr>Parte 01</vt:lpwstr>
  </property>
  <property fmtid="{D5CDD505-2E9C-101B-9397-08002B2CF9AE}" pid="12" name="toc-title">
    <vt:lpwstr>Table of contents</vt:lpwstr>
  </property>
</Properties>
</file>