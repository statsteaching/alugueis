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  <a:endParaRPr lang="pt-BR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D9A9-51D1-437A-9200-120564DB6291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4BAA1-6340-469E-B64D-0898A46D13F6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Trabalho Final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Curso de Avaliações de Aluguéis</a:t>
            </a:r>
            <a:endParaRPr lang="pt-BR"/>
          </a:p>
          <a:p>
            <a:r>
              <a:rPr lang="pt-BR"/>
              <a:t>março/2022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585471"/>
            <a:ext cx="7886700" cy="1325563"/>
          </a:xfrm>
        </p:spPr>
        <p:txBody>
          <a:bodyPr>
            <a:normAutofit/>
          </a:bodyPr>
          <a:p>
            <a:r>
              <a:rPr lang="pt-BR" altLang="en-US" sz="3555"/>
              <a:t>Avaliação de lojas e salas comerciais</a:t>
            </a:r>
            <a:endParaRPr lang="pt-BR" altLang="en-US" sz="3555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pt-BR" altLang="en-US"/>
              <a:t>Imaginem que o escritório de Avaliações e Perícias em que você trabalha foi contratado por um potencial comprador de um edifício </a:t>
            </a:r>
            <a:r>
              <a:rPr lang="pt-BR" altLang="en-US">
                <a:sym typeface="+mn-ea"/>
              </a:rPr>
              <a:t>localizado na  região central da cidade</a:t>
            </a:r>
            <a:r>
              <a:rPr lang="pt-BR" altLang="en-US"/>
              <a:t> para efetuar a avaliação do aluguel de diversas lojas e escritórios neste edifício;</a:t>
            </a:r>
            <a:endParaRPr lang="pt-BR" altLang="en-US"/>
          </a:p>
          <a:p>
            <a:r>
              <a:rPr lang="pt-BR" altLang="en-US"/>
              <a:t>O edifício é constituído de Térreo + 2 andares, cada um com 150m2;</a:t>
            </a:r>
            <a:endParaRPr lang="pt-BR" altLang="en-US"/>
          </a:p>
          <a:p>
            <a:r>
              <a:rPr lang="pt-BR" altLang="en-US">
                <a:sym typeface="+mn-ea"/>
              </a:rPr>
              <a:t>O proprietário pretende ocupar com seu escritório pouco mais da metade da área do 2º pavimento (90 m2) e locar o restante;</a:t>
            </a:r>
            <a:endParaRPr lang="pt-BR" altLang="en-US">
              <a:sym typeface="+mn-ea"/>
            </a:endParaRPr>
          </a:p>
          <a:p>
            <a:r>
              <a:rPr lang="pt-BR" altLang="en-US">
                <a:sym typeface="+mn-ea"/>
              </a:rPr>
              <a:t>O proprietário informou que algumas pessoas já manifestaram interesse em locar espaços no seu prédio</a:t>
            </a:r>
            <a:endParaRPr lang="pt-BR" altLang="en-US">
              <a:sym typeface="+mn-ea"/>
            </a:endParaRPr>
          </a:p>
          <a:p>
            <a:pPr lvl="1"/>
            <a:r>
              <a:rPr lang="pt-BR" altLang="en-US" sz="2400">
                <a:sym typeface="+mn-ea"/>
              </a:rPr>
              <a:t>1 interessado em instalar uma loja (térreo) com 90 m2;</a:t>
            </a:r>
            <a:endParaRPr lang="pt-BR" altLang="en-US" sz="2400">
              <a:sym typeface="+mn-ea"/>
            </a:endParaRPr>
          </a:p>
          <a:p>
            <a:pPr lvl="1"/>
            <a:r>
              <a:rPr lang="pt-BR" altLang="en-US" sz="2400">
                <a:sym typeface="+mn-ea"/>
              </a:rPr>
              <a:t>1 interessado em uma loja (térreo) com 60 m2;</a:t>
            </a:r>
            <a:endParaRPr lang="pt-BR" altLang="en-US" sz="2400">
              <a:sym typeface="+mn-ea"/>
            </a:endParaRPr>
          </a:p>
          <a:p>
            <a:pPr lvl="1"/>
            <a:r>
              <a:rPr lang="pt-BR" altLang="en-US" sz="2400">
                <a:sym typeface="+mn-ea"/>
              </a:rPr>
              <a:t>1 interessado em uma laje corporativa de 150 m2 para sua empresa (1º pavimento);</a:t>
            </a:r>
            <a:endParaRPr lang="pt-BR" altLang="en-US" sz="2400">
              <a:sym typeface="+mn-ea"/>
            </a:endParaRPr>
          </a:p>
          <a:p>
            <a:pPr lvl="1"/>
            <a:r>
              <a:rPr lang="pt-BR" altLang="en-US" sz="2400">
                <a:sym typeface="+mn-ea"/>
              </a:rPr>
              <a:t>1 interessado na metade restante do 2º pavimento (60 m2);</a:t>
            </a:r>
            <a:endParaRPr lang="pt-BR" altLang="en-US" sz="2400">
              <a:sym typeface="+mn-ea"/>
            </a:endParaRPr>
          </a:p>
          <a:p>
            <a:pPr lvl="1"/>
            <a:r>
              <a:rPr lang="pt-BR" altLang="en-US" sz="2400">
                <a:sym typeface="+mn-ea"/>
              </a:rPr>
              <a:t>O proprietário ainda deseja saber qual o valor do aluguel da área que ele próprio irá ocupar no 2º pavimento (90 m2), para fins de calcular o VPL da compra do edifício (aluguel implícito).</a:t>
            </a:r>
            <a:endParaRPr lang="pt-BR" altLang="en-US"/>
          </a:p>
          <a:p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582296"/>
            <a:ext cx="7886700" cy="1325563"/>
          </a:xfrm>
        </p:spPr>
        <p:txBody>
          <a:bodyPr/>
          <a:p>
            <a:r>
              <a:rPr lang="pt-BR" altLang="en-US" sz="4000"/>
              <a:t>Planejamento do trabalho</a:t>
            </a:r>
            <a:endParaRPr lang="pt-BR" altLang="en-US" sz="400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pt-BR" altLang="en-US">
                <a:sym typeface="+mn-ea"/>
              </a:rPr>
              <a:t>O diretor de Avaliações resolveu pulverizar o trabalho entre diversos avaliadores;</a:t>
            </a:r>
            <a:endParaRPr lang="pt-BR" altLang="en-US"/>
          </a:p>
          <a:p>
            <a:r>
              <a:rPr lang="pt-BR" altLang="en-US">
                <a:sym typeface="+mn-ea"/>
              </a:rPr>
              <a:t>No entanto, para que o resultado final seja um trabalho uniforme, o Diretor estabeleu os critérios que cada avaliador deverá considerar nas suas avaliações. Os critérios estabelecidos pelo Diretor, assim como os dados por ele disponibilizados para os avaliadores encontram-se nos próximos slides.</a:t>
            </a:r>
            <a:endParaRPr lang="pt-BR" altLang="en-US"/>
          </a:p>
          <a:p>
            <a:r>
              <a:rPr lang="pt-BR" altLang="en-US"/>
              <a:t>Para uma melhor apresentação do trabalho, o Diretor solicitou que fosse utilizado o método da Cota Parte, evitando assim que o laudo final fique repleto de cálculos repetitivos.</a:t>
            </a:r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29841" y="705486"/>
            <a:ext cx="7886700" cy="1325563"/>
          </a:xfrm>
        </p:spPr>
        <p:txBody>
          <a:bodyPr/>
          <a:p>
            <a:r>
              <a:rPr lang="pt-BR" altLang="en-US" sz="4000"/>
              <a:t>Critérios para as avaliações</a:t>
            </a:r>
            <a:endParaRPr lang="pt-BR" altLang="en-US" sz="400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pt-BR" altLang="en-US"/>
              <a:t>Dados do terreno</a:t>
            </a:r>
            <a:endParaRPr lang="pt-B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20000"/>
              </a:bodyPr>
              <a:p>
                <a:pPr lvl="0"/>
                <a:r>
                  <a:rPr lang="pt-BR" altLang="en-US" sz="2000">
                    <a:sym typeface="+mn-ea"/>
                  </a:rPr>
                  <a:t>Área: 400m2</a:t>
                </a:r>
                <a:endParaRPr lang="pt-BR" altLang="en-US" sz="2000">
                  <a:sym typeface="+mn-ea"/>
                </a:endParaRPr>
              </a:p>
              <a:p>
                <a:pPr lvl="0"/>
                <a:r>
                  <a:rPr lang="pt-BR" altLang="en-US" sz="2000">
                    <a:sym typeface="+mn-ea"/>
                  </a:rPr>
                  <a:t>qt = 2.000,00 R$/m2</a:t>
                </a:r>
                <a:endParaRPr lang="pt-BR" altLang="en-US" sz="2000"/>
              </a:p>
              <a:p>
                <a:pPr lvl="0"/>
                <a:r>
                  <a:rPr lang="pt-BR" altLang="en-US" sz="2000">
                    <a:sym typeface="+mn-ea"/>
                  </a:rPr>
                  <a:t>CA básico: 1</a:t>
                </a:r>
                <a:endParaRPr lang="pt-BR" altLang="en-US" sz="2000"/>
              </a:p>
              <a:p>
                <a:pPr lvl="0"/>
                <a:r>
                  <a:rPr lang="pt-BR" altLang="en-US" sz="2000">
                    <a:sym typeface="+mn-ea"/>
                  </a:rPr>
                  <a:t>TO: 0,5</a:t>
                </a:r>
                <a:endParaRPr lang="pt-BR" altLang="en-US" sz="2000">
                  <a:sym typeface="+mn-ea"/>
                </a:endParaRPr>
              </a:p>
              <a:p>
                <a:pPr lvl="0"/>
                <a:r>
                  <a:rPr lang="pt-BR" altLang="en-US" sz="2000">
                    <a:sym typeface="+mn-ea"/>
                  </a:rPr>
                  <a:t>Pesos: 3:1 (térreo:superiores)</a:t>
                </a:r>
                <a:endParaRPr lang="pt-BR" altLang="en-US" sz="2000">
                  <a:sym typeface="+mn-ea"/>
                </a:endParaRPr>
              </a:p>
              <a:p>
                <a:pPr lvl="0"/>
                <a:r>
                  <a:rPr lang="pt-BR" altLang="en-US" sz="2000"/>
                  <a:t>Taxa de renda: 8% a.a.</a:t>
                </a:r>
                <a:endParaRPr lang="pt-BR" altLang="en-US" sz="2000"/>
              </a:p>
              <a:p>
                <a:pPr lvl="0"/>
                <a:r>
                  <a:rPr lang="pt-BR" altLang="en-US" sz="2000"/>
                  <a:t>Considerar a idade no cálculo do coeficiente de aproveitamento, através da seguinte expressão:</a:t>
                </a:r>
                <a:endParaRPr lang="pt-BR" altLang="en-US" sz="2000"/>
              </a:p>
              <a:p>
                <a:pPr lvl="0"/>
                <a:endParaRPr lang="pt-BR" altLang="en-US" sz="200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pt-BR" sz="171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pt-BR" sz="1710"/>
                        <m:t>A</m:t>
                      </m:r>
                      <m:r>
                        <a:rPr lang="en-US" altLang="pt-BR" sz="1710"/>
                        <m:t> = </m:t>
                      </m:r>
                      <m:f>
                        <m:fPr>
                          <m:ctrlP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ℎ𝑢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𝑒𝑥𝑖𝑠𝑡𝑒𝑛𝑡𝑒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+ 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(</m:t>
                          </m:r>
                          <m:f>
                            <m:fPr>
                              <m:ctrlP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𝑉−𝑣</m:t>
                              </m:r>
                            </m:num>
                            <m:den>
                              <m:r>
                                <a:rPr lang="en-US" altLang="pt-BR" sz="171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altLang="pt-BR" sz="171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altLang="en-US" sz="1710"/>
              </a:p>
              <a:p>
                <a:endParaRPr lang="pt-BR" altLang="en-US" sz="2000"/>
              </a:p>
            </p:txBody>
          </p:sp>
        </mc:Choice>
        <mc:Fallback>
          <p:sp>
            <p:nvSpPr>
              <p:cNvPr id="6" name="Espaço Reservado para Conteúdo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1"/>
                <a:stretch>
                  <a:fillRect l="-14" t="-896" r="12" b="-2542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pt-BR" altLang="en-US"/>
              <a:t>Dados da benfeitoria</a:t>
            </a:r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p>
            <a:r>
              <a:rPr lang="pt-BR" altLang="en-US" sz="1900">
                <a:sym typeface="+mn-ea"/>
              </a:rPr>
              <a:t>Idade aparente: 15 anos</a:t>
            </a:r>
            <a:endParaRPr lang="pt-BR" altLang="en-US" sz="1900"/>
          </a:p>
          <a:p>
            <a:r>
              <a:rPr lang="pt-BR" altLang="en-US" sz="1900">
                <a:sym typeface="+mn-ea"/>
              </a:rPr>
              <a:t>Vida útil: 60 anos</a:t>
            </a:r>
            <a:endParaRPr lang="pt-BR" altLang="en-US" sz="1900"/>
          </a:p>
          <a:p>
            <a:pPr lvl="0"/>
            <a:r>
              <a:rPr lang="pt-BR" altLang="en-US" sz="1900"/>
              <a:t>Taxa de renda: 12% a.a.</a:t>
            </a:r>
            <a:endParaRPr lang="pt-BR" altLang="en-US" sz="1900"/>
          </a:p>
          <a:p>
            <a:pPr lvl="0"/>
            <a:r>
              <a:rPr lang="pt-BR" altLang="en-US" sz="1900"/>
              <a:t>qb = 2.000,00 R$/m2 (x 1,2)</a:t>
            </a:r>
            <a:endParaRPr lang="pt-BR" altLang="en-US" sz="1900"/>
          </a:p>
          <a:p>
            <a:pPr lvl="0"/>
            <a:r>
              <a:rPr lang="pt-BR" altLang="en-US" sz="1900"/>
              <a:t>Considerar a depreciação pelo método da linha reta, com valor residual igual a 20%.</a:t>
            </a:r>
            <a:endParaRPr lang="pt-BR" altLang="en-US" sz="1900"/>
          </a:p>
          <a:p>
            <a:pPr lvl="0"/>
            <a:r>
              <a:rPr lang="pt-BR" altLang="en-US" sz="1900" b="1">
                <a:solidFill>
                  <a:srgbClr val="FF0000"/>
                </a:solidFill>
              </a:rPr>
              <a:t>Considerar o Fator de Comercialização igual a 1,10, tanto para o Capital Terreno, quanto para o Capital Benfeitoria!</a:t>
            </a:r>
            <a:endParaRPr lang="pt-BR" altLang="en-US" sz="19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668656"/>
            <a:ext cx="7886700" cy="1325563"/>
          </a:xfrm>
        </p:spPr>
        <p:txBody>
          <a:bodyPr/>
          <a:p>
            <a:r>
              <a:rPr lang="pt-BR" altLang="en-US"/>
              <a:t>Dados para as avaliações</a:t>
            </a:r>
            <a:endParaRPr lang="pt-BR" altLang="en-US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641985" y="1825625"/>
            <a:ext cx="7886700" cy="4351338"/>
          </a:xfrm>
        </p:spPr>
        <p:txBody>
          <a:bodyPr>
            <a:noAutofit/>
          </a:bodyPr>
          <a:p>
            <a:r>
              <a:rPr lang="pt-BR" altLang="en-US" sz="1700"/>
              <a:t>Unidade 1: Loja (Térreo) com 90m2;</a:t>
            </a:r>
            <a:endParaRPr lang="pt-BR" altLang="en-US" sz="1700"/>
          </a:p>
          <a:p>
            <a:r>
              <a:rPr lang="pt-BR" altLang="en-US" sz="1700"/>
              <a:t>Unidade 2: Loja (Térreo) com 60m2;</a:t>
            </a:r>
            <a:endParaRPr lang="pt-BR" altLang="en-US" sz="1700"/>
          </a:p>
          <a:p>
            <a:r>
              <a:rPr lang="pt-BR" altLang="en-US" sz="1700"/>
              <a:t>Unidade 3: Laje corporativa (1º andar), com 150 m2;</a:t>
            </a:r>
            <a:endParaRPr lang="pt-BR" altLang="en-US" sz="1700"/>
          </a:p>
          <a:p>
            <a:r>
              <a:rPr lang="pt-BR" altLang="en-US" sz="1700"/>
              <a:t>Unidade 4: Sala Comercial (2º andar), com 60 m2;</a:t>
            </a:r>
            <a:endParaRPr lang="pt-BR" altLang="en-US" sz="1700"/>
          </a:p>
          <a:p>
            <a:r>
              <a:rPr lang="pt-BR" altLang="en-US" sz="1700"/>
              <a:t>Unidade 5: Sala Comercial (2º andar), com 90 m2;</a:t>
            </a:r>
            <a:endParaRPr lang="pt-BR" altLang="en-US" sz="1700"/>
          </a:p>
          <a:p>
            <a:endParaRPr lang="pt-BR" altLang="en-US" sz="1700"/>
          </a:p>
          <a:p>
            <a:r>
              <a:rPr lang="pt-BR" altLang="en-US" sz="1700"/>
              <a:t>DICAS: </a:t>
            </a:r>
            <a:endParaRPr lang="pt-BR" altLang="en-US" sz="1700"/>
          </a:p>
          <a:p>
            <a:pPr lvl="1"/>
            <a:r>
              <a:rPr lang="pt-BR" altLang="en-US" sz="1700"/>
              <a:t>Para uma melhor apresentação, resolva pela fórmula da Cota-Parte, conforme solicitado;</a:t>
            </a:r>
            <a:endParaRPr lang="pt-BR" altLang="en-US" sz="1700"/>
          </a:p>
          <a:p>
            <a:pPr lvl="1"/>
            <a:r>
              <a:rPr lang="pt-BR" altLang="en-US" sz="1700"/>
              <a:t>Elabore os cálculos em uma planilha eletrônica antes de escrever o resultado no editor de textos;</a:t>
            </a:r>
            <a:endParaRPr lang="pt-BR" altLang="en-US" sz="1700"/>
          </a:p>
          <a:p>
            <a:pPr lvl="1"/>
            <a:r>
              <a:rPr lang="pt-BR" altLang="en-US" sz="1700"/>
              <a:t>Para verificação pode ser feito o cálculo do aluguel de cada andar em separado e depois aplicar a proporcionalidade entre a área do andar e a área da unidade.</a:t>
            </a:r>
            <a:endParaRPr lang="pt-BR" altLang="en-US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2835</Words>
  <Application>WPS Presentation</Application>
  <PresentationFormat>Apresentação na tela (4:3)</PresentationFormat>
  <Paragraphs>61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Cambria Math</vt:lpstr>
      <vt:lpstr>Tema do Office</vt:lpstr>
      <vt:lpstr>Trabalho Final</vt:lpstr>
      <vt:lpstr>Avaliação de lojas em diversos andares</vt:lpstr>
      <vt:lpstr>PowerPoint 演示文稿</vt:lpstr>
      <vt:lpstr>Dados para o exercício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Walber</dc:creator>
  <cp:lastModifiedBy>lfpdr</cp:lastModifiedBy>
  <cp:revision>13</cp:revision>
  <dcterms:created xsi:type="dcterms:W3CDTF">2016-01-12T17:36:00Z</dcterms:created>
  <dcterms:modified xsi:type="dcterms:W3CDTF">2022-03-10T21:30:12Z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7830E575BED34EA19F25F6F02976EB59</vt:lpwstr>
  </property>
  <property fmtid="{D5CDD505-2E9C-101B-9397-08002B2CF9AE}" pid="3" name="KSOProductBuildVer">
    <vt:lpwstr>1046-11.2.0.10463</vt:lpwstr>
  </property>
</Properties>
</file>