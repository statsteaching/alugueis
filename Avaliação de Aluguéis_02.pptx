
<file path=[Content_Types].xml><?xml version="1.0" encoding="utf-8"?>
<Types xmlns="http://schemas.openxmlformats.org/package/2006/content-types">
  <Default Extension="bin" ContentType="image/unknown"/>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9" r:id="rId34"/>
    <p:sldId id="291" r:id="rId35"/>
    <p:sldId id="292" r:id="rId36"/>
    <p:sldId id="293" r:id="rId37"/>
    <p:sldId id="294" r:id="rId38"/>
    <p:sldId id="295" r:id="rId39"/>
    <p:sldId id="296" r:id="rId40"/>
    <p:sldId id="297" r:id="rId41"/>
    <p:sldId id="298" r:id="rId42"/>
    <p:sldId id="299" r:id="rId43"/>
    <p:sldId id="300" r:id="rId44"/>
    <p:sldId id="301" r:id="rId45"/>
    <p:sldId id="302" r:id="rId46"/>
    <p:sldId id="303" r:id="rId47"/>
    <p:sldId id="304" r:id="rId48"/>
    <p:sldId id="305" r:id="rId49"/>
    <p:sldId id="306" r:id="rId50"/>
    <p:sldId id="307" r:id="rId51"/>
    <p:sldId id="308" r:id="rId52"/>
    <p:sldId id="309" r:id="rId53"/>
    <p:sldId id="310" r:id="rId54"/>
    <p:sldId id="311" r:id="rId55"/>
    <p:sldId id="312" r:id="rId56"/>
    <p:sldId id="313" r:id="rId57"/>
    <p:sldId id="314" r:id="rId58"/>
    <p:sldId id="315" r:id="rId59"/>
    <p:sldId id="316" r:id="rId60"/>
    <p:sldId id="317" r:id="rId61"/>
    <p:sldId id="318" r:id="rId62"/>
    <p:sldId id="319" r:id="rId63"/>
    <p:sldId id="320" r:id="rId64"/>
    <p:sldId id="321" r:id="rId65"/>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0" d="100"/>
          <a:sy n="70" d="100"/>
        </p:scale>
        <p:origin x="1166" y="2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99184EF-FA25-F3AE-75D7-F6562152121C}"/>
              </a:ext>
            </a:extLst>
          </p:cNvPr>
          <p:cNvPicPr>
            <a:picLocks noChangeAspect="1"/>
          </p:cNvPicPr>
          <p:nvPr userDrawn="1"/>
        </p:nvPicPr>
        <p:blipFill>
          <a:blip r:embed="rId2"/>
          <a:stretch>
            <a:fillRect/>
          </a:stretch>
        </p:blipFill>
        <p:spPr>
          <a:xfrm>
            <a:off x="0" y="-1"/>
            <a:ext cx="12192000" cy="6858001"/>
          </a:xfrm>
          <a:prstGeom prst="rect">
            <a:avLst/>
          </a:prstGeom>
        </p:spPr>
      </p:pic>
      <p:sp>
        <p:nvSpPr>
          <p:cNvPr id="2" name="Title 1">
            <a:extLst>
              <a:ext uri="{FF2B5EF4-FFF2-40B4-BE49-F238E27FC236}">
                <a16:creationId xmlns:a16="http://schemas.microsoft.com/office/drawing/2014/main" id="{0001DC64-32ED-4555-94EE-36CF849390B1}"/>
              </a:ext>
            </a:extLst>
          </p:cNvPr>
          <p:cNvSpPr>
            <a:spLocks noGrp="1"/>
          </p:cNvSpPr>
          <p:nvPr>
            <p:ph type="ctrTitle"/>
          </p:nvPr>
        </p:nvSpPr>
        <p:spPr>
          <a:xfrm>
            <a:off x="6918035" y="1071418"/>
            <a:ext cx="5098473" cy="3011055"/>
          </a:xfrm>
          <a:prstGeom prst="rect">
            <a:avLst/>
          </a:prstGeom>
        </p:spPr>
        <p:txBody>
          <a:bodyPr anchor="b">
            <a:normAutofit/>
          </a:bodyPr>
          <a:lstStyle>
            <a:lvl1pPr algn="ctr">
              <a:defRPr sz="4400">
                <a:latin typeface="Calibri Light" panose="020F0302020204030204" pitchFamily="34" charset="0"/>
                <a:ea typeface="Calibri Light" panose="020F0302020204030204" pitchFamily="34" charset="0"/>
                <a:cs typeface="Calibri Light" panose="020F0302020204030204" pitchFamily="34" charset="0"/>
              </a:defRPr>
            </a:lvl1pPr>
          </a:lstStyle>
          <a:p>
            <a:r>
              <a:rPr lang="en-US" dirty="0"/>
              <a:t>Click to edit Master title style</a:t>
            </a:r>
            <a:endParaRPr lang="pt-BR" dirty="0"/>
          </a:p>
        </p:txBody>
      </p:sp>
    </p:spTree>
    <p:extLst>
      <p:ext uri="{BB962C8B-B14F-4D97-AF65-F5344CB8AC3E}">
        <p14:creationId xmlns:p14="http://schemas.microsoft.com/office/powerpoint/2010/main" val="10841677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0" name="Picture 9" descr="A white background with black text&#10;&#10;AI-generated content may be incorrect.">
            <a:extLst>
              <a:ext uri="{FF2B5EF4-FFF2-40B4-BE49-F238E27FC236}">
                <a16:creationId xmlns:a16="http://schemas.microsoft.com/office/drawing/2014/main" id="{085A2D54-DC1C-40E3-99D2-3189CED1CA3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01E8ACFA-4A74-9B40-CC3E-92D78F850226}"/>
              </a:ext>
            </a:extLst>
          </p:cNvPr>
          <p:cNvSpPr>
            <a:spLocks noGrp="1"/>
          </p:cNvSpPr>
          <p:nvPr>
            <p:ph type="title"/>
          </p:nvPr>
        </p:nvSpPr>
        <p:spPr>
          <a:xfrm>
            <a:off x="838200" y="983457"/>
            <a:ext cx="10515600" cy="891526"/>
          </a:xfrm>
          <a:prstGeom prst="rect">
            <a:avLst/>
          </a:prstGeom>
        </p:spPr>
        <p:txBody>
          <a:bodyPr/>
          <a:lstStyle>
            <a:lvl1pPr>
              <a:defRPr>
                <a:latin typeface="Calibri Light" panose="020F0302020204030204" pitchFamily="34" charset="0"/>
                <a:ea typeface="Calibri Light" panose="020F0302020204030204" pitchFamily="34" charset="0"/>
                <a:cs typeface="Calibri Light" panose="020F0302020204030204" pitchFamily="34" charset="0"/>
              </a:defRPr>
            </a:lvl1pPr>
          </a:lstStyle>
          <a:p>
            <a:r>
              <a:rPr lang="en-US" dirty="0"/>
              <a:t>Click to edit Master title style</a:t>
            </a:r>
            <a:endParaRPr lang="pt-BR" dirty="0"/>
          </a:p>
        </p:txBody>
      </p:sp>
      <p:sp>
        <p:nvSpPr>
          <p:cNvPr id="3" name="Content Placeholder 2">
            <a:extLst>
              <a:ext uri="{FF2B5EF4-FFF2-40B4-BE49-F238E27FC236}">
                <a16:creationId xmlns:a16="http://schemas.microsoft.com/office/drawing/2014/main" id="{06E5C504-58F1-2318-F264-E17A9AABC74B}"/>
              </a:ext>
            </a:extLst>
          </p:cNvPr>
          <p:cNvSpPr>
            <a:spLocks noGrp="1"/>
          </p:cNvSpPr>
          <p:nvPr>
            <p:ph idx="1"/>
          </p:nvPr>
        </p:nvSpPr>
        <p:spPr>
          <a:xfrm>
            <a:off x="838200" y="2189017"/>
            <a:ext cx="10515600" cy="3987945"/>
          </a:xfrm>
          <a:prstGeom prst="rect">
            <a:avLst/>
          </a:prstGeom>
        </p:spPr>
        <p:txBody>
          <a:bodyPr/>
          <a:lstStyle>
            <a:lvl1pPr>
              <a:defRPr sz="2400">
                <a:latin typeface="Calibri Light" panose="020F0302020204030204" pitchFamily="34" charset="0"/>
                <a:ea typeface="Calibri Light" panose="020F0302020204030204" pitchFamily="34" charset="0"/>
                <a:cs typeface="Calibri Light" panose="020F0302020204030204" pitchFamily="34" charset="0"/>
              </a:defRPr>
            </a:lvl1pPr>
            <a:lvl2pPr>
              <a:defRPr>
                <a:latin typeface="Calibri Light" panose="020F0302020204030204" pitchFamily="34" charset="0"/>
                <a:ea typeface="Calibri Light" panose="020F0302020204030204" pitchFamily="34" charset="0"/>
                <a:cs typeface="Calibri Light" panose="020F0302020204030204" pitchFamily="34" charset="0"/>
              </a:defRPr>
            </a:lvl2pPr>
            <a:lvl3pPr>
              <a:defRPr>
                <a:latin typeface="Calibri Light" panose="020F0302020204030204" pitchFamily="34" charset="0"/>
                <a:ea typeface="Calibri Light" panose="020F0302020204030204" pitchFamily="34" charset="0"/>
                <a:cs typeface="Calibri Light" panose="020F0302020204030204" pitchFamily="34" charset="0"/>
              </a:defRPr>
            </a:lvl3pPr>
            <a:lvl4pPr>
              <a:defRPr>
                <a:latin typeface="Calibri Light" panose="020F0302020204030204" pitchFamily="34" charset="0"/>
                <a:ea typeface="Calibri Light" panose="020F0302020204030204" pitchFamily="34" charset="0"/>
                <a:cs typeface="Calibri Light" panose="020F0302020204030204" pitchFamily="34" charset="0"/>
              </a:defRPr>
            </a:lvl4pPr>
            <a:lvl5pPr>
              <a:defRPr>
                <a:latin typeface="Calibri Light" panose="020F0302020204030204" pitchFamily="34" charset="0"/>
                <a:ea typeface="Calibri Light" panose="020F0302020204030204" pitchFamily="34" charset="0"/>
                <a:cs typeface="Calibri Light" panose="020F03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pt-BR" dirty="0"/>
          </a:p>
        </p:txBody>
      </p:sp>
      <p:sp>
        <p:nvSpPr>
          <p:cNvPr id="4" name="Date Placeholder 3">
            <a:extLst>
              <a:ext uri="{FF2B5EF4-FFF2-40B4-BE49-F238E27FC236}">
                <a16:creationId xmlns:a16="http://schemas.microsoft.com/office/drawing/2014/main" id="{2D74352E-5D44-398F-A011-DF2E30ACB5E9}"/>
              </a:ext>
            </a:extLst>
          </p:cNvPr>
          <p:cNvSpPr>
            <a:spLocks noGrp="1"/>
          </p:cNvSpPr>
          <p:nvPr>
            <p:ph type="dt" sz="half" idx="10"/>
          </p:nvPr>
        </p:nvSpPr>
        <p:spPr>
          <a:xfrm>
            <a:off x="838200" y="6356350"/>
            <a:ext cx="2743200" cy="365125"/>
          </a:xfrm>
          <a:prstGeom prst="rect">
            <a:avLst/>
          </a:prstGeom>
        </p:spPr>
        <p:txBody>
          <a:bodyPr/>
          <a:lstStyle/>
          <a:p>
            <a:fld id="{B8E782E1-44D1-417C-B4AA-50D7BFA4EE6C}" type="datetimeFigureOut">
              <a:rPr lang="pt-BR" smtClean="0"/>
              <a:t>12/08/2025</a:t>
            </a:fld>
            <a:endParaRPr lang="pt-BR"/>
          </a:p>
        </p:txBody>
      </p:sp>
      <p:sp>
        <p:nvSpPr>
          <p:cNvPr id="5" name="Footer Placeholder 4">
            <a:extLst>
              <a:ext uri="{FF2B5EF4-FFF2-40B4-BE49-F238E27FC236}">
                <a16:creationId xmlns:a16="http://schemas.microsoft.com/office/drawing/2014/main" id="{BE66E681-2A6F-0CE2-2D99-35BD43C23424}"/>
              </a:ext>
            </a:extLst>
          </p:cNvPr>
          <p:cNvSpPr>
            <a:spLocks noGrp="1"/>
          </p:cNvSpPr>
          <p:nvPr>
            <p:ph type="ftr" sz="quarter" idx="11"/>
          </p:nvPr>
        </p:nvSpPr>
        <p:spPr/>
        <p:txBody>
          <a:bodyPr/>
          <a:lstStyle/>
          <a:p>
            <a:r>
              <a:rPr lang="pt-BR" dirty="0"/>
              <a:t>Avaliação de Aluguéis – Prof. Luiz Droubi</a:t>
            </a:r>
          </a:p>
        </p:txBody>
      </p:sp>
      <p:sp>
        <p:nvSpPr>
          <p:cNvPr id="6" name="Slide Number Placeholder 5">
            <a:extLst>
              <a:ext uri="{FF2B5EF4-FFF2-40B4-BE49-F238E27FC236}">
                <a16:creationId xmlns:a16="http://schemas.microsoft.com/office/drawing/2014/main" id="{FD5A42ED-9BA8-B94A-2523-84DBC8DD7CB6}"/>
              </a:ext>
            </a:extLst>
          </p:cNvPr>
          <p:cNvSpPr>
            <a:spLocks noGrp="1"/>
          </p:cNvSpPr>
          <p:nvPr>
            <p:ph type="sldNum" sz="quarter" idx="12"/>
          </p:nvPr>
        </p:nvSpPr>
        <p:spPr>
          <a:xfrm>
            <a:off x="8610600" y="6356350"/>
            <a:ext cx="2743200" cy="365125"/>
          </a:xfrm>
          <a:prstGeom prst="rect">
            <a:avLst/>
          </a:prstGeom>
        </p:spPr>
        <p:txBody>
          <a:bodyPr/>
          <a:lstStyle/>
          <a:p>
            <a:fld id="{A845C7DE-4DED-4D23-9A7C-BB8E49D80690}" type="slidenum">
              <a:rPr lang="pt-BR" smtClean="0"/>
              <a:t>‹#›</a:t>
            </a:fld>
            <a:endParaRPr lang="pt-BR" dirty="0"/>
          </a:p>
        </p:txBody>
      </p:sp>
    </p:spTree>
    <p:extLst>
      <p:ext uri="{BB962C8B-B14F-4D97-AF65-F5344CB8AC3E}">
        <p14:creationId xmlns:p14="http://schemas.microsoft.com/office/powerpoint/2010/main" val="7214835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09A65-87C6-A0D0-64A7-121C4D105C33}"/>
              </a:ext>
            </a:extLst>
          </p:cNvPr>
          <p:cNvSpPr>
            <a:spLocks noGrp="1"/>
          </p:cNvSpPr>
          <p:nvPr>
            <p:ph type="title"/>
          </p:nvPr>
        </p:nvSpPr>
        <p:spPr>
          <a:xfrm>
            <a:off x="7010400" y="1080656"/>
            <a:ext cx="4337050" cy="3481820"/>
          </a:xfrm>
          <a:prstGeom prst="rect">
            <a:avLst/>
          </a:prstGeom>
        </p:spPr>
        <p:txBody>
          <a:bodyPr anchor="b">
            <a:normAutofit/>
          </a:bodyPr>
          <a:lstStyle>
            <a:lvl1pPr>
              <a:defRPr sz="4400"/>
            </a:lvl1pPr>
          </a:lstStyle>
          <a:p>
            <a:r>
              <a:rPr lang="en-US" dirty="0"/>
              <a:t>Click to edit Master title style</a:t>
            </a:r>
            <a:endParaRPr lang="pt-BR" dirty="0"/>
          </a:p>
        </p:txBody>
      </p:sp>
      <p:sp>
        <p:nvSpPr>
          <p:cNvPr id="6" name="Slide Number Placeholder 5">
            <a:extLst>
              <a:ext uri="{FF2B5EF4-FFF2-40B4-BE49-F238E27FC236}">
                <a16:creationId xmlns:a16="http://schemas.microsoft.com/office/drawing/2014/main" id="{2E4A4A0E-8BB9-250E-3B6F-5C1B3C885B5C}"/>
              </a:ext>
            </a:extLst>
          </p:cNvPr>
          <p:cNvSpPr>
            <a:spLocks noGrp="1"/>
          </p:cNvSpPr>
          <p:nvPr>
            <p:ph type="sldNum" sz="quarter" idx="12"/>
          </p:nvPr>
        </p:nvSpPr>
        <p:spPr>
          <a:xfrm>
            <a:off x="8610600" y="6356350"/>
            <a:ext cx="2743200" cy="365125"/>
          </a:xfrm>
          <a:prstGeom prst="rect">
            <a:avLst/>
          </a:prstGeom>
        </p:spPr>
        <p:txBody>
          <a:bodyPr/>
          <a:lstStyle/>
          <a:p>
            <a:fld id="{A845C7DE-4DED-4D23-9A7C-BB8E49D80690}" type="slidenum">
              <a:rPr lang="pt-BR" smtClean="0"/>
              <a:t>‹#›</a:t>
            </a:fld>
            <a:endParaRPr lang="pt-BR"/>
          </a:p>
        </p:txBody>
      </p:sp>
    </p:spTree>
    <p:extLst>
      <p:ext uri="{BB962C8B-B14F-4D97-AF65-F5344CB8AC3E}">
        <p14:creationId xmlns:p14="http://schemas.microsoft.com/office/powerpoint/2010/main" val="17843020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2" name="Picture 11" descr="A white background with black text&#10;&#10;AI-generated content may be incorrect.">
            <a:extLst>
              <a:ext uri="{FF2B5EF4-FFF2-40B4-BE49-F238E27FC236}">
                <a16:creationId xmlns:a16="http://schemas.microsoft.com/office/drawing/2014/main" id="{0A16FCF3-D3F0-3D4C-0EAF-680FBDA385D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9AB95C04-CC6F-1CD5-4027-3306C4B7516C}"/>
              </a:ext>
            </a:extLst>
          </p:cNvPr>
          <p:cNvSpPr>
            <a:spLocks noGrp="1"/>
          </p:cNvSpPr>
          <p:nvPr>
            <p:ph type="title"/>
          </p:nvPr>
        </p:nvSpPr>
        <p:spPr>
          <a:xfrm>
            <a:off x="838200" y="990600"/>
            <a:ext cx="10515600" cy="700088"/>
          </a:xfrm>
          <a:prstGeom prst="rect">
            <a:avLst/>
          </a:prstGeom>
        </p:spPr>
        <p:txBody>
          <a:bodyPr/>
          <a:lstStyle>
            <a:lvl1pPr>
              <a:defRPr>
                <a:latin typeface="Calibri Light" panose="020F0302020204030204" pitchFamily="34" charset="0"/>
                <a:ea typeface="Calibri Light" panose="020F0302020204030204" pitchFamily="34" charset="0"/>
                <a:cs typeface="Calibri Light" panose="020F0302020204030204" pitchFamily="34" charset="0"/>
              </a:defRPr>
            </a:lvl1pPr>
          </a:lstStyle>
          <a:p>
            <a:r>
              <a:rPr lang="en-US" dirty="0"/>
              <a:t>Click to edit Master title style</a:t>
            </a:r>
            <a:endParaRPr lang="pt-BR" dirty="0"/>
          </a:p>
        </p:txBody>
      </p:sp>
      <p:sp>
        <p:nvSpPr>
          <p:cNvPr id="3" name="Content Placeholder 2">
            <a:extLst>
              <a:ext uri="{FF2B5EF4-FFF2-40B4-BE49-F238E27FC236}">
                <a16:creationId xmlns:a16="http://schemas.microsoft.com/office/drawing/2014/main" id="{1A3C9F7A-0844-0C9F-745C-595915C1A032}"/>
              </a:ext>
            </a:extLst>
          </p:cNvPr>
          <p:cNvSpPr>
            <a:spLocks noGrp="1"/>
          </p:cNvSpPr>
          <p:nvPr>
            <p:ph sz="half" idx="1"/>
          </p:nvPr>
        </p:nvSpPr>
        <p:spPr>
          <a:xfrm>
            <a:off x="838200" y="1825625"/>
            <a:ext cx="5181600" cy="4351338"/>
          </a:xfrm>
          <a:prstGeom prst="rect">
            <a:avLst/>
          </a:prstGeom>
        </p:spPr>
        <p:txBody>
          <a:bodyPr/>
          <a:lstStyle>
            <a:lvl1pPr>
              <a:defRPr sz="2400">
                <a:latin typeface="Calibri Light" panose="020F0302020204030204" pitchFamily="34" charset="0"/>
                <a:ea typeface="Calibri Light" panose="020F0302020204030204" pitchFamily="34" charset="0"/>
                <a:cs typeface="Calibri Light" panose="020F0302020204030204" pitchFamily="34" charset="0"/>
              </a:defRPr>
            </a:lvl1pPr>
            <a:lvl2pPr>
              <a:defRPr>
                <a:latin typeface="Calibri Light" panose="020F0302020204030204" pitchFamily="34" charset="0"/>
                <a:ea typeface="Calibri Light" panose="020F0302020204030204" pitchFamily="34" charset="0"/>
                <a:cs typeface="Calibri Light" panose="020F0302020204030204" pitchFamily="34" charset="0"/>
              </a:defRPr>
            </a:lvl2pPr>
            <a:lvl3pPr>
              <a:defRPr>
                <a:latin typeface="Calibri Light" panose="020F0302020204030204" pitchFamily="34" charset="0"/>
                <a:ea typeface="Calibri Light" panose="020F0302020204030204" pitchFamily="34" charset="0"/>
                <a:cs typeface="Calibri Light" panose="020F0302020204030204" pitchFamily="34" charset="0"/>
              </a:defRPr>
            </a:lvl3pPr>
            <a:lvl4pPr>
              <a:defRPr>
                <a:latin typeface="Calibri Light" panose="020F0302020204030204" pitchFamily="34" charset="0"/>
                <a:ea typeface="Calibri Light" panose="020F0302020204030204" pitchFamily="34" charset="0"/>
                <a:cs typeface="Calibri Light" panose="020F0302020204030204" pitchFamily="34" charset="0"/>
              </a:defRPr>
            </a:lvl4pPr>
            <a:lvl5pPr>
              <a:defRPr>
                <a:latin typeface="Calibri Light" panose="020F0302020204030204" pitchFamily="34" charset="0"/>
                <a:ea typeface="Calibri Light" panose="020F0302020204030204" pitchFamily="34" charset="0"/>
                <a:cs typeface="Calibri Light" panose="020F03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pt-BR" dirty="0"/>
          </a:p>
        </p:txBody>
      </p:sp>
      <p:sp>
        <p:nvSpPr>
          <p:cNvPr id="4" name="Content Placeholder 3">
            <a:extLst>
              <a:ext uri="{FF2B5EF4-FFF2-40B4-BE49-F238E27FC236}">
                <a16:creationId xmlns:a16="http://schemas.microsoft.com/office/drawing/2014/main" id="{F1D3C290-0A1C-BF66-84A7-0888B63645A3}"/>
              </a:ext>
            </a:extLst>
          </p:cNvPr>
          <p:cNvSpPr>
            <a:spLocks noGrp="1"/>
          </p:cNvSpPr>
          <p:nvPr>
            <p:ph sz="half" idx="2"/>
          </p:nvPr>
        </p:nvSpPr>
        <p:spPr>
          <a:xfrm>
            <a:off x="6172200" y="1825625"/>
            <a:ext cx="5181600" cy="4351338"/>
          </a:xfrm>
          <a:prstGeom prst="rect">
            <a:avLst/>
          </a:prstGeom>
        </p:spPr>
        <p:txBody>
          <a:bodyPr/>
          <a:lstStyle>
            <a:lvl1pPr>
              <a:defRPr sz="2400">
                <a:latin typeface="Calibri Light" panose="020F0302020204030204" pitchFamily="34" charset="0"/>
                <a:ea typeface="Calibri Light" panose="020F0302020204030204" pitchFamily="34" charset="0"/>
                <a:cs typeface="Calibri Light" panose="020F0302020204030204" pitchFamily="34" charset="0"/>
              </a:defRPr>
            </a:lvl1pPr>
            <a:lvl2pPr>
              <a:defRPr>
                <a:latin typeface="Calibri Light" panose="020F0302020204030204" pitchFamily="34" charset="0"/>
                <a:ea typeface="Calibri Light" panose="020F0302020204030204" pitchFamily="34" charset="0"/>
                <a:cs typeface="Calibri Light" panose="020F0302020204030204" pitchFamily="34" charset="0"/>
              </a:defRPr>
            </a:lvl2pPr>
            <a:lvl3pPr>
              <a:defRPr>
                <a:latin typeface="Calibri Light" panose="020F0302020204030204" pitchFamily="34" charset="0"/>
                <a:ea typeface="Calibri Light" panose="020F0302020204030204" pitchFamily="34" charset="0"/>
                <a:cs typeface="Calibri Light" panose="020F0302020204030204" pitchFamily="34" charset="0"/>
              </a:defRPr>
            </a:lvl3pPr>
            <a:lvl4pPr>
              <a:defRPr>
                <a:latin typeface="Calibri Light" panose="020F0302020204030204" pitchFamily="34" charset="0"/>
                <a:ea typeface="Calibri Light" panose="020F0302020204030204" pitchFamily="34" charset="0"/>
                <a:cs typeface="Calibri Light" panose="020F0302020204030204" pitchFamily="34" charset="0"/>
              </a:defRPr>
            </a:lvl4pPr>
            <a:lvl5pPr>
              <a:defRPr>
                <a:latin typeface="Calibri Light" panose="020F0302020204030204" pitchFamily="34" charset="0"/>
                <a:ea typeface="Calibri Light" panose="020F0302020204030204" pitchFamily="34" charset="0"/>
                <a:cs typeface="Calibri Light" panose="020F03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pt-BR" dirty="0"/>
          </a:p>
        </p:txBody>
      </p:sp>
      <p:sp>
        <p:nvSpPr>
          <p:cNvPr id="5" name="Date Placeholder 4">
            <a:extLst>
              <a:ext uri="{FF2B5EF4-FFF2-40B4-BE49-F238E27FC236}">
                <a16:creationId xmlns:a16="http://schemas.microsoft.com/office/drawing/2014/main" id="{22FECB4A-0386-3039-0851-CCC3E04D9CE8}"/>
              </a:ext>
            </a:extLst>
          </p:cNvPr>
          <p:cNvSpPr>
            <a:spLocks noGrp="1"/>
          </p:cNvSpPr>
          <p:nvPr>
            <p:ph type="dt" sz="half" idx="10"/>
          </p:nvPr>
        </p:nvSpPr>
        <p:spPr>
          <a:xfrm>
            <a:off x="838200" y="6356350"/>
            <a:ext cx="2743200" cy="365125"/>
          </a:xfrm>
          <a:prstGeom prst="rect">
            <a:avLst/>
          </a:prstGeom>
        </p:spPr>
        <p:txBody>
          <a:bodyPr/>
          <a:lstStyle/>
          <a:p>
            <a:fld id="{B8E782E1-44D1-417C-B4AA-50D7BFA4EE6C}" type="datetimeFigureOut">
              <a:rPr lang="pt-BR" smtClean="0"/>
              <a:t>12/08/2025</a:t>
            </a:fld>
            <a:endParaRPr lang="pt-BR"/>
          </a:p>
        </p:txBody>
      </p:sp>
      <p:sp>
        <p:nvSpPr>
          <p:cNvPr id="6" name="Footer Placeholder 5">
            <a:extLst>
              <a:ext uri="{FF2B5EF4-FFF2-40B4-BE49-F238E27FC236}">
                <a16:creationId xmlns:a16="http://schemas.microsoft.com/office/drawing/2014/main" id="{6CA92097-C142-BB53-623E-8005A2F1511A}"/>
              </a:ext>
            </a:extLst>
          </p:cNvPr>
          <p:cNvSpPr>
            <a:spLocks noGrp="1"/>
          </p:cNvSpPr>
          <p:nvPr>
            <p:ph type="ftr" sz="quarter" idx="11"/>
          </p:nvPr>
        </p:nvSpPr>
        <p:spPr/>
        <p:txBody>
          <a:bodyPr/>
          <a:lstStyle/>
          <a:p>
            <a:r>
              <a:rPr lang="pt-BR" dirty="0"/>
              <a:t>Avaliações de Aluguéis – Prof. Luiz Droubi</a:t>
            </a:r>
          </a:p>
        </p:txBody>
      </p:sp>
      <p:sp>
        <p:nvSpPr>
          <p:cNvPr id="7" name="Slide Number Placeholder 6">
            <a:extLst>
              <a:ext uri="{FF2B5EF4-FFF2-40B4-BE49-F238E27FC236}">
                <a16:creationId xmlns:a16="http://schemas.microsoft.com/office/drawing/2014/main" id="{9DDD9C17-D42B-D90D-FEA0-420C57795162}"/>
              </a:ext>
            </a:extLst>
          </p:cNvPr>
          <p:cNvSpPr>
            <a:spLocks noGrp="1"/>
          </p:cNvSpPr>
          <p:nvPr>
            <p:ph type="sldNum" sz="quarter" idx="12"/>
          </p:nvPr>
        </p:nvSpPr>
        <p:spPr>
          <a:xfrm>
            <a:off x="8610600" y="6356350"/>
            <a:ext cx="2743200" cy="365125"/>
          </a:xfrm>
          <a:prstGeom prst="rect">
            <a:avLst/>
          </a:prstGeom>
        </p:spPr>
        <p:txBody>
          <a:bodyPr/>
          <a:lstStyle/>
          <a:p>
            <a:fld id="{A845C7DE-4DED-4D23-9A7C-BB8E49D80690}" type="slidenum">
              <a:rPr lang="pt-BR" smtClean="0"/>
              <a:t>‹#›</a:t>
            </a:fld>
            <a:endParaRPr lang="pt-BR"/>
          </a:p>
        </p:txBody>
      </p:sp>
    </p:spTree>
    <p:extLst>
      <p:ext uri="{BB962C8B-B14F-4D97-AF65-F5344CB8AC3E}">
        <p14:creationId xmlns:p14="http://schemas.microsoft.com/office/powerpoint/2010/main" val="2690646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1" name="Picture 10" descr="A white background with black text&#10;&#10;AI-generated content may be incorrect.">
            <a:extLst>
              <a:ext uri="{FF2B5EF4-FFF2-40B4-BE49-F238E27FC236}">
                <a16:creationId xmlns:a16="http://schemas.microsoft.com/office/drawing/2014/main" id="{48251B0B-D73E-0498-462C-8DAFE974515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6EFCD8AA-A4C0-5B63-3615-FF99B19EAB22}"/>
              </a:ext>
            </a:extLst>
          </p:cNvPr>
          <p:cNvSpPr>
            <a:spLocks noGrp="1"/>
          </p:cNvSpPr>
          <p:nvPr>
            <p:ph type="title"/>
          </p:nvPr>
        </p:nvSpPr>
        <p:spPr>
          <a:xfrm>
            <a:off x="836612" y="935038"/>
            <a:ext cx="10506076" cy="746125"/>
          </a:xfrm>
          <a:prstGeom prst="rect">
            <a:avLst/>
          </a:prstGeom>
        </p:spPr>
        <p:txBody>
          <a:bodyPr/>
          <a:lstStyle>
            <a:lvl1pPr>
              <a:defRPr>
                <a:latin typeface="Calibri Light" panose="020F0302020204030204" pitchFamily="34" charset="0"/>
                <a:ea typeface="Calibri Light" panose="020F0302020204030204" pitchFamily="34" charset="0"/>
                <a:cs typeface="Calibri Light" panose="020F0302020204030204" pitchFamily="34" charset="0"/>
              </a:defRPr>
            </a:lvl1pPr>
          </a:lstStyle>
          <a:p>
            <a:r>
              <a:rPr lang="en-US" dirty="0"/>
              <a:t>Click to edit Master title style</a:t>
            </a:r>
            <a:endParaRPr lang="pt-BR" dirty="0"/>
          </a:p>
        </p:txBody>
      </p:sp>
      <p:sp>
        <p:nvSpPr>
          <p:cNvPr id="3" name="Text Placeholder 2">
            <a:extLst>
              <a:ext uri="{FF2B5EF4-FFF2-40B4-BE49-F238E27FC236}">
                <a16:creationId xmlns:a16="http://schemas.microsoft.com/office/drawing/2014/main" id="{7DDFEA84-1946-DBE6-D247-7CA7EE7314A2}"/>
              </a:ext>
            </a:extLst>
          </p:cNvPr>
          <p:cNvSpPr>
            <a:spLocks noGrp="1"/>
          </p:cNvSpPr>
          <p:nvPr>
            <p:ph type="body" idx="1"/>
          </p:nvPr>
        </p:nvSpPr>
        <p:spPr>
          <a:xfrm>
            <a:off x="839788" y="1681163"/>
            <a:ext cx="5157787" cy="823912"/>
          </a:xfrm>
          <a:prstGeom prst="rect">
            <a:avLst/>
          </a:prstGeom>
        </p:spPr>
        <p:txBody>
          <a:bodyPr anchor="b"/>
          <a:lstStyle>
            <a:lvl1pPr marL="0" indent="0">
              <a:buNone/>
              <a:defRPr sz="2800" b="1">
                <a:latin typeface="Calibri Light" panose="020F0302020204030204" pitchFamily="34" charset="0"/>
                <a:ea typeface="Calibri Light" panose="020F0302020204030204" pitchFamily="34" charset="0"/>
                <a:cs typeface="Calibri Light" panose="020F0302020204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7F8345DF-1932-E5A8-6820-7C8C3A19F5C1}"/>
              </a:ext>
            </a:extLst>
          </p:cNvPr>
          <p:cNvSpPr>
            <a:spLocks noGrp="1"/>
          </p:cNvSpPr>
          <p:nvPr>
            <p:ph sz="half" idx="2"/>
          </p:nvPr>
        </p:nvSpPr>
        <p:spPr>
          <a:xfrm>
            <a:off x="839788" y="2505075"/>
            <a:ext cx="5157787" cy="3684588"/>
          </a:xfrm>
          <a:prstGeom prst="rect">
            <a:avLst/>
          </a:prstGeom>
        </p:spPr>
        <p:txBody>
          <a:bodyPr/>
          <a:lstStyle>
            <a:lvl1pPr>
              <a:defRPr sz="2400">
                <a:latin typeface="Calibri Light" panose="020F0302020204030204" pitchFamily="34" charset="0"/>
                <a:ea typeface="Calibri Light" panose="020F0302020204030204" pitchFamily="34" charset="0"/>
                <a:cs typeface="Calibri Light" panose="020F0302020204030204" pitchFamily="34" charset="0"/>
              </a:defRPr>
            </a:lvl1pPr>
            <a:lvl2pPr>
              <a:defRPr>
                <a:latin typeface="Calibri Light" panose="020F0302020204030204" pitchFamily="34" charset="0"/>
                <a:ea typeface="Calibri Light" panose="020F0302020204030204" pitchFamily="34" charset="0"/>
                <a:cs typeface="Calibri Light" panose="020F0302020204030204" pitchFamily="34" charset="0"/>
              </a:defRPr>
            </a:lvl2pPr>
            <a:lvl3pPr>
              <a:defRPr>
                <a:latin typeface="Calibri Light" panose="020F0302020204030204" pitchFamily="34" charset="0"/>
                <a:ea typeface="Calibri Light" panose="020F0302020204030204" pitchFamily="34" charset="0"/>
                <a:cs typeface="Calibri Light" panose="020F0302020204030204" pitchFamily="34" charset="0"/>
              </a:defRPr>
            </a:lvl3pPr>
            <a:lvl4pPr>
              <a:defRPr>
                <a:latin typeface="Calibri Light" panose="020F0302020204030204" pitchFamily="34" charset="0"/>
                <a:ea typeface="Calibri Light" panose="020F0302020204030204" pitchFamily="34" charset="0"/>
                <a:cs typeface="Calibri Light" panose="020F0302020204030204" pitchFamily="34" charset="0"/>
              </a:defRPr>
            </a:lvl4pPr>
            <a:lvl5pPr>
              <a:defRPr>
                <a:latin typeface="Calibri Light" panose="020F0302020204030204" pitchFamily="34" charset="0"/>
                <a:ea typeface="Calibri Light" panose="020F0302020204030204" pitchFamily="34" charset="0"/>
                <a:cs typeface="Calibri Light" panose="020F03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pt-BR" dirty="0"/>
          </a:p>
        </p:txBody>
      </p:sp>
      <p:sp>
        <p:nvSpPr>
          <p:cNvPr id="5" name="Text Placeholder 4">
            <a:extLst>
              <a:ext uri="{FF2B5EF4-FFF2-40B4-BE49-F238E27FC236}">
                <a16:creationId xmlns:a16="http://schemas.microsoft.com/office/drawing/2014/main" id="{FA093969-95B1-DCCB-7590-32DC494E4877}"/>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800" b="1">
                <a:latin typeface="Calibri Light" panose="020F0302020204030204" pitchFamily="34" charset="0"/>
                <a:ea typeface="Calibri Light" panose="020F0302020204030204" pitchFamily="34" charset="0"/>
                <a:cs typeface="Calibri Light" panose="020F0302020204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C05BD13B-C7A3-BC61-0A2C-4A180D54B607}"/>
              </a:ext>
            </a:extLst>
          </p:cNvPr>
          <p:cNvSpPr>
            <a:spLocks noGrp="1"/>
          </p:cNvSpPr>
          <p:nvPr>
            <p:ph sz="quarter" idx="4"/>
          </p:nvPr>
        </p:nvSpPr>
        <p:spPr>
          <a:xfrm>
            <a:off x="6172200" y="2505075"/>
            <a:ext cx="5183188" cy="3684588"/>
          </a:xfrm>
          <a:prstGeom prst="rect">
            <a:avLst/>
          </a:prstGeom>
        </p:spPr>
        <p:txBody>
          <a:bodyPr/>
          <a:lstStyle>
            <a:lvl1pPr>
              <a:defRPr sz="2400">
                <a:latin typeface="Calibri Light" panose="020F0302020204030204" pitchFamily="34" charset="0"/>
                <a:ea typeface="Calibri Light" panose="020F0302020204030204" pitchFamily="34" charset="0"/>
                <a:cs typeface="Calibri Light" panose="020F0302020204030204" pitchFamily="34" charset="0"/>
              </a:defRPr>
            </a:lvl1pPr>
            <a:lvl2pPr>
              <a:defRPr>
                <a:latin typeface="Calibri Light" panose="020F0302020204030204" pitchFamily="34" charset="0"/>
                <a:ea typeface="Calibri Light" panose="020F0302020204030204" pitchFamily="34" charset="0"/>
                <a:cs typeface="Calibri Light" panose="020F0302020204030204" pitchFamily="34" charset="0"/>
              </a:defRPr>
            </a:lvl2pPr>
            <a:lvl3pPr>
              <a:defRPr>
                <a:latin typeface="Calibri Light" panose="020F0302020204030204" pitchFamily="34" charset="0"/>
                <a:ea typeface="Calibri Light" panose="020F0302020204030204" pitchFamily="34" charset="0"/>
                <a:cs typeface="Calibri Light" panose="020F0302020204030204" pitchFamily="34" charset="0"/>
              </a:defRPr>
            </a:lvl3pPr>
            <a:lvl4pPr>
              <a:defRPr>
                <a:latin typeface="Calibri Light" panose="020F0302020204030204" pitchFamily="34" charset="0"/>
                <a:ea typeface="Calibri Light" panose="020F0302020204030204" pitchFamily="34" charset="0"/>
                <a:cs typeface="Calibri Light" panose="020F0302020204030204" pitchFamily="34" charset="0"/>
              </a:defRPr>
            </a:lvl4pPr>
            <a:lvl5pPr>
              <a:defRPr>
                <a:latin typeface="Calibri Light" panose="020F0302020204030204" pitchFamily="34" charset="0"/>
                <a:ea typeface="Calibri Light" panose="020F0302020204030204" pitchFamily="34" charset="0"/>
                <a:cs typeface="Calibri Light" panose="020F03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pt-BR" dirty="0"/>
          </a:p>
        </p:txBody>
      </p:sp>
      <p:sp>
        <p:nvSpPr>
          <p:cNvPr id="7" name="Date Placeholder 6">
            <a:extLst>
              <a:ext uri="{FF2B5EF4-FFF2-40B4-BE49-F238E27FC236}">
                <a16:creationId xmlns:a16="http://schemas.microsoft.com/office/drawing/2014/main" id="{D234C295-0681-0C23-0480-95E2F96B2BF0}"/>
              </a:ext>
            </a:extLst>
          </p:cNvPr>
          <p:cNvSpPr>
            <a:spLocks noGrp="1"/>
          </p:cNvSpPr>
          <p:nvPr>
            <p:ph type="dt" sz="half" idx="10"/>
          </p:nvPr>
        </p:nvSpPr>
        <p:spPr>
          <a:xfrm>
            <a:off x="838200" y="6356350"/>
            <a:ext cx="2743200" cy="365125"/>
          </a:xfrm>
          <a:prstGeom prst="rect">
            <a:avLst/>
          </a:prstGeom>
        </p:spPr>
        <p:txBody>
          <a:bodyPr/>
          <a:lstStyle/>
          <a:p>
            <a:fld id="{B8E782E1-44D1-417C-B4AA-50D7BFA4EE6C}" type="datetimeFigureOut">
              <a:rPr lang="pt-BR" smtClean="0"/>
              <a:t>12/08/2025</a:t>
            </a:fld>
            <a:endParaRPr lang="pt-BR"/>
          </a:p>
        </p:txBody>
      </p:sp>
      <p:sp>
        <p:nvSpPr>
          <p:cNvPr id="8" name="Footer Placeholder 7">
            <a:extLst>
              <a:ext uri="{FF2B5EF4-FFF2-40B4-BE49-F238E27FC236}">
                <a16:creationId xmlns:a16="http://schemas.microsoft.com/office/drawing/2014/main" id="{544C8C7E-DD30-1A6D-49BD-775F13B2EEBB}"/>
              </a:ext>
            </a:extLst>
          </p:cNvPr>
          <p:cNvSpPr>
            <a:spLocks noGrp="1"/>
          </p:cNvSpPr>
          <p:nvPr>
            <p:ph type="ftr" sz="quarter" idx="11"/>
          </p:nvPr>
        </p:nvSpPr>
        <p:spPr/>
        <p:txBody>
          <a:bodyPr/>
          <a:lstStyle/>
          <a:p>
            <a:endParaRPr lang="pt-BR"/>
          </a:p>
        </p:txBody>
      </p:sp>
      <p:sp>
        <p:nvSpPr>
          <p:cNvPr id="9" name="Slide Number Placeholder 8">
            <a:extLst>
              <a:ext uri="{FF2B5EF4-FFF2-40B4-BE49-F238E27FC236}">
                <a16:creationId xmlns:a16="http://schemas.microsoft.com/office/drawing/2014/main" id="{6A41F14D-A749-3310-7F10-52D7AD5E55B5}"/>
              </a:ext>
            </a:extLst>
          </p:cNvPr>
          <p:cNvSpPr>
            <a:spLocks noGrp="1"/>
          </p:cNvSpPr>
          <p:nvPr>
            <p:ph type="sldNum" sz="quarter" idx="12"/>
          </p:nvPr>
        </p:nvSpPr>
        <p:spPr>
          <a:xfrm>
            <a:off x="8610600" y="6356350"/>
            <a:ext cx="2743200" cy="365125"/>
          </a:xfrm>
          <a:prstGeom prst="rect">
            <a:avLst/>
          </a:prstGeom>
        </p:spPr>
        <p:txBody>
          <a:bodyPr/>
          <a:lstStyle/>
          <a:p>
            <a:fld id="{A845C7DE-4DED-4D23-9A7C-BB8E49D80690}" type="slidenum">
              <a:rPr lang="pt-BR" smtClean="0"/>
              <a:t>‹#›</a:t>
            </a:fld>
            <a:endParaRPr lang="pt-BR"/>
          </a:p>
        </p:txBody>
      </p:sp>
    </p:spTree>
    <p:extLst>
      <p:ext uri="{BB962C8B-B14F-4D97-AF65-F5344CB8AC3E}">
        <p14:creationId xmlns:p14="http://schemas.microsoft.com/office/powerpoint/2010/main" val="3252257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A white background with black text&#10;&#10;AI-generated content may be incorrect.">
            <a:extLst>
              <a:ext uri="{FF2B5EF4-FFF2-40B4-BE49-F238E27FC236}">
                <a16:creationId xmlns:a16="http://schemas.microsoft.com/office/drawing/2014/main" id="{BCEC30F6-C215-0C16-327C-F05F9F5CA14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F0CB0D80-2C6C-D796-58D3-D863794697D5}"/>
              </a:ext>
            </a:extLst>
          </p:cNvPr>
          <p:cNvSpPr>
            <a:spLocks noGrp="1"/>
          </p:cNvSpPr>
          <p:nvPr>
            <p:ph type="title"/>
          </p:nvPr>
        </p:nvSpPr>
        <p:spPr>
          <a:xfrm>
            <a:off x="838199" y="993199"/>
            <a:ext cx="10679545" cy="891020"/>
          </a:xfrm>
          <a:prstGeom prst="rect">
            <a:avLst/>
          </a:prstGeom>
        </p:spPr>
        <p:txBody>
          <a:bodyPr/>
          <a:lstStyle/>
          <a:p>
            <a:r>
              <a:rPr lang="en-US" dirty="0"/>
              <a:t>Click to edit Master title style</a:t>
            </a:r>
            <a:endParaRPr lang="pt-BR" dirty="0"/>
          </a:p>
        </p:txBody>
      </p:sp>
      <p:sp>
        <p:nvSpPr>
          <p:cNvPr id="3" name="Date Placeholder 2">
            <a:extLst>
              <a:ext uri="{FF2B5EF4-FFF2-40B4-BE49-F238E27FC236}">
                <a16:creationId xmlns:a16="http://schemas.microsoft.com/office/drawing/2014/main" id="{60B44A4E-1FD5-1155-7B86-C0286EE3AB18}"/>
              </a:ext>
            </a:extLst>
          </p:cNvPr>
          <p:cNvSpPr>
            <a:spLocks noGrp="1"/>
          </p:cNvSpPr>
          <p:nvPr>
            <p:ph type="dt" sz="half" idx="10"/>
          </p:nvPr>
        </p:nvSpPr>
        <p:spPr>
          <a:xfrm>
            <a:off x="838200" y="6356350"/>
            <a:ext cx="2743200" cy="365125"/>
          </a:xfrm>
          <a:prstGeom prst="rect">
            <a:avLst/>
          </a:prstGeom>
        </p:spPr>
        <p:txBody>
          <a:bodyPr/>
          <a:lstStyle/>
          <a:p>
            <a:fld id="{B8E782E1-44D1-417C-B4AA-50D7BFA4EE6C}" type="datetimeFigureOut">
              <a:rPr lang="pt-BR" smtClean="0"/>
              <a:t>12/08/2025</a:t>
            </a:fld>
            <a:endParaRPr lang="pt-BR"/>
          </a:p>
        </p:txBody>
      </p:sp>
      <p:sp>
        <p:nvSpPr>
          <p:cNvPr id="4" name="Footer Placeholder 3">
            <a:extLst>
              <a:ext uri="{FF2B5EF4-FFF2-40B4-BE49-F238E27FC236}">
                <a16:creationId xmlns:a16="http://schemas.microsoft.com/office/drawing/2014/main" id="{25DCEC8B-6062-2D30-1642-1F591A8A63EE}"/>
              </a:ext>
            </a:extLst>
          </p:cNvPr>
          <p:cNvSpPr>
            <a:spLocks noGrp="1"/>
          </p:cNvSpPr>
          <p:nvPr>
            <p:ph type="ftr" sz="quarter" idx="11"/>
          </p:nvPr>
        </p:nvSpPr>
        <p:spPr/>
        <p:txBody>
          <a:bodyPr/>
          <a:lstStyle/>
          <a:p>
            <a:endParaRPr lang="pt-BR"/>
          </a:p>
        </p:txBody>
      </p:sp>
      <p:sp>
        <p:nvSpPr>
          <p:cNvPr id="5" name="Slide Number Placeholder 4">
            <a:extLst>
              <a:ext uri="{FF2B5EF4-FFF2-40B4-BE49-F238E27FC236}">
                <a16:creationId xmlns:a16="http://schemas.microsoft.com/office/drawing/2014/main" id="{5BAE0141-205B-B8DB-94C4-95145D592949}"/>
              </a:ext>
            </a:extLst>
          </p:cNvPr>
          <p:cNvSpPr>
            <a:spLocks noGrp="1"/>
          </p:cNvSpPr>
          <p:nvPr>
            <p:ph type="sldNum" sz="quarter" idx="12"/>
          </p:nvPr>
        </p:nvSpPr>
        <p:spPr>
          <a:xfrm>
            <a:off x="8610600" y="6356350"/>
            <a:ext cx="2743200" cy="365125"/>
          </a:xfrm>
          <a:prstGeom prst="rect">
            <a:avLst/>
          </a:prstGeom>
        </p:spPr>
        <p:txBody>
          <a:bodyPr/>
          <a:lstStyle/>
          <a:p>
            <a:fld id="{A845C7DE-4DED-4D23-9A7C-BB8E49D80690}" type="slidenum">
              <a:rPr lang="pt-BR" smtClean="0"/>
              <a:t>‹#›</a:t>
            </a:fld>
            <a:endParaRPr lang="pt-BR"/>
          </a:p>
        </p:txBody>
      </p:sp>
    </p:spTree>
    <p:extLst>
      <p:ext uri="{BB962C8B-B14F-4D97-AF65-F5344CB8AC3E}">
        <p14:creationId xmlns:p14="http://schemas.microsoft.com/office/powerpoint/2010/main" val="3697178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DE91E5A-8957-3612-FD30-8EFB0ED74152}"/>
              </a:ext>
            </a:extLst>
          </p:cNvPr>
          <p:cNvSpPr>
            <a:spLocks noGrp="1"/>
          </p:cNvSpPr>
          <p:nvPr>
            <p:ph type="dt" sz="half" idx="10"/>
          </p:nvPr>
        </p:nvSpPr>
        <p:spPr>
          <a:xfrm>
            <a:off x="838200" y="6356350"/>
            <a:ext cx="2743200" cy="365125"/>
          </a:xfrm>
          <a:prstGeom prst="rect">
            <a:avLst/>
          </a:prstGeom>
        </p:spPr>
        <p:txBody>
          <a:bodyPr/>
          <a:lstStyle/>
          <a:p>
            <a:fld id="{B8E782E1-44D1-417C-B4AA-50D7BFA4EE6C}" type="datetimeFigureOut">
              <a:rPr lang="pt-BR" smtClean="0"/>
              <a:t>12/08/2025</a:t>
            </a:fld>
            <a:endParaRPr lang="pt-BR"/>
          </a:p>
        </p:txBody>
      </p:sp>
      <p:sp>
        <p:nvSpPr>
          <p:cNvPr id="3" name="Footer Placeholder 2">
            <a:extLst>
              <a:ext uri="{FF2B5EF4-FFF2-40B4-BE49-F238E27FC236}">
                <a16:creationId xmlns:a16="http://schemas.microsoft.com/office/drawing/2014/main" id="{DFCF00DE-34E6-5D89-3EF0-EC5FE033C469}"/>
              </a:ext>
            </a:extLst>
          </p:cNvPr>
          <p:cNvSpPr>
            <a:spLocks noGrp="1"/>
          </p:cNvSpPr>
          <p:nvPr>
            <p:ph type="ftr" sz="quarter" idx="11"/>
          </p:nvPr>
        </p:nvSpPr>
        <p:spPr/>
        <p:txBody>
          <a:bodyPr/>
          <a:lstStyle/>
          <a:p>
            <a:endParaRPr lang="pt-BR"/>
          </a:p>
        </p:txBody>
      </p:sp>
      <p:sp>
        <p:nvSpPr>
          <p:cNvPr id="4" name="Slide Number Placeholder 3">
            <a:extLst>
              <a:ext uri="{FF2B5EF4-FFF2-40B4-BE49-F238E27FC236}">
                <a16:creationId xmlns:a16="http://schemas.microsoft.com/office/drawing/2014/main" id="{5BBF009E-D7BD-B94A-FE3F-22E48D090803}"/>
              </a:ext>
            </a:extLst>
          </p:cNvPr>
          <p:cNvSpPr>
            <a:spLocks noGrp="1"/>
          </p:cNvSpPr>
          <p:nvPr>
            <p:ph type="sldNum" sz="quarter" idx="12"/>
          </p:nvPr>
        </p:nvSpPr>
        <p:spPr>
          <a:xfrm>
            <a:off x="8610600" y="6356350"/>
            <a:ext cx="2743200" cy="365125"/>
          </a:xfrm>
          <a:prstGeom prst="rect">
            <a:avLst/>
          </a:prstGeom>
        </p:spPr>
        <p:txBody>
          <a:bodyPr/>
          <a:lstStyle/>
          <a:p>
            <a:fld id="{A845C7DE-4DED-4D23-9A7C-BB8E49D80690}" type="slidenum">
              <a:rPr lang="pt-BR" smtClean="0"/>
              <a:t>‹#›</a:t>
            </a:fld>
            <a:endParaRPr lang="pt-BR"/>
          </a:p>
        </p:txBody>
      </p:sp>
    </p:spTree>
    <p:extLst>
      <p:ext uri="{BB962C8B-B14F-4D97-AF65-F5344CB8AC3E}">
        <p14:creationId xmlns:p14="http://schemas.microsoft.com/office/powerpoint/2010/main" val="3752858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A white background with black text&#10;&#10;AI-generated content may be incorrect.">
            <a:extLst>
              <a:ext uri="{FF2B5EF4-FFF2-40B4-BE49-F238E27FC236}">
                <a16:creationId xmlns:a16="http://schemas.microsoft.com/office/drawing/2014/main" id="{8275CD64-694E-B27B-4E21-C44AC1F8FF4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91B8FE57-6952-DCF2-0990-90E39B648B0A}"/>
              </a:ext>
            </a:extLst>
          </p:cNvPr>
          <p:cNvSpPr>
            <a:spLocks noGrp="1"/>
          </p:cNvSpPr>
          <p:nvPr>
            <p:ph type="title"/>
          </p:nvPr>
        </p:nvSpPr>
        <p:spPr>
          <a:xfrm>
            <a:off x="839788" y="987424"/>
            <a:ext cx="3932237" cy="1069975"/>
          </a:xfrm>
          <a:prstGeom prst="rect">
            <a:avLst/>
          </a:prstGeom>
        </p:spPr>
        <p:txBody>
          <a:bodyPr anchor="b">
            <a:normAutofit/>
          </a:bodyPr>
          <a:lstStyle>
            <a:lvl1pPr>
              <a:defRPr sz="3000">
                <a:latin typeface="Calibri Light" panose="020F0302020204030204" pitchFamily="34" charset="0"/>
                <a:ea typeface="Calibri Light" panose="020F0302020204030204" pitchFamily="34" charset="0"/>
                <a:cs typeface="Calibri Light" panose="020F0302020204030204" pitchFamily="34" charset="0"/>
              </a:defRPr>
            </a:lvl1pPr>
          </a:lstStyle>
          <a:p>
            <a:r>
              <a:rPr lang="en-US" dirty="0"/>
              <a:t>Click to edit Master title style</a:t>
            </a:r>
            <a:endParaRPr lang="pt-BR" dirty="0"/>
          </a:p>
        </p:txBody>
      </p:sp>
      <p:sp>
        <p:nvSpPr>
          <p:cNvPr id="3" name="Content Placeholder 2">
            <a:extLst>
              <a:ext uri="{FF2B5EF4-FFF2-40B4-BE49-F238E27FC236}">
                <a16:creationId xmlns:a16="http://schemas.microsoft.com/office/drawing/2014/main" id="{AE9414E9-BCF4-5F4C-6ADB-65C830A85A51}"/>
              </a:ext>
            </a:extLst>
          </p:cNvPr>
          <p:cNvSpPr>
            <a:spLocks noGrp="1"/>
          </p:cNvSpPr>
          <p:nvPr>
            <p:ph idx="1"/>
          </p:nvPr>
        </p:nvSpPr>
        <p:spPr>
          <a:xfrm>
            <a:off x="5183188" y="987425"/>
            <a:ext cx="6172200" cy="4873625"/>
          </a:xfrm>
          <a:prstGeom prst="rect">
            <a:avLst/>
          </a:prstGeom>
        </p:spPr>
        <p:txBody>
          <a:bodyPr/>
          <a:lstStyle>
            <a:lvl1pPr>
              <a:defRPr sz="2800">
                <a:latin typeface="Calibri Light" panose="020F0302020204030204" pitchFamily="34" charset="0"/>
                <a:ea typeface="Calibri Light" panose="020F0302020204030204" pitchFamily="34" charset="0"/>
                <a:cs typeface="Calibri Light" panose="020F0302020204030204" pitchFamily="34" charset="0"/>
              </a:defRPr>
            </a:lvl1pPr>
            <a:lvl2pPr>
              <a:defRPr sz="2800">
                <a:latin typeface="Calibri Light" panose="020F0302020204030204" pitchFamily="34" charset="0"/>
                <a:ea typeface="Calibri Light" panose="020F0302020204030204" pitchFamily="34" charset="0"/>
                <a:cs typeface="Calibri Light" panose="020F0302020204030204" pitchFamily="34" charset="0"/>
              </a:defRPr>
            </a:lvl2pPr>
            <a:lvl3pPr>
              <a:defRPr sz="2400">
                <a:latin typeface="Calibri Light" panose="020F0302020204030204" pitchFamily="34" charset="0"/>
                <a:ea typeface="Calibri Light" panose="020F0302020204030204" pitchFamily="34" charset="0"/>
                <a:cs typeface="Calibri Light" panose="020F0302020204030204" pitchFamily="34" charset="0"/>
              </a:defRPr>
            </a:lvl3pPr>
            <a:lvl4pPr>
              <a:defRPr sz="2000">
                <a:latin typeface="Calibri Light" panose="020F0302020204030204" pitchFamily="34" charset="0"/>
                <a:ea typeface="Calibri Light" panose="020F0302020204030204" pitchFamily="34" charset="0"/>
                <a:cs typeface="Calibri Light" panose="020F0302020204030204" pitchFamily="34" charset="0"/>
              </a:defRPr>
            </a:lvl4pPr>
            <a:lvl5pPr>
              <a:defRPr sz="2000">
                <a:latin typeface="Calibri Light" panose="020F0302020204030204" pitchFamily="34" charset="0"/>
                <a:ea typeface="Calibri Light" panose="020F0302020204030204" pitchFamily="34" charset="0"/>
                <a:cs typeface="Calibri Light" panose="020F0302020204030204" pitchFamily="34"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pt-BR" dirty="0"/>
          </a:p>
        </p:txBody>
      </p:sp>
      <p:sp>
        <p:nvSpPr>
          <p:cNvPr id="4" name="Text Placeholder 3">
            <a:extLst>
              <a:ext uri="{FF2B5EF4-FFF2-40B4-BE49-F238E27FC236}">
                <a16:creationId xmlns:a16="http://schemas.microsoft.com/office/drawing/2014/main" id="{77A29933-B652-DA47-BFD3-9E7FA42D22D3}"/>
              </a:ext>
            </a:extLst>
          </p:cNvPr>
          <p:cNvSpPr>
            <a:spLocks noGrp="1"/>
          </p:cNvSpPr>
          <p:nvPr>
            <p:ph type="body" sz="half" idx="2"/>
          </p:nvPr>
        </p:nvSpPr>
        <p:spPr>
          <a:xfrm>
            <a:off x="839788" y="2057400"/>
            <a:ext cx="3932237" cy="3811588"/>
          </a:xfrm>
          <a:prstGeom prst="rect">
            <a:avLst/>
          </a:prstGeom>
        </p:spPr>
        <p:txBody>
          <a:bodyPr/>
          <a:lstStyle>
            <a:lvl1pPr marL="0" indent="0">
              <a:buNone/>
              <a:defRPr sz="1800">
                <a:latin typeface="Calibri Light" panose="020F0302020204030204" pitchFamily="34" charset="0"/>
                <a:ea typeface="Calibri Light" panose="020F0302020204030204" pitchFamily="34" charset="0"/>
                <a:cs typeface="Calibri Light" panose="020F030202020403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23569F08-BE59-89D4-071E-4A1F646682C2}"/>
              </a:ext>
            </a:extLst>
          </p:cNvPr>
          <p:cNvSpPr>
            <a:spLocks noGrp="1"/>
          </p:cNvSpPr>
          <p:nvPr>
            <p:ph type="dt" sz="half" idx="10"/>
          </p:nvPr>
        </p:nvSpPr>
        <p:spPr>
          <a:xfrm>
            <a:off x="838200" y="6356350"/>
            <a:ext cx="2743200" cy="365125"/>
          </a:xfrm>
          <a:prstGeom prst="rect">
            <a:avLst/>
          </a:prstGeom>
        </p:spPr>
        <p:txBody>
          <a:bodyPr/>
          <a:lstStyle/>
          <a:p>
            <a:fld id="{B8E782E1-44D1-417C-B4AA-50D7BFA4EE6C}" type="datetimeFigureOut">
              <a:rPr lang="pt-BR" smtClean="0"/>
              <a:t>12/08/2025</a:t>
            </a:fld>
            <a:endParaRPr lang="pt-BR"/>
          </a:p>
        </p:txBody>
      </p:sp>
      <p:sp>
        <p:nvSpPr>
          <p:cNvPr id="6" name="Footer Placeholder 5">
            <a:extLst>
              <a:ext uri="{FF2B5EF4-FFF2-40B4-BE49-F238E27FC236}">
                <a16:creationId xmlns:a16="http://schemas.microsoft.com/office/drawing/2014/main" id="{9D98C1A8-7DCB-9C6A-5983-7F12BC80605B}"/>
              </a:ext>
            </a:extLst>
          </p:cNvPr>
          <p:cNvSpPr>
            <a:spLocks noGrp="1"/>
          </p:cNvSpPr>
          <p:nvPr>
            <p:ph type="ftr" sz="quarter" idx="11"/>
          </p:nvPr>
        </p:nvSpPr>
        <p:spPr/>
        <p:txBody>
          <a:bodyPr/>
          <a:lstStyle/>
          <a:p>
            <a:r>
              <a:rPr lang="pt-BR" dirty="0"/>
              <a:t>Avaliações de Aluguéis – Prof. Luiz Droubi</a:t>
            </a:r>
          </a:p>
        </p:txBody>
      </p:sp>
      <p:sp>
        <p:nvSpPr>
          <p:cNvPr id="7" name="Slide Number Placeholder 6">
            <a:extLst>
              <a:ext uri="{FF2B5EF4-FFF2-40B4-BE49-F238E27FC236}">
                <a16:creationId xmlns:a16="http://schemas.microsoft.com/office/drawing/2014/main" id="{58E1B7BE-D1F4-2469-8A50-E6418014210E}"/>
              </a:ext>
            </a:extLst>
          </p:cNvPr>
          <p:cNvSpPr>
            <a:spLocks noGrp="1"/>
          </p:cNvSpPr>
          <p:nvPr>
            <p:ph type="sldNum" sz="quarter" idx="12"/>
          </p:nvPr>
        </p:nvSpPr>
        <p:spPr>
          <a:xfrm>
            <a:off x="8610600" y="6356350"/>
            <a:ext cx="2743200" cy="365125"/>
          </a:xfrm>
          <a:prstGeom prst="rect">
            <a:avLst/>
          </a:prstGeom>
        </p:spPr>
        <p:txBody>
          <a:bodyPr/>
          <a:lstStyle/>
          <a:p>
            <a:fld id="{A845C7DE-4DED-4D23-9A7C-BB8E49D80690}" type="slidenum">
              <a:rPr lang="pt-BR" smtClean="0"/>
              <a:t>‹#›</a:t>
            </a:fld>
            <a:endParaRPr lang="pt-BR"/>
          </a:p>
        </p:txBody>
      </p:sp>
    </p:spTree>
    <p:extLst>
      <p:ext uri="{BB962C8B-B14F-4D97-AF65-F5344CB8AC3E}">
        <p14:creationId xmlns:p14="http://schemas.microsoft.com/office/powerpoint/2010/main" val="31337666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9" name="Picture 8" descr="A white background with black text&#10;&#10;AI-generated content may be incorrect.">
            <a:extLst>
              <a:ext uri="{FF2B5EF4-FFF2-40B4-BE49-F238E27FC236}">
                <a16:creationId xmlns:a16="http://schemas.microsoft.com/office/drawing/2014/main" id="{309477F5-002E-A991-76D4-54C2F64C504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201E7028-8E93-2025-BE29-8F061C2C6B7D}"/>
              </a:ext>
            </a:extLst>
          </p:cNvPr>
          <p:cNvSpPr>
            <a:spLocks noGrp="1"/>
          </p:cNvSpPr>
          <p:nvPr>
            <p:ph type="title"/>
          </p:nvPr>
        </p:nvSpPr>
        <p:spPr>
          <a:xfrm>
            <a:off x="839788" y="987424"/>
            <a:ext cx="3932237" cy="1069975"/>
          </a:xfrm>
          <a:prstGeom prst="rect">
            <a:avLst/>
          </a:prstGeom>
        </p:spPr>
        <p:txBody>
          <a:bodyPr anchor="b">
            <a:normAutofit/>
          </a:bodyPr>
          <a:lstStyle>
            <a:lvl1pPr>
              <a:defRPr sz="3000">
                <a:latin typeface="Calibri Light" panose="020F0302020204030204" pitchFamily="34" charset="0"/>
                <a:ea typeface="Calibri Light" panose="020F0302020204030204" pitchFamily="34" charset="0"/>
                <a:cs typeface="Calibri Light" panose="020F0302020204030204" pitchFamily="34" charset="0"/>
              </a:defRPr>
            </a:lvl1pPr>
          </a:lstStyle>
          <a:p>
            <a:r>
              <a:rPr lang="en-US" dirty="0"/>
              <a:t>Click to edit Master title style</a:t>
            </a:r>
            <a:endParaRPr lang="pt-BR" dirty="0"/>
          </a:p>
        </p:txBody>
      </p:sp>
      <p:sp>
        <p:nvSpPr>
          <p:cNvPr id="3" name="Picture Placeholder 2">
            <a:extLst>
              <a:ext uri="{FF2B5EF4-FFF2-40B4-BE49-F238E27FC236}">
                <a16:creationId xmlns:a16="http://schemas.microsoft.com/office/drawing/2014/main" id="{06029ACA-2AA7-A033-EDE3-12E52AB1E02A}"/>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Text Placeholder 3">
            <a:extLst>
              <a:ext uri="{FF2B5EF4-FFF2-40B4-BE49-F238E27FC236}">
                <a16:creationId xmlns:a16="http://schemas.microsoft.com/office/drawing/2014/main" id="{A5AD6DFE-2D96-A0D7-CE7E-2B5CFF80295F}"/>
              </a:ext>
            </a:extLst>
          </p:cNvPr>
          <p:cNvSpPr>
            <a:spLocks noGrp="1"/>
          </p:cNvSpPr>
          <p:nvPr>
            <p:ph type="body" sz="half" idx="2"/>
          </p:nvPr>
        </p:nvSpPr>
        <p:spPr>
          <a:xfrm>
            <a:off x="839788" y="2057400"/>
            <a:ext cx="3932237" cy="3811588"/>
          </a:xfrm>
          <a:prstGeom prst="rect">
            <a:avLst/>
          </a:prstGeom>
        </p:spPr>
        <p:txBody>
          <a:bodyPr/>
          <a:lstStyle>
            <a:lvl1pPr marL="0" indent="0">
              <a:buNone/>
              <a:defRPr sz="1800">
                <a:latin typeface="Calibri Light" panose="020F0302020204030204" pitchFamily="34" charset="0"/>
                <a:ea typeface="Calibri Light" panose="020F0302020204030204" pitchFamily="34" charset="0"/>
                <a:cs typeface="Calibri Light" panose="020F030202020403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C51CE78B-013E-347C-9FD5-0AC06B597A0F}"/>
              </a:ext>
            </a:extLst>
          </p:cNvPr>
          <p:cNvSpPr>
            <a:spLocks noGrp="1"/>
          </p:cNvSpPr>
          <p:nvPr>
            <p:ph type="dt" sz="half" idx="10"/>
          </p:nvPr>
        </p:nvSpPr>
        <p:spPr>
          <a:xfrm>
            <a:off x="838200" y="6356350"/>
            <a:ext cx="2743200" cy="365125"/>
          </a:xfrm>
          <a:prstGeom prst="rect">
            <a:avLst/>
          </a:prstGeom>
        </p:spPr>
        <p:txBody>
          <a:bodyPr/>
          <a:lstStyle/>
          <a:p>
            <a:fld id="{B8E782E1-44D1-417C-B4AA-50D7BFA4EE6C}" type="datetimeFigureOut">
              <a:rPr lang="pt-BR" smtClean="0"/>
              <a:t>12/08/2025</a:t>
            </a:fld>
            <a:endParaRPr lang="pt-BR"/>
          </a:p>
        </p:txBody>
      </p:sp>
      <p:sp>
        <p:nvSpPr>
          <p:cNvPr id="6" name="Footer Placeholder 5">
            <a:extLst>
              <a:ext uri="{FF2B5EF4-FFF2-40B4-BE49-F238E27FC236}">
                <a16:creationId xmlns:a16="http://schemas.microsoft.com/office/drawing/2014/main" id="{6E502DAA-ECCB-F11F-205D-8A79EAB3C8D5}"/>
              </a:ext>
            </a:extLst>
          </p:cNvPr>
          <p:cNvSpPr>
            <a:spLocks noGrp="1"/>
          </p:cNvSpPr>
          <p:nvPr>
            <p:ph type="ftr" sz="quarter" idx="11"/>
          </p:nvPr>
        </p:nvSpPr>
        <p:spPr/>
        <p:txBody>
          <a:bodyPr/>
          <a:lstStyle/>
          <a:p>
            <a:r>
              <a:rPr lang="pt-BR" dirty="0"/>
              <a:t>Avaliações de Aluguéis – Prof. Luiz Droubi</a:t>
            </a:r>
          </a:p>
        </p:txBody>
      </p:sp>
      <p:sp>
        <p:nvSpPr>
          <p:cNvPr id="7" name="Slide Number Placeholder 6">
            <a:extLst>
              <a:ext uri="{FF2B5EF4-FFF2-40B4-BE49-F238E27FC236}">
                <a16:creationId xmlns:a16="http://schemas.microsoft.com/office/drawing/2014/main" id="{45276756-D959-C520-1294-BD4F67C5A31A}"/>
              </a:ext>
            </a:extLst>
          </p:cNvPr>
          <p:cNvSpPr>
            <a:spLocks noGrp="1"/>
          </p:cNvSpPr>
          <p:nvPr>
            <p:ph type="sldNum" sz="quarter" idx="12"/>
          </p:nvPr>
        </p:nvSpPr>
        <p:spPr>
          <a:xfrm>
            <a:off x="8610600" y="6356350"/>
            <a:ext cx="2743200" cy="365125"/>
          </a:xfrm>
          <a:prstGeom prst="rect">
            <a:avLst/>
          </a:prstGeom>
        </p:spPr>
        <p:txBody>
          <a:bodyPr/>
          <a:lstStyle/>
          <a:p>
            <a:fld id="{A845C7DE-4DED-4D23-9A7C-BB8E49D80690}" type="slidenum">
              <a:rPr lang="pt-BR" smtClean="0"/>
              <a:t>‹#›</a:t>
            </a:fld>
            <a:endParaRPr lang="pt-BR"/>
          </a:p>
        </p:txBody>
      </p:sp>
    </p:spTree>
    <p:extLst>
      <p:ext uri="{BB962C8B-B14F-4D97-AF65-F5344CB8AC3E}">
        <p14:creationId xmlns:p14="http://schemas.microsoft.com/office/powerpoint/2010/main" val="3613357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6CA1D-5698-F02F-390A-5CECD3598805}"/>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pt-BR"/>
          </a:p>
        </p:txBody>
      </p:sp>
      <p:sp>
        <p:nvSpPr>
          <p:cNvPr id="3" name="Vertical Text Placeholder 2">
            <a:extLst>
              <a:ext uri="{FF2B5EF4-FFF2-40B4-BE49-F238E27FC236}">
                <a16:creationId xmlns:a16="http://schemas.microsoft.com/office/drawing/2014/main" id="{BA662384-B41E-E5B3-66DF-D3CAFF7626DA}"/>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4" name="Date Placeholder 3">
            <a:extLst>
              <a:ext uri="{FF2B5EF4-FFF2-40B4-BE49-F238E27FC236}">
                <a16:creationId xmlns:a16="http://schemas.microsoft.com/office/drawing/2014/main" id="{175744C3-6E3E-72EE-0444-5A0390BCA000}"/>
              </a:ext>
            </a:extLst>
          </p:cNvPr>
          <p:cNvSpPr>
            <a:spLocks noGrp="1"/>
          </p:cNvSpPr>
          <p:nvPr>
            <p:ph type="dt" sz="half" idx="10"/>
          </p:nvPr>
        </p:nvSpPr>
        <p:spPr>
          <a:xfrm>
            <a:off x="838200" y="6356350"/>
            <a:ext cx="2743200" cy="365125"/>
          </a:xfrm>
          <a:prstGeom prst="rect">
            <a:avLst/>
          </a:prstGeom>
        </p:spPr>
        <p:txBody>
          <a:bodyPr/>
          <a:lstStyle/>
          <a:p>
            <a:fld id="{B8E782E1-44D1-417C-B4AA-50D7BFA4EE6C}" type="datetimeFigureOut">
              <a:rPr lang="pt-BR" smtClean="0"/>
              <a:t>12/08/2025</a:t>
            </a:fld>
            <a:endParaRPr lang="pt-BR"/>
          </a:p>
        </p:txBody>
      </p:sp>
      <p:sp>
        <p:nvSpPr>
          <p:cNvPr id="5" name="Footer Placeholder 4">
            <a:extLst>
              <a:ext uri="{FF2B5EF4-FFF2-40B4-BE49-F238E27FC236}">
                <a16:creationId xmlns:a16="http://schemas.microsoft.com/office/drawing/2014/main" id="{F2BFE1A9-E1EF-3CA8-4576-5FAD3799C4B3}"/>
              </a:ext>
            </a:extLst>
          </p:cNvPr>
          <p:cNvSpPr>
            <a:spLocks noGrp="1"/>
          </p:cNvSpPr>
          <p:nvPr>
            <p:ph type="ftr" sz="quarter" idx="11"/>
          </p:nvPr>
        </p:nvSpPr>
        <p:spPr/>
        <p:txBody>
          <a:bodyPr/>
          <a:lstStyle/>
          <a:p>
            <a:endParaRPr lang="pt-BR"/>
          </a:p>
        </p:txBody>
      </p:sp>
      <p:sp>
        <p:nvSpPr>
          <p:cNvPr id="6" name="Slide Number Placeholder 5">
            <a:extLst>
              <a:ext uri="{FF2B5EF4-FFF2-40B4-BE49-F238E27FC236}">
                <a16:creationId xmlns:a16="http://schemas.microsoft.com/office/drawing/2014/main" id="{1029890A-3050-FAC4-C512-9105EB419CE8}"/>
              </a:ext>
            </a:extLst>
          </p:cNvPr>
          <p:cNvSpPr>
            <a:spLocks noGrp="1"/>
          </p:cNvSpPr>
          <p:nvPr>
            <p:ph type="sldNum" sz="quarter" idx="12"/>
          </p:nvPr>
        </p:nvSpPr>
        <p:spPr>
          <a:xfrm>
            <a:off x="8610600" y="6356350"/>
            <a:ext cx="2743200" cy="365125"/>
          </a:xfrm>
          <a:prstGeom prst="rect">
            <a:avLst/>
          </a:prstGeom>
        </p:spPr>
        <p:txBody>
          <a:bodyPr/>
          <a:lstStyle/>
          <a:p>
            <a:fld id="{A845C7DE-4DED-4D23-9A7C-BB8E49D80690}" type="slidenum">
              <a:rPr lang="pt-BR" smtClean="0"/>
              <a:t>‹#›</a:t>
            </a:fld>
            <a:endParaRPr lang="pt-BR"/>
          </a:p>
        </p:txBody>
      </p:sp>
    </p:spTree>
    <p:extLst>
      <p:ext uri="{BB962C8B-B14F-4D97-AF65-F5344CB8AC3E}">
        <p14:creationId xmlns:p14="http://schemas.microsoft.com/office/powerpoint/2010/main" val="11302661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18377BB-D121-7F34-C00F-D7DE2739A5D8}"/>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pt-BR"/>
          </a:p>
        </p:txBody>
      </p:sp>
      <p:sp>
        <p:nvSpPr>
          <p:cNvPr id="3" name="Vertical Text Placeholder 2">
            <a:extLst>
              <a:ext uri="{FF2B5EF4-FFF2-40B4-BE49-F238E27FC236}">
                <a16:creationId xmlns:a16="http://schemas.microsoft.com/office/drawing/2014/main" id="{2D1EDB92-3760-8609-4648-D2F128AD41BF}"/>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4" name="Date Placeholder 3">
            <a:extLst>
              <a:ext uri="{FF2B5EF4-FFF2-40B4-BE49-F238E27FC236}">
                <a16:creationId xmlns:a16="http://schemas.microsoft.com/office/drawing/2014/main" id="{E00AFA4B-992C-A562-B1E7-CC14039E95B7}"/>
              </a:ext>
            </a:extLst>
          </p:cNvPr>
          <p:cNvSpPr>
            <a:spLocks noGrp="1"/>
          </p:cNvSpPr>
          <p:nvPr>
            <p:ph type="dt" sz="half" idx="10"/>
          </p:nvPr>
        </p:nvSpPr>
        <p:spPr>
          <a:xfrm>
            <a:off x="838200" y="6356350"/>
            <a:ext cx="2743200" cy="365125"/>
          </a:xfrm>
          <a:prstGeom prst="rect">
            <a:avLst/>
          </a:prstGeom>
        </p:spPr>
        <p:txBody>
          <a:bodyPr/>
          <a:lstStyle/>
          <a:p>
            <a:fld id="{B8E782E1-44D1-417C-B4AA-50D7BFA4EE6C}" type="datetimeFigureOut">
              <a:rPr lang="pt-BR" smtClean="0"/>
              <a:t>12/08/2025</a:t>
            </a:fld>
            <a:endParaRPr lang="pt-BR"/>
          </a:p>
        </p:txBody>
      </p:sp>
      <p:sp>
        <p:nvSpPr>
          <p:cNvPr id="5" name="Footer Placeholder 4">
            <a:extLst>
              <a:ext uri="{FF2B5EF4-FFF2-40B4-BE49-F238E27FC236}">
                <a16:creationId xmlns:a16="http://schemas.microsoft.com/office/drawing/2014/main" id="{CE9CE77C-C80E-8260-B9B0-42B11D530804}"/>
              </a:ext>
            </a:extLst>
          </p:cNvPr>
          <p:cNvSpPr>
            <a:spLocks noGrp="1"/>
          </p:cNvSpPr>
          <p:nvPr>
            <p:ph type="ftr" sz="quarter" idx="11"/>
          </p:nvPr>
        </p:nvSpPr>
        <p:spPr/>
        <p:txBody>
          <a:bodyPr/>
          <a:lstStyle/>
          <a:p>
            <a:endParaRPr lang="pt-BR"/>
          </a:p>
        </p:txBody>
      </p:sp>
      <p:sp>
        <p:nvSpPr>
          <p:cNvPr id="6" name="Slide Number Placeholder 5">
            <a:extLst>
              <a:ext uri="{FF2B5EF4-FFF2-40B4-BE49-F238E27FC236}">
                <a16:creationId xmlns:a16="http://schemas.microsoft.com/office/drawing/2014/main" id="{25310BC9-0B28-5B58-213C-3C99A16DB424}"/>
              </a:ext>
            </a:extLst>
          </p:cNvPr>
          <p:cNvSpPr>
            <a:spLocks noGrp="1"/>
          </p:cNvSpPr>
          <p:nvPr>
            <p:ph type="sldNum" sz="quarter" idx="12"/>
          </p:nvPr>
        </p:nvSpPr>
        <p:spPr>
          <a:xfrm>
            <a:off x="8610600" y="6356350"/>
            <a:ext cx="2743200" cy="365125"/>
          </a:xfrm>
          <a:prstGeom prst="rect">
            <a:avLst/>
          </a:prstGeom>
        </p:spPr>
        <p:txBody>
          <a:bodyPr/>
          <a:lstStyle/>
          <a:p>
            <a:fld id="{A845C7DE-4DED-4D23-9A7C-BB8E49D80690}" type="slidenum">
              <a:rPr lang="pt-BR" smtClean="0"/>
              <a:t>‹#›</a:t>
            </a:fld>
            <a:endParaRPr lang="pt-BR"/>
          </a:p>
        </p:txBody>
      </p:sp>
    </p:spTree>
    <p:extLst>
      <p:ext uri="{BB962C8B-B14F-4D97-AF65-F5344CB8AC3E}">
        <p14:creationId xmlns:p14="http://schemas.microsoft.com/office/powerpoint/2010/main" val="15185817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6F64680-033D-7B6C-311D-AF99E8B0317B}"/>
              </a:ext>
            </a:extLst>
          </p:cNvPr>
          <p:cNvPicPr>
            <a:picLocks noChangeAspect="1"/>
          </p:cNvPicPr>
          <p:nvPr userDrawn="1"/>
        </p:nvPicPr>
        <p:blipFill>
          <a:blip r:embed="rId13"/>
          <a:stretch>
            <a:fillRect/>
          </a:stretch>
        </p:blipFill>
        <p:spPr>
          <a:xfrm>
            <a:off x="0" y="0"/>
            <a:ext cx="12192000" cy="6858001"/>
          </a:xfrm>
          <a:prstGeom prst="rect">
            <a:avLst/>
          </a:prstGeom>
        </p:spPr>
      </p:pic>
      <p:sp>
        <p:nvSpPr>
          <p:cNvPr id="2" name="Title Placeholder 1">
            <a:extLst>
              <a:ext uri="{FF2B5EF4-FFF2-40B4-BE49-F238E27FC236}">
                <a16:creationId xmlns:a16="http://schemas.microsoft.com/office/drawing/2014/main" id="{0D4F6716-DAE2-3F5E-C9EE-042B8A62351D}"/>
              </a:ext>
            </a:extLst>
          </p:cNvPr>
          <p:cNvSpPr>
            <a:spLocks noGrp="1"/>
          </p:cNvSpPr>
          <p:nvPr>
            <p:ph type="title"/>
          </p:nvPr>
        </p:nvSpPr>
        <p:spPr>
          <a:xfrm>
            <a:off x="6899564" y="2257040"/>
            <a:ext cx="5213296" cy="2425796"/>
          </a:xfrm>
          <a:prstGeom prst="rect">
            <a:avLst/>
          </a:prstGeom>
        </p:spPr>
        <p:txBody>
          <a:bodyPr vert="horz" lIns="91440" tIns="45720" rIns="91440" bIns="45720" rtlCol="0" anchor="ctr">
            <a:normAutofit/>
          </a:bodyPr>
          <a:lstStyle/>
          <a:p>
            <a:r>
              <a:rPr lang="en-US"/>
              <a:t>Click to edit Master title style</a:t>
            </a:r>
            <a:endParaRPr lang="pt-BR"/>
          </a:p>
        </p:txBody>
      </p:sp>
      <p:sp>
        <p:nvSpPr>
          <p:cNvPr id="5" name="Footer Placeholder 4">
            <a:extLst>
              <a:ext uri="{FF2B5EF4-FFF2-40B4-BE49-F238E27FC236}">
                <a16:creationId xmlns:a16="http://schemas.microsoft.com/office/drawing/2014/main" id="{EB6BF84D-7D99-C72C-766F-0FDF12BB15D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pt-BR" dirty="0"/>
          </a:p>
        </p:txBody>
      </p:sp>
    </p:spTree>
    <p:extLst>
      <p:ext uri="{BB962C8B-B14F-4D97-AF65-F5344CB8AC3E}">
        <p14:creationId xmlns:p14="http://schemas.microsoft.com/office/powerpoint/2010/main" val="21625020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2.bin"/><Relationship Id="rId1" Type="http://schemas.openxmlformats.org/officeDocument/2006/relationships/slideLayout" Target="../slideLayouts/slideLayout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5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62.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8.xml"/></Relationships>
</file>

<file path=ppt/slides/_rels/slide63.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8.xml"/></Relationships>
</file>

<file path=ppt/slides/_rels/slide64.xml.rels><?xml version="1.0" encoding="UTF-8" standalone="yes"?>
<Relationships xmlns="http://schemas.openxmlformats.org/package/2006/relationships"><Relationship Id="rId2" Type="http://schemas.openxmlformats.org/officeDocument/2006/relationships/hyperlink" Target="https://doi.org/10.1016/j.jhe.2009.10.005"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1DC64-32ED-4555-94EE-36CF849390B1}"/>
              </a:ext>
            </a:extLst>
          </p:cNvPr>
          <p:cNvSpPr>
            <a:spLocks noGrp="1"/>
          </p:cNvSpPr>
          <p:nvPr>
            <p:ph type="ctrTitle"/>
          </p:nvPr>
        </p:nvSpPr>
        <p:spPr>
          <a:xfrm>
            <a:off x="6918035" y="1071418"/>
            <a:ext cx="5098473" cy="3011055"/>
          </a:xfrm>
          <a:prstGeom prst="rect">
            <a:avLst/>
          </a:prstGeom>
        </p:spPr>
        <p:txBody>
          <a:bodyPr/>
          <a:lstStyle/>
          <a:p>
            <a:pPr marL="0" lvl="0" indent="0">
              <a:buNone/>
            </a:pPr>
            <a:r>
              <a:t>Avaliação de Alugueis</a:t>
            </a:r>
          </a:p>
        </p:txBody>
      </p:sp>
      <p:sp>
        <p:nvSpPr>
          <p:cNvPr id="3" name=" 2"/>
          <p:cNvSpPr/>
          <p:nvPr/>
        </p:nvSpPr>
        <p:spPr/>
        <p:txBody>
          <a:bodyPr/>
          <a:lstStyle/>
          <a:p>
            <a:endParaRPr lang="pt-B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8ACFA-4A74-9B40-CC3E-92D78F850226}"/>
              </a:ext>
            </a:extLst>
          </p:cNvPr>
          <p:cNvSpPr>
            <a:spLocks noGrp="1"/>
          </p:cNvSpPr>
          <p:nvPr>
            <p:ph type="title"/>
          </p:nvPr>
        </p:nvSpPr>
        <p:spPr>
          <a:xfrm>
            <a:off x="838200" y="983457"/>
            <a:ext cx="10515600" cy="891526"/>
          </a:xfrm>
          <a:prstGeom prst="rect">
            <a:avLst/>
          </a:prstGeom>
        </p:spPr>
        <p:txBody>
          <a:bodyPr/>
          <a:lstStyle/>
          <a:p>
            <a:pPr marL="0" lvl="0" indent="0">
              <a:buNone/>
            </a:pPr>
            <a:r>
              <a:t>Aproveitamento do Terreno</a:t>
            </a:r>
          </a:p>
        </p:txBody>
      </p:sp>
      <p:sp>
        <p:nvSpPr>
          <p:cNvPr id="3" name="Content Placeholder 2">
            <a:extLst>
              <a:ext uri="{FF2B5EF4-FFF2-40B4-BE49-F238E27FC236}">
                <a16:creationId xmlns:a16="http://schemas.microsoft.com/office/drawing/2014/main" id="{06E5C504-58F1-2318-F264-E17A9AABC74B}"/>
              </a:ext>
            </a:extLst>
          </p:cNvPr>
          <p:cNvSpPr>
            <a:spLocks noGrp="1"/>
          </p:cNvSpPr>
          <p:nvPr>
            <p:ph idx="1"/>
          </p:nvPr>
        </p:nvSpPr>
        <p:spPr/>
        <p:txBody>
          <a:bodyPr/>
          <a:lstStyle/>
          <a:p>
            <a:pPr lvl="0"/>
            <a:r>
              <a:t>Uma questão que aparece em decorrência da aplicação do método evolutivo</a:t>
            </a:r>
          </a:p>
          <a:p>
            <a:pPr lvl="0"/>
            <a:r>
              <a:t>Não é incomum que um imóvel seja alugado enquanto ocupando um terreno de forma “improdutiva”</a:t>
            </a:r>
          </a:p>
          <a:p>
            <a:pPr lvl="1"/>
            <a:r>
              <a:t>Exemplos:</a:t>
            </a:r>
          </a:p>
          <a:p>
            <a:pPr lvl="2"/>
            <a:r>
              <a:t>Um terreno de grandes dimensões (em planta), porém ocupado apenas em parte</a:t>
            </a:r>
          </a:p>
          <a:p>
            <a:pPr lvl="2"/>
            <a:r>
              <a:t>Um terreno edificado com um prédio comercial de 3 andares, situado em zona urbana com possibilidade de construção de até 5 andares</a:t>
            </a:r>
          </a:p>
          <a:p>
            <a:pPr lvl="0"/>
            <a:r>
              <a:t>Como o terreno encontra-se subaproveitado, não se pode aplicar uma taxa de remuneração sobre todo o terreno para calcular o aluguel justo ao locatário</a:t>
            </a:r>
          </a:p>
          <a:p>
            <a:pPr lvl="1"/>
            <a:r>
              <a:t>Se o terreno é subaproveitado, quem deve arcar com a perda de renda decorrente deste subaproveitamento é o proprietário do terreno.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8ACFA-4A74-9B40-CC3E-92D78F850226}"/>
              </a:ext>
            </a:extLst>
          </p:cNvPr>
          <p:cNvSpPr>
            <a:spLocks noGrp="1"/>
          </p:cNvSpPr>
          <p:nvPr>
            <p:ph type="title"/>
          </p:nvPr>
        </p:nvSpPr>
        <p:spPr>
          <a:xfrm>
            <a:off x="838200" y="983457"/>
            <a:ext cx="10515600" cy="891526"/>
          </a:xfrm>
          <a:prstGeom prst="rect">
            <a:avLst/>
          </a:prstGeom>
        </p:spPr>
        <p:txBody>
          <a:bodyPr/>
          <a:lstStyle/>
          <a:p>
            <a:pPr marL="0" lvl="0" indent="0">
              <a:buNone/>
            </a:pPr>
            <a:r>
              <a:t>Aproveitamento do Terreno</a:t>
            </a:r>
          </a:p>
        </p:txBody>
      </p:sp>
      <p:sp>
        <p:nvSpPr>
          <p:cNvPr id="3" name="Content Placeholder 2">
            <a:extLst>
              <a:ext uri="{FF2B5EF4-FFF2-40B4-BE49-F238E27FC236}">
                <a16:creationId xmlns:a16="http://schemas.microsoft.com/office/drawing/2014/main" id="{06E5C504-58F1-2318-F264-E17A9AABC74B}"/>
              </a:ext>
            </a:extLst>
          </p:cNvPr>
          <p:cNvSpPr>
            <a:spLocks noGrp="1"/>
          </p:cNvSpPr>
          <p:nvPr>
            <p:ph idx="1"/>
          </p:nvPr>
        </p:nvSpPr>
        <p:spPr/>
        <p:txBody>
          <a:bodyPr/>
          <a:lstStyle/>
          <a:p>
            <a:pPr lvl="0"/>
            <a:r>
              <a:t>Cuidado:</a:t>
            </a:r>
          </a:p>
          <a:p>
            <a:pPr lvl="1"/>
            <a:r>
              <a:t>O aproveitamento máximo do terreno está </a:t>
            </a:r>
            <a:r>
              <a:rPr b="1"/>
              <a:t>eventualmente</a:t>
            </a:r>
            <a:r>
              <a:t> ligado ao </a:t>
            </a:r>
            <a:r>
              <a:rPr b="1"/>
              <a:t>aproveitamento máximo legal</a:t>
            </a:r>
            <a:r>
              <a:t>, </a:t>
            </a:r>
            <a:r>
              <a:rPr i="1"/>
              <a:t>i.e.</a:t>
            </a:r>
            <a:r>
              <a:t> ao que se permite construir no terreno segundo o zoneamento municipal.</a:t>
            </a:r>
          </a:p>
          <a:p>
            <a:pPr lvl="1"/>
            <a:r>
              <a:t>O aproveitamento máximo do terreno, porém, </a:t>
            </a:r>
            <a:r>
              <a:rPr b="1"/>
              <a:t>também</a:t>
            </a:r>
            <a:r>
              <a:t> está ligado ao </a:t>
            </a:r>
            <a:r>
              <a:rPr b="1"/>
              <a:t>aproveitamento máximo econômico</a:t>
            </a:r>
            <a:r>
              <a:t> do terreno.</a:t>
            </a:r>
          </a:p>
          <a:p>
            <a:pPr lvl="0"/>
            <a:r>
              <a:t>Por exemplo: regiões pouco desenvolvidas, onde, até pelo baixo preço dos terrenos, não se justifica economicamente a construção de prédios de vários pavimentos, apesar de ser permitida pela legislação.</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8ACFA-4A74-9B40-CC3E-92D78F850226}"/>
              </a:ext>
            </a:extLst>
          </p:cNvPr>
          <p:cNvSpPr>
            <a:spLocks noGrp="1"/>
          </p:cNvSpPr>
          <p:nvPr>
            <p:ph type="title"/>
          </p:nvPr>
        </p:nvSpPr>
        <p:spPr>
          <a:xfrm>
            <a:off x="838200" y="983457"/>
            <a:ext cx="10515600" cy="891526"/>
          </a:xfrm>
          <a:prstGeom prst="rect">
            <a:avLst/>
          </a:prstGeom>
        </p:spPr>
        <p:txBody>
          <a:bodyPr/>
          <a:lstStyle/>
          <a:p>
            <a:pPr marL="0" lvl="0" indent="0">
              <a:buNone/>
            </a:pPr>
            <a:r>
              <a:t>Aproveitamento do Terreno</a:t>
            </a:r>
          </a:p>
        </p:txBody>
      </p:sp>
      <p:sp>
        <p:nvSpPr>
          <p:cNvPr id="3" name="Content Placeholder 2">
            <a:extLst>
              <a:ext uri="{FF2B5EF4-FFF2-40B4-BE49-F238E27FC236}">
                <a16:creationId xmlns:a16="http://schemas.microsoft.com/office/drawing/2014/main" id="{06E5C504-58F1-2318-F264-E17A9AABC74B}"/>
              </a:ext>
            </a:extLst>
          </p:cNvPr>
          <p:cNvSpPr>
            <a:spLocks noGrp="1"/>
          </p:cNvSpPr>
          <p:nvPr>
            <p:ph idx="1"/>
          </p:nvPr>
        </p:nvSpPr>
        <p:spPr/>
        <p:txBody>
          <a:bodyPr/>
          <a:lstStyle/>
          <a:p>
            <a:pPr lvl="0"/>
            <a:r>
              <a:t>O coeficiente de aproveitamento do terreno é o coeficiente que relaciona as benfeitorias realmente existentes no terreno às benfeitorias que, caso erigidas no terreno, dariam-lhe o </a:t>
            </a:r>
            <a:r>
              <a:rPr b="1"/>
              <a:t>máximo e melhor aproveitamento</a:t>
            </a:r>
            <a:r>
              <a:t>.</a:t>
            </a:r>
          </a:p>
          <a:p>
            <a:pPr lvl="0"/>
            <a:r>
              <a:t>O coeficiente de aproveitamento trata, portanto, não apenas da quantidade de </a:t>
            </a:r>
            <a:r>
              <a:rPr b="1"/>
              <a:t>área construída</a:t>
            </a:r>
            <a:r>
              <a:t> no terreno, mas à </a:t>
            </a:r>
            <a:r>
              <a:rPr b="1"/>
              <a:t>qualidade</a:t>
            </a:r>
            <a:r>
              <a:t> desta área construída e a sua </a:t>
            </a:r>
            <a:r>
              <a:rPr b="1"/>
              <a:t>idade</a:t>
            </a:r>
            <a:r>
              <a:t> (conservação).</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8ACFA-4A74-9B40-CC3E-92D78F850226}"/>
              </a:ext>
            </a:extLst>
          </p:cNvPr>
          <p:cNvSpPr>
            <a:spLocks noGrp="1"/>
          </p:cNvSpPr>
          <p:nvPr>
            <p:ph type="title"/>
          </p:nvPr>
        </p:nvSpPr>
        <p:spPr>
          <a:xfrm>
            <a:off x="838200" y="983457"/>
            <a:ext cx="10515600" cy="891526"/>
          </a:xfrm>
          <a:prstGeom prst="rect">
            <a:avLst/>
          </a:prstGeom>
        </p:spPr>
        <p:txBody>
          <a:bodyPr/>
          <a:lstStyle/>
          <a:p>
            <a:pPr marL="0" lvl="0" indent="0">
              <a:buNone/>
            </a:pPr>
            <a:r>
              <a:t>Aproveitamento do Terreno</a:t>
            </a:r>
          </a:p>
        </p:txBody>
      </p:sp>
      <p:sp>
        <p:nvSpPr>
          <p:cNvPr id="3" name="Content Placeholder 2">
            <a:extLst>
              <a:ext uri="{FF2B5EF4-FFF2-40B4-BE49-F238E27FC236}">
                <a16:creationId xmlns:a16="http://schemas.microsoft.com/office/drawing/2014/main" id="{06E5C504-58F1-2318-F264-E17A9AABC74B}"/>
              </a:ext>
            </a:extLst>
          </p:cNvPr>
          <p:cNvSpPr>
            <a:spLocks noGrp="1"/>
          </p:cNvSpPr>
          <p:nvPr>
            <p:ph idx="1"/>
          </p:nvPr>
        </p:nvSpPr>
        <p:spPr/>
        <p:txBody>
          <a:bodyPr/>
          <a:lstStyle/>
          <a:p>
            <a:pPr lvl="0"/>
            <a:r>
              <a:t>Candeloro, n.d., p. 45:</a:t>
            </a:r>
          </a:p>
          <a:p>
            <a:pPr marL="1270000" lvl="0" indent="0">
              <a:buNone/>
            </a:pPr>
            <a:r>
              <a:rPr sz="2000"/>
              <a:t>Em regiões onde os terrenos são extremamente valiosos, para que a construção lhes dê um bom aproveitamento, não basta que seja grande. É necessário que seja de padrão condizente com o mercado local, pois, ao se propor a pagar uma quantia extremamente alta por um terreno, o investidor o faz pensando em nele implantar uma construção de alto padrão, ou seja, economicamente adequada ao valor do terreno. Exemplo flagrante dessa situação é o caso da Avenida Paulista, em São Paulo, onde os preços de terrenos chegam à casa dos 10 mil dólares o metro quadrado e onde a ocupação é de prédios novos e de altíssimo padrão.</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8ACFA-4A74-9B40-CC3E-92D78F850226}"/>
              </a:ext>
            </a:extLst>
          </p:cNvPr>
          <p:cNvSpPr>
            <a:spLocks noGrp="1"/>
          </p:cNvSpPr>
          <p:nvPr>
            <p:ph type="title"/>
          </p:nvPr>
        </p:nvSpPr>
        <p:spPr>
          <a:xfrm>
            <a:off x="838200" y="983457"/>
            <a:ext cx="10515600" cy="891526"/>
          </a:xfrm>
          <a:prstGeom prst="rect">
            <a:avLst/>
          </a:prstGeom>
        </p:spPr>
        <p:txBody>
          <a:bodyPr/>
          <a:lstStyle/>
          <a:p>
            <a:pPr marL="0" lvl="0" indent="0">
              <a:buNone/>
            </a:pPr>
            <a:r>
              <a:t>Cálculo do Coeficiente de Aproveitamento</a:t>
            </a:r>
          </a:p>
        </p:txBody>
      </p:sp>
      <p:sp>
        <p:nvSpPr>
          <p:cNvPr id="3" name="Content Placeholder 2">
            <a:extLst>
              <a:ext uri="{FF2B5EF4-FFF2-40B4-BE49-F238E27FC236}">
                <a16:creationId xmlns:a16="http://schemas.microsoft.com/office/drawing/2014/main" id="{06E5C504-58F1-2318-F264-E17A9AABC74B}"/>
              </a:ext>
            </a:extLst>
          </p:cNvPr>
          <p:cNvSpPr>
            <a:spLocks noGrp="1"/>
          </p:cNvSpPr>
          <p:nvPr>
            <p:ph idx="1"/>
          </p:nvPr>
        </p:nvSpPr>
        <p:spPr/>
        <p:txBody>
          <a:bodyPr/>
          <a:lstStyle/>
          <a:p>
            <a:pPr lvl="0"/>
            <a:r>
              <a:t>O coeficiente de aproveitamento pode ser descrito pela fórmula a seguir (Candeloro, n.d., 19; D’Amato e Alonso 2019, p, 129):</a:t>
            </a:r>
          </a:p>
          <a:p>
            <a:pPr lvl="1"/>
            <a14:m xmlns:a14="http://schemas.microsoft.com/office/drawing/2010/main">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𝐶</m:t>
                    </m:r>
                  </m:e>
                  <m:sub>
                    <m:r>
                      <a:rPr>
                        <a:latin typeface="Cambria Math" panose="02040503050406030204" pitchFamily="18" charset="0"/>
                      </a:rPr>
                      <m:t>𝐴</m:t>
                    </m:r>
                  </m:sub>
                </m:sSub>
                <m:r>
                  <a:rPr>
                    <a:latin typeface="Cambria Math" panose="02040503050406030204" pitchFamily="18" charset="0"/>
                  </a:rPr>
                  <m:t>=</m:t>
                </m:r>
                <m:f>
                  <m:fPr>
                    <m:ctrlPr>
                      <a:rPr i="1">
                        <a:latin typeface="Cambria Math" panose="02040503050406030204" pitchFamily="18" charset="0"/>
                      </a:rPr>
                    </m:ctrlPr>
                  </m:fPr>
                  <m:num>
                    <m:sSub>
                      <m:sSubPr>
                        <m:ctrlPr>
                          <a:rPr i="1">
                            <a:latin typeface="Cambria Math" panose="02040503050406030204" pitchFamily="18" charset="0"/>
                          </a:rPr>
                        </m:ctrlPr>
                      </m:sSubPr>
                      <m:e>
                        <m:r>
                          <a:rPr>
                            <a:latin typeface="Cambria Math" panose="02040503050406030204" pitchFamily="18" charset="0"/>
                          </a:rPr>
                          <m:t>𝐴</m:t>
                        </m:r>
                      </m:e>
                      <m:sub>
                        <m:r>
                          <a:rPr>
                            <a:latin typeface="Cambria Math" panose="02040503050406030204" pitchFamily="18" charset="0"/>
                          </a:rPr>
                          <m:t>h</m:t>
                        </m:r>
                        <m:r>
                          <a:rPr>
                            <a:latin typeface="Cambria Math" panose="02040503050406030204" pitchFamily="18" charset="0"/>
                          </a:rPr>
                          <m:t>−</m:t>
                        </m:r>
                        <m:r>
                          <a:rPr>
                            <a:latin typeface="Cambria Math" panose="02040503050406030204" pitchFamily="18" charset="0"/>
                          </a:rPr>
                          <m:t>𝑒𝑥𝑖𝑠𝑡𝑒𝑛𝑡𝑒</m:t>
                        </m:r>
                      </m:sub>
                    </m:sSub>
                  </m:num>
                  <m:den>
                    <m:sSub>
                      <m:sSubPr>
                        <m:ctrlPr>
                          <a:rPr i="1">
                            <a:latin typeface="Cambria Math" panose="02040503050406030204" pitchFamily="18" charset="0"/>
                          </a:rPr>
                        </m:ctrlPr>
                      </m:sSubPr>
                      <m:e>
                        <m:r>
                          <a:rPr>
                            <a:latin typeface="Cambria Math" panose="02040503050406030204" pitchFamily="18" charset="0"/>
                          </a:rPr>
                          <m:t>𝐴</m:t>
                        </m:r>
                      </m:e>
                      <m:sub>
                        <m:r>
                          <a:rPr>
                            <a:latin typeface="Cambria Math" panose="02040503050406030204" pitchFamily="18" charset="0"/>
                          </a:rPr>
                          <m:t>h</m:t>
                        </m:r>
                        <m:r>
                          <a:rPr>
                            <a:latin typeface="Cambria Math" panose="02040503050406030204" pitchFamily="18" charset="0"/>
                          </a:rPr>
                          <m:t>−</m:t>
                        </m:r>
                        <m:r>
                          <a:rPr>
                            <a:latin typeface="Cambria Math" panose="02040503050406030204" pitchFamily="18" charset="0"/>
                          </a:rPr>
                          <m:t>𝑚</m:t>
                        </m:r>
                        <m:r>
                          <a:rPr>
                            <a:latin typeface="Cambria Math" panose="02040503050406030204" pitchFamily="18" charset="0"/>
                          </a:rPr>
                          <m:t>á</m:t>
                        </m:r>
                        <m:r>
                          <a:rPr>
                            <a:latin typeface="Cambria Math" panose="02040503050406030204" pitchFamily="18" charset="0"/>
                          </a:rPr>
                          <m:t>𝑥𝑖𝑚𝑎</m:t>
                        </m:r>
                      </m:sub>
                    </m:sSub>
                  </m:den>
                </m:f>
              </m:oMath>
            </a14:m>
            <a:endParaRPr/>
          </a:p>
          <a:p>
            <a:pPr lvl="0"/>
            <a:r>
              <a:t>Deve-se notar que o Coeficiente de Aproveitamento é calculado com áreas homogeneizadas, </a:t>
            </a:r>
            <a:r>
              <a:rPr i="1"/>
              <a:t>i.e.</a:t>
            </a:r>
            <a:r>
              <a:t> com áreas ponderadas conforme a escolha de pesos convenientes.</a:t>
            </a:r>
          </a:p>
          <a:p>
            <a:pPr lvl="1"/>
            <a:r>
              <a:t>Ponderar a área edificada segundo o aproveitamento do terreno (zoneamento)</a:t>
            </a:r>
          </a:p>
          <a:p>
            <a:pPr lvl="1"/>
            <a:r>
              <a:t>Ponderar a área edificada segundo a qualidade da área construída (CUB)</a:t>
            </a:r>
          </a:p>
          <a:p>
            <a:pPr lvl="1"/>
            <a:r>
              <a:t>Ponderar a área edificada segundo o grau de obsolescência da edificação</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8ACFA-4A74-9B40-CC3E-92D78F850226}"/>
              </a:ext>
            </a:extLst>
          </p:cNvPr>
          <p:cNvSpPr>
            <a:spLocks noGrp="1"/>
          </p:cNvSpPr>
          <p:nvPr>
            <p:ph type="title"/>
          </p:nvPr>
        </p:nvSpPr>
        <p:spPr>
          <a:xfrm>
            <a:off x="838200" y="983457"/>
            <a:ext cx="10515600" cy="891526"/>
          </a:xfrm>
          <a:prstGeom prst="rect">
            <a:avLst/>
          </a:prstGeom>
        </p:spPr>
        <p:txBody>
          <a:bodyPr/>
          <a:lstStyle/>
          <a:p>
            <a:pPr marL="0" lvl="0" indent="0">
              <a:buNone/>
            </a:pPr>
            <a:r>
              <a:t>Cálculo do Coeficiente de Aproveitamento</a:t>
            </a:r>
          </a:p>
        </p:txBody>
      </p:sp>
      <p:sp>
        <p:nvSpPr>
          <p:cNvPr id="3" name="Content Placeholder 2">
            <a:extLst>
              <a:ext uri="{FF2B5EF4-FFF2-40B4-BE49-F238E27FC236}">
                <a16:creationId xmlns:a16="http://schemas.microsoft.com/office/drawing/2014/main" id="{06E5C504-58F1-2318-F264-E17A9AABC74B}"/>
              </a:ext>
            </a:extLst>
          </p:cNvPr>
          <p:cNvSpPr>
            <a:spLocks noGrp="1"/>
          </p:cNvSpPr>
          <p:nvPr>
            <p:ph idx="1"/>
          </p:nvPr>
        </p:nvSpPr>
        <p:spPr/>
        <p:txBody>
          <a:bodyPr/>
          <a:lstStyle/>
          <a:p>
            <a:pPr lvl="0"/>
            <a:r>
              <a:t>Exemplo:</a:t>
            </a:r>
          </a:p>
          <a:p>
            <a:pPr lvl="1"/>
            <a:r>
              <a:t>Um terreno com 10,0m de testada e área </a:t>
            </a:r>
            <a14:m xmlns:a14="http://schemas.microsoft.com/office/drawing/2010/main">
              <m:oMath xmlns:m="http://schemas.openxmlformats.org/officeDocument/2006/math">
                <m:r>
                  <a:rPr>
                    <a:latin typeface="Cambria Math" panose="02040503050406030204" pitchFamily="18" charset="0"/>
                  </a:rPr>
                  <m:t>𝑆</m:t>
                </m:r>
                <m:r>
                  <a:rPr>
                    <a:latin typeface="Cambria Math" panose="02040503050406030204" pitchFamily="18" charset="0"/>
                  </a:rPr>
                  <m:t>=400</m:t>
                </m:r>
                <m:sSup>
                  <m:sSupPr>
                    <m:ctrlPr>
                      <a:rPr i="1">
                        <a:latin typeface="Cambria Math" panose="02040503050406030204" pitchFamily="18" charset="0"/>
                      </a:rPr>
                    </m:ctrlPr>
                  </m:sSupPr>
                  <m:e>
                    <m:r>
                      <a:rPr>
                        <a:latin typeface="Cambria Math" panose="02040503050406030204" pitchFamily="18" charset="0"/>
                      </a:rPr>
                      <m:t>𝑚</m:t>
                    </m:r>
                  </m:e>
                  <m:sup>
                    <m:r>
                      <a:rPr>
                        <a:latin typeface="Cambria Math" panose="02040503050406030204" pitchFamily="18" charset="0"/>
                      </a:rPr>
                      <m:t>2</m:t>
                    </m:r>
                  </m:sup>
                </m:sSup>
              </m:oMath>
            </a14:m>
            <a:r>
              <a:t>, situado em zona urbana com Taxa de Ocupação </a:t>
            </a:r>
            <a14:m xmlns:a14="http://schemas.microsoft.com/office/drawing/2010/main">
              <m:oMath xmlns:m="http://schemas.openxmlformats.org/officeDocument/2006/math">
                <m:r>
                  <m:rPr>
                    <m:nor/>
                  </m:rPr>
                  <a:rPr/>
                  <m:t>TO</m:t>
                </m:r>
                <m:r>
                  <a:rPr>
                    <a:latin typeface="Cambria Math" panose="02040503050406030204" pitchFamily="18" charset="0"/>
                  </a:rPr>
                  <m:t>=0,5</m:t>
                </m:r>
              </m:oMath>
            </a14:m>
            <a:r>
              <a:t> e Coeficiente de Aproveitamento </a:t>
            </a:r>
            <a14:m xmlns:a14="http://schemas.microsoft.com/office/drawing/2010/main">
              <m:oMath xmlns:m="http://schemas.openxmlformats.org/officeDocument/2006/math">
                <m:r>
                  <a:rPr>
                    <a:latin typeface="Cambria Math" panose="02040503050406030204" pitchFamily="18" charset="0"/>
                  </a:rPr>
                  <m:t>𝐶𝐴</m:t>
                </m:r>
                <m:r>
                  <a:rPr>
                    <a:latin typeface="Cambria Math" panose="02040503050406030204" pitchFamily="18" charset="0"/>
                  </a:rPr>
                  <m:t>=1,0</m:t>
                </m:r>
              </m:oMath>
            </a14:m>
            <a:r>
              <a:t>.</a:t>
            </a:r>
          </a:p>
          <a:p>
            <a:pPr lvl="1"/>
            <a:r>
              <a:t>Este terreno encontra-se em zona com valor do </a:t>
            </a:r>
            <a14:m xmlns:a14="http://schemas.microsoft.com/office/drawing/2010/main">
              <m:oMath xmlns:m="http://schemas.openxmlformats.org/officeDocument/2006/math">
                <m:r>
                  <a:rPr>
                    <a:latin typeface="Cambria Math" panose="02040503050406030204" pitchFamily="18" charset="0"/>
                  </a:rPr>
                  <m:t>𝑚</m:t>
                </m:r>
                <m:r>
                  <a:rPr>
                    <a:latin typeface="Cambria Math" panose="02040503050406030204" pitchFamily="18" charset="0"/>
                  </a:rPr>
                  <m:t>2</m:t>
                </m:r>
              </m:oMath>
            </a14:m>
            <a:r>
              <a:t> </a:t>
            </a:r>
            <a14:m xmlns:a14="http://schemas.microsoft.com/office/drawing/2010/main">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𝑞</m:t>
                    </m:r>
                  </m:e>
                  <m:sub>
                    <m:r>
                      <a:rPr>
                        <a:latin typeface="Cambria Math" panose="02040503050406030204" pitchFamily="18" charset="0"/>
                      </a:rPr>
                      <m:t>𝑇</m:t>
                    </m:r>
                  </m:sub>
                </m:sSub>
                <m:r>
                  <a:rPr>
                    <a:latin typeface="Cambria Math" panose="02040503050406030204" pitchFamily="18" charset="0"/>
                  </a:rPr>
                  <m:t>=2.000,00 </m:t>
                </m:r>
                <m:r>
                  <m:rPr>
                    <m:nor/>
                  </m:rPr>
                  <a:rPr/>
                  <m:t>R</m:t>
                </m:r>
                <m:r>
                  <m:rPr>
                    <m:nor/>
                  </m:rPr>
                  <a:rPr/>
                  <m:t>$</m:t>
                </m:r>
                <m:r>
                  <a:rPr>
                    <a:latin typeface="Cambria Math" panose="02040503050406030204" pitchFamily="18" charset="0"/>
                  </a:rPr>
                  <m:t>/</m:t>
                </m:r>
                <m:sSup>
                  <m:sSupPr>
                    <m:ctrlPr>
                      <a:rPr i="1">
                        <a:latin typeface="Cambria Math" panose="02040503050406030204" pitchFamily="18" charset="0"/>
                      </a:rPr>
                    </m:ctrlPr>
                  </m:sSupPr>
                  <m:e>
                    <m:r>
                      <a:rPr>
                        <a:latin typeface="Cambria Math" panose="02040503050406030204" pitchFamily="18" charset="0"/>
                      </a:rPr>
                      <m:t>𝑚</m:t>
                    </m:r>
                  </m:e>
                  <m:sup>
                    <m:r>
                      <a:rPr>
                        <a:latin typeface="Cambria Math" panose="02040503050406030204" pitchFamily="18" charset="0"/>
                      </a:rPr>
                      <m:t>2</m:t>
                    </m:r>
                  </m:sup>
                </m:sSup>
              </m:oMath>
            </a14:m>
            <a:endParaRPr/>
          </a:p>
          <a:p>
            <a:pPr lvl="1"/>
            <a:r>
              <a:t>Neste terreno encontra-se edificada uma edificação comercial com 450m2 de área construída, sendo 150m2 no térreo e 300m2 nos andares superiores</a:t>
            </a:r>
          </a:p>
          <a:p>
            <a:pPr lvl="1"/>
            <a:r>
              <a:t>A edificação possui padrão construtivo médio e tem idade de aprox. 10 anos, o que resulta num fator de obsolescência igual a 0,75.</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8ACFA-4A74-9B40-CC3E-92D78F850226}"/>
              </a:ext>
            </a:extLst>
          </p:cNvPr>
          <p:cNvSpPr>
            <a:spLocks noGrp="1"/>
          </p:cNvSpPr>
          <p:nvPr>
            <p:ph type="title"/>
          </p:nvPr>
        </p:nvSpPr>
        <p:spPr>
          <a:xfrm>
            <a:off x="838200" y="983457"/>
            <a:ext cx="10515600" cy="891526"/>
          </a:xfrm>
          <a:prstGeom prst="rect">
            <a:avLst/>
          </a:prstGeom>
        </p:spPr>
        <p:txBody>
          <a:bodyPr/>
          <a:lstStyle/>
          <a:p>
            <a:pPr marL="0" lvl="0" indent="0">
              <a:buNone/>
            </a:pPr>
            <a:r>
              <a:t>Resolução</a:t>
            </a:r>
          </a:p>
        </p:txBody>
      </p:sp>
      <p:sp>
        <p:nvSpPr>
          <p:cNvPr id="3" name="Content Placeholder 2">
            <a:extLst>
              <a:ext uri="{FF2B5EF4-FFF2-40B4-BE49-F238E27FC236}">
                <a16:creationId xmlns:a16="http://schemas.microsoft.com/office/drawing/2014/main" id="{06E5C504-58F1-2318-F264-E17A9AABC74B}"/>
              </a:ext>
            </a:extLst>
          </p:cNvPr>
          <p:cNvSpPr>
            <a:spLocks noGrp="1"/>
          </p:cNvSpPr>
          <p:nvPr>
            <p:ph idx="1"/>
          </p:nvPr>
        </p:nvSpPr>
        <p:spPr/>
        <p:txBody>
          <a:bodyPr/>
          <a:lstStyle/>
          <a:p>
            <a:pPr lvl="0"/>
            <a:r>
              <a:t>Considerar que o custo de construção equivale a 1,2 vezes o CUB do padrão R-8N (</a:t>
            </a:r>
            <a14:m xmlns:a14="http://schemas.microsoft.com/office/drawing/2010/main">
              <m:oMath xmlns:m="http://schemas.openxmlformats.org/officeDocument/2006/math">
                <m:r>
                  <m:rPr>
                    <m:nor/>
                  </m:rPr>
                  <a:rPr/>
                  <m:t>R</m:t>
                </m:r>
                <m:r>
                  <m:rPr>
                    <m:nor/>
                  </m:rPr>
                  <a:rPr/>
                  <m:t>$</m:t>
                </m:r>
                <m:r>
                  <a:rPr>
                    <a:latin typeface="Cambria Math" panose="02040503050406030204" pitchFamily="18" charset="0"/>
                  </a:rPr>
                  <m:t>1</m:t>
                </m:r>
                <m:r>
                  <a:rPr>
                    <a:latin typeface="Cambria Math" panose="02040503050406030204" pitchFamily="18" charset="0"/>
                  </a:rPr>
                  <m:t>.</m:t>
                </m:r>
                <m:r>
                  <a:rPr>
                    <a:latin typeface="Cambria Math" panose="02040503050406030204" pitchFamily="18" charset="0"/>
                  </a:rPr>
                  <m:t>000</m:t>
                </m:r>
                <m:r>
                  <a:rPr>
                    <a:latin typeface="Cambria Math" panose="02040503050406030204" pitchFamily="18" charset="0"/>
                  </a:rPr>
                  <m:t>,</m:t>
                </m:r>
                <m:r>
                  <a:rPr>
                    <a:latin typeface="Cambria Math" panose="02040503050406030204" pitchFamily="18" charset="0"/>
                  </a:rPr>
                  <m:t>00</m:t>
                </m:r>
                <m:r>
                  <a:rPr>
                    <a:latin typeface="Cambria Math" panose="02040503050406030204" pitchFamily="18" charset="0"/>
                  </a:rPr>
                  <m:t>/</m:t>
                </m:r>
                <m:sSup>
                  <m:sSupPr>
                    <m:ctrlPr>
                      <a:rPr i="1">
                        <a:latin typeface="Cambria Math" panose="02040503050406030204" pitchFamily="18" charset="0"/>
                      </a:rPr>
                    </m:ctrlPr>
                  </m:sSupPr>
                  <m:e>
                    <m:r>
                      <a:rPr>
                        <a:latin typeface="Cambria Math" panose="02040503050406030204" pitchFamily="18" charset="0"/>
                      </a:rPr>
                      <m:t>𝑚</m:t>
                    </m:r>
                  </m:e>
                  <m:sup>
                    <m:r>
                      <a:rPr>
                        <a:latin typeface="Cambria Math" panose="02040503050406030204" pitchFamily="18" charset="0"/>
                      </a:rPr>
                      <m:t>2</m:t>
                    </m:r>
                  </m:sup>
                </m:sSup>
              </m:oMath>
            </a14:m>
            <a:r>
              <a:t>), </a:t>
            </a:r>
            <a:r>
              <a:rPr i="1"/>
              <a:t>i.e.</a:t>
            </a:r>
            <a:r>
              <a:t> </a:t>
            </a:r>
            <a14:m xmlns:a14="http://schemas.microsoft.com/office/drawing/2010/main">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𝑞</m:t>
                    </m:r>
                  </m:e>
                  <m:sub>
                    <m:r>
                      <a:rPr>
                        <a:latin typeface="Cambria Math" panose="02040503050406030204" pitchFamily="18" charset="0"/>
                      </a:rPr>
                      <m:t>𝐵</m:t>
                    </m:r>
                  </m:sub>
                </m:sSub>
                <m:r>
                  <a:rPr>
                    <a:latin typeface="Cambria Math" panose="02040503050406030204" pitchFamily="18" charset="0"/>
                  </a:rPr>
                  <m:t>=</m:t>
                </m:r>
                <m:r>
                  <a:rPr>
                    <a:latin typeface="Cambria Math" panose="02040503050406030204" pitchFamily="18" charset="0"/>
                  </a:rPr>
                  <m:t>1</m:t>
                </m:r>
                <m:r>
                  <a:rPr>
                    <a:latin typeface="Cambria Math" panose="02040503050406030204" pitchFamily="18" charset="0"/>
                  </a:rPr>
                  <m:t>,</m:t>
                </m:r>
                <m:r>
                  <a:rPr>
                    <a:latin typeface="Cambria Math" panose="02040503050406030204" pitchFamily="18" charset="0"/>
                  </a:rPr>
                  <m:t>2</m:t>
                </m:r>
                <m:r>
                  <a:rPr>
                    <a:latin typeface="Cambria Math" panose="02040503050406030204" pitchFamily="18" charset="0"/>
                  </a:rPr>
                  <m:t>.</m:t>
                </m:r>
                <m:r>
                  <m:rPr>
                    <m:nor/>
                  </m:rPr>
                  <a:rPr/>
                  <m:t>R</m:t>
                </m:r>
                <m:r>
                  <m:rPr>
                    <m:nor/>
                  </m:rPr>
                  <a:rPr/>
                  <m:t>−</m:t>
                </m:r>
                <m:r>
                  <m:rPr>
                    <m:nor/>
                  </m:rPr>
                  <a:rPr/>
                  <m:t>8</m:t>
                </m:r>
                <m:r>
                  <m:rPr>
                    <m:nor/>
                  </m:rPr>
                  <a:rPr/>
                  <m:t>N</m:t>
                </m:r>
              </m:oMath>
            </a14:m>
            <a:r>
              <a:t>.</a:t>
            </a:r>
          </a:p>
          <a:p>
            <a:pPr lvl="0"/>
            <a:r>
              <a:t>Considerar que as áreas do térreo (lojas) tem peso 3 em relação às superiores</a:t>
            </a:r>
          </a:p>
          <a:p>
            <a:pPr lvl="1"/>
            <a:r>
              <a:t>Calcular o Coeficiente de Aproveitamento do Terreno</a:t>
            </a:r>
          </a:p>
          <a:p>
            <a:pPr lvl="1"/>
            <a:r>
              <a:t>Após, calcular o valor do aluguel justo do terreno, considerando </a:t>
            </a:r>
            <a14:m xmlns:a14="http://schemas.microsoft.com/office/drawing/2010/main">
              <m:oMath xmlns:m="http://schemas.openxmlformats.org/officeDocument/2006/math">
                <m:r>
                  <a:rPr>
                    <a:latin typeface="Cambria Math" panose="02040503050406030204" pitchFamily="18" charset="0"/>
                  </a:rPr>
                  <m:t>𝑖</m:t>
                </m:r>
                <m:r>
                  <a:rPr>
                    <a:latin typeface="Cambria Math" panose="02040503050406030204" pitchFamily="18" charset="0"/>
                  </a:rPr>
                  <m:t>=</m:t>
                </m:r>
                <m:r>
                  <a:rPr>
                    <a:latin typeface="Cambria Math" panose="02040503050406030204" pitchFamily="18" charset="0"/>
                  </a:rPr>
                  <m:t>8</m:t>
                </m:r>
                <m:r>
                  <a:rPr>
                    <a:latin typeface="Cambria Math" panose="02040503050406030204" pitchFamily="18" charset="0"/>
                  </a:rPr>
                  <m:t>%</m:t>
                </m:r>
              </m:oMath>
            </a14:m>
            <a:r>
              <a:t>, tanto para as benfeitorias, tanto para o terreno.</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8ACFA-4A74-9B40-CC3E-92D78F850226}"/>
              </a:ext>
            </a:extLst>
          </p:cNvPr>
          <p:cNvSpPr>
            <a:spLocks noGrp="1"/>
          </p:cNvSpPr>
          <p:nvPr>
            <p:ph type="title"/>
          </p:nvPr>
        </p:nvSpPr>
        <p:spPr>
          <a:xfrm>
            <a:off x="838200" y="983457"/>
            <a:ext cx="10515600" cy="891526"/>
          </a:xfrm>
          <a:prstGeom prst="rect">
            <a:avLst/>
          </a:prstGeom>
        </p:spPr>
        <p:txBody>
          <a:bodyPr/>
          <a:lstStyle/>
          <a:p>
            <a:pPr marL="0" lvl="0" indent="0">
              <a:buNone/>
            </a:pPr>
            <a:r>
              <a:t>Resolução</a:t>
            </a:r>
          </a:p>
        </p:txBody>
      </p:sp>
      <p:sp>
        <p:nvSpPr>
          <p:cNvPr id="3" name="Content Placeholder 2">
            <a:extLst>
              <a:ext uri="{FF2B5EF4-FFF2-40B4-BE49-F238E27FC236}">
                <a16:creationId xmlns:a16="http://schemas.microsoft.com/office/drawing/2014/main" id="{06E5C504-58F1-2318-F264-E17A9AABC74B}"/>
              </a:ext>
            </a:extLst>
          </p:cNvPr>
          <p:cNvSpPr>
            <a:spLocks noGrp="1"/>
          </p:cNvSpPr>
          <p:nvPr>
            <p:ph idx="1"/>
          </p:nvPr>
        </p:nvSpPr>
        <p:spPr/>
        <p:txBody>
          <a:bodyPr/>
          <a:lstStyle/>
          <a:p>
            <a:pPr marL="0" lvl="0" indent="0">
              <a:spcBef>
                <a:spcPts val="3000"/>
              </a:spcBef>
              <a:buNone/>
            </a:pPr>
            <a:r>
              <a:rPr b="1"/>
              <a:t>Cálculo do Coeficiente de Aproveitamento</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A3C9F7A-0844-0C9F-745C-595915C1A032}"/>
              </a:ext>
            </a:extLst>
          </p:cNvPr>
          <p:cNvSpPr>
            <a:spLocks noGrp="1"/>
          </p:cNvSpPr>
          <p:nvPr>
            <p:ph sz="half" idx="1"/>
          </p:nvPr>
        </p:nvSpPr>
        <p:spPr/>
        <p:txBody>
          <a:bodyPr/>
          <a:lstStyle/>
          <a:p>
            <a:pPr lvl="0"/>
            <a:r>
              <a:t>Área homogeneizada existente</a:t>
            </a:r>
          </a:p>
          <a:p>
            <a:pPr lvl="1"/>
            <a:r>
              <a:t>Térreo (peso 3):</a:t>
            </a:r>
          </a:p>
          <a:p>
            <a:pPr lvl="2"/>
            <a14:m xmlns:a14="http://schemas.microsoft.com/office/drawing/2010/main">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𝐴</m:t>
                    </m:r>
                  </m:e>
                  <m:sub>
                    <m:r>
                      <a:rPr>
                        <a:latin typeface="Cambria Math" panose="02040503050406030204" pitchFamily="18" charset="0"/>
                      </a:rPr>
                      <m:t>𝑇</m:t>
                    </m:r>
                    <m:r>
                      <a:rPr>
                        <a:latin typeface="Cambria Math" panose="02040503050406030204" pitchFamily="18" charset="0"/>
                      </a:rPr>
                      <m:t>−</m:t>
                    </m:r>
                    <m:r>
                      <a:rPr>
                        <a:latin typeface="Cambria Math" panose="02040503050406030204" pitchFamily="18" charset="0"/>
                      </a:rPr>
                      <m:t>𝑒𝑥𝑖𝑠𝑡</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𝑊</m:t>
                    </m:r>
                  </m:e>
                  <m:sub>
                    <m:r>
                      <a:rPr>
                        <a:latin typeface="Cambria Math" panose="02040503050406030204" pitchFamily="18" charset="0"/>
                      </a:rPr>
                      <m:t>𝑇</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𝐴</m:t>
                    </m:r>
                  </m:e>
                  <m:sub>
                    <m:r>
                      <a:rPr>
                        <a:latin typeface="Cambria Math" panose="02040503050406030204" pitchFamily="18" charset="0"/>
                      </a:rPr>
                      <m:t>𝑇</m:t>
                    </m:r>
                  </m:sub>
                </m:sSub>
                <m:r>
                  <a:rPr>
                    <a:latin typeface="Cambria Math" panose="02040503050406030204" pitchFamily="18" charset="0"/>
                  </a:rPr>
                  <m:t>=</m:t>
                </m:r>
                <m:r>
                  <a:rPr>
                    <a:latin typeface="Cambria Math" panose="02040503050406030204" pitchFamily="18" charset="0"/>
                  </a:rPr>
                  <m:t>3</m:t>
                </m:r>
                <m:r>
                  <a:rPr>
                    <a:latin typeface="Cambria Math" panose="02040503050406030204" pitchFamily="18" charset="0"/>
                  </a:rPr>
                  <m:t>.</m:t>
                </m:r>
                <m:r>
                  <a:rPr>
                    <a:latin typeface="Cambria Math" panose="02040503050406030204" pitchFamily="18" charset="0"/>
                  </a:rPr>
                  <m:t>150</m:t>
                </m:r>
              </m:oMath>
            </a14:m>
            <a:endParaRPr/>
          </a:p>
          <a:p>
            <a:pPr lvl="2"/>
            <a14:m xmlns:a14="http://schemas.microsoft.com/office/drawing/2010/main">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𝐴</m:t>
                    </m:r>
                  </m:e>
                  <m:sub>
                    <m:r>
                      <a:rPr>
                        <a:latin typeface="Cambria Math" panose="02040503050406030204" pitchFamily="18" charset="0"/>
                      </a:rPr>
                      <m:t>𝑇</m:t>
                    </m:r>
                    <m:r>
                      <a:rPr>
                        <a:latin typeface="Cambria Math" panose="02040503050406030204" pitchFamily="18" charset="0"/>
                      </a:rPr>
                      <m:t>−</m:t>
                    </m:r>
                    <m:r>
                      <a:rPr>
                        <a:latin typeface="Cambria Math" panose="02040503050406030204" pitchFamily="18" charset="0"/>
                      </a:rPr>
                      <m:t>𝑒𝑥𝑖𝑠𝑡</m:t>
                    </m:r>
                  </m:sub>
                </m:sSub>
                <m:r>
                  <a:rPr>
                    <a:latin typeface="Cambria Math" panose="02040503050406030204" pitchFamily="18" charset="0"/>
                  </a:rPr>
                  <m:t>=</m:t>
                </m:r>
                <m:r>
                  <a:rPr>
                    <a:latin typeface="Cambria Math" panose="02040503050406030204" pitchFamily="18" charset="0"/>
                  </a:rPr>
                  <m:t>450</m:t>
                </m:r>
                <m:sSup>
                  <m:sSupPr>
                    <m:ctrlPr>
                      <a:rPr i="1">
                        <a:latin typeface="Cambria Math" panose="02040503050406030204" pitchFamily="18" charset="0"/>
                      </a:rPr>
                    </m:ctrlPr>
                  </m:sSupPr>
                  <m:e>
                    <m:r>
                      <a:rPr>
                        <a:latin typeface="Cambria Math" panose="02040503050406030204" pitchFamily="18" charset="0"/>
                      </a:rPr>
                      <m:t>𝑚</m:t>
                    </m:r>
                  </m:e>
                  <m:sup>
                    <m:r>
                      <a:rPr>
                        <a:latin typeface="Cambria Math" panose="02040503050406030204" pitchFamily="18" charset="0"/>
                      </a:rPr>
                      <m:t>2</m:t>
                    </m:r>
                  </m:sup>
                </m:sSup>
              </m:oMath>
            </a14:m>
            <a:endParaRPr/>
          </a:p>
          <a:p>
            <a:pPr lvl="1"/>
            <a:r>
              <a:t>Superiores (peso 1):</a:t>
            </a:r>
          </a:p>
          <a:p>
            <a:pPr lvl="2"/>
            <a14:m xmlns:a14="http://schemas.microsoft.com/office/drawing/2010/main">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𝐴</m:t>
                    </m:r>
                  </m:e>
                  <m:sub>
                    <m:r>
                      <a:rPr>
                        <a:latin typeface="Cambria Math" panose="02040503050406030204" pitchFamily="18" charset="0"/>
                      </a:rPr>
                      <m:t>𝑆</m:t>
                    </m:r>
                    <m:r>
                      <a:rPr>
                        <a:latin typeface="Cambria Math" panose="02040503050406030204" pitchFamily="18" charset="0"/>
                      </a:rPr>
                      <m:t>−</m:t>
                    </m:r>
                    <m:r>
                      <a:rPr>
                        <a:latin typeface="Cambria Math" panose="02040503050406030204" pitchFamily="18" charset="0"/>
                      </a:rPr>
                      <m:t>𝑒𝑥𝑖𝑠𝑡</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𝑊</m:t>
                    </m:r>
                  </m:e>
                  <m:sub>
                    <m:r>
                      <a:rPr>
                        <a:latin typeface="Cambria Math" panose="02040503050406030204" pitchFamily="18" charset="0"/>
                      </a:rPr>
                      <m:t>𝑆</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𝐴</m:t>
                    </m:r>
                  </m:e>
                  <m:sub>
                    <m:r>
                      <a:rPr>
                        <a:latin typeface="Cambria Math" panose="02040503050406030204" pitchFamily="18" charset="0"/>
                      </a:rPr>
                      <m:t>𝑆</m:t>
                    </m:r>
                  </m:sub>
                </m:sSub>
                <m:r>
                  <a:rPr>
                    <a:latin typeface="Cambria Math" panose="02040503050406030204" pitchFamily="18" charset="0"/>
                  </a:rPr>
                  <m:t>=</m:t>
                </m:r>
                <m:r>
                  <a:rPr>
                    <a:latin typeface="Cambria Math" panose="02040503050406030204" pitchFamily="18" charset="0"/>
                  </a:rPr>
                  <m:t>1</m:t>
                </m:r>
                <m:r>
                  <a:rPr>
                    <a:latin typeface="Cambria Math" panose="02040503050406030204" pitchFamily="18" charset="0"/>
                  </a:rPr>
                  <m:t>.</m:t>
                </m:r>
                <m:r>
                  <a:rPr>
                    <a:latin typeface="Cambria Math" panose="02040503050406030204" pitchFamily="18" charset="0"/>
                  </a:rPr>
                  <m:t>300</m:t>
                </m:r>
              </m:oMath>
            </a14:m>
            <a:endParaRPr/>
          </a:p>
          <a:p>
            <a:pPr lvl="2"/>
            <a14:m xmlns:a14="http://schemas.microsoft.com/office/drawing/2010/main">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𝐴</m:t>
                    </m:r>
                  </m:e>
                  <m:sub>
                    <m:r>
                      <a:rPr>
                        <a:latin typeface="Cambria Math" panose="02040503050406030204" pitchFamily="18" charset="0"/>
                      </a:rPr>
                      <m:t>𝑆</m:t>
                    </m:r>
                    <m:r>
                      <a:rPr>
                        <a:latin typeface="Cambria Math" panose="02040503050406030204" pitchFamily="18" charset="0"/>
                      </a:rPr>
                      <m:t>−</m:t>
                    </m:r>
                    <m:r>
                      <a:rPr>
                        <a:latin typeface="Cambria Math" panose="02040503050406030204" pitchFamily="18" charset="0"/>
                      </a:rPr>
                      <m:t>𝑒𝑥𝑖𝑠𝑡</m:t>
                    </m:r>
                  </m:sub>
                </m:sSub>
                <m:r>
                  <a:rPr>
                    <a:latin typeface="Cambria Math" panose="02040503050406030204" pitchFamily="18" charset="0"/>
                  </a:rPr>
                  <m:t>=</m:t>
                </m:r>
                <m:r>
                  <a:rPr>
                    <a:latin typeface="Cambria Math" panose="02040503050406030204" pitchFamily="18" charset="0"/>
                  </a:rPr>
                  <m:t>300</m:t>
                </m:r>
                <m:sSup>
                  <m:sSupPr>
                    <m:ctrlPr>
                      <a:rPr i="1">
                        <a:latin typeface="Cambria Math" panose="02040503050406030204" pitchFamily="18" charset="0"/>
                      </a:rPr>
                    </m:ctrlPr>
                  </m:sSupPr>
                  <m:e>
                    <m:r>
                      <a:rPr>
                        <a:latin typeface="Cambria Math" panose="02040503050406030204" pitchFamily="18" charset="0"/>
                      </a:rPr>
                      <m:t>𝑚</m:t>
                    </m:r>
                  </m:e>
                  <m:sup>
                    <m:r>
                      <a:rPr>
                        <a:latin typeface="Cambria Math" panose="02040503050406030204" pitchFamily="18" charset="0"/>
                      </a:rPr>
                      <m:t>2</m:t>
                    </m:r>
                  </m:sup>
                </m:sSup>
              </m:oMath>
            </a14:m>
            <a:endParaRPr/>
          </a:p>
        </p:txBody>
      </p:sp>
      <p:sp>
        <p:nvSpPr>
          <p:cNvPr id="4" name="Content Placeholder 3">
            <a:extLst>
              <a:ext uri="{FF2B5EF4-FFF2-40B4-BE49-F238E27FC236}">
                <a16:creationId xmlns:a16="http://schemas.microsoft.com/office/drawing/2014/main" id="{F1D3C290-0A1C-BF66-84A7-0888B63645A3}"/>
              </a:ext>
            </a:extLst>
          </p:cNvPr>
          <p:cNvSpPr>
            <a:spLocks noGrp="1"/>
          </p:cNvSpPr>
          <p:nvPr>
            <p:ph sz="half" idx="2"/>
          </p:nvPr>
        </p:nvSpPr>
        <p:spPr/>
        <p:txBody>
          <a:bodyPr/>
          <a:lstStyle/>
          <a:p>
            <a:pPr lvl="0"/>
            <a:r>
              <a:t>Área homogeneizada máxima</a:t>
            </a:r>
          </a:p>
          <a:p>
            <a:pPr lvl="1"/>
            <a:r>
              <a:t>Térreo (peso 3):</a:t>
            </a:r>
          </a:p>
          <a:p>
            <a:pPr lvl="2"/>
            <a14:m xmlns:a14="http://schemas.microsoft.com/office/drawing/2010/main">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𝐴</m:t>
                    </m:r>
                  </m:e>
                  <m:sub>
                    <m:r>
                      <a:rPr>
                        <a:latin typeface="Cambria Math" panose="02040503050406030204" pitchFamily="18" charset="0"/>
                      </a:rPr>
                      <m:t>𝑇</m:t>
                    </m:r>
                    <m:r>
                      <a:rPr>
                        <a:latin typeface="Cambria Math" panose="02040503050406030204" pitchFamily="18" charset="0"/>
                      </a:rPr>
                      <m:t>−</m:t>
                    </m:r>
                    <m:r>
                      <a:rPr>
                        <a:latin typeface="Cambria Math" panose="02040503050406030204" pitchFamily="18" charset="0"/>
                      </a:rPr>
                      <m:t>𝑚𝑎𝑥</m:t>
                    </m:r>
                  </m:sub>
                </m:sSub>
                <m:r>
                  <a:rPr>
                    <a:latin typeface="Cambria Math" panose="02040503050406030204" pitchFamily="18" charset="0"/>
                  </a:rPr>
                  <m:t>=</m:t>
                </m:r>
                <m:r>
                  <a:rPr>
                    <a:latin typeface="Cambria Math" panose="02040503050406030204" pitchFamily="18" charset="0"/>
                  </a:rPr>
                  <m:t>𝑇𝑂</m:t>
                </m:r>
                <m:r>
                  <a:rPr>
                    <a:latin typeface="Cambria Math" panose="02040503050406030204" pitchFamily="18" charset="0"/>
                  </a:rPr>
                  <m:t>.</m:t>
                </m:r>
                <m:r>
                  <a:rPr>
                    <a:latin typeface="Cambria Math" panose="02040503050406030204" pitchFamily="18" charset="0"/>
                  </a:rPr>
                  <m:t>𝑆</m:t>
                </m:r>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𝑊</m:t>
                    </m:r>
                  </m:e>
                  <m:sub>
                    <m:r>
                      <a:rPr>
                        <a:latin typeface="Cambria Math" panose="02040503050406030204" pitchFamily="18" charset="0"/>
                      </a:rPr>
                      <m:t>𝑇</m:t>
                    </m:r>
                  </m:sub>
                </m:sSub>
                <m:r>
                  <a:rPr>
                    <a:latin typeface="Cambria Math" panose="02040503050406030204" pitchFamily="18" charset="0"/>
                  </a:rPr>
                  <m:t>=</m:t>
                </m:r>
                <m:r>
                  <a:rPr>
                    <a:latin typeface="Cambria Math" panose="02040503050406030204" pitchFamily="18" charset="0"/>
                  </a:rPr>
                  <m:t>0</m:t>
                </m:r>
                <m:r>
                  <a:rPr>
                    <a:latin typeface="Cambria Math" panose="02040503050406030204" pitchFamily="18" charset="0"/>
                  </a:rPr>
                  <m:t>,</m:t>
                </m:r>
                <m:r>
                  <a:rPr>
                    <a:latin typeface="Cambria Math" panose="02040503050406030204" pitchFamily="18" charset="0"/>
                  </a:rPr>
                  <m:t>5</m:t>
                </m:r>
                <m:r>
                  <a:rPr>
                    <a:latin typeface="Cambria Math" panose="02040503050406030204" pitchFamily="18" charset="0"/>
                  </a:rPr>
                  <m:t>.</m:t>
                </m:r>
                <m:r>
                  <a:rPr>
                    <a:latin typeface="Cambria Math" panose="02040503050406030204" pitchFamily="18" charset="0"/>
                  </a:rPr>
                  <m:t>400</m:t>
                </m:r>
                <m:r>
                  <a:rPr>
                    <a:latin typeface="Cambria Math" panose="02040503050406030204" pitchFamily="18" charset="0"/>
                  </a:rPr>
                  <m:t>.</m:t>
                </m:r>
                <m:r>
                  <a:rPr>
                    <a:latin typeface="Cambria Math" panose="02040503050406030204" pitchFamily="18" charset="0"/>
                  </a:rPr>
                  <m:t>3</m:t>
                </m:r>
                <m:r>
                  <a:rPr>
                    <a:latin typeface="Cambria Math" panose="02040503050406030204" pitchFamily="18" charset="0"/>
                  </a:rPr>
                  <m:t>=</m:t>
                </m:r>
                <m:r>
                  <a:rPr>
                    <a:latin typeface="Cambria Math" panose="02040503050406030204" pitchFamily="18" charset="0"/>
                  </a:rPr>
                  <m:t>600</m:t>
                </m:r>
                <m:sSup>
                  <m:sSupPr>
                    <m:ctrlPr>
                      <a:rPr i="1">
                        <a:latin typeface="Cambria Math" panose="02040503050406030204" pitchFamily="18" charset="0"/>
                      </a:rPr>
                    </m:ctrlPr>
                  </m:sSupPr>
                  <m:e>
                    <m:r>
                      <a:rPr>
                        <a:latin typeface="Cambria Math" panose="02040503050406030204" pitchFamily="18" charset="0"/>
                      </a:rPr>
                      <m:t>𝑚</m:t>
                    </m:r>
                  </m:e>
                  <m:sup>
                    <m:r>
                      <a:rPr>
                        <a:latin typeface="Cambria Math" panose="02040503050406030204" pitchFamily="18" charset="0"/>
                      </a:rPr>
                      <m:t>2</m:t>
                    </m:r>
                  </m:sup>
                </m:sSup>
              </m:oMath>
            </a14:m>
            <a:endParaRPr/>
          </a:p>
          <a:p>
            <a:pPr lvl="1"/>
            <a:r>
              <a:t>Superiores (peso 1):</a:t>
            </a:r>
          </a:p>
          <a:p>
            <a:pPr lvl="2"/>
            <a14:m xmlns:a14="http://schemas.microsoft.com/office/drawing/2010/main">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𝐴</m:t>
                    </m:r>
                  </m:e>
                  <m:sub>
                    <m:r>
                      <a:rPr>
                        <a:latin typeface="Cambria Math" panose="02040503050406030204" pitchFamily="18" charset="0"/>
                      </a:rPr>
                      <m:t>𝑆</m:t>
                    </m:r>
                    <m:r>
                      <a:rPr>
                        <a:latin typeface="Cambria Math" panose="02040503050406030204" pitchFamily="18" charset="0"/>
                      </a:rPr>
                      <m:t>−</m:t>
                    </m:r>
                    <m:r>
                      <a:rPr>
                        <a:latin typeface="Cambria Math" panose="02040503050406030204" pitchFamily="18" charset="0"/>
                      </a:rPr>
                      <m:t>𝑚𝑎𝑥</m:t>
                    </m:r>
                  </m:sub>
                </m:sSub>
                <m:r>
                  <a:rPr>
                    <a:latin typeface="Cambria Math" panose="02040503050406030204" pitchFamily="18" charset="0"/>
                  </a:rPr>
                  <m:t>=</m:t>
                </m:r>
                <m:d>
                  <m:dPr>
                    <m:ctrlPr>
                      <a:rPr i="1">
                        <a:latin typeface="Cambria Math" panose="02040503050406030204" pitchFamily="18" charset="0"/>
                      </a:rPr>
                    </m:ctrlPr>
                  </m:dPr>
                  <m:e>
                    <m:r>
                      <a:rPr>
                        <a:latin typeface="Cambria Math" panose="02040503050406030204" pitchFamily="18" charset="0"/>
                      </a:rPr>
                      <m:t>𝐶𝐴</m:t>
                    </m:r>
                    <m:r>
                      <a:rPr>
                        <a:latin typeface="Cambria Math" panose="02040503050406030204" pitchFamily="18" charset="0"/>
                      </a:rPr>
                      <m:t>−</m:t>
                    </m:r>
                    <m:r>
                      <a:rPr>
                        <a:latin typeface="Cambria Math" panose="02040503050406030204" pitchFamily="18" charset="0"/>
                      </a:rPr>
                      <m:t>𝑇𝑂</m:t>
                    </m:r>
                  </m:e>
                </m:d>
                <m:r>
                  <a:rPr>
                    <a:latin typeface="Cambria Math" panose="02040503050406030204" pitchFamily="18" charset="0"/>
                  </a:rPr>
                  <m:t>.</m:t>
                </m:r>
                <m:r>
                  <a:rPr>
                    <a:latin typeface="Cambria Math" panose="02040503050406030204" pitchFamily="18" charset="0"/>
                  </a:rPr>
                  <m:t>𝑆</m:t>
                </m:r>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𝑊</m:t>
                    </m:r>
                  </m:e>
                  <m:sub>
                    <m:r>
                      <a:rPr>
                        <a:latin typeface="Cambria Math" panose="02040503050406030204" pitchFamily="18" charset="0"/>
                      </a:rPr>
                      <m:t>𝑆</m:t>
                    </m:r>
                  </m:sub>
                </m:sSub>
                <m:r>
                  <a:rPr>
                    <a:latin typeface="Cambria Math" panose="02040503050406030204" pitchFamily="18" charset="0"/>
                  </a:rPr>
                  <m:t>=</m:t>
                </m:r>
                <m:d>
                  <m:dPr>
                    <m:ctrlPr>
                      <a:rPr i="1">
                        <a:latin typeface="Cambria Math" panose="02040503050406030204" pitchFamily="18" charset="0"/>
                      </a:rPr>
                    </m:ctrlPr>
                  </m:dPr>
                  <m:e>
                    <m:r>
                      <a:rPr>
                        <a:latin typeface="Cambria Math" panose="02040503050406030204" pitchFamily="18" charset="0"/>
                      </a:rPr>
                      <m:t>1</m:t>
                    </m:r>
                    <m:r>
                      <a:rPr>
                        <a:latin typeface="Cambria Math" panose="02040503050406030204" pitchFamily="18" charset="0"/>
                      </a:rPr>
                      <m:t>−</m:t>
                    </m:r>
                    <m:r>
                      <a:rPr>
                        <a:latin typeface="Cambria Math" panose="02040503050406030204" pitchFamily="18" charset="0"/>
                      </a:rPr>
                      <m:t>0</m:t>
                    </m:r>
                    <m:r>
                      <a:rPr>
                        <a:latin typeface="Cambria Math" panose="02040503050406030204" pitchFamily="18" charset="0"/>
                      </a:rPr>
                      <m:t>,</m:t>
                    </m:r>
                    <m:r>
                      <a:rPr>
                        <a:latin typeface="Cambria Math" panose="02040503050406030204" pitchFamily="18" charset="0"/>
                      </a:rPr>
                      <m:t>5</m:t>
                    </m:r>
                  </m:e>
                </m:d>
                <m:r>
                  <a:rPr>
                    <a:latin typeface="Cambria Math" panose="02040503050406030204" pitchFamily="18" charset="0"/>
                  </a:rPr>
                  <m:t>.</m:t>
                </m:r>
                <m:r>
                  <a:rPr>
                    <a:latin typeface="Cambria Math" panose="02040503050406030204" pitchFamily="18" charset="0"/>
                  </a:rPr>
                  <m:t>400</m:t>
                </m:r>
                <m:r>
                  <a:rPr>
                    <a:latin typeface="Cambria Math" panose="02040503050406030204" pitchFamily="18" charset="0"/>
                  </a:rPr>
                  <m:t>.</m:t>
                </m:r>
                <m:r>
                  <a:rPr>
                    <a:latin typeface="Cambria Math" panose="02040503050406030204" pitchFamily="18" charset="0"/>
                  </a:rPr>
                  <m:t>1</m:t>
                </m:r>
              </m:oMath>
            </a14:m>
            <a:endParaRPr/>
          </a:p>
          <a:p>
            <a:pPr lvl="2"/>
            <a14:m xmlns:a14="http://schemas.microsoft.com/office/drawing/2010/main">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𝐴</m:t>
                    </m:r>
                  </m:e>
                  <m:sub>
                    <m:r>
                      <a:rPr>
                        <a:latin typeface="Cambria Math" panose="02040503050406030204" pitchFamily="18" charset="0"/>
                      </a:rPr>
                      <m:t>𝑆</m:t>
                    </m:r>
                    <m:r>
                      <a:rPr>
                        <a:latin typeface="Cambria Math" panose="02040503050406030204" pitchFamily="18" charset="0"/>
                      </a:rPr>
                      <m:t>−</m:t>
                    </m:r>
                    <m:r>
                      <a:rPr>
                        <a:latin typeface="Cambria Math" panose="02040503050406030204" pitchFamily="18" charset="0"/>
                      </a:rPr>
                      <m:t>𝑚𝑎𝑥</m:t>
                    </m:r>
                  </m:sub>
                </m:sSub>
                <m:r>
                  <a:rPr>
                    <a:latin typeface="Cambria Math" panose="02040503050406030204" pitchFamily="18" charset="0"/>
                  </a:rPr>
                  <m:t>=</m:t>
                </m:r>
                <m:r>
                  <a:rPr>
                    <a:latin typeface="Cambria Math" panose="02040503050406030204" pitchFamily="18" charset="0"/>
                  </a:rPr>
                  <m:t>200</m:t>
                </m:r>
                <m:sSup>
                  <m:sSupPr>
                    <m:ctrlPr>
                      <a:rPr i="1">
                        <a:latin typeface="Cambria Math" panose="02040503050406030204" pitchFamily="18" charset="0"/>
                      </a:rPr>
                    </m:ctrlPr>
                  </m:sSupPr>
                  <m:e>
                    <m:r>
                      <a:rPr>
                        <a:latin typeface="Cambria Math" panose="02040503050406030204" pitchFamily="18" charset="0"/>
                      </a:rPr>
                      <m:t>𝑚</m:t>
                    </m:r>
                  </m:e>
                  <m:sup>
                    <m:r>
                      <a:rPr>
                        <a:latin typeface="Cambria Math" panose="02040503050406030204" pitchFamily="18" charset="0"/>
                      </a:rPr>
                      <m:t>2</m:t>
                    </m:r>
                  </m:sup>
                </m:sSup>
              </m:oMath>
            </a14:m>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6E5C504-58F1-2318-F264-E17A9AABC74B}"/>
              </a:ext>
            </a:extLst>
          </p:cNvPr>
          <p:cNvSpPr>
            <a:spLocks noGrp="1"/>
          </p:cNvSpPr>
          <p:nvPr>
            <p:ph idx="1"/>
          </p:nvPr>
        </p:nvSpPr>
        <p:spPr/>
        <p:txBody>
          <a:bodyPr/>
          <a:lstStyle/>
          <a:p>
            <a:pPr lvl="0"/>
            <a:r>
              <a:t>Coeficiente de Aproveitamento:</a:t>
            </a:r>
          </a:p>
          <a:p>
            <a:pPr lvl="1"/>
            <a14:m xmlns:a14="http://schemas.microsoft.com/office/drawing/2010/main">
              <m:oMath xmlns:m="http://schemas.openxmlformats.org/officeDocument/2006/math">
                <m:r>
                  <a:rPr>
                    <a:latin typeface="Cambria Math" panose="02040503050406030204" pitchFamily="18" charset="0"/>
                  </a:rPr>
                  <m:t>𝐶𝐴</m:t>
                </m:r>
                <m:r>
                  <a:rPr>
                    <a:latin typeface="Cambria Math" panose="02040503050406030204" pitchFamily="18" charset="0"/>
                  </a:rPr>
                  <m:t>=</m:t>
                </m:r>
                <m:f>
                  <m:fPr>
                    <m:ctrlPr>
                      <a:rPr i="1">
                        <a:latin typeface="Cambria Math" panose="02040503050406030204" pitchFamily="18" charset="0"/>
                      </a:rPr>
                    </m:ctrlPr>
                  </m:fPr>
                  <m:num>
                    <m:sSub>
                      <m:sSubPr>
                        <m:ctrlPr>
                          <a:rPr i="1">
                            <a:latin typeface="Cambria Math" panose="02040503050406030204" pitchFamily="18" charset="0"/>
                          </a:rPr>
                        </m:ctrlPr>
                      </m:sSubPr>
                      <m:e>
                        <m:r>
                          <a:rPr>
                            <a:latin typeface="Cambria Math" panose="02040503050406030204" pitchFamily="18" charset="0"/>
                          </a:rPr>
                          <m:t>𝐴</m:t>
                        </m:r>
                      </m:e>
                      <m:sub>
                        <m:r>
                          <a:rPr>
                            <a:latin typeface="Cambria Math" panose="02040503050406030204" pitchFamily="18" charset="0"/>
                          </a:rPr>
                          <m:t>h</m:t>
                        </m:r>
                        <m:r>
                          <a:rPr>
                            <a:latin typeface="Cambria Math" panose="02040503050406030204" pitchFamily="18" charset="0"/>
                          </a:rPr>
                          <m:t>−</m:t>
                        </m:r>
                        <m:r>
                          <a:rPr>
                            <a:latin typeface="Cambria Math" panose="02040503050406030204" pitchFamily="18" charset="0"/>
                          </a:rPr>
                          <m:t>𝑒𝑥𝑖𝑠𝑡𝑒𝑛𝑡𝑒</m:t>
                        </m:r>
                      </m:sub>
                    </m:sSub>
                  </m:num>
                  <m:den>
                    <m:sSub>
                      <m:sSubPr>
                        <m:ctrlPr>
                          <a:rPr i="1">
                            <a:latin typeface="Cambria Math" panose="02040503050406030204" pitchFamily="18" charset="0"/>
                          </a:rPr>
                        </m:ctrlPr>
                      </m:sSubPr>
                      <m:e>
                        <m:r>
                          <a:rPr>
                            <a:latin typeface="Cambria Math" panose="02040503050406030204" pitchFamily="18" charset="0"/>
                          </a:rPr>
                          <m:t>𝐴</m:t>
                        </m:r>
                      </m:e>
                      <m:sub>
                        <m:r>
                          <a:rPr>
                            <a:latin typeface="Cambria Math" panose="02040503050406030204" pitchFamily="18" charset="0"/>
                          </a:rPr>
                          <m:t>h</m:t>
                        </m:r>
                        <m:r>
                          <a:rPr>
                            <a:latin typeface="Cambria Math" panose="02040503050406030204" pitchFamily="18" charset="0"/>
                          </a:rPr>
                          <m:t>−</m:t>
                        </m:r>
                        <m:r>
                          <a:rPr>
                            <a:latin typeface="Cambria Math" panose="02040503050406030204" pitchFamily="18" charset="0"/>
                          </a:rPr>
                          <m:t>𝑚</m:t>
                        </m:r>
                        <m:r>
                          <a:rPr>
                            <a:latin typeface="Cambria Math" panose="02040503050406030204" pitchFamily="18" charset="0"/>
                          </a:rPr>
                          <m:t>á</m:t>
                        </m:r>
                        <m:r>
                          <a:rPr>
                            <a:latin typeface="Cambria Math" panose="02040503050406030204" pitchFamily="18" charset="0"/>
                          </a:rPr>
                          <m:t>𝑥𝑖𝑚𝑎</m:t>
                        </m:r>
                      </m:sub>
                    </m:sSub>
                  </m:den>
                </m:f>
                <m:r>
                  <a:rPr>
                    <a:latin typeface="Cambria Math" panose="02040503050406030204" pitchFamily="18" charset="0"/>
                  </a:rPr>
                  <m:t>=</m:t>
                </m:r>
                <m:f>
                  <m:fPr>
                    <m:ctrlPr>
                      <a:rPr i="1">
                        <a:latin typeface="Cambria Math" panose="02040503050406030204" pitchFamily="18" charset="0"/>
                      </a:rPr>
                    </m:ctrlPr>
                  </m:fPr>
                  <m:num>
                    <m:r>
                      <a:rPr>
                        <a:latin typeface="Cambria Math" panose="02040503050406030204" pitchFamily="18" charset="0"/>
                      </a:rPr>
                      <m:t>750</m:t>
                    </m:r>
                  </m:num>
                  <m:den>
                    <m:r>
                      <a:rPr>
                        <a:latin typeface="Cambria Math" panose="02040503050406030204" pitchFamily="18" charset="0"/>
                      </a:rPr>
                      <m:t>800</m:t>
                    </m:r>
                  </m:den>
                </m:f>
                <m:r>
                  <a:rPr>
                    <a:latin typeface="Cambria Math" panose="02040503050406030204" pitchFamily="18" charset="0"/>
                  </a:rPr>
                  <m:t>=</m:t>
                </m:r>
                <m:r>
                  <a:rPr>
                    <a:latin typeface="Cambria Math" panose="02040503050406030204" pitchFamily="18" charset="0"/>
                  </a:rPr>
                  <m:t>0</m:t>
                </m:r>
                <m:r>
                  <a:rPr>
                    <a:latin typeface="Cambria Math" panose="02040503050406030204" pitchFamily="18" charset="0"/>
                  </a:rPr>
                  <m:t>,</m:t>
                </m:r>
                <m:r>
                  <a:rPr>
                    <a:latin typeface="Cambria Math" panose="02040503050406030204" pitchFamily="18" charset="0"/>
                  </a:rPr>
                  <m:t>9375</m:t>
                </m:r>
              </m:oMath>
            </a14:m>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8ACFA-4A74-9B40-CC3E-92D78F850226}"/>
              </a:ext>
            </a:extLst>
          </p:cNvPr>
          <p:cNvSpPr>
            <a:spLocks noGrp="1"/>
          </p:cNvSpPr>
          <p:nvPr>
            <p:ph type="title"/>
          </p:nvPr>
        </p:nvSpPr>
        <p:spPr>
          <a:xfrm>
            <a:off x="838200" y="983457"/>
            <a:ext cx="10515600" cy="891526"/>
          </a:xfrm>
          <a:prstGeom prst="rect">
            <a:avLst/>
          </a:prstGeom>
        </p:spPr>
        <p:txBody>
          <a:bodyPr/>
          <a:lstStyle/>
          <a:p>
            <a:pPr marL="0" lvl="0" indent="0">
              <a:buNone/>
            </a:pPr>
            <a:r>
              <a:t>Resolução</a:t>
            </a:r>
          </a:p>
        </p:txBody>
      </p:sp>
      <p:sp>
        <p:nvSpPr>
          <p:cNvPr id="3" name="Content Placeholder 2">
            <a:extLst>
              <a:ext uri="{FF2B5EF4-FFF2-40B4-BE49-F238E27FC236}">
                <a16:creationId xmlns:a16="http://schemas.microsoft.com/office/drawing/2014/main" id="{06E5C504-58F1-2318-F264-E17A9AABC74B}"/>
              </a:ext>
            </a:extLst>
          </p:cNvPr>
          <p:cNvSpPr>
            <a:spLocks noGrp="1"/>
          </p:cNvSpPr>
          <p:nvPr>
            <p:ph idx="1"/>
          </p:nvPr>
        </p:nvSpPr>
        <p:spPr/>
        <p:txBody>
          <a:bodyPr/>
          <a:lstStyle/>
          <a:p>
            <a:pPr marL="0" lvl="0" indent="0">
              <a:spcBef>
                <a:spcPts val="3000"/>
              </a:spcBef>
              <a:buNone/>
            </a:pPr>
            <a:r>
              <a:rPr b="1"/>
              <a:t>Cálculo do valor do capital</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A3C9F7A-0844-0C9F-745C-595915C1A032}"/>
              </a:ext>
            </a:extLst>
          </p:cNvPr>
          <p:cNvSpPr>
            <a:spLocks noGrp="1"/>
          </p:cNvSpPr>
          <p:nvPr>
            <p:ph sz="half" idx="1"/>
          </p:nvPr>
        </p:nvSpPr>
        <p:spPr/>
        <p:txBody>
          <a:bodyPr/>
          <a:lstStyle/>
          <a:p>
            <a:pPr lvl="0"/>
            <a:r>
              <a:t>Capital Terreno:</a:t>
            </a:r>
          </a:p>
          <a:p>
            <a:pPr lvl="1"/>
            <a14:m xmlns:a14="http://schemas.microsoft.com/office/drawing/2010/main">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𝑞</m:t>
                    </m:r>
                  </m:e>
                  <m:sub>
                    <m:r>
                      <a:rPr>
                        <a:latin typeface="Cambria Math" panose="02040503050406030204" pitchFamily="18" charset="0"/>
                      </a:rPr>
                      <m:t>𝑇</m:t>
                    </m:r>
                  </m:sub>
                </m:sSub>
                <m:r>
                  <a:rPr>
                    <a:latin typeface="Cambria Math" panose="02040503050406030204" pitchFamily="18" charset="0"/>
                  </a:rPr>
                  <m:t>=</m:t>
                </m:r>
                <m:r>
                  <m:rPr>
                    <m:nor/>
                  </m:rPr>
                  <a:rPr/>
                  <m:t>R</m:t>
                </m:r>
                <m:r>
                  <m:rPr>
                    <m:nor/>
                  </m:rPr>
                  <a:rPr/>
                  <m:t>$</m:t>
                </m:r>
                <m:r>
                  <a:rPr>
                    <a:latin typeface="Cambria Math" panose="02040503050406030204" pitchFamily="18" charset="0"/>
                  </a:rPr>
                  <m:t>2</m:t>
                </m:r>
                <m:r>
                  <a:rPr>
                    <a:latin typeface="Cambria Math" panose="02040503050406030204" pitchFamily="18" charset="0"/>
                  </a:rPr>
                  <m:t>.</m:t>
                </m:r>
                <m:r>
                  <a:rPr>
                    <a:latin typeface="Cambria Math" panose="02040503050406030204" pitchFamily="18" charset="0"/>
                  </a:rPr>
                  <m:t>000</m:t>
                </m:r>
                <m:r>
                  <a:rPr>
                    <a:latin typeface="Cambria Math" panose="02040503050406030204" pitchFamily="18" charset="0"/>
                  </a:rPr>
                  <m:t>,</m:t>
                </m:r>
                <m:r>
                  <a:rPr>
                    <a:latin typeface="Cambria Math" panose="02040503050406030204" pitchFamily="18" charset="0"/>
                  </a:rPr>
                  <m:t>00</m:t>
                </m:r>
                <m:r>
                  <a:rPr>
                    <a:latin typeface="Cambria Math" panose="02040503050406030204" pitchFamily="18" charset="0"/>
                  </a:rPr>
                  <m:t>/</m:t>
                </m:r>
                <m:sSup>
                  <m:sSupPr>
                    <m:ctrlPr>
                      <a:rPr i="1">
                        <a:latin typeface="Cambria Math" panose="02040503050406030204" pitchFamily="18" charset="0"/>
                      </a:rPr>
                    </m:ctrlPr>
                  </m:sSupPr>
                  <m:e>
                    <m:r>
                      <a:rPr>
                        <a:latin typeface="Cambria Math" panose="02040503050406030204" pitchFamily="18" charset="0"/>
                      </a:rPr>
                      <m:t>𝑚</m:t>
                    </m:r>
                  </m:e>
                  <m:sup>
                    <m:r>
                      <a:rPr>
                        <a:latin typeface="Cambria Math" panose="02040503050406030204" pitchFamily="18" charset="0"/>
                      </a:rPr>
                      <m:t>2</m:t>
                    </m:r>
                  </m:sup>
                </m:sSup>
              </m:oMath>
            </a14:m>
            <a:endParaRPr/>
          </a:p>
          <a:p>
            <a:pPr lvl="1"/>
            <a14:m xmlns:a14="http://schemas.microsoft.com/office/drawing/2010/main">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𝑉</m:t>
                    </m:r>
                  </m:e>
                  <m:sub>
                    <m:r>
                      <a:rPr>
                        <a:latin typeface="Cambria Math" panose="02040503050406030204" pitchFamily="18" charset="0"/>
                      </a:rPr>
                      <m:t>𝑇</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𝑞</m:t>
                    </m:r>
                  </m:e>
                  <m:sub>
                    <m:r>
                      <a:rPr>
                        <a:latin typeface="Cambria Math" panose="02040503050406030204" pitchFamily="18" charset="0"/>
                      </a:rPr>
                      <m:t>𝑇</m:t>
                    </m:r>
                  </m:sub>
                </m:sSub>
                <m:r>
                  <a:rPr>
                    <a:latin typeface="Cambria Math" panose="02040503050406030204" pitchFamily="18" charset="0"/>
                  </a:rPr>
                  <m:t>.</m:t>
                </m:r>
                <m:r>
                  <a:rPr>
                    <a:latin typeface="Cambria Math" panose="02040503050406030204" pitchFamily="18" charset="0"/>
                  </a:rPr>
                  <m:t>𝑆</m:t>
                </m:r>
                <m:r>
                  <a:rPr>
                    <a:latin typeface="Cambria Math" panose="02040503050406030204" pitchFamily="18" charset="0"/>
                  </a:rPr>
                  <m:t>=</m:t>
                </m:r>
                <m:r>
                  <a:rPr>
                    <a:latin typeface="Cambria Math" panose="02040503050406030204" pitchFamily="18" charset="0"/>
                  </a:rPr>
                  <m:t>2</m:t>
                </m:r>
                <m:r>
                  <a:rPr>
                    <a:latin typeface="Cambria Math" panose="02040503050406030204" pitchFamily="18" charset="0"/>
                  </a:rPr>
                  <m:t>.</m:t>
                </m:r>
                <m:r>
                  <a:rPr>
                    <a:latin typeface="Cambria Math" panose="02040503050406030204" pitchFamily="18" charset="0"/>
                  </a:rPr>
                  <m:t>000</m:t>
                </m:r>
                <m:r>
                  <a:rPr>
                    <a:latin typeface="Cambria Math" panose="02040503050406030204" pitchFamily="18" charset="0"/>
                  </a:rPr>
                  <m:t>.</m:t>
                </m:r>
                <m:r>
                  <a:rPr>
                    <a:latin typeface="Cambria Math" panose="02040503050406030204" pitchFamily="18" charset="0"/>
                  </a:rPr>
                  <m:t>400</m:t>
                </m:r>
                <m:r>
                  <a:rPr>
                    <a:latin typeface="Cambria Math" panose="02040503050406030204" pitchFamily="18" charset="0"/>
                  </a:rPr>
                  <m:t>=</m:t>
                </m:r>
                <m:r>
                  <a:rPr>
                    <a:latin typeface="Cambria Math" panose="02040503050406030204" pitchFamily="18" charset="0"/>
                  </a:rPr>
                  <m:t>800</m:t>
                </m:r>
                <m:r>
                  <a:rPr>
                    <a:latin typeface="Cambria Math" panose="02040503050406030204" pitchFamily="18" charset="0"/>
                  </a:rPr>
                  <m:t>.</m:t>
                </m:r>
                <m:r>
                  <a:rPr>
                    <a:latin typeface="Cambria Math" panose="02040503050406030204" pitchFamily="18" charset="0"/>
                  </a:rPr>
                  <m:t>000</m:t>
                </m:r>
              </m:oMath>
            </a14:m>
            <a:endParaRPr/>
          </a:p>
        </p:txBody>
      </p:sp>
      <p:sp>
        <p:nvSpPr>
          <p:cNvPr id="4" name="Content Placeholder 3">
            <a:extLst>
              <a:ext uri="{FF2B5EF4-FFF2-40B4-BE49-F238E27FC236}">
                <a16:creationId xmlns:a16="http://schemas.microsoft.com/office/drawing/2014/main" id="{F1D3C290-0A1C-BF66-84A7-0888B63645A3}"/>
              </a:ext>
            </a:extLst>
          </p:cNvPr>
          <p:cNvSpPr>
            <a:spLocks noGrp="1"/>
          </p:cNvSpPr>
          <p:nvPr>
            <p:ph sz="half" idx="2"/>
          </p:nvPr>
        </p:nvSpPr>
        <p:spPr/>
        <p:txBody>
          <a:bodyPr/>
          <a:lstStyle/>
          <a:p>
            <a:pPr lvl="0"/>
            <a:r>
              <a:t>Capital Benfeitoria:</a:t>
            </a:r>
          </a:p>
          <a:p>
            <a:pPr lvl="1"/>
            <a14:m xmlns:a14="http://schemas.microsoft.com/office/drawing/2010/main">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𝑞</m:t>
                    </m:r>
                  </m:e>
                  <m:sub>
                    <m:r>
                      <a:rPr>
                        <a:latin typeface="Cambria Math" panose="02040503050406030204" pitchFamily="18" charset="0"/>
                      </a:rPr>
                      <m:t>𝐵</m:t>
                    </m:r>
                  </m:sub>
                </m:sSub>
                <m:r>
                  <a:rPr>
                    <a:latin typeface="Cambria Math" panose="02040503050406030204" pitchFamily="18" charset="0"/>
                  </a:rPr>
                  <m:t>=</m:t>
                </m:r>
                <m:r>
                  <m:rPr>
                    <m:nor/>
                  </m:rPr>
                  <a:rPr/>
                  <m:t>R</m:t>
                </m:r>
                <m:r>
                  <m:rPr>
                    <m:nor/>
                  </m:rPr>
                  <a:rPr/>
                  <m:t>$</m:t>
                </m:r>
                <m:r>
                  <a:rPr>
                    <a:latin typeface="Cambria Math" panose="02040503050406030204" pitchFamily="18" charset="0"/>
                  </a:rPr>
                  <m:t>1</m:t>
                </m:r>
                <m:r>
                  <a:rPr>
                    <a:latin typeface="Cambria Math" panose="02040503050406030204" pitchFamily="18" charset="0"/>
                  </a:rPr>
                  <m:t>.</m:t>
                </m:r>
                <m:r>
                  <a:rPr>
                    <a:latin typeface="Cambria Math" panose="02040503050406030204" pitchFamily="18" charset="0"/>
                  </a:rPr>
                  <m:t>200</m:t>
                </m:r>
                <m:r>
                  <a:rPr>
                    <a:latin typeface="Cambria Math" panose="02040503050406030204" pitchFamily="18" charset="0"/>
                  </a:rPr>
                  <m:t>,</m:t>
                </m:r>
                <m:r>
                  <a:rPr>
                    <a:latin typeface="Cambria Math" panose="02040503050406030204" pitchFamily="18" charset="0"/>
                  </a:rPr>
                  <m:t>00</m:t>
                </m:r>
                <m:r>
                  <a:rPr>
                    <a:latin typeface="Cambria Math" panose="02040503050406030204" pitchFamily="18" charset="0"/>
                  </a:rPr>
                  <m:t>/</m:t>
                </m:r>
                <m:sSup>
                  <m:sSupPr>
                    <m:ctrlPr>
                      <a:rPr i="1">
                        <a:latin typeface="Cambria Math" panose="02040503050406030204" pitchFamily="18" charset="0"/>
                      </a:rPr>
                    </m:ctrlPr>
                  </m:sSupPr>
                  <m:e>
                    <m:r>
                      <a:rPr>
                        <a:latin typeface="Cambria Math" panose="02040503050406030204" pitchFamily="18" charset="0"/>
                      </a:rPr>
                      <m:t>𝑚</m:t>
                    </m:r>
                  </m:e>
                  <m:sup>
                    <m:r>
                      <a:rPr>
                        <a:latin typeface="Cambria Math" panose="02040503050406030204" pitchFamily="18" charset="0"/>
                      </a:rPr>
                      <m:t>2</m:t>
                    </m:r>
                  </m:sup>
                </m:sSup>
              </m:oMath>
            </a14:m>
            <a:endParaRPr/>
          </a:p>
          <a:p>
            <a:pPr lvl="1"/>
            <a14:m xmlns:a14="http://schemas.microsoft.com/office/drawing/2010/main">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𝑓</m:t>
                    </m:r>
                  </m:e>
                  <m:sub>
                    <m:r>
                      <a:rPr>
                        <a:latin typeface="Cambria Math" panose="02040503050406030204" pitchFamily="18" charset="0"/>
                      </a:rPr>
                      <m:t>𝑜</m:t>
                    </m:r>
                  </m:sub>
                </m:sSub>
                <m:r>
                  <a:rPr>
                    <a:latin typeface="Cambria Math" panose="02040503050406030204" pitchFamily="18" charset="0"/>
                  </a:rPr>
                  <m:t>=</m:t>
                </m:r>
                <m:r>
                  <a:rPr>
                    <a:latin typeface="Cambria Math" panose="02040503050406030204" pitchFamily="18" charset="0"/>
                  </a:rPr>
                  <m:t>0</m:t>
                </m:r>
                <m:r>
                  <a:rPr>
                    <a:latin typeface="Cambria Math" panose="02040503050406030204" pitchFamily="18" charset="0"/>
                  </a:rPr>
                  <m:t>,</m:t>
                </m:r>
                <m:r>
                  <a:rPr>
                    <a:latin typeface="Cambria Math" panose="02040503050406030204" pitchFamily="18" charset="0"/>
                  </a:rPr>
                  <m:t>75</m:t>
                </m:r>
              </m:oMath>
            </a14:m>
            <a:endParaRPr/>
          </a:p>
          <a:p>
            <a:pPr lvl="1"/>
            <a14:m xmlns:a14="http://schemas.microsoft.com/office/drawing/2010/main">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𝑉</m:t>
                    </m:r>
                  </m:e>
                  <m:sub>
                    <m:r>
                      <a:rPr>
                        <a:latin typeface="Cambria Math" panose="02040503050406030204" pitchFamily="18" charset="0"/>
                      </a:rPr>
                      <m:t>𝐵</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𝑓</m:t>
                    </m:r>
                  </m:e>
                  <m:sub>
                    <m:r>
                      <a:rPr>
                        <a:latin typeface="Cambria Math" panose="02040503050406030204" pitchFamily="18" charset="0"/>
                      </a:rPr>
                      <m:t>𝑜</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𝑞</m:t>
                    </m:r>
                  </m:e>
                  <m:sub>
                    <m:r>
                      <a:rPr>
                        <a:latin typeface="Cambria Math" panose="02040503050406030204" pitchFamily="18" charset="0"/>
                      </a:rPr>
                      <m:t>𝐵</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𝐴</m:t>
                    </m:r>
                  </m:e>
                  <m:sub>
                    <m:r>
                      <a:rPr>
                        <a:latin typeface="Cambria Math" panose="02040503050406030204" pitchFamily="18" charset="0"/>
                      </a:rPr>
                      <m:t>𝐵</m:t>
                    </m:r>
                  </m:sub>
                </m:sSub>
                <m:r>
                  <a:rPr>
                    <a:latin typeface="Cambria Math" panose="02040503050406030204" pitchFamily="18" charset="0"/>
                  </a:rPr>
                  <m:t>=</m:t>
                </m:r>
                <m:r>
                  <a:rPr>
                    <a:latin typeface="Cambria Math" panose="02040503050406030204" pitchFamily="18" charset="0"/>
                  </a:rPr>
                  <m:t>0</m:t>
                </m:r>
                <m:r>
                  <a:rPr>
                    <a:latin typeface="Cambria Math" panose="02040503050406030204" pitchFamily="18" charset="0"/>
                  </a:rPr>
                  <m:t>,</m:t>
                </m:r>
                <m:r>
                  <a:rPr>
                    <a:latin typeface="Cambria Math" panose="02040503050406030204" pitchFamily="18" charset="0"/>
                  </a:rPr>
                  <m:t>75</m:t>
                </m:r>
                <m:r>
                  <a:rPr>
                    <a:latin typeface="Cambria Math" panose="02040503050406030204" pitchFamily="18" charset="0"/>
                  </a:rPr>
                  <m:t>.</m:t>
                </m:r>
                <m:r>
                  <a:rPr>
                    <a:latin typeface="Cambria Math" panose="02040503050406030204" pitchFamily="18" charset="0"/>
                  </a:rPr>
                  <m:t>1</m:t>
                </m:r>
                <m:r>
                  <a:rPr>
                    <a:latin typeface="Cambria Math" panose="02040503050406030204" pitchFamily="18" charset="0"/>
                  </a:rPr>
                  <m:t>.</m:t>
                </m:r>
                <m:r>
                  <a:rPr>
                    <a:latin typeface="Cambria Math" panose="02040503050406030204" pitchFamily="18" charset="0"/>
                  </a:rPr>
                  <m:t>200</m:t>
                </m:r>
                <m:r>
                  <a:rPr>
                    <a:latin typeface="Cambria Math" panose="02040503050406030204" pitchFamily="18" charset="0"/>
                  </a:rPr>
                  <m:t>.</m:t>
                </m:r>
                <m:r>
                  <a:rPr>
                    <a:latin typeface="Cambria Math" panose="02040503050406030204" pitchFamily="18" charset="0"/>
                  </a:rPr>
                  <m:t>450</m:t>
                </m:r>
                <m:r>
                  <a:rPr>
                    <a:latin typeface="Cambria Math" panose="02040503050406030204" pitchFamily="18" charset="0"/>
                  </a:rPr>
                  <m:t>=</m:t>
                </m:r>
                <m:r>
                  <a:rPr>
                    <a:latin typeface="Cambria Math" panose="02040503050406030204" pitchFamily="18" charset="0"/>
                  </a:rPr>
                  <m:t>405</m:t>
                </m:r>
                <m:r>
                  <a:rPr>
                    <a:latin typeface="Cambria Math" panose="02040503050406030204" pitchFamily="18" charset="0"/>
                  </a:rPr>
                  <m:t>.</m:t>
                </m:r>
                <m:r>
                  <a:rPr>
                    <a:latin typeface="Cambria Math" panose="02040503050406030204" pitchFamily="18" charset="0"/>
                  </a:rPr>
                  <m:t>000</m:t>
                </m:r>
              </m:oMath>
            </a14:m>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6E5C504-58F1-2318-F264-E17A9AABC74B}"/>
              </a:ext>
            </a:extLst>
          </p:cNvPr>
          <p:cNvSpPr>
            <a:spLocks noGrp="1"/>
          </p:cNvSpPr>
          <p:nvPr>
            <p:ph idx="1"/>
          </p:nvPr>
        </p:nvSpPr>
        <p:spPr/>
        <p:txBody>
          <a:bodyPr/>
          <a:lstStyle/>
          <a:p>
            <a:pPr marL="0" lvl="0" indent="0">
              <a:spcBef>
                <a:spcPts val="3000"/>
              </a:spcBef>
              <a:buNone/>
            </a:pPr>
            <a:r>
              <a:rPr b="1"/>
              <a:t>Método da Remuneração do Capital</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A3C9F7A-0844-0C9F-745C-595915C1A032}"/>
              </a:ext>
            </a:extLst>
          </p:cNvPr>
          <p:cNvSpPr>
            <a:spLocks noGrp="1"/>
          </p:cNvSpPr>
          <p:nvPr>
            <p:ph sz="half" idx="1"/>
          </p:nvPr>
        </p:nvSpPr>
        <p:spPr/>
        <p:txBody>
          <a:bodyPr/>
          <a:lstStyle/>
          <a:p>
            <a:pPr lvl="0"/>
            <a:r>
              <a:t>Capital Terreno:</a:t>
            </a:r>
          </a:p>
          <a:p>
            <a:pPr lvl="1"/>
            <a14:m xmlns:a14="http://schemas.microsoft.com/office/drawing/2010/main">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𝐶</m:t>
                    </m:r>
                  </m:e>
                  <m:sub>
                    <m:r>
                      <a:rPr>
                        <a:latin typeface="Cambria Math" panose="02040503050406030204" pitchFamily="18" charset="0"/>
                      </a:rPr>
                      <m:t>𝑇</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𝑉</m:t>
                    </m:r>
                  </m:e>
                  <m:sub>
                    <m:r>
                      <a:rPr>
                        <a:latin typeface="Cambria Math" panose="02040503050406030204" pitchFamily="18" charset="0"/>
                      </a:rPr>
                      <m:t>𝑇</m:t>
                    </m:r>
                  </m:sub>
                </m:sSub>
                <m:r>
                  <a:rPr>
                    <a:latin typeface="Cambria Math" panose="02040503050406030204" pitchFamily="18" charset="0"/>
                  </a:rPr>
                  <m:t>.</m:t>
                </m:r>
                <m:r>
                  <m:rPr>
                    <m:nor/>
                  </m:rPr>
                  <a:rPr/>
                  <m:t>CA</m:t>
                </m:r>
                <m:r>
                  <a:rPr>
                    <a:latin typeface="Cambria Math" panose="02040503050406030204" pitchFamily="18" charset="0"/>
                  </a:rPr>
                  <m:t>=800.000.0,9375</m:t>
                </m:r>
              </m:oMath>
            </a14:m>
            <a:endParaRPr/>
          </a:p>
          <a:p>
            <a:pPr lvl="1"/>
            <a14:m xmlns:a14="http://schemas.microsoft.com/office/drawing/2010/main">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𝐶</m:t>
                    </m:r>
                  </m:e>
                  <m:sub>
                    <m:r>
                      <a:rPr>
                        <a:latin typeface="Cambria Math" panose="02040503050406030204" pitchFamily="18" charset="0"/>
                      </a:rPr>
                      <m:t>𝑇</m:t>
                    </m:r>
                  </m:sub>
                </m:sSub>
                <m:r>
                  <a:rPr>
                    <a:latin typeface="Cambria Math" panose="02040503050406030204" pitchFamily="18" charset="0"/>
                  </a:rPr>
                  <m:t>=</m:t>
                </m:r>
                <m:r>
                  <m:rPr>
                    <m:nor/>
                  </m:rPr>
                  <a:rPr/>
                  <m:t>R</m:t>
                </m:r>
                <m:r>
                  <m:rPr>
                    <m:nor/>
                  </m:rPr>
                  <a:rPr/>
                  <m:t>$</m:t>
                </m:r>
                <m:r>
                  <a:rPr>
                    <a:latin typeface="Cambria Math" panose="02040503050406030204" pitchFamily="18" charset="0"/>
                  </a:rPr>
                  <m:t>750.000,00</m:t>
                </m:r>
              </m:oMath>
            </a14:m>
            <a:endParaRPr/>
          </a:p>
        </p:txBody>
      </p:sp>
      <p:sp>
        <p:nvSpPr>
          <p:cNvPr id="4" name="Content Placeholder 3">
            <a:extLst>
              <a:ext uri="{FF2B5EF4-FFF2-40B4-BE49-F238E27FC236}">
                <a16:creationId xmlns:a16="http://schemas.microsoft.com/office/drawing/2014/main" id="{F1D3C290-0A1C-BF66-84A7-0888B63645A3}"/>
              </a:ext>
            </a:extLst>
          </p:cNvPr>
          <p:cNvSpPr>
            <a:spLocks noGrp="1"/>
          </p:cNvSpPr>
          <p:nvPr>
            <p:ph sz="half" idx="2"/>
          </p:nvPr>
        </p:nvSpPr>
        <p:spPr/>
        <p:txBody>
          <a:bodyPr/>
          <a:lstStyle/>
          <a:p>
            <a:pPr lvl="0"/>
            <a:r>
              <a:t>Capital Benfeitoria:</a:t>
            </a:r>
          </a:p>
          <a:p>
            <a:pPr lvl="1"/>
            <a14:m xmlns:a14="http://schemas.microsoft.com/office/drawing/2010/main">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𝐶</m:t>
                    </m:r>
                  </m:e>
                  <m:sub>
                    <m:r>
                      <a:rPr>
                        <a:latin typeface="Cambria Math" panose="02040503050406030204" pitchFamily="18" charset="0"/>
                      </a:rPr>
                      <m:t>𝐵</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𝑉</m:t>
                    </m:r>
                  </m:e>
                  <m:sub>
                    <m:r>
                      <a:rPr>
                        <a:latin typeface="Cambria Math" panose="02040503050406030204" pitchFamily="18" charset="0"/>
                      </a:rPr>
                      <m:t>𝐵</m:t>
                    </m:r>
                  </m:sub>
                </m:sSub>
                <m:r>
                  <a:rPr>
                    <a:latin typeface="Cambria Math" panose="02040503050406030204" pitchFamily="18" charset="0"/>
                  </a:rPr>
                  <m:t>=</m:t>
                </m:r>
                <m:r>
                  <m:rPr>
                    <m:nor/>
                  </m:rPr>
                  <a:rPr/>
                  <m:t>R</m:t>
                </m:r>
                <m:r>
                  <m:rPr>
                    <m:nor/>
                  </m:rPr>
                  <a:rPr/>
                  <m:t>$</m:t>
                </m:r>
                <m:r>
                  <a:rPr>
                    <a:latin typeface="Cambria Math" panose="02040503050406030204" pitchFamily="18" charset="0"/>
                  </a:rPr>
                  <m:t>405.000</m:t>
                </m:r>
              </m:oMath>
            </a14:m>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6E5C504-58F1-2318-F264-E17A9AABC74B}"/>
              </a:ext>
            </a:extLst>
          </p:cNvPr>
          <p:cNvSpPr>
            <a:spLocks noGrp="1"/>
          </p:cNvSpPr>
          <p:nvPr>
            <p:ph idx="1"/>
          </p:nvPr>
        </p:nvSpPr>
        <p:spPr/>
        <p:txBody>
          <a:bodyPr/>
          <a:lstStyle/>
          <a:p>
            <a:pPr lvl="0"/>
            <a14:m xmlns:a14="http://schemas.microsoft.com/office/drawing/2010/main">
              <m:oMath xmlns:m="http://schemas.openxmlformats.org/officeDocument/2006/math">
                <m:r>
                  <a:rPr>
                    <a:latin typeface="Cambria Math" panose="02040503050406030204" pitchFamily="18" charset="0"/>
                  </a:rPr>
                  <m:t>𝐴𝑙</m:t>
                </m:r>
                <m:r>
                  <a:rPr>
                    <a:latin typeface="Cambria Math" panose="02040503050406030204" pitchFamily="18" charset="0"/>
                  </a:rPr>
                  <m:t>=</m:t>
                </m:r>
                <m:f>
                  <m:fPr>
                    <m:ctrlPr>
                      <a:rPr i="1">
                        <a:latin typeface="Cambria Math" panose="02040503050406030204" pitchFamily="18" charset="0"/>
                      </a:rPr>
                    </m:ctrlPr>
                  </m:fPr>
                  <m:num>
                    <m:d>
                      <m:dPr>
                        <m:ctrlPr>
                          <a:rPr i="1">
                            <a:latin typeface="Cambria Math" panose="02040503050406030204" pitchFamily="18" charset="0"/>
                          </a:rPr>
                        </m:ctrlPr>
                      </m:dPr>
                      <m:e>
                        <m:r>
                          <a:rPr>
                            <a:latin typeface="Cambria Math" panose="02040503050406030204" pitchFamily="18" charset="0"/>
                          </a:rPr>
                          <m:t>𝐶𝑇</m:t>
                        </m:r>
                        <m:r>
                          <a:rPr>
                            <a:latin typeface="Cambria Math" panose="02040503050406030204" pitchFamily="18" charset="0"/>
                          </a:rPr>
                          <m:t>+</m:t>
                        </m:r>
                        <m:r>
                          <a:rPr>
                            <a:latin typeface="Cambria Math" panose="02040503050406030204" pitchFamily="18" charset="0"/>
                          </a:rPr>
                          <m:t>𝐶𝐵</m:t>
                        </m:r>
                      </m:e>
                    </m:d>
                    <m:r>
                      <a:rPr>
                        <a:latin typeface="Cambria Math" panose="02040503050406030204" pitchFamily="18" charset="0"/>
                      </a:rPr>
                      <m:t>.</m:t>
                    </m:r>
                    <m:r>
                      <a:rPr>
                        <a:latin typeface="Cambria Math" panose="02040503050406030204" pitchFamily="18" charset="0"/>
                      </a:rPr>
                      <m:t>𝑖</m:t>
                    </m:r>
                  </m:num>
                  <m:den>
                    <m:r>
                      <a:rPr>
                        <a:latin typeface="Cambria Math" panose="02040503050406030204" pitchFamily="18" charset="0"/>
                      </a:rPr>
                      <m:t>12</m:t>
                    </m:r>
                  </m:den>
                </m:f>
                <m:r>
                  <a:rPr>
                    <a:latin typeface="Cambria Math" panose="02040503050406030204" pitchFamily="18" charset="0"/>
                  </a:rPr>
                  <m:t>=</m:t>
                </m:r>
                <m:d>
                  <m:dPr>
                    <m:ctrlPr>
                      <a:rPr i="1">
                        <a:latin typeface="Cambria Math" panose="02040503050406030204" pitchFamily="18" charset="0"/>
                      </a:rPr>
                    </m:ctrlPr>
                  </m:dPr>
                  <m:e>
                    <m:r>
                      <a:rPr>
                        <a:latin typeface="Cambria Math" panose="02040503050406030204" pitchFamily="18" charset="0"/>
                      </a:rPr>
                      <m:t>750</m:t>
                    </m:r>
                    <m:r>
                      <a:rPr>
                        <a:latin typeface="Cambria Math" panose="02040503050406030204" pitchFamily="18" charset="0"/>
                      </a:rPr>
                      <m:t>.</m:t>
                    </m:r>
                    <m:r>
                      <a:rPr>
                        <a:latin typeface="Cambria Math" panose="02040503050406030204" pitchFamily="18" charset="0"/>
                      </a:rPr>
                      <m:t>000</m:t>
                    </m:r>
                    <m:r>
                      <a:rPr>
                        <a:latin typeface="Cambria Math" panose="02040503050406030204" pitchFamily="18" charset="0"/>
                      </a:rPr>
                      <m:t>+</m:t>
                    </m:r>
                    <m:r>
                      <a:rPr>
                        <a:latin typeface="Cambria Math" panose="02040503050406030204" pitchFamily="18" charset="0"/>
                      </a:rPr>
                      <m:t>405</m:t>
                    </m:r>
                    <m:r>
                      <a:rPr>
                        <a:latin typeface="Cambria Math" panose="02040503050406030204" pitchFamily="18" charset="0"/>
                      </a:rPr>
                      <m:t>.</m:t>
                    </m:r>
                    <m:r>
                      <a:rPr>
                        <a:latin typeface="Cambria Math" panose="02040503050406030204" pitchFamily="18" charset="0"/>
                      </a:rPr>
                      <m:t>000</m:t>
                    </m:r>
                  </m:e>
                </m:d>
                <m:r>
                  <a:rPr>
                    <a:latin typeface="Cambria Math" panose="02040503050406030204" pitchFamily="18" charset="0"/>
                  </a:rPr>
                  <m:t>.</m:t>
                </m:r>
                <m:r>
                  <a:rPr>
                    <a:latin typeface="Cambria Math" panose="02040503050406030204" pitchFamily="18" charset="0"/>
                  </a:rPr>
                  <m:t>8</m:t>
                </m:r>
                <m:r>
                  <a:rPr>
                    <a:latin typeface="Cambria Math" panose="02040503050406030204" pitchFamily="18" charset="0"/>
                  </a:rPr>
                  <m:t>%</m:t>
                </m:r>
                <m:r>
                  <a:rPr>
                    <a:latin typeface="Cambria Math" panose="02040503050406030204" pitchFamily="18" charset="0"/>
                  </a:rPr>
                  <m:t>12</m:t>
                </m:r>
                <m:r>
                  <a:rPr>
                    <a:latin typeface="Cambria Math" panose="02040503050406030204" pitchFamily="18" charset="0"/>
                  </a:rPr>
                  <m:t>=</m:t>
                </m:r>
                <m:r>
                  <m:rPr>
                    <m:nor/>
                  </m:rPr>
                  <a:rPr/>
                  <m:t>R</m:t>
                </m:r>
                <m:r>
                  <m:rPr>
                    <m:nor/>
                  </m:rPr>
                  <a:rPr/>
                  <m:t>$</m:t>
                </m:r>
                <m:r>
                  <a:rPr>
                    <a:latin typeface="Cambria Math" panose="02040503050406030204" pitchFamily="18" charset="0"/>
                  </a:rPr>
                  <m:t>7</m:t>
                </m:r>
                <m:r>
                  <a:rPr>
                    <a:latin typeface="Cambria Math" panose="02040503050406030204" pitchFamily="18" charset="0"/>
                  </a:rPr>
                  <m:t>.</m:t>
                </m:r>
                <m:r>
                  <a:rPr>
                    <a:latin typeface="Cambria Math" panose="02040503050406030204" pitchFamily="18" charset="0"/>
                  </a:rPr>
                  <m:t>700</m:t>
                </m:r>
                <m:r>
                  <a:rPr>
                    <a:latin typeface="Cambria Math" panose="02040503050406030204" pitchFamily="18" charset="0"/>
                  </a:rPr>
                  <m:t>,</m:t>
                </m:r>
                <m:r>
                  <a:rPr>
                    <a:latin typeface="Cambria Math" panose="02040503050406030204" pitchFamily="18" charset="0"/>
                  </a:rPr>
                  <m:t>00</m:t>
                </m:r>
                <m:r>
                  <a:rPr>
                    <a:latin typeface="Cambria Math" panose="02040503050406030204" pitchFamily="18" charset="0"/>
                  </a:rPr>
                  <m:t>/</m:t>
                </m:r>
                <m:r>
                  <a:rPr>
                    <a:latin typeface="Cambria Math" panose="02040503050406030204" pitchFamily="18" charset="0"/>
                  </a:rPr>
                  <m:t>𝑚</m:t>
                </m:r>
                <m:r>
                  <a:rPr>
                    <a:latin typeface="Cambria Math" panose="02040503050406030204" pitchFamily="18" charset="0"/>
                  </a:rPr>
                  <m:t>ê</m:t>
                </m:r>
                <m:r>
                  <a:rPr>
                    <a:latin typeface="Cambria Math" panose="02040503050406030204" pitchFamily="18" charset="0"/>
                  </a:rPr>
                  <m:t>𝑠</m:t>
                </m:r>
              </m:oMath>
            </a14:m>
            <a:endParaRPr/>
          </a:p>
          <a:p>
            <a:pPr lvl="0"/>
            <a:r>
              <a:t>Melhor: </a:t>
            </a:r>
            <a14:m xmlns:a14="http://schemas.microsoft.com/office/drawing/2010/main">
              <m:oMath xmlns:m="http://schemas.openxmlformats.org/officeDocument/2006/math">
                <m:r>
                  <a:rPr>
                    <a:latin typeface="Cambria Math" panose="02040503050406030204" pitchFamily="18" charset="0"/>
                  </a:rPr>
                  <m:t>𝐴𝑙</m:t>
                </m:r>
                <m:r>
                  <a:rPr>
                    <a:latin typeface="Cambria Math" panose="02040503050406030204" pitchFamily="18" charset="0"/>
                  </a:rPr>
                  <m:t>=</m:t>
                </m:r>
                <m:r>
                  <a:rPr>
                    <a:latin typeface="Cambria Math" panose="02040503050406030204" pitchFamily="18" charset="0"/>
                  </a:rPr>
                  <m:t>1</m:t>
                </m:r>
                <m:r>
                  <a:rPr>
                    <a:latin typeface="Cambria Math" panose="02040503050406030204" pitchFamily="18" charset="0"/>
                  </a:rPr>
                  <m:t>.</m:t>
                </m:r>
                <m:r>
                  <a:rPr>
                    <a:latin typeface="Cambria Math" panose="02040503050406030204" pitchFamily="18" charset="0"/>
                  </a:rPr>
                  <m:t>155</m:t>
                </m:r>
                <m:r>
                  <a:rPr>
                    <a:latin typeface="Cambria Math" panose="02040503050406030204" pitchFamily="18" charset="0"/>
                  </a:rPr>
                  <m:t>.</m:t>
                </m:r>
                <m:r>
                  <a:rPr>
                    <a:latin typeface="Cambria Math" panose="02040503050406030204" pitchFamily="18" charset="0"/>
                  </a:rPr>
                  <m:t>000</m:t>
                </m:r>
                <m:r>
                  <a:rPr>
                    <a:latin typeface="Cambria Math" panose="02040503050406030204" pitchFamily="18" charset="0"/>
                  </a:rPr>
                  <m:t>∗</m:t>
                </m:r>
                <m:d>
                  <m:dPr>
                    <m:begChr m:val="["/>
                    <m:endChr m:val="]"/>
                    <m:ctrlPr>
                      <a:rPr i="1">
                        <a:latin typeface="Cambria Math" panose="02040503050406030204" pitchFamily="18" charset="0"/>
                      </a:rPr>
                    </m:ctrlPr>
                  </m:dPr>
                  <m:e>
                    <m:sSup>
                      <m:sSupPr>
                        <m:ctrlPr>
                          <a:rPr i="1">
                            <a:latin typeface="Cambria Math" panose="02040503050406030204" pitchFamily="18" charset="0"/>
                          </a:rPr>
                        </m:ctrlPr>
                      </m:sSupPr>
                      <m:e>
                        <m:d>
                          <m:dPr>
                            <m:ctrlPr>
                              <a:rPr i="1">
                                <a:latin typeface="Cambria Math" panose="02040503050406030204" pitchFamily="18" charset="0"/>
                              </a:rPr>
                            </m:ctrlPr>
                          </m:dPr>
                          <m:e>
                            <m:r>
                              <a:rPr>
                                <a:latin typeface="Cambria Math" panose="02040503050406030204" pitchFamily="18" charset="0"/>
                              </a:rPr>
                              <m:t>1</m:t>
                            </m:r>
                            <m:r>
                              <a:rPr>
                                <a:latin typeface="Cambria Math" panose="02040503050406030204" pitchFamily="18" charset="0"/>
                              </a:rPr>
                              <m:t>+</m:t>
                            </m:r>
                            <m:r>
                              <a:rPr>
                                <a:latin typeface="Cambria Math" panose="02040503050406030204" pitchFamily="18" charset="0"/>
                              </a:rPr>
                              <m:t>8</m:t>
                            </m:r>
                            <m:r>
                              <a:rPr>
                                <a:latin typeface="Cambria Math" panose="02040503050406030204" pitchFamily="18" charset="0"/>
                              </a:rPr>
                              <m:t>%</m:t>
                            </m:r>
                          </m:e>
                        </m:d>
                      </m:e>
                      <m:sup>
                        <m:r>
                          <a:rPr>
                            <a:latin typeface="Cambria Math" panose="02040503050406030204" pitchFamily="18" charset="0"/>
                          </a:rPr>
                          <m:t>1</m:t>
                        </m:r>
                        <m:r>
                          <a:rPr>
                            <a:latin typeface="Cambria Math" panose="02040503050406030204" pitchFamily="18" charset="0"/>
                          </a:rPr>
                          <m:t>/</m:t>
                        </m:r>
                        <m:r>
                          <a:rPr>
                            <a:latin typeface="Cambria Math" panose="02040503050406030204" pitchFamily="18" charset="0"/>
                          </a:rPr>
                          <m:t>12</m:t>
                        </m:r>
                      </m:sup>
                    </m:sSup>
                    <m:r>
                      <a:rPr>
                        <a:latin typeface="Cambria Math" panose="02040503050406030204" pitchFamily="18" charset="0"/>
                      </a:rPr>
                      <m:t>−</m:t>
                    </m:r>
                    <m:r>
                      <a:rPr>
                        <a:latin typeface="Cambria Math" panose="02040503050406030204" pitchFamily="18" charset="0"/>
                      </a:rPr>
                      <m:t>1</m:t>
                    </m:r>
                  </m:e>
                </m:d>
                <m:r>
                  <a:rPr>
                    <a:latin typeface="Cambria Math" panose="02040503050406030204" pitchFamily="18" charset="0"/>
                  </a:rPr>
                  <m:t>=</m:t>
                </m:r>
                <m:r>
                  <m:rPr>
                    <m:nor/>
                  </m:rPr>
                  <a:rPr/>
                  <m:t>R</m:t>
                </m:r>
                <m:r>
                  <m:rPr>
                    <m:nor/>
                  </m:rPr>
                  <a:rPr/>
                  <m:t>$</m:t>
                </m:r>
                <m:r>
                  <a:rPr>
                    <a:latin typeface="Cambria Math" panose="02040503050406030204" pitchFamily="18" charset="0"/>
                  </a:rPr>
                  <m:t>7</m:t>
                </m:r>
                <m:r>
                  <a:rPr>
                    <a:latin typeface="Cambria Math" panose="02040503050406030204" pitchFamily="18" charset="0"/>
                  </a:rPr>
                  <m:t>.</m:t>
                </m:r>
                <m:r>
                  <a:rPr>
                    <a:latin typeface="Cambria Math" panose="02040503050406030204" pitchFamily="18" charset="0"/>
                  </a:rPr>
                  <m:t>431</m:t>
                </m:r>
                <m:r>
                  <a:rPr>
                    <a:latin typeface="Cambria Math" panose="02040503050406030204" pitchFamily="18" charset="0"/>
                  </a:rPr>
                  <m:t>,</m:t>
                </m:r>
                <m:r>
                  <a:rPr>
                    <a:latin typeface="Cambria Math" panose="02040503050406030204" pitchFamily="18" charset="0"/>
                  </a:rPr>
                  <m:t>30</m:t>
                </m:r>
                <m:r>
                  <a:rPr>
                    <a:latin typeface="Cambria Math" panose="02040503050406030204" pitchFamily="18" charset="0"/>
                  </a:rPr>
                  <m:t>/</m:t>
                </m:r>
                <m:r>
                  <a:rPr>
                    <a:latin typeface="Cambria Math" panose="02040503050406030204" pitchFamily="18" charset="0"/>
                  </a:rPr>
                  <m:t>𝑚</m:t>
                </m:r>
                <m:r>
                  <a:rPr>
                    <a:latin typeface="Cambria Math" panose="02040503050406030204" pitchFamily="18" charset="0"/>
                  </a:rPr>
                  <m:t>ê</m:t>
                </m:r>
                <m:r>
                  <a:rPr>
                    <a:latin typeface="Cambria Math" panose="02040503050406030204" pitchFamily="18" charset="0"/>
                  </a:rPr>
                  <m:t>𝑠</m:t>
                </m:r>
              </m:oMath>
            </a14:m>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8ACFA-4A74-9B40-CC3E-92D78F850226}"/>
              </a:ext>
            </a:extLst>
          </p:cNvPr>
          <p:cNvSpPr>
            <a:spLocks noGrp="1"/>
          </p:cNvSpPr>
          <p:nvPr>
            <p:ph type="title"/>
          </p:nvPr>
        </p:nvSpPr>
        <p:spPr>
          <a:xfrm>
            <a:off x="838200" y="983457"/>
            <a:ext cx="10515600" cy="891526"/>
          </a:xfrm>
          <a:prstGeom prst="rect">
            <a:avLst/>
          </a:prstGeom>
        </p:spPr>
        <p:txBody>
          <a:bodyPr/>
          <a:lstStyle/>
          <a:p>
            <a:pPr marL="0" lvl="0" indent="0">
              <a:buNone/>
            </a:pPr>
            <a:r>
              <a:t>Coeficiente de Aproveitamento</a:t>
            </a:r>
          </a:p>
        </p:txBody>
      </p:sp>
      <p:sp>
        <p:nvSpPr>
          <p:cNvPr id="3" name="Content Placeholder 2">
            <a:extLst>
              <a:ext uri="{FF2B5EF4-FFF2-40B4-BE49-F238E27FC236}">
                <a16:creationId xmlns:a16="http://schemas.microsoft.com/office/drawing/2014/main" id="{06E5C504-58F1-2318-F264-E17A9AABC74B}"/>
              </a:ext>
            </a:extLst>
          </p:cNvPr>
          <p:cNvSpPr>
            <a:spLocks noGrp="1"/>
          </p:cNvSpPr>
          <p:nvPr>
            <p:ph idx="1"/>
          </p:nvPr>
        </p:nvSpPr>
        <p:spPr/>
        <p:txBody>
          <a:bodyPr/>
          <a:lstStyle/>
          <a:p>
            <a:pPr marL="0" lvl="0" indent="0">
              <a:spcBef>
                <a:spcPts val="3000"/>
              </a:spcBef>
              <a:buNone/>
            </a:pPr>
            <a:r>
              <a:rPr b="1"/>
              <a:t>Redução do Coeficiente pela idade</a:t>
            </a:r>
          </a:p>
          <a:p>
            <a:pPr lvl="0"/>
            <a:r>
              <a:t>Com o aumento da idade da edificação, as benfeitorias podem passar a não refletir mais o aproveitamento máximo do terreno;</a:t>
            </a:r>
          </a:p>
          <a:p>
            <a:pPr lvl="0"/>
            <a:r>
              <a:t>É controverso se a idade deveria influenciar no cálculo do aproveitamento para fins de locação (para fins de venda, é unânime que sim)</a:t>
            </a:r>
          </a:p>
          <a:p>
            <a:pPr lvl="0"/>
            <a:r>
              <a:t>Cuidado: os textos encontrados não mencionam, porém o avaliador deve observar o entorno do avaliando</a:t>
            </a:r>
          </a:p>
          <a:p>
            <a:pPr lvl="1"/>
            <a:r>
              <a:t>Se no entorno, os elementos amostrais coletados possuem idade aparente similar ao do avaliando, não há qualquer razão que indique o subaproveitamento do terreno</a:t>
            </a:r>
          </a:p>
          <a:p>
            <a:pPr lvl="1"/>
            <a:r>
              <a:t>Se, no entanto, o avaliando encontra-se em meio a diversos edifícios mais novos, é indicativo que deve ser aplicada a redução do Coeficiente pela idade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8ACFA-4A74-9B40-CC3E-92D78F850226}"/>
              </a:ext>
            </a:extLst>
          </p:cNvPr>
          <p:cNvSpPr>
            <a:spLocks noGrp="1"/>
          </p:cNvSpPr>
          <p:nvPr>
            <p:ph type="title"/>
          </p:nvPr>
        </p:nvSpPr>
        <p:spPr>
          <a:xfrm>
            <a:off x="838200" y="983457"/>
            <a:ext cx="10515600" cy="891526"/>
          </a:xfrm>
          <a:prstGeom prst="rect">
            <a:avLst/>
          </a:prstGeom>
        </p:spPr>
        <p:txBody>
          <a:bodyPr/>
          <a:lstStyle/>
          <a:p>
            <a:pPr marL="0" lvl="0" indent="0">
              <a:buNone/>
            </a:pPr>
            <a:r>
              <a:t>Coeficiente de Aproveitamento</a:t>
            </a:r>
          </a:p>
        </p:txBody>
      </p:sp>
      <p:sp>
        <p:nvSpPr>
          <p:cNvPr id="3" name="Content Placeholder 2">
            <a:extLst>
              <a:ext uri="{FF2B5EF4-FFF2-40B4-BE49-F238E27FC236}">
                <a16:creationId xmlns:a16="http://schemas.microsoft.com/office/drawing/2014/main" id="{06E5C504-58F1-2318-F264-E17A9AABC74B}"/>
              </a:ext>
            </a:extLst>
          </p:cNvPr>
          <p:cNvSpPr>
            <a:spLocks noGrp="1"/>
          </p:cNvSpPr>
          <p:nvPr>
            <p:ph idx="1"/>
          </p:nvPr>
        </p:nvSpPr>
        <p:spPr/>
        <p:txBody>
          <a:bodyPr/>
          <a:lstStyle/>
          <a:p>
            <a:pPr marL="0" lvl="0" indent="0">
              <a:spcBef>
                <a:spcPts val="3000"/>
              </a:spcBef>
              <a:buNone/>
            </a:pPr>
            <a:r>
              <a:rPr b="1"/>
              <a:t>Redução do Coeficiente pela idade</a:t>
            </a:r>
          </a:p>
          <a:p>
            <a:pPr lvl="0"/>
            <a:r>
              <a:t>Fórmula de Dante Guerrero (Candeloro, n.d., 20):</a:t>
            </a:r>
          </a:p>
          <a:p>
            <a:pPr lvl="0"/>
            <a14:m xmlns:a14="http://schemas.microsoft.com/office/drawing/2010/main">
              <m:oMath xmlns:m="http://schemas.openxmlformats.org/officeDocument/2006/math">
                <m:r>
                  <a:rPr>
                    <a:latin typeface="Cambria Math" panose="02040503050406030204" pitchFamily="18" charset="0"/>
                  </a:rPr>
                  <m:t>𝐶</m:t>
                </m:r>
                <m:sSub>
                  <m:sSubPr>
                    <m:ctrlPr>
                      <a:rPr i="1">
                        <a:latin typeface="Cambria Math" panose="02040503050406030204" pitchFamily="18" charset="0"/>
                      </a:rPr>
                    </m:ctrlPr>
                  </m:sSubPr>
                  <m:e>
                    <m:r>
                      <a:rPr>
                        <a:latin typeface="Cambria Math" panose="02040503050406030204" pitchFamily="18" charset="0"/>
                      </a:rPr>
                      <m:t>𝐴</m:t>
                    </m:r>
                  </m:e>
                  <m:sub>
                    <m:r>
                      <a:rPr>
                        <a:latin typeface="Cambria Math" panose="02040503050406030204" pitchFamily="18" charset="0"/>
                      </a:rPr>
                      <m:t>𝑅</m:t>
                    </m:r>
                  </m:sub>
                </m:sSub>
                <m:r>
                  <a:rPr>
                    <a:latin typeface="Cambria Math" panose="02040503050406030204" pitchFamily="18" charset="0"/>
                  </a:rPr>
                  <m:t>=</m:t>
                </m:r>
                <m:r>
                  <a:rPr>
                    <a:latin typeface="Cambria Math" panose="02040503050406030204" pitchFamily="18" charset="0"/>
                  </a:rPr>
                  <m:t>𝐶𝐴</m:t>
                </m:r>
                <m:d>
                  <m:dPr>
                    <m:begChr m:val="["/>
                    <m:endChr m:val="]"/>
                    <m:ctrlPr>
                      <a:rPr i="1">
                        <a:latin typeface="Cambria Math" panose="02040503050406030204" pitchFamily="18" charset="0"/>
                      </a:rPr>
                    </m:ctrlPr>
                  </m:dPr>
                  <m:e>
                    <m:r>
                      <a:rPr>
                        <a:latin typeface="Cambria Math" panose="02040503050406030204" pitchFamily="18" charset="0"/>
                      </a:rPr>
                      <m:t>𝑅</m:t>
                    </m:r>
                    <m:r>
                      <a:rPr>
                        <a:latin typeface="Cambria Math" panose="02040503050406030204" pitchFamily="18" charset="0"/>
                      </a:rPr>
                      <m:t>+</m:t>
                    </m:r>
                    <m:d>
                      <m:dPr>
                        <m:ctrlPr>
                          <a:rPr i="1">
                            <a:latin typeface="Cambria Math" panose="02040503050406030204" pitchFamily="18" charset="0"/>
                          </a:rPr>
                        </m:ctrlPr>
                      </m:dPr>
                      <m:e>
                        <m:r>
                          <a:rPr>
                            <a:latin typeface="Cambria Math" panose="02040503050406030204" pitchFamily="18" charset="0"/>
                          </a:rPr>
                          <m:t>1−</m:t>
                        </m:r>
                        <m:r>
                          <a:rPr>
                            <a:latin typeface="Cambria Math" panose="02040503050406030204" pitchFamily="18" charset="0"/>
                          </a:rPr>
                          <m:t>𝑅</m:t>
                        </m:r>
                      </m:e>
                    </m:d>
                    <m:r>
                      <a:rPr>
                        <a:latin typeface="Cambria Math" panose="02040503050406030204" pitchFamily="18" charset="0"/>
                      </a:rPr>
                      <m:t>.</m:t>
                    </m:r>
                    <m:f>
                      <m:fPr>
                        <m:ctrlPr>
                          <a:rPr i="1">
                            <a:latin typeface="Cambria Math" panose="02040503050406030204" pitchFamily="18" charset="0"/>
                          </a:rPr>
                        </m:ctrlPr>
                      </m:fPr>
                      <m:num>
                        <m:r>
                          <a:rPr>
                            <a:latin typeface="Cambria Math" panose="02040503050406030204" pitchFamily="18" charset="0"/>
                          </a:rPr>
                          <m:t>𝑣</m:t>
                        </m:r>
                      </m:num>
                      <m:den>
                        <m:r>
                          <a:rPr>
                            <a:latin typeface="Cambria Math" panose="02040503050406030204" pitchFamily="18" charset="0"/>
                          </a:rPr>
                          <m:t>𝑉</m:t>
                        </m:r>
                      </m:den>
                    </m:f>
                  </m:e>
                </m:d>
              </m:oMath>
            </a14:m>
            <a:endParaRPr/>
          </a:p>
          <a:p>
            <a:pPr lvl="0"/>
            <a14:m xmlns:a14="http://schemas.microsoft.com/office/drawing/2010/main">
              <m:oMath xmlns:m="http://schemas.openxmlformats.org/officeDocument/2006/math">
                <m:r>
                  <a:rPr>
                    <a:latin typeface="Cambria Math" panose="02040503050406030204" pitchFamily="18" charset="0"/>
                  </a:rPr>
                  <m:t>𝑅</m:t>
                </m:r>
              </m:oMath>
            </a14:m>
            <a:r>
              <a:t>: residual da construção</a:t>
            </a:r>
          </a:p>
          <a:p>
            <a:pPr lvl="0"/>
            <a14:m xmlns:a14="http://schemas.microsoft.com/office/drawing/2010/main">
              <m:oMath xmlns:m="http://schemas.openxmlformats.org/officeDocument/2006/math">
                <m:r>
                  <a:rPr>
                    <a:latin typeface="Cambria Math" panose="02040503050406030204" pitchFamily="18" charset="0"/>
                  </a:rPr>
                  <m:t>𝑣</m:t>
                </m:r>
              </m:oMath>
            </a14:m>
            <a:r>
              <a:t>: idade aparente da benfeitoria</a:t>
            </a:r>
          </a:p>
          <a:p>
            <a:pPr lvl="0"/>
            <a14:m xmlns:a14="http://schemas.microsoft.com/office/drawing/2010/main">
              <m:oMath xmlns:m="http://schemas.openxmlformats.org/officeDocument/2006/math">
                <m:r>
                  <a:rPr>
                    <a:latin typeface="Cambria Math" panose="02040503050406030204" pitchFamily="18" charset="0"/>
                  </a:rPr>
                  <m:t>𝑉</m:t>
                </m:r>
              </m:oMath>
            </a14:m>
            <a:r>
              <a:t>: vida útil da benfeitoria</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8ACFA-4A74-9B40-CC3E-92D78F850226}"/>
              </a:ext>
            </a:extLst>
          </p:cNvPr>
          <p:cNvSpPr>
            <a:spLocks noGrp="1"/>
          </p:cNvSpPr>
          <p:nvPr>
            <p:ph type="title"/>
          </p:nvPr>
        </p:nvSpPr>
        <p:spPr>
          <a:xfrm>
            <a:off x="838200" y="983457"/>
            <a:ext cx="10515600" cy="891526"/>
          </a:xfrm>
          <a:prstGeom prst="rect">
            <a:avLst/>
          </a:prstGeom>
        </p:spPr>
        <p:txBody>
          <a:bodyPr/>
          <a:lstStyle/>
          <a:p>
            <a:pPr marL="0" lvl="0" indent="0">
              <a:buNone/>
            </a:pPr>
            <a:r>
              <a:t>Coeficiente de Aproveitamento</a:t>
            </a:r>
          </a:p>
        </p:txBody>
      </p:sp>
      <p:sp>
        <p:nvSpPr>
          <p:cNvPr id="3" name="Content Placeholder 2">
            <a:extLst>
              <a:ext uri="{FF2B5EF4-FFF2-40B4-BE49-F238E27FC236}">
                <a16:creationId xmlns:a16="http://schemas.microsoft.com/office/drawing/2014/main" id="{06E5C504-58F1-2318-F264-E17A9AABC74B}"/>
              </a:ext>
            </a:extLst>
          </p:cNvPr>
          <p:cNvSpPr>
            <a:spLocks noGrp="1"/>
          </p:cNvSpPr>
          <p:nvPr>
            <p:ph idx="1"/>
          </p:nvPr>
        </p:nvSpPr>
        <p:spPr/>
        <p:txBody>
          <a:bodyPr/>
          <a:lstStyle/>
          <a:p>
            <a:pPr marL="0" lvl="0" indent="0">
              <a:spcBef>
                <a:spcPts val="3000"/>
              </a:spcBef>
              <a:buNone/>
            </a:pPr>
            <a:r>
              <a:rPr b="1"/>
              <a:t>Redução do Coeficiente pela idade</a:t>
            </a:r>
          </a:p>
          <a:p>
            <a:pPr lvl="0"/>
            <a:r>
              <a:t>Fórmula de Dante Guerrero (Candeloro, n.d., 20):</a:t>
            </a:r>
          </a:p>
          <a:p>
            <a:pPr lvl="0"/>
            <a:r>
              <a:t>Exemplo:</a:t>
            </a:r>
          </a:p>
          <a:p>
            <a:pPr lvl="1"/>
            <a:r>
              <a:t>Mesmo caso anterior, em que </a:t>
            </a:r>
            <a14:m xmlns:a14="http://schemas.microsoft.com/office/drawing/2010/main">
              <m:oMath xmlns:m="http://schemas.openxmlformats.org/officeDocument/2006/math">
                <m:r>
                  <a:rPr>
                    <a:latin typeface="Cambria Math" panose="02040503050406030204" pitchFamily="18" charset="0"/>
                  </a:rPr>
                  <m:t>𝐶𝐴</m:t>
                </m:r>
                <m:r>
                  <a:rPr>
                    <a:latin typeface="Cambria Math" panose="02040503050406030204" pitchFamily="18" charset="0"/>
                  </a:rPr>
                  <m:t>=</m:t>
                </m:r>
                <m:r>
                  <a:rPr>
                    <a:latin typeface="Cambria Math" panose="02040503050406030204" pitchFamily="18" charset="0"/>
                  </a:rPr>
                  <m:t>750</m:t>
                </m:r>
                <m:r>
                  <a:rPr>
                    <a:latin typeface="Cambria Math" panose="02040503050406030204" pitchFamily="18" charset="0"/>
                  </a:rPr>
                  <m:t>/</m:t>
                </m:r>
                <m:r>
                  <a:rPr>
                    <a:latin typeface="Cambria Math" panose="02040503050406030204" pitchFamily="18" charset="0"/>
                  </a:rPr>
                  <m:t>800</m:t>
                </m:r>
                <m:r>
                  <a:rPr>
                    <a:latin typeface="Cambria Math" panose="02040503050406030204" pitchFamily="18" charset="0"/>
                  </a:rPr>
                  <m:t>=</m:t>
                </m:r>
                <m:r>
                  <a:rPr>
                    <a:latin typeface="Cambria Math" panose="02040503050406030204" pitchFamily="18" charset="0"/>
                  </a:rPr>
                  <m:t>0</m:t>
                </m:r>
                <m:r>
                  <a:rPr>
                    <a:latin typeface="Cambria Math" panose="02040503050406030204" pitchFamily="18" charset="0"/>
                  </a:rPr>
                  <m:t>,</m:t>
                </m:r>
                <m:r>
                  <a:rPr>
                    <a:latin typeface="Cambria Math" panose="02040503050406030204" pitchFamily="18" charset="0"/>
                  </a:rPr>
                  <m:t>9375</m:t>
                </m:r>
              </m:oMath>
            </a14:m>
            <a:r>
              <a:t>, considerar vida útil igual a 50 anos e Residual igual a 20%:</a:t>
            </a:r>
          </a:p>
          <a:p>
            <a:pPr lvl="2"/>
            <a14:m xmlns:a14="http://schemas.microsoft.com/office/drawing/2010/main">
              <m:oMath xmlns:m="http://schemas.openxmlformats.org/officeDocument/2006/math">
                <m:r>
                  <a:rPr>
                    <a:latin typeface="Cambria Math" panose="02040503050406030204" pitchFamily="18" charset="0"/>
                  </a:rPr>
                  <m:t>𝐶</m:t>
                </m:r>
                <m:sSub>
                  <m:sSubPr>
                    <m:ctrlPr>
                      <a:rPr i="1">
                        <a:latin typeface="Cambria Math" panose="02040503050406030204" pitchFamily="18" charset="0"/>
                      </a:rPr>
                    </m:ctrlPr>
                  </m:sSubPr>
                  <m:e>
                    <m:r>
                      <a:rPr>
                        <a:latin typeface="Cambria Math" panose="02040503050406030204" pitchFamily="18" charset="0"/>
                      </a:rPr>
                      <m:t>𝐴</m:t>
                    </m:r>
                  </m:e>
                  <m:sub>
                    <m:r>
                      <a:rPr>
                        <a:latin typeface="Cambria Math" panose="02040503050406030204" pitchFamily="18" charset="0"/>
                      </a:rPr>
                      <m:t>𝑅</m:t>
                    </m:r>
                  </m:sub>
                </m:sSub>
                <m:r>
                  <a:rPr>
                    <a:latin typeface="Cambria Math" panose="02040503050406030204" pitchFamily="18" charset="0"/>
                  </a:rPr>
                  <m:t>=</m:t>
                </m:r>
                <m:r>
                  <a:rPr>
                    <a:latin typeface="Cambria Math" panose="02040503050406030204" pitchFamily="18" charset="0"/>
                  </a:rPr>
                  <m:t>𝐶𝐴</m:t>
                </m:r>
                <m:d>
                  <m:dPr>
                    <m:begChr m:val="["/>
                    <m:endChr m:val="]"/>
                    <m:ctrlPr>
                      <a:rPr i="1">
                        <a:latin typeface="Cambria Math" panose="02040503050406030204" pitchFamily="18" charset="0"/>
                      </a:rPr>
                    </m:ctrlPr>
                  </m:dPr>
                  <m:e>
                    <m:r>
                      <a:rPr>
                        <a:latin typeface="Cambria Math" panose="02040503050406030204" pitchFamily="18" charset="0"/>
                      </a:rPr>
                      <m:t>𝑅</m:t>
                    </m:r>
                    <m:r>
                      <a:rPr>
                        <a:latin typeface="Cambria Math" panose="02040503050406030204" pitchFamily="18" charset="0"/>
                      </a:rPr>
                      <m:t>+</m:t>
                    </m:r>
                    <m:d>
                      <m:dPr>
                        <m:ctrlPr>
                          <a:rPr i="1">
                            <a:latin typeface="Cambria Math" panose="02040503050406030204" pitchFamily="18" charset="0"/>
                          </a:rPr>
                        </m:ctrlPr>
                      </m:dPr>
                      <m:e>
                        <m:r>
                          <a:rPr>
                            <a:latin typeface="Cambria Math" panose="02040503050406030204" pitchFamily="18" charset="0"/>
                          </a:rPr>
                          <m:t>1</m:t>
                        </m:r>
                        <m:r>
                          <a:rPr>
                            <a:latin typeface="Cambria Math" panose="02040503050406030204" pitchFamily="18" charset="0"/>
                          </a:rPr>
                          <m:t>−</m:t>
                        </m:r>
                        <m:r>
                          <a:rPr>
                            <a:latin typeface="Cambria Math" panose="02040503050406030204" pitchFamily="18" charset="0"/>
                          </a:rPr>
                          <m:t>𝑅</m:t>
                        </m:r>
                      </m:e>
                    </m:d>
                    <m:r>
                      <a:rPr>
                        <a:latin typeface="Cambria Math" panose="02040503050406030204" pitchFamily="18" charset="0"/>
                      </a:rPr>
                      <m:t>.</m:t>
                    </m:r>
                    <m:f>
                      <m:fPr>
                        <m:ctrlPr>
                          <a:rPr i="1">
                            <a:latin typeface="Cambria Math" panose="02040503050406030204" pitchFamily="18" charset="0"/>
                          </a:rPr>
                        </m:ctrlPr>
                      </m:fPr>
                      <m:num>
                        <m:r>
                          <a:rPr>
                            <a:latin typeface="Cambria Math" panose="02040503050406030204" pitchFamily="18" charset="0"/>
                          </a:rPr>
                          <m:t>𝑣</m:t>
                        </m:r>
                      </m:num>
                      <m:den>
                        <m:r>
                          <a:rPr>
                            <a:latin typeface="Cambria Math" panose="02040503050406030204" pitchFamily="18" charset="0"/>
                          </a:rPr>
                          <m:t>𝑉</m:t>
                        </m:r>
                      </m:den>
                    </m:f>
                  </m:e>
                </m:d>
              </m:oMath>
            </a14:m>
            <a:endParaRPr/>
          </a:p>
          <a:p>
            <a:pPr lvl="2"/>
            <a14:m xmlns:a14="http://schemas.microsoft.com/office/drawing/2010/main">
              <m:oMath xmlns:m="http://schemas.openxmlformats.org/officeDocument/2006/math">
                <m:r>
                  <a:rPr>
                    <a:latin typeface="Cambria Math" panose="02040503050406030204" pitchFamily="18" charset="0"/>
                  </a:rPr>
                  <m:t>𝐶𝐴</m:t>
                </m:r>
                <m:r>
                  <a:rPr>
                    <a:latin typeface="Cambria Math" panose="02040503050406030204" pitchFamily="18" charset="0"/>
                  </a:rPr>
                  <m:t>=</m:t>
                </m:r>
                <m:f>
                  <m:fPr>
                    <m:ctrlPr>
                      <a:rPr i="1">
                        <a:latin typeface="Cambria Math" panose="02040503050406030204" pitchFamily="18" charset="0"/>
                      </a:rPr>
                    </m:ctrlPr>
                  </m:fPr>
                  <m:num>
                    <m:r>
                      <a:rPr>
                        <a:latin typeface="Cambria Math" panose="02040503050406030204" pitchFamily="18" charset="0"/>
                      </a:rPr>
                      <m:t>750</m:t>
                    </m:r>
                  </m:num>
                  <m:den>
                    <m:r>
                      <a:rPr>
                        <a:latin typeface="Cambria Math" panose="02040503050406030204" pitchFamily="18" charset="0"/>
                      </a:rPr>
                      <m:t>800</m:t>
                    </m:r>
                  </m:den>
                </m:f>
                <m:d>
                  <m:dPr>
                    <m:begChr m:val="["/>
                    <m:endChr m:val="]"/>
                    <m:ctrlPr>
                      <a:rPr i="1">
                        <a:latin typeface="Cambria Math" panose="02040503050406030204" pitchFamily="18" charset="0"/>
                      </a:rPr>
                    </m:ctrlPr>
                  </m:dPr>
                  <m:e>
                    <m:r>
                      <a:rPr>
                        <a:latin typeface="Cambria Math" panose="02040503050406030204" pitchFamily="18" charset="0"/>
                      </a:rPr>
                      <m:t>20</m:t>
                    </m:r>
                    <m:r>
                      <a:rPr>
                        <a:latin typeface="Cambria Math" panose="02040503050406030204" pitchFamily="18" charset="0"/>
                      </a:rPr>
                      <m:t>%+</m:t>
                    </m:r>
                    <m:d>
                      <m:dPr>
                        <m:ctrlPr>
                          <a:rPr i="1">
                            <a:latin typeface="Cambria Math" panose="02040503050406030204" pitchFamily="18" charset="0"/>
                          </a:rPr>
                        </m:ctrlPr>
                      </m:dPr>
                      <m:e>
                        <m:r>
                          <a:rPr>
                            <a:latin typeface="Cambria Math" panose="02040503050406030204" pitchFamily="18" charset="0"/>
                          </a:rPr>
                          <m:t>1</m:t>
                        </m:r>
                        <m:r>
                          <a:rPr>
                            <a:latin typeface="Cambria Math" panose="02040503050406030204" pitchFamily="18" charset="0"/>
                          </a:rPr>
                          <m:t>−</m:t>
                        </m:r>
                        <m:r>
                          <a:rPr>
                            <a:latin typeface="Cambria Math" panose="02040503050406030204" pitchFamily="18" charset="0"/>
                          </a:rPr>
                          <m:t>20</m:t>
                        </m:r>
                        <m:r>
                          <a:rPr>
                            <a:latin typeface="Cambria Math" panose="02040503050406030204" pitchFamily="18" charset="0"/>
                          </a:rPr>
                          <m:t>%</m:t>
                        </m:r>
                      </m:e>
                    </m:d>
                    <m:r>
                      <a:rPr>
                        <a:latin typeface="Cambria Math" panose="02040503050406030204" pitchFamily="18" charset="0"/>
                      </a:rPr>
                      <m:t>.</m:t>
                    </m:r>
                    <m:f>
                      <m:fPr>
                        <m:ctrlPr>
                          <a:rPr i="1">
                            <a:latin typeface="Cambria Math" panose="02040503050406030204" pitchFamily="18" charset="0"/>
                          </a:rPr>
                        </m:ctrlPr>
                      </m:fPr>
                      <m:num>
                        <m:r>
                          <a:rPr>
                            <a:latin typeface="Cambria Math" panose="02040503050406030204" pitchFamily="18" charset="0"/>
                          </a:rPr>
                          <m:t>10</m:t>
                        </m:r>
                      </m:num>
                      <m:den>
                        <m:r>
                          <a:rPr>
                            <a:latin typeface="Cambria Math" panose="02040503050406030204" pitchFamily="18" charset="0"/>
                          </a:rPr>
                          <m:t>50</m:t>
                        </m:r>
                      </m:den>
                    </m:f>
                  </m:e>
                </m:d>
                <m:r>
                  <a:rPr>
                    <a:latin typeface="Cambria Math" panose="02040503050406030204" pitchFamily="18" charset="0"/>
                  </a:rPr>
                  <m:t>=</m:t>
                </m:r>
                <m:r>
                  <a:rPr>
                    <a:latin typeface="Cambria Math" panose="02040503050406030204" pitchFamily="18" charset="0"/>
                  </a:rPr>
                  <m:t>0</m:t>
                </m:r>
                <m:r>
                  <a:rPr>
                    <a:latin typeface="Cambria Math" panose="02040503050406030204" pitchFamily="18" charset="0"/>
                  </a:rPr>
                  <m:t>,</m:t>
                </m:r>
                <m:r>
                  <a:rPr>
                    <a:latin typeface="Cambria Math" panose="02040503050406030204" pitchFamily="18" charset="0"/>
                  </a:rPr>
                  <m:t>9375</m:t>
                </m:r>
                <m:r>
                  <a:rPr>
                    <a:latin typeface="Cambria Math" panose="02040503050406030204" pitchFamily="18" charset="0"/>
                  </a:rPr>
                  <m:t>.</m:t>
                </m:r>
                <m:d>
                  <m:dPr>
                    <m:ctrlPr>
                      <a:rPr i="1">
                        <a:latin typeface="Cambria Math" panose="02040503050406030204" pitchFamily="18" charset="0"/>
                      </a:rPr>
                    </m:ctrlPr>
                  </m:dPr>
                  <m:e>
                    <m:r>
                      <a:rPr>
                        <a:latin typeface="Cambria Math" panose="02040503050406030204" pitchFamily="18" charset="0"/>
                      </a:rPr>
                      <m:t>0</m:t>
                    </m:r>
                    <m:r>
                      <a:rPr>
                        <a:latin typeface="Cambria Math" panose="02040503050406030204" pitchFamily="18" charset="0"/>
                      </a:rPr>
                      <m:t>,</m:t>
                    </m:r>
                    <m:r>
                      <a:rPr>
                        <a:latin typeface="Cambria Math" panose="02040503050406030204" pitchFamily="18" charset="0"/>
                      </a:rPr>
                      <m:t>2</m:t>
                    </m:r>
                    <m:r>
                      <a:rPr>
                        <a:latin typeface="Cambria Math" panose="02040503050406030204" pitchFamily="18" charset="0"/>
                      </a:rPr>
                      <m:t>+</m:t>
                    </m:r>
                    <m:d>
                      <m:dPr>
                        <m:ctrlPr>
                          <a:rPr i="1">
                            <a:latin typeface="Cambria Math" panose="02040503050406030204" pitchFamily="18" charset="0"/>
                          </a:rPr>
                        </m:ctrlPr>
                      </m:dPr>
                      <m:e>
                        <m:r>
                          <a:rPr>
                            <a:latin typeface="Cambria Math" panose="02040503050406030204" pitchFamily="18" charset="0"/>
                          </a:rPr>
                          <m:t>1</m:t>
                        </m:r>
                        <m:r>
                          <a:rPr>
                            <a:latin typeface="Cambria Math" panose="02040503050406030204" pitchFamily="18" charset="0"/>
                          </a:rPr>
                          <m:t>−</m:t>
                        </m:r>
                        <m:r>
                          <a:rPr>
                            <a:latin typeface="Cambria Math" panose="02040503050406030204" pitchFamily="18" charset="0"/>
                          </a:rPr>
                          <m:t>0</m:t>
                        </m:r>
                        <m:r>
                          <a:rPr>
                            <a:latin typeface="Cambria Math" panose="02040503050406030204" pitchFamily="18" charset="0"/>
                          </a:rPr>
                          <m:t>,</m:t>
                        </m:r>
                        <m:r>
                          <a:rPr>
                            <a:latin typeface="Cambria Math" panose="02040503050406030204" pitchFamily="18" charset="0"/>
                          </a:rPr>
                          <m:t>2</m:t>
                        </m:r>
                      </m:e>
                    </m:d>
                    <m:r>
                      <a:rPr>
                        <a:latin typeface="Cambria Math" panose="02040503050406030204" pitchFamily="18" charset="0"/>
                      </a:rPr>
                      <m:t>.</m:t>
                    </m:r>
                    <m:r>
                      <a:rPr>
                        <a:latin typeface="Cambria Math" panose="02040503050406030204" pitchFamily="18" charset="0"/>
                      </a:rPr>
                      <m:t>10</m:t>
                    </m:r>
                    <m:r>
                      <a:rPr>
                        <a:latin typeface="Cambria Math" panose="02040503050406030204" pitchFamily="18" charset="0"/>
                      </a:rPr>
                      <m:t>/</m:t>
                    </m:r>
                    <m:r>
                      <a:rPr>
                        <a:latin typeface="Cambria Math" panose="02040503050406030204" pitchFamily="18" charset="0"/>
                      </a:rPr>
                      <m:t>50</m:t>
                    </m:r>
                  </m:e>
                </m:d>
              </m:oMath>
            </a14:m>
            <a:endParaRPr/>
          </a:p>
          <a:p>
            <a:pPr lvl="2"/>
            <a14:m xmlns:a14="http://schemas.microsoft.com/office/drawing/2010/main">
              <m:oMath xmlns:m="http://schemas.openxmlformats.org/officeDocument/2006/math">
                <m:r>
                  <a:rPr>
                    <a:latin typeface="Cambria Math" panose="02040503050406030204" pitchFamily="18" charset="0"/>
                  </a:rPr>
                  <m:t>𝐶𝐴</m:t>
                </m:r>
                <m:r>
                  <a:rPr>
                    <a:latin typeface="Cambria Math" panose="02040503050406030204" pitchFamily="18" charset="0"/>
                  </a:rPr>
                  <m:t>=</m:t>
                </m:r>
                <m:r>
                  <a:rPr>
                    <a:latin typeface="Cambria Math" panose="02040503050406030204" pitchFamily="18" charset="0"/>
                  </a:rPr>
                  <m:t>0</m:t>
                </m:r>
                <m:r>
                  <a:rPr>
                    <a:latin typeface="Cambria Math" panose="02040503050406030204" pitchFamily="18" charset="0"/>
                  </a:rPr>
                  <m:t>,</m:t>
                </m:r>
                <m:r>
                  <a:rPr>
                    <a:latin typeface="Cambria Math" panose="02040503050406030204" pitchFamily="18" charset="0"/>
                  </a:rPr>
                  <m:t>3375</m:t>
                </m:r>
              </m:oMath>
            </a14:m>
            <a:endParaRPr/>
          </a:p>
          <a:p>
            <a:pPr lvl="2"/>
            <a:r>
              <a:t>Está incorreto!</a:t>
            </a:r>
          </a:p>
          <a:p>
            <a:pPr lvl="2"/>
            <a:r>
              <a:t>Correto seria: </a:t>
            </a:r>
            <a14:m xmlns:a14="http://schemas.microsoft.com/office/drawing/2010/main">
              <m:oMath xmlns:m="http://schemas.openxmlformats.org/officeDocument/2006/math">
                <m:r>
                  <a:rPr>
                    <a:latin typeface="Cambria Math" panose="02040503050406030204" pitchFamily="18" charset="0"/>
                  </a:rPr>
                  <m:t>𝐶</m:t>
                </m:r>
                <m:sSub>
                  <m:sSubPr>
                    <m:ctrlPr>
                      <a:rPr i="1">
                        <a:latin typeface="Cambria Math" panose="02040503050406030204" pitchFamily="18" charset="0"/>
                      </a:rPr>
                    </m:ctrlPr>
                  </m:sSubPr>
                  <m:e>
                    <m:r>
                      <a:rPr>
                        <a:latin typeface="Cambria Math" panose="02040503050406030204" pitchFamily="18" charset="0"/>
                      </a:rPr>
                      <m:t>𝐴</m:t>
                    </m:r>
                  </m:e>
                  <m:sub>
                    <m:r>
                      <a:rPr>
                        <a:latin typeface="Cambria Math" panose="02040503050406030204" pitchFamily="18" charset="0"/>
                      </a:rPr>
                      <m:t>𝑅</m:t>
                    </m:r>
                  </m:sub>
                </m:sSub>
                <m:r>
                  <a:rPr>
                    <a:latin typeface="Cambria Math" panose="02040503050406030204" pitchFamily="18" charset="0"/>
                  </a:rPr>
                  <m:t>=</m:t>
                </m:r>
                <m:r>
                  <a:rPr>
                    <a:latin typeface="Cambria Math" panose="02040503050406030204" pitchFamily="18" charset="0"/>
                  </a:rPr>
                  <m:t>𝐶𝐴</m:t>
                </m:r>
                <m:d>
                  <m:dPr>
                    <m:begChr m:val="["/>
                    <m:endChr m:val="]"/>
                    <m:ctrlPr>
                      <a:rPr i="1">
                        <a:latin typeface="Cambria Math" panose="02040503050406030204" pitchFamily="18" charset="0"/>
                      </a:rPr>
                    </m:ctrlPr>
                  </m:dPr>
                  <m:e>
                    <m:r>
                      <a:rPr>
                        <a:latin typeface="Cambria Math" panose="02040503050406030204" pitchFamily="18" charset="0"/>
                      </a:rPr>
                      <m:t>𝑅</m:t>
                    </m:r>
                    <m:r>
                      <a:rPr>
                        <a:latin typeface="Cambria Math" panose="02040503050406030204" pitchFamily="18" charset="0"/>
                      </a:rPr>
                      <m:t>+</m:t>
                    </m:r>
                    <m:d>
                      <m:dPr>
                        <m:ctrlPr>
                          <a:rPr i="1">
                            <a:latin typeface="Cambria Math" panose="02040503050406030204" pitchFamily="18" charset="0"/>
                          </a:rPr>
                        </m:ctrlPr>
                      </m:dPr>
                      <m:e>
                        <m:r>
                          <a:rPr>
                            <a:latin typeface="Cambria Math" panose="02040503050406030204" pitchFamily="18" charset="0"/>
                          </a:rPr>
                          <m:t>1</m:t>
                        </m:r>
                        <m:r>
                          <a:rPr>
                            <a:latin typeface="Cambria Math" panose="02040503050406030204" pitchFamily="18" charset="0"/>
                          </a:rPr>
                          <m:t>−</m:t>
                        </m:r>
                        <m:r>
                          <a:rPr>
                            <a:latin typeface="Cambria Math" panose="02040503050406030204" pitchFamily="18" charset="0"/>
                          </a:rPr>
                          <m:t>𝑅</m:t>
                        </m:r>
                      </m:e>
                    </m:d>
                    <m:r>
                      <a:rPr>
                        <a:latin typeface="Cambria Math" panose="02040503050406030204" pitchFamily="18" charset="0"/>
                      </a:rPr>
                      <m:t>.</m:t>
                    </m:r>
                    <m:d>
                      <m:dPr>
                        <m:ctrlPr>
                          <a:rPr i="1">
                            <a:latin typeface="Cambria Math" panose="02040503050406030204" pitchFamily="18" charset="0"/>
                          </a:rPr>
                        </m:ctrlPr>
                      </m:dPr>
                      <m:e>
                        <m:r>
                          <a:rPr>
                            <a:latin typeface="Cambria Math" panose="02040503050406030204" pitchFamily="18" charset="0"/>
                          </a:rPr>
                          <m:t>1</m:t>
                        </m:r>
                        <m:r>
                          <a:rPr>
                            <a:latin typeface="Cambria Math" panose="02040503050406030204" pitchFamily="18" charset="0"/>
                          </a:rPr>
                          <m:t>−</m:t>
                        </m:r>
                        <m:f>
                          <m:fPr>
                            <m:ctrlPr>
                              <a:rPr i="1">
                                <a:latin typeface="Cambria Math" panose="02040503050406030204" pitchFamily="18" charset="0"/>
                              </a:rPr>
                            </m:ctrlPr>
                          </m:fPr>
                          <m:num>
                            <m:r>
                              <a:rPr>
                                <a:latin typeface="Cambria Math" panose="02040503050406030204" pitchFamily="18" charset="0"/>
                              </a:rPr>
                              <m:t>𝑣</m:t>
                            </m:r>
                          </m:num>
                          <m:den>
                            <m:r>
                              <a:rPr>
                                <a:latin typeface="Cambria Math" panose="02040503050406030204" pitchFamily="18" charset="0"/>
                              </a:rPr>
                              <m:t>𝑉</m:t>
                            </m:r>
                          </m:den>
                        </m:f>
                      </m:e>
                    </m:d>
                  </m:e>
                </m:d>
                <m:r>
                  <a:rPr>
                    <a:latin typeface="Cambria Math" panose="02040503050406030204" pitchFamily="18" charset="0"/>
                  </a:rPr>
                  <m:t>=</m:t>
                </m:r>
                <m:f>
                  <m:fPr>
                    <m:ctrlPr>
                      <a:rPr i="1">
                        <a:latin typeface="Cambria Math" panose="02040503050406030204" pitchFamily="18" charset="0"/>
                      </a:rPr>
                    </m:ctrlPr>
                  </m:fPr>
                  <m:num>
                    <m:r>
                      <a:rPr>
                        <a:latin typeface="Cambria Math" panose="02040503050406030204" pitchFamily="18" charset="0"/>
                      </a:rPr>
                      <m:t>750</m:t>
                    </m:r>
                  </m:num>
                  <m:den>
                    <m:r>
                      <a:rPr>
                        <a:latin typeface="Cambria Math" panose="02040503050406030204" pitchFamily="18" charset="0"/>
                      </a:rPr>
                      <m:t>800</m:t>
                    </m:r>
                  </m:den>
                </m:f>
                <m:d>
                  <m:dPr>
                    <m:begChr m:val="["/>
                    <m:endChr m:val="]"/>
                    <m:ctrlPr>
                      <a:rPr i="1">
                        <a:latin typeface="Cambria Math" panose="02040503050406030204" pitchFamily="18" charset="0"/>
                      </a:rPr>
                    </m:ctrlPr>
                  </m:dPr>
                  <m:e>
                    <m:r>
                      <a:rPr>
                        <a:latin typeface="Cambria Math" panose="02040503050406030204" pitchFamily="18" charset="0"/>
                      </a:rPr>
                      <m:t>20</m:t>
                    </m:r>
                    <m:r>
                      <a:rPr>
                        <a:latin typeface="Cambria Math" panose="02040503050406030204" pitchFamily="18" charset="0"/>
                      </a:rPr>
                      <m:t>%+</m:t>
                    </m:r>
                    <m:d>
                      <m:dPr>
                        <m:ctrlPr>
                          <a:rPr i="1">
                            <a:latin typeface="Cambria Math" panose="02040503050406030204" pitchFamily="18" charset="0"/>
                          </a:rPr>
                        </m:ctrlPr>
                      </m:dPr>
                      <m:e>
                        <m:r>
                          <a:rPr>
                            <a:latin typeface="Cambria Math" panose="02040503050406030204" pitchFamily="18" charset="0"/>
                          </a:rPr>
                          <m:t>1</m:t>
                        </m:r>
                        <m:r>
                          <a:rPr>
                            <a:latin typeface="Cambria Math" panose="02040503050406030204" pitchFamily="18" charset="0"/>
                          </a:rPr>
                          <m:t>−</m:t>
                        </m:r>
                        <m:r>
                          <a:rPr>
                            <a:latin typeface="Cambria Math" panose="02040503050406030204" pitchFamily="18" charset="0"/>
                          </a:rPr>
                          <m:t>20</m:t>
                        </m:r>
                        <m:r>
                          <a:rPr>
                            <a:latin typeface="Cambria Math" panose="02040503050406030204" pitchFamily="18" charset="0"/>
                          </a:rPr>
                          <m:t>%</m:t>
                        </m:r>
                      </m:e>
                    </m:d>
                    <m:r>
                      <a:rPr>
                        <a:latin typeface="Cambria Math" panose="02040503050406030204" pitchFamily="18" charset="0"/>
                      </a:rPr>
                      <m:t>.</m:t>
                    </m:r>
                    <m:d>
                      <m:dPr>
                        <m:ctrlPr>
                          <a:rPr i="1">
                            <a:latin typeface="Cambria Math" panose="02040503050406030204" pitchFamily="18" charset="0"/>
                          </a:rPr>
                        </m:ctrlPr>
                      </m:dPr>
                      <m:e>
                        <m:r>
                          <a:rPr>
                            <a:latin typeface="Cambria Math" panose="02040503050406030204" pitchFamily="18" charset="0"/>
                          </a:rPr>
                          <m:t>1</m:t>
                        </m:r>
                        <m:r>
                          <a:rPr>
                            <a:latin typeface="Cambria Math" panose="02040503050406030204" pitchFamily="18" charset="0"/>
                          </a:rPr>
                          <m:t>−</m:t>
                        </m:r>
                        <m:f>
                          <m:fPr>
                            <m:ctrlPr>
                              <a:rPr i="1">
                                <a:latin typeface="Cambria Math" panose="02040503050406030204" pitchFamily="18" charset="0"/>
                              </a:rPr>
                            </m:ctrlPr>
                          </m:fPr>
                          <m:num>
                            <m:r>
                              <a:rPr>
                                <a:latin typeface="Cambria Math" panose="02040503050406030204" pitchFamily="18" charset="0"/>
                              </a:rPr>
                              <m:t>10</m:t>
                            </m:r>
                          </m:num>
                          <m:den>
                            <m:r>
                              <a:rPr>
                                <a:latin typeface="Cambria Math" panose="02040503050406030204" pitchFamily="18" charset="0"/>
                              </a:rPr>
                              <m:t>50</m:t>
                            </m:r>
                          </m:den>
                        </m:f>
                      </m:e>
                    </m:d>
                  </m:e>
                </m:d>
              </m:oMath>
            </a14:m>
            <a:r>
              <a:t> </a:t>
            </a:r>
            <a14:m xmlns:a14="http://schemas.microsoft.com/office/drawing/2010/main">
              <m:oMath xmlns:m="http://schemas.openxmlformats.org/officeDocument/2006/math">
                <m:r>
                  <a:rPr>
                    <a:latin typeface="Cambria Math" panose="02040503050406030204" pitchFamily="18" charset="0"/>
                  </a:rPr>
                  <m:t>𝐶𝐴</m:t>
                </m:r>
                <m:r>
                  <a:rPr>
                    <a:latin typeface="Cambria Math" panose="02040503050406030204" pitchFamily="18" charset="0"/>
                  </a:rPr>
                  <m:t>=</m:t>
                </m:r>
                <m:r>
                  <a:rPr>
                    <a:latin typeface="Cambria Math" panose="02040503050406030204" pitchFamily="18" charset="0"/>
                  </a:rPr>
                  <m:t>0</m:t>
                </m:r>
                <m:r>
                  <a:rPr>
                    <a:latin typeface="Cambria Math" panose="02040503050406030204" pitchFamily="18" charset="0"/>
                  </a:rPr>
                  <m:t>,</m:t>
                </m:r>
                <m:r>
                  <a:rPr>
                    <a:latin typeface="Cambria Math" panose="02040503050406030204" pitchFamily="18" charset="0"/>
                  </a:rPr>
                  <m:t>9375</m:t>
                </m:r>
                <m:r>
                  <a:rPr>
                    <a:latin typeface="Cambria Math" panose="02040503050406030204" pitchFamily="18" charset="0"/>
                  </a:rPr>
                  <m:t>.</m:t>
                </m:r>
                <m:d>
                  <m:dPr>
                    <m:ctrlPr>
                      <a:rPr i="1">
                        <a:latin typeface="Cambria Math" panose="02040503050406030204" pitchFamily="18" charset="0"/>
                      </a:rPr>
                    </m:ctrlPr>
                  </m:dPr>
                  <m:e>
                    <m:r>
                      <a:rPr>
                        <a:latin typeface="Cambria Math" panose="02040503050406030204" pitchFamily="18" charset="0"/>
                      </a:rPr>
                      <m:t>0</m:t>
                    </m:r>
                    <m:r>
                      <a:rPr>
                        <a:latin typeface="Cambria Math" panose="02040503050406030204" pitchFamily="18" charset="0"/>
                      </a:rPr>
                      <m:t>,</m:t>
                    </m:r>
                    <m:r>
                      <a:rPr>
                        <a:latin typeface="Cambria Math" panose="02040503050406030204" pitchFamily="18" charset="0"/>
                      </a:rPr>
                      <m:t>2</m:t>
                    </m:r>
                    <m:r>
                      <a:rPr>
                        <a:latin typeface="Cambria Math" panose="02040503050406030204" pitchFamily="18" charset="0"/>
                      </a:rPr>
                      <m:t>+</m:t>
                    </m:r>
                    <m:r>
                      <a:rPr>
                        <a:latin typeface="Cambria Math" panose="02040503050406030204" pitchFamily="18" charset="0"/>
                      </a:rPr>
                      <m:t>0</m:t>
                    </m:r>
                    <m:r>
                      <a:rPr>
                        <a:latin typeface="Cambria Math" panose="02040503050406030204" pitchFamily="18" charset="0"/>
                      </a:rPr>
                      <m:t>,</m:t>
                    </m:r>
                    <m:r>
                      <a:rPr>
                        <a:latin typeface="Cambria Math" panose="02040503050406030204" pitchFamily="18" charset="0"/>
                      </a:rPr>
                      <m:t>64</m:t>
                    </m:r>
                  </m:e>
                </m:d>
                <m:r>
                  <a:rPr>
                    <a:latin typeface="Cambria Math" panose="02040503050406030204" pitchFamily="18" charset="0"/>
                  </a:rPr>
                  <m:t>=</m:t>
                </m:r>
                <m:r>
                  <a:rPr>
                    <a:latin typeface="Cambria Math" panose="02040503050406030204" pitchFamily="18" charset="0"/>
                  </a:rPr>
                  <m:t>0</m:t>
                </m:r>
                <m:r>
                  <a:rPr>
                    <a:latin typeface="Cambria Math" panose="02040503050406030204" pitchFamily="18" charset="0"/>
                  </a:rPr>
                  <m:t>,</m:t>
                </m:r>
                <m:r>
                  <a:rPr>
                    <a:latin typeface="Cambria Math" panose="02040503050406030204" pitchFamily="18" charset="0"/>
                  </a:rPr>
                  <m:t>7875</m:t>
                </m:r>
              </m:oMath>
            </a14:m>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8ACFA-4A74-9B40-CC3E-92D78F850226}"/>
              </a:ext>
            </a:extLst>
          </p:cNvPr>
          <p:cNvSpPr>
            <a:spLocks noGrp="1"/>
          </p:cNvSpPr>
          <p:nvPr>
            <p:ph type="title"/>
          </p:nvPr>
        </p:nvSpPr>
        <p:spPr>
          <a:xfrm>
            <a:off x="838200" y="983457"/>
            <a:ext cx="10515600" cy="891526"/>
          </a:xfrm>
          <a:prstGeom prst="rect">
            <a:avLst/>
          </a:prstGeom>
        </p:spPr>
        <p:txBody>
          <a:bodyPr/>
          <a:lstStyle/>
          <a:p>
            <a:pPr marL="0" lvl="0" indent="0">
              <a:buNone/>
            </a:pPr>
            <a:r>
              <a:t>Coeficiente de Aproveitamento</a:t>
            </a:r>
          </a:p>
        </p:txBody>
      </p:sp>
      <p:sp>
        <p:nvSpPr>
          <p:cNvPr id="3" name="Content Placeholder 2">
            <a:extLst>
              <a:ext uri="{FF2B5EF4-FFF2-40B4-BE49-F238E27FC236}">
                <a16:creationId xmlns:a16="http://schemas.microsoft.com/office/drawing/2014/main" id="{06E5C504-58F1-2318-F264-E17A9AABC74B}"/>
              </a:ext>
            </a:extLst>
          </p:cNvPr>
          <p:cNvSpPr>
            <a:spLocks noGrp="1"/>
          </p:cNvSpPr>
          <p:nvPr>
            <p:ph idx="1"/>
          </p:nvPr>
        </p:nvSpPr>
        <p:spPr/>
        <p:txBody>
          <a:bodyPr/>
          <a:lstStyle/>
          <a:p>
            <a:pPr marL="0" lvl="0" indent="0">
              <a:spcBef>
                <a:spcPts val="3000"/>
              </a:spcBef>
              <a:buNone/>
            </a:pPr>
            <a:r>
              <a:rPr b="1"/>
              <a:t>Redução do Coeficiente pela idade</a:t>
            </a:r>
          </a:p>
          <a:p>
            <a:pPr lvl="0"/>
            <a:r>
              <a:t>Cuidado com a aplicação de fórmulas prontas!</a:t>
            </a:r>
          </a:p>
          <a:p>
            <a:pPr lvl="0"/>
            <a:r>
              <a:t>Exemplo (Alonso and D’Amato 2017, 4–5):</a:t>
            </a:r>
          </a:p>
          <a:p>
            <a:pPr lvl="0"/>
            <a:r>
              <a:t>Aplica uma nova fórmula</a:t>
            </a:r>
          </a:p>
          <a:p>
            <a:pPr lvl="0"/>
            <a:r>
              <a:t>Resultado parece inconsistente!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8ACFA-4A74-9B40-CC3E-92D78F850226}"/>
              </a:ext>
            </a:extLst>
          </p:cNvPr>
          <p:cNvSpPr>
            <a:spLocks noGrp="1"/>
          </p:cNvSpPr>
          <p:nvPr>
            <p:ph type="title"/>
          </p:nvPr>
        </p:nvSpPr>
        <p:spPr>
          <a:xfrm>
            <a:off x="838200" y="983457"/>
            <a:ext cx="10515600" cy="891526"/>
          </a:xfrm>
          <a:prstGeom prst="rect">
            <a:avLst/>
          </a:prstGeom>
        </p:spPr>
        <p:txBody>
          <a:bodyPr/>
          <a:lstStyle/>
          <a:p>
            <a:pPr marL="0" lvl="0" indent="0">
              <a:buNone/>
            </a:pPr>
            <a:r>
              <a:t>Coeficiente de Aproveitamento</a:t>
            </a:r>
          </a:p>
        </p:txBody>
      </p:sp>
      <p:sp>
        <p:nvSpPr>
          <p:cNvPr id="3" name="Content Placeholder 2">
            <a:extLst>
              <a:ext uri="{FF2B5EF4-FFF2-40B4-BE49-F238E27FC236}">
                <a16:creationId xmlns:a16="http://schemas.microsoft.com/office/drawing/2014/main" id="{06E5C504-58F1-2318-F264-E17A9AABC74B}"/>
              </a:ext>
            </a:extLst>
          </p:cNvPr>
          <p:cNvSpPr>
            <a:spLocks noGrp="1"/>
          </p:cNvSpPr>
          <p:nvPr>
            <p:ph idx="1"/>
          </p:nvPr>
        </p:nvSpPr>
        <p:spPr/>
        <p:txBody>
          <a:bodyPr/>
          <a:lstStyle/>
          <a:p>
            <a:pPr marL="0" lvl="0" indent="0">
              <a:spcBef>
                <a:spcPts val="3000"/>
              </a:spcBef>
              <a:buNone/>
            </a:pPr>
            <a:r>
              <a:rPr b="1"/>
              <a:t>Redução do Coeficiente pela idade</a:t>
            </a:r>
          </a:p>
          <a:p>
            <a:pPr lvl="0"/>
            <a:r>
              <a:t>Exemplo (Alonso and D’Amato 2017, 4–5):</a:t>
            </a:r>
          </a:p>
          <a:p>
            <a:pPr lvl="1"/>
            <a:r>
              <a:t>Suponhamos então que determinado terreno avaliando, com 2.304,00m2, situado em região onde a lei de uso e ocupação do solo fixa o coeficiente de aproveitamento 2 e taxa de ocupação 0,50, e que esteja ocupado por uma construção térrea com 22 anos de idade, vida útil de 60 anos e 700,00m2 de área construída total; as áreas ponderadas “existente” e “possível” são assim calculadas:</a:t>
            </a:r>
          </a:p>
          <a:p>
            <a:pPr lvl="2"/>
            <a14:m xmlns:a14="http://schemas.microsoft.com/office/drawing/2010/main">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𝐴</m:t>
                    </m:r>
                  </m:e>
                  <m:sub>
                    <m:r>
                      <a:rPr>
                        <a:latin typeface="Cambria Math" panose="02040503050406030204" pitchFamily="18" charset="0"/>
                      </a:rPr>
                      <m:t>h</m:t>
                    </m:r>
                    <m:r>
                      <a:rPr>
                        <a:latin typeface="Cambria Math" panose="02040503050406030204" pitchFamily="18" charset="0"/>
                      </a:rPr>
                      <m:t>−</m:t>
                    </m:r>
                    <m:r>
                      <a:rPr>
                        <a:latin typeface="Cambria Math" panose="02040503050406030204" pitchFamily="18" charset="0"/>
                      </a:rPr>
                      <m:t>𝑒𝑥𝑖𝑠𝑡𝑒𝑛𝑡𝑒</m:t>
                    </m:r>
                  </m:sub>
                </m:sSub>
                <m:r>
                  <a:rPr>
                    <a:latin typeface="Cambria Math" panose="02040503050406030204" pitchFamily="18" charset="0"/>
                  </a:rPr>
                  <m:t>=</m:t>
                </m:r>
                <m:r>
                  <a:rPr>
                    <a:latin typeface="Cambria Math" panose="02040503050406030204" pitchFamily="18" charset="0"/>
                  </a:rPr>
                  <m:t>700</m:t>
                </m:r>
                <m:r>
                  <a:rPr>
                    <a:latin typeface="Cambria Math" panose="02040503050406030204" pitchFamily="18" charset="0"/>
                  </a:rPr>
                  <m:t>×</m:t>
                </m:r>
                <m:r>
                  <a:rPr>
                    <a:latin typeface="Cambria Math" panose="02040503050406030204" pitchFamily="18" charset="0"/>
                  </a:rPr>
                  <m:t>3</m:t>
                </m:r>
                <m:r>
                  <a:rPr>
                    <a:latin typeface="Cambria Math" panose="02040503050406030204" pitchFamily="18" charset="0"/>
                  </a:rPr>
                  <m:t>,</m:t>
                </m:r>
                <m:r>
                  <a:rPr>
                    <a:latin typeface="Cambria Math" panose="02040503050406030204" pitchFamily="18" charset="0"/>
                  </a:rPr>
                  <m:t>0</m:t>
                </m:r>
                <m:r>
                  <a:rPr>
                    <a:latin typeface="Cambria Math" panose="02040503050406030204" pitchFamily="18" charset="0"/>
                  </a:rPr>
                  <m:t>=</m:t>
                </m:r>
                <m:r>
                  <a:rPr>
                    <a:latin typeface="Cambria Math" panose="02040503050406030204" pitchFamily="18" charset="0"/>
                  </a:rPr>
                  <m:t>2</m:t>
                </m:r>
                <m:r>
                  <a:rPr>
                    <a:latin typeface="Cambria Math" panose="02040503050406030204" pitchFamily="18" charset="0"/>
                  </a:rPr>
                  <m:t>.</m:t>
                </m:r>
                <m:r>
                  <a:rPr>
                    <a:latin typeface="Cambria Math" panose="02040503050406030204" pitchFamily="18" charset="0"/>
                  </a:rPr>
                  <m:t>100</m:t>
                </m:r>
                <m:r>
                  <a:rPr>
                    <a:latin typeface="Cambria Math" panose="02040503050406030204" pitchFamily="18" charset="0"/>
                  </a:rPr>
                  <m:t>,</m:t>
                </m:r>
                <m:r>
                  <a:rPr>
                    <a:latin typeface="Cambria Math" panose="02040503050406030204" pitchFamily="18" charset="0"/>
                  </a:rPr>
                  <m:t>00</m:t>
                </m:r>
                <m:sSup>
                  <m:sSupPr>
                    <m:ctrlPr>
                      <a:rPr i="1">
                        <a:latin typeface="Cambria Math" panose="02040503050406030204" pitchFamily="18" charset="0"/>
                      </a:rPr>
                    </m:ctrlPr>
                  </m:sSupPr>
                  <m:e>
                    <m:r>
                      <a:rPr>
                        <a:latin typeface="Cambria Math" panose="02040503050406030204" pitchFamily="18" charset="0"/>
                      </a:rPr>
                      <m:t>𝑚</m:t>
                    </m:r>
                  </m:e>
                  <m:sup>
                    <m:r>
                      <a:rPr>
                        <a:latin typeface="Cambria Math" panose="02040503050406030204" pitchFamily="18" charset="0"/>
                      </a:rPr>
                      <m:t>2</m:t>
                    </m:r>
                  </m:sup>
                </m:sSup>
              </m:oMath>
            </a14:m>
            <a:endParaRPr/>
          </a:p>
          <a:p>
            <a:pPr lvl="2"/>
            <a14:m xmlns:a14="http://schemas.microsoft.com/office/drawing/2010/main">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𝐴</m:t>
                    </m:r>
                  </m:e>
                  <m:sub>
                    <m:r>
                      <a:rPr>
                        <a:latin typeface="Cambria Math" panose="02040503050406030204" pitchFamily="18" charset="0"/>
                      </a:rPr>
                      <m:t>h</m:t>
                    </m:r>
                    <m:r>
                      <a:rPr>
                        <a:latin typeface="Cambria Math" panose="02040503050406030204" pitchFamily="18" charset="0"/>
                      </a:rPr>
                      <m:t>−</m:t>
                    </m:r>
                    <m:r>
                      <a:rPr>
                        <a:latin typeface="Cambria Math" panose="02040503050406030204" pitchFamily="18" charset="0"/>
                      </a:rPr>
                      <m:t>𝑝𝑜𝑠𝑠</m:t>
                    </m:r>
                    <m:r>
                      <a:rPr>
                        <a:latin typeface="Cambria Math" panose="02040503050406030204" pitchFamily="18" charset="0"/>
                      </a:rPr>
                      <m:t>í</m:t>
                    </m:r>
                    <m:r>
                      <a:rPr>
                        <a:latin typeface="Cambria Math" panose="02040503050406030204" pitchFamily="18" charset="0"/>
                      </a:rPr>
                      <m:t>𝑣𝑒𝑙</m:t>
                    </m:r>
                  </m:sub>
                </m:sSub>
                <m:r>
                  <a:rPr>
                    <a:latin typeface="Cambria Math" panose="02040503050406030204" pitchFamily="18" charset="0"/>
                  </a:rPr>
                  <m:t>=</m:t>
                </m:r>
                <m:r>
                  <a:rPr>
                    <a:latin typeface="Cambria Math" panose="02040503050406030204" pitchFamily="18" charset="0"/>
                  </a:rPr>
                  <m:t>2</m:t>
                </m:r>
                <m:r>
                  <a:rPr>
                    <a:latin typeface="Cambria Math" panose="02040503050406030204" pitchFamily="18" charset="0"/>
                  </a:rPr>
                  <m:t>.</m:t>
                </m:r>
                <m:r>
                  <a:rPr>
                    <a:latin typeface="Cambria Math" panose="02040503050406030204" pitchFamily="18" charset="0"/>
                  </a:rPr>
                  <m:t>304</m:t>
                </m:r>
                <m:r>
                  <a:rPr>
                    <a:latin typeface="Cambria Math" panose="02040503050406030204" pitchFamily="18" charset="0"/>
                  </a:rPr>
                  <m:t>×</m:t>
                </m:r>
                <m:r>
                  <a:rPr>
                    <a:latin typeface="Cambria Math" panose="02040503050406030204" pitchFamily="18" charset="0"/>
                  </a:rPr>
                  <m:t>0</m:t>
                </m:r>
                <m:r>
                  <a:rPr>
                    <a:latin typeface="Cambria Math" panose="02040503050406030204" pitchFamily="18" charset="0"/>
                  </a:rPr>
                  <m:t>,</m:t>
                </m:r>
                <m:r>
                  <a:rPr>
                    <a:latin typeface="Cambria Math" panose="02040503050406030204" pitchFamily="18" charset="0"/>
                  </a:rPr>
                  <m:t>5</m:t>
                </m:r>
                <m:r>
                  <a:rPr>
                    <a:latin typeface="Cambria Math" panose="02040503050406030204" pitchFamily="18" charset="0"/>
                  </a:rPr>
                  <m:t>×</m:t>
                </m:r>
                <m:r>
                  <a:rPr>
                    <a:latin typeface="Cambria Math" panose="02040503050406030204" pitchFamily="18" charset="0"/>
                  </a:rPr>
                  <m:t>3</m:t>
                </m:r>
                <m:r>
                  <a:rPr>
                    <a:latin typeface="Cambria Math" panose="02040503050406030204" pitchFamily="18" charset="0"/>
                  </a:rPr>
                  <m:t>,</m:t>
                </m:r>
                <m:r>
                  <a:rPr>
                    <a:latin typeface="Cambria Math" panose="02040503050406030204" pitchFamily="18" charset="0"/>
                  </a:rPr>
                  <m:t>0</m:t>
                </m:r>
                <m:r>
                  <a:rPr>
                    <a:latin typeface="Cambria Math" panose="02040503050406030204" pitchFamily="18" charset="0"/>
                  </a:rPr>
                  <m:t>+</m:t>
                </m:r>
                <m:r>
                  <a:rPr>
                    <a:latin typeface="Cambria Math" panose="02040503050406030204" pitchFamily="18" charset="0"/>
                  </a:rPr>
                  <m:t>2</m:t>
                </m:r>
                <m:r>
                  <a:rPr>
                    <a:latin typeface="Cambria Math" panose="02040503050406030204" pitchFamily="18" charset="0"/>
                  </a:rPr>
                  <m:t>.</m:t>
                </m:r>
                <m:r>
                  <a:rPr>
                    <a:latin typeface="Cambria Math" panose="02040503050406030204" pitchFamily="18" charset="0"/>
                  </a:rPr>
                  <m:t>304</m:t>
                </m:r>
                <m:r>
                  <a:rPr>
                    <a:latin typeface="Cambria Math" panose="02040503050406030204" pitchFamily="18" charset="0"/>
                  </a:rPr>
                  <m:t>×</m:t>
                </m:r>
                <m:r>
                  <a:rPr>
                    <a:latin typeface="Cambria Math" panose="02040503050406030204" pitchFamily="18" charset="0"/>
                  </a:rPr>
                  <m:t>0</m:t>
                </m:r>
                <m:r>
                  <a:rPr>
                    <a:latin typeface="Cambria Math" panose="02040503050406030204" pitchFamily="18" charset="0"/>
                  </a:rPr>
                  <m:t>,</m:t>
                </m:r>
                <m:r>
                  <a:rPr>
                    <a:latin typeface="Cambria Math" panose="02040503050406030204" pitchFamily="18" charset="0"/>
                  </a:rPr>
                  <m:t>5</m:t>
                </m:r>
                <m:r>
                  <a:rPr>
                    <a:latin typeface="Cambria Math" panose="02040503050406030204" pitchFamily="18" charset="0"/>
                  </a:rPr>
                  <m:t>×</m:t>
                </m:r>
                <m:r>
                  <a:rPr>
                    <a:latin typeface="Cambria Math" panose="02040503050406030204" pitchFamily="18" charset="0"/>
                  </a:rPr>
                  <m:t>2</m:t>
                </m:r>
                <m:r>
                  <a:rPr>
                    <a:latin typeface="Cambria Math" panose="02040503050406030204" pitchFamily="18" charset="0"/>
                  </a:rPr>
                  <m:t>,</m:t>
                </m:r>
                <m:r>
                  <a:rPr>
                    <a:latin typeface="Cambria Math" panose="02040503050406030204" pitchFamily="18" charset="0"/>
                  </a:rPr>
                  <m:t>0</m:t>
                </m:r>
                <m:r>
                  <a:rPr>
                    <a:latin typeface="Cambria Math" panose="02040503050406030204" pitchFamily="18" charset="0"/>
                  </a:rPr>
                  <m:t>+</m:t>
                </m:r>
                <m:r>
                  <a:rPr>
                    <a:latin typeface="Cambria Math" panose="02040503050406030204" pitchFamily="18" charset="0"/>
                  </a:rPr>
                  <m:t>2</m:t>
                </m:r>
                <m:r>
                  <a:rPr>
                    <a:latin typeface="Cambria Math" panose="02040503050406030204" pitchFamily="18" charset="0"/>
                  </a:rPr>
                  <m:t>×</m:t>
                </m:r>
                <m:r>
                  <a:rPr>
                    <a:latin typeface="Cambria Math" panose="02040503050406030204" pitchFamily="18" charset="0"/>
                  </a:rPr>
                  <m:t>2</m:t>
                </m:r>
                <m:r>
                  <a:rPr>
                    <a:latin typeface="Cambria Math" panose="02040503050406030204" pitchFamily="18" charset="0"/>
                  </a:rPr>
                  <m:t>.</m:t>
                </m:r>
                <m:r>
                  <a:rPr>
                    <a:latin typeface="Cambria Math" panose="02040503050406030204" pitchFamily="18" charset="0"/>
                  </a:rPr>
                  <m:t>304</m:t>
                </m:r>
                <m:r>
                  <a:rPr>
                    <a:latin typeface="Cambria Math" panose="02040503050406030204" pitchFamily="18" charset="0"/>
                  </a:rPr>
                  <m:t>×</m:t>
                </m:r>
                <m:r>
                  <a:rPr>
                    <a:latin typeface="Cambria Math" panose="02040503050406030204" pitchFamily="18" charset="0"/>
                  </a:rPr>
                  <m:t>0</m:t>
                </m:r>
                <m:r>
                  <a:rPr>
                    <a:latin typeface="Cambria Math" panose="02040503050406030204" pitchFamily="18" charset="0"/>
                  </a:rPr>
                  <m:t>,</m:t>
                </m:r>
                <m:r>
                  <a:rPr>
                    <a:latin typeface="Cambria Math" panose="02040503050406030204" pitchFamily="18" charset="0"/>
                  </a:rPr>
                  <m:t>5</m:t>
                </m:r>
                <m:r>
                  <a:rPr>
                    <a:latin typeface="Cambria Math" panose="02040503050406030204" pitchFamily="18" charset="0"/>
                  </a:rPr>
                  <m:t>×</m:t>
                </m:r>
                <m:r>
                  <a:rPr>
                    <a:latin typeface="Cambria Math" panose="02040503050406030204" pitchFamily="18" charset="0"/>
                  </a:rPr>
                  <m:t>1</m:t>
                </m:r>
                <m:r>
                  <a:rPr>
                    <a:latin typeface="Cambria Math" panose="02040503050406030204" pitchFamily="18" charset="0"/>
                  </a:rPr>
                  <m:t>,</m:t>
                </m:r>
                <m:r>
                  <a:rPr>
                    <a:latin typeface="Cambria Math" panose="02040503050406030204" pitchFamily="18" charset="0"/>
                  </a:rPr>
                  <m:t>0</m:t>
                </m:r>
                <m:r>
                  <a:rPr>
                    <a:latin typeface="Cambria Math" panose="02040503050406030204" pitchFamily="18" charset="0"/>
                  </a:rPr>
                  <m:t>=</m:t>
                </m:r>
                <m:r>
                  <a:rPr>
                    <a:latin typeface="Cambria Math" panose="02040503050406030204" pitchFamily="18" charset="0"/>
                  </a:rPr>
                  <m:t>8</m:t>
                </m:r>
                <m:r>
                  <a:rPr>
                    <a:latin typeface="Cambria Math" panose="02040503050406030204" pitchFamily="18" charset="0"/>
                  </a:rPr>
                  <m:t>.</m:t>
                </m:r>
                <m:r>
                  <a:rPr>
                    <a:latin typeface="Cambria Math" panose="02040503050406030204" pitchFamily="18" charset="0"/>
                  </a:rPr>
                  <m:t>064</m:t>
                </m:r>
                <m:r>
                  <a:rPr>
                    <a:latin typeface="Cambria Math" panose="02040503050406030204" pitchFamily="18" charset="0"/>
                  </a:rPr>
                  <m:t>,</m:t>
                </m:r>
                <m:r>
                  <a:rPr>
                    <a:latin typeface="Cambria Math" panose="02040503050406030204" pitchFamily="18" charset="0"/>
                  </a:rPr>
                  <m:t>00</m:t>
                </m:r>
                <m:sSup>
                  <m:sSupPr>
                    <m:ctrlPr>
                      <a:rPr i="1">
                        <a:latin typeface="Cambria Math" panose="02040503050406030204" pitchFamily="18" charset="0"/>
                      </a:rPr>
                    </m:ctrlPr>
                  </m:sSupPr>
                  <m:e>
                    <m:r>
                      <a:rPr>
                        <a:latin typeface="Cambria Math" panose="02040503050406030204" pitchFamily="18" charset="0"/>
                      </a:rPr>
                      <m:t>𝑚</m:t>
                    </m:r>
                  </m:e>
                  <m:sup>
                    <m:r>
                      <a:rPr>
                        <a:latin typeface="Cambria Math" panose="02040503050406030204" pitchFamily="18" charset="0"/>
                      </a:rPr>
                      <m:t>2</m:t>
                    </m:r>
                  </m:sup>
                </m:sSup>
              </m:oMath>
            </a14:m>
            <a:endParaRPr/>
          </a:p>
          <a:p>
            <a:pPr lvl="2"/>
            <a:r>
              <a:t>O que seria o </a:t>
            </a:r>
            <a14:m xmlns:a14="http://schemas.microsoft.com/office/drawing/2010/main">
              <m:oMath xmlns:m="http://schemas.openxmlformats.org/officeDocument/2006/math">
                <m:r>
                  <a:rPr>
                    <a:latin typeface="Cambria Math" panose="02040503050406030204" pitchFamily="18" charset="0"/>
                  </a:rPr>
                  <m:t>𝐶</m:t>
                </m:r>
                <m:sSub>
                  <m:sSubPr>
                    <m:ctrlPr>
                      <a:rPr i="1">
                        <a:latin typeface="Cambria Math" panose="02040503050406030204" pitchFamily="18" charset="0"/>
                      </a:rPr>
                    </m:ctrlPr>
                  </m:sSubPr>
                  <m:e>
                    <m:r>
                      <a:rPr>
                        <a:latin typeface="Cambria Math" panose="02040503050406030204" pitchFamily="18" charset="0"/>
                      </a:rPr>
                      <m:t>𝐴</m:t>
                    </m:r>
                  </m:e>
                  <m:sub>
                    <m:r>
                      <a:rPr>
                        <a:latin typeface="Cambria Math" panose="02040503050406030204" pitchFamily="18" charset="0"/>
                      </a:rPr>
                      <m:t>𝑏</m:t>
                    </m:r>
                    <m:r>
                      <a:rPr>
                        <a:latin typeface="Cambria Math" panose="02040503050406030204" pitchFamily="18" charset="0"/>
                      </a:rPr>
                      <m:t>á</m:t>
                    </m:r>
                    <m:r>
                      <a:rPr>
                        <a:latin typeface="Cambria Math" panose="02040503050406030204" pitchFamily="18" charset="0"/>
                      </a:rPr>
                      <m:t>𝑠𝑖𝑐𝑜</m:t>
                    </m:r>
                  </m:sub>
                </m:sSub>
              </m:oMath>
            </a14:m>
            <a:r>
              <a:t>?</a:t>
            </a:r>
          </a:p>
          <a:p>
            <a:pPr lvl="2"/>
            <a14:m xmlns:a14="http://schemas.microsoft.com/office/drawing/2010/main">
              <m:oMath xmlns:m="http://schemas.openxmlformats.org/officeDocument/2006/math">
                <m:sSub>
                  <m:sSubPr>
                    <m:ctrlPr>
                      <a:rPr>
                        <a:latin typeface="Cambria Math" panose="02040503050406030204" pitchFamily="18" charset="0"/>
                      </a:rPr>
                    </m:ctrlPr>
                  </m:sSubPr>
                  <m:e>
                    <m:r>
                      <m:rPr>
                        <m:nor/>
                      </m:rPr>
                      <a:rPr/>
                      <m:t>CA</m:t>
                    </m:r>
                  </m:e>
                  <m:sub>
                    <m:r>
                      <a:rPr>
                        <a:latin typeface="Cambria Math" panose="02040503050406030204" pitchFamily="18" charset="0"/>
                      </a:rPr>
                      <m:t>𝑏</m:t>
                    </m:r>
                    <m:r>
                      <a:rPr>
                        <a:latin typeface="Cambria Math" panose="02040503050406030204" pitchFamily="18" charset="0"/>
                      </a:rPr>
                      <m:t>á</m:t>
                    </m:r>
                    <m:r>
                      <a:rPr>
                        <a:latin typeface="Cambria Math" panose="02040503050406030204" pitchFamily="18" charset="0"/>
                      </a:rPr>
                      <m:t>𝑠𝑖𝑐𝑜</m:t>
                    </m:r>
                  </m:sub>
                </m:sSub>
                <m:r>
                  <a:rPr>
                    <a:latin typeface="Cambria Math" panose="02040503050406030204" pitchFamily="18" charset="0"/>
                  </a:rPr>
                  <m:t>=</m:t>
                </m:r>
                <m:f>
                  <m:fPr>
                    <m:ctrlPr>
                      <a:rPr i="1">
                        <a:latin typeface="Cambria Math" panose="02040503050406030204" pitchFamily="18" charset="0"/>
                      </a:rPr>
                    </m:ctrlPr>
                  </m:fPr>
                  <m:num>
                    <m:r>
                      <a:rPr>
                        <a:latin typeface="Cambria Math" panose="02040503050406030204" pitchFamily="18" charset="0"/>
                      </a:rPr>
                      <m:t>2</m:t>
                    </m:r>
                    <m:r>
                      <a:rPr>
                        <a:latin typeface="Cambria Math" panose="02040503050406030204" pitchFamily="18" charset="0"/>
                      </a:rPr>
                      <m:t>.</m:t>
                    </m:r>
                    <m:r>
                      <a:rPr>
                        <a:latin typeface="Cambria Math" panose="02040503050406030204" pitchFamily="18" charset="0"/>
                      </a:rPr>
                      <m:t>100</m:t>
                    </m:r>
                  </m:num>
                  <m:den>
                    <m:r>
                      <a:rPr>
                        <a:latin typeface="Cambria Math" panose="02040503050406030204" pitchFamily="18" charset="0"/>
                      </a:rPr>
                      <m:t>8</m:t>
                    </m:r>
                    <m:r>
                      <a:rPr>
                        <a:latin typeface="Cambria Math" panose="02040503050406030204" pitchFamily="18" charset="0"/>
                      </a:rPr>
                      <m:t>.</m:t>
                    </m:r>
                    <m:r>
                      <a:rPr>
                        <a:latin typeface="Cambria Math" panose="02040503050406030204" pitchFamily="18" charset="0"/>
                      </a:rPr>
                      <m:t>064</m:t>
                    </m:r>
                  </m:den>
                </m:f>
                <m:r>
                  <a:rPr>
                    <a:latin typeface="Cambria Math" panose="02040503050406030204" pitchFamily="18" charset="0"/>
                  </a:rPr>
                  <m:t>=</m:t>
                </m:r>
                <m:r>
                  <a:rPr>
                    <a:latin typeface="Cambria Math" panose="02040503050406030204" pitchFamily="18" charset="0"/>
                  </a:rPr>
                  <m:t>0</m:t>
                </m:r>
                <m:r>
                  <a:rPr>
                    <a:latin typeface="Cambria Math" panose="02040503050406030204" pitchFamily="18" charset="0"/>
                  </a:rPr>
                  <m:t>,</m:t>
                </m:r>
                <m:r>
                  <a:rPr>
                    <a:latin typeface="Cambria Math" panose="02040503050406030204" pitchFamily="18" charset="0"/>
                  </a:rPr>
                  <m:t>26</m:t>
                </m:r>
              </m:oMath>
            </a14:m>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8ACFA-4A74-9B40-CC3E-92D78F850226}"/>
              </a:ext>
            </a:extLst>
          </p:cNvPr>
          <p:cNvSpPr>
            <a:spLocks noGrp="1"/>
          </p:cNvSpPr>
          <p:nvPr>
            <p:ph type="title"/>
          </p:nvPr>
        </p:nvSpPr>
        <p:spPr>
          <a:xfrm>
            <a:off x="838200" y="983457"/>
            <a:ext cx="10515600" cy="891526"/>
          </a:xfrm>
          <a:prstGeom prst="rect">
            <a:avLst/>
          </a:prstGeom>
        </p:spPr>
        <p:txBody>
          <a:bodyPr/>
          <a:lstStyle/>
          <a:p>
            <a:pPr marL="0" lvl="0" indent="0">
              <a:buNone/>
            </a:pPr>
            <a:r>
              <a:t>Coeficiente de Aproveitamento</a:t>
            </a:r>
          </a:p>
        </p:txBody>
      </p:sp>
      <p:sp>
        <p:nvSpPr>
          <p:cNvPr id="3" name="Content Placeholder 2">
            <a:extLst>
              <a:ext uri="{FF2B5EF4-FFF2-40B4-BE49-F238E27FC236}">
                <a16:creationId xmlns:a16="http://schemas.microsoft.com/office/drawing/2014/main" id="{06E5C504-58F1-2318-F264-E17A9AABC74B}"/>
              </a:ext>
            </a:extLst>
          </p:cNvPr>
          <p:cNvSpPr>
            <a:spLocks noGrp="1"/>
          </p:cNvSpPr>
          <p:nvPr>
            <p:ph idx="1"/>
          </p:nvPr>
        </p:nvSpPr>
        <p:spPr/>
        <p:txBody>
          <a:bodyPr/>
          <a:lstStyle/>
          <a:p>
            <a:pPr marL="0" lvl="0" indent="0">
              <a:spcBef>
                <a:spcPts val="3000"/>
              </a:spcBef>
              <a:buNone/>
            </a:pPr>
            <a:r>
              <a:rPr b="1"/>
              <a:t>Redução do Coeficiente pela idade</a:t>
            </a:r>
          </a:p>
          <a:p>
            <a:pPr lvl="0"/>
            <a:r>
              <a:t>Exemplo (Alonso and D’Amato 2017, 4–5):</a:t>
            </a:r>
          </a:p>
          <a:p>
            <a:pPr lvl="1"/>
            <a14:m xmlns:a14="http://schemas.microsoft.com/office/drawing/2010/main">
              <m:oMath xmlns:m="http://schemas.openxmlformats.org/officeDocument/2006/math">
                <m:sSub>
                  <m:sSubPr>
                    <m:ctrlPr>
                      <a:rPr>
                        <a:latin typeface="Cambria Math" panose="02040503050406030204" pitchFamily="18" charset="0"/>
                      </a:rPr>
                    </m:ctrlPr>
                  </m:sSubPr>
                  <m:e>
                    <m:r>
                      <m:rPr>
                        <m:nor/>
                      </m:rPr>
                      <a:rPr/>
                      <m:t>CA</m:t>
                    </m:r>
                  </m:e>
                  <m:sub>
                    <m:r>
                      <a:rPr>
                        <a:latin typeface="Cambria Math" panose="02040503050406030204" pitchFamily="18" charset="0"/>
                      </a:rPr>
                      <m:t>𝑏</m:t>
                    </m:r>
                    <m:r>
                      <a:rPr>
                        <a:latin typeface="Cambria Math" panose="02040503050406030204" pitchFamily="18" charset="0"/>
                      </a:rPr>
                      <m:t>á</m:t>
                    </m:r>
                    <m:r>
                      <a:rPr>
                        <a:latin typeface="Cambria Math" panose="02040503050406030204" pitchFamily="18" charset="0"/>
                      </a:rPr>
                      <m:t>𝑠𝑖𝑐𝑜</m:t>
                    </m:r>
                  </m:sub>
                </m:sSub>
                <m:r>
                  <a:rPr>
                    <a:latin typeface="Cambria Math" panose="02040503050406030204" pitchFamily="18" charset="0"/>
                  </a:rPr>
                  <m:t>=</m:t>
                </m:r>
                <m:f>
                  <m:fPr>
                    <m:ctrlPr>
                      <a:rPr i="1">
                        <a:latin typeface="Cambria Math" panose="02040503050406030204" pitchFamily="18" charset="0"/>
                      </a:rPr>
                    </m:ctrlPr>
                  </m:fPr>
                  <m:num>
                    <m:r>
                      <a:rPr>
                        <a:latin typeface="Cambria Math" panose="02040503050406030204" pitchFamily="18" charset="0"/>
                      </a:rPr>
                      <m:t>2.100</m:t>
                    </m:r>
                  </m:num>
                  <m:den>
                    <m:r>
                      <a:rPr>
                        <a:latin typeface="Cambria Math" panose="02040503050406030204" pitchFamily="18" charset="0"/>
                      </a:rPr>
                      <m:t>8.064</m:t>
                    </m:r>
                  </m:den>
                </m:f>
                <m:r>
                  <a:rPr>
                    <a:latin typeface="Cambria Math" panose="02040503050406030204" pitchFamily="18" charset="0"/>
                  </a:rPr>
                  <m:t>=0,26</m:t>
                </m:r>
              </m:oMath>
            </a14:m>
            <a:br/>
            <a:endParaRPr/>
          </a:p>
          <a:p>
            <a:pPr lvl="1"/>
            <a:r>
              <a:t>Aplicou-se </a:t>
            </a:r>
            <a14:m xmlns:a14="http://schemas.microsoft.com/office/drawing/2010/main">
              <m:oMath xmlns:m="http://schemas.openxmlformats.org/officeDocument/2006/math">
                <m:sSub>
                  <m:sSubPr>
                    <m:ctrlPr>
                      <a:rPr>
                        <a:latin typeface="Cambria Math" panose="02040503050406030204" pitchFamily="18" charset="0"/>
                      </a:rPr>
                    </m:ctrlPr>
                  </m:sSubPr>
                  <m:e>
                    <m:r>
                      <m:rPr>
                        <m:nor/>
                      </m:rPr>
                      <a:rPr/>
                      <m:t>CA</m:t>
                    </m:r>
                  </m:e>
                  <m:sub>
                    <m:r>
                      <a:rPr>
                        <a:latin typeface="Cambria Math" panose="02040503050406030204" pitchFamily="18" charset="0"/>
                      </a:rPr>
                      <m:t>𝐴𝑝</m:t>
                    </m:r>
                  </m:sub>
                </m:sSub>
                <m:r>
                  <a:rPr>
                    <a:latin typeface="Cambria Math" panose="02040503050406030204" pitchFamily="18" charset="0"/>
                  </a:rPr>
                  <m:t>=1–</m:t>
                </m:r>
                <m:d>
                  <m:dPr>
                    <m:begChr m:val="["/>
                    <m:endChr m:val="]"/>
                    <m:ctrlPr>
                      <a:rPr i="1">
                        <a:latin typeface="Cambria Math" panose="02040503050406030204" pitchFamily="18" charset="0"/>
                      </a:rPr>
                    </m:ctrlPr>
                  </m:dPr>
                  <m:e>
                    <m:d>
                      <m:dPr>
                        <m:ctrlPr>
                          <a:rPr i="1">
                            <a:latin typeface="Cambria Math" panose="02040503050406030204" pitchFamily="18" charset="0"/>
                          </a:rPr>
                        </m:ctrlPr>
                      </m:dPr>
                      <m:e>
                        <m:d>
                          <m:dPr>
                            <m:ctrlPr>
                              <a:rPr i="1">
                                <a:latin typeface="Cambria Math" panose="02040503050406030204" pitchFamily="18" charset="0"/>
                              </a:rPr>
                            </m:ctrlPr>
                          </m:dPr>
                          <m:e>
                            <m:r>
                              <a:rPr>
                                <a:latin typeface="Cambria Math" panose="02040503050406030204" pitchFamily="18" charset="0"/>
                              </a:rPr>
                              <m:t>𝐸</m:t>
                            </m:r>
                            <m:r>
                              <a:rPr>
                                <a:latin typeface="Cambria Math" panose="02040503050406030204" pitchFamily="18" charset="0"/>
                              </a:rPr>
                              <m:t>–</m:t>
                            </m:r>
                            <m:r>
                              <a:rPr>
                                <a:latin typeface="Cambria Math" panose="02040503050406030204" pitchFamily="18" charset="0"/>
                              </a:rPr>
                              <m:t>𝑒</m:t>
                            </m:r>
                          </m:e>
                        </m:d>
                        <m:r>
                          <a:rPr>
                            <a:latin typeface="Cambria Math" panose="02040503050406030204" pitchFamily="18" charset="0"/>
                          </a:rPr>
                          <m:t>/</m:t>
                        </m:r>
                        <m:r>
                          <a:rPr>
                            <a:latin typeface="Cambria Math" panose="02040503050406030204" pitchFamily="18" charset="0"/>
                          </a:rPr>
                          <m:t>𝐸</m:t>
                        </m:r>
                      </m:e>
                    </m:d>
                    <m:r>
                      <a:rPr>
                        <a:latin typeface="Cambria Math" panose="02040503050406030204" pitchFamily="18" charset="0"/>
                      </a:rPr>
                      <m:t>.</m:t>
                    </m:r>
                    <m:d>
                      <m:dPr>
                        <m:ctrlPr>
                          <a:rPr i="1">
                            <a:latin typeface="Cambria Math" panose="02040503050406030204" pitchFamily="18" charset="0"/>
                          </a:rPr>
                        </m:ctrlPr>
                      </m:dPr>
                      <m:e>
                        <m:r>
                          <a:rPr>
                            <a:latin typeface="Cambria Math" panose="02040503050406030204" pitchFamily="18" charset="0"/>
                          </a:rPr>
                          <m:t>0,20+</m:t>
                        </m:r>
                        <m:d>
                          <m:dPr>
                            <m:ctrlPr>
                              <a:rPr i="1">
                                <a:latin typeface="Cambria Math" panose="02040503050406030204" pitchFamily="18" charset="0"/>
                              </a:rPr>
                            </m:ctrlPr>
                          </m:dPr>
                          <m:e>
                            <m:r>
                              <a:rPr>
                                <a:latin typeface="Cambria Math" panose="02040503050406030204" pitchFamily="18" charset="0"/>
                              </a:rPr>
                              <m:t>0,80.</m:t>
                            </m:r>
                            <m:d>
                              <m:dPr>
                                <m:ctrlPr>
                                  <a:rPr i="1">
                                    <a:latin typeface="Cambria Math" panose="02040503050406030204" pitchFamily="18" charset="0"/>
                                  </a:rPr>
                                </m:ctrlPr>
                              </m:dPr>
                              <m:e>
                                <m:r>
                                  <a:rPr>
                                    <a:latin typeface="Cambria Math" panose="02040503050406030204" pitchFamily="18" charset="0"/>
                                  </a:rPr>
                                  <m:t>𝑉</m:t>
                                </m:r>
                                <m:r>
                                  <a:rPr>
                                    <a:latin typeface="Cambria Math" panose="02040503050406030204" pitchFamily="18" charset="0"/>
                                  </a:rPr>
                                  <m:t>–</m:t>
                                </m:r>
                                <m:r>
                                  <a:rPr>
                                    <a:latin typeface="Cambria Math" panose="02040503050406030204" pitchFamily="18" charset="0"/>
                                  </a:rPr>
                                  <m:t>𝑣</m:t>
                                </m:r>
                              </m:e>
                            </m:d>
                            <m:r>
                              <a:rPr>
                                <a:latin typeface="Cambria Math" panose="02040503050406030204" pitchFamily="18" charset="0"/>
                              </a:rPr>
                              <m:t>/</m:t>
                            </m:r>
                            <m:r>
                              <a:rPr>
                                <a:latin typeface="Cambria Math" panose="02040503050406030204" pitchFamily="18" charset="0"/>
                              </a:rPr>
                              <m:t>𝑉</m:t>
                            </m:r>
                          </m:e>
                        </m:d>
                      </m:e>
                    </m:d>
                  </m:e>
                </m:d>
              </m:oMath>
            </a14:m>
            <a:endParaRPr/>
          </a:p>
          <a:p>
            <a:pPr lvl="1"/>
            <a:r>
              <a:t>E chegou-se a: </a:t>
            </a:r>
            <a14:m xmlns:a14="http://schemas.microsoft.com/office/drawing/2010/main">
              <m:oMath xmlns:m="http://schemas.openxmlformats.org/officeDocument/2006/math">
                <m:sSub>
                  <m:sSubPr>
                    <m:ctrlPr>
                      <a:rPr>
                        <a:latin typeface="Cambria Math" panose="02040503050406030204" pitchFamily="18" charset="0"/>
                      </a:rPr>
                    </m:ctrlPr>
                  </m:sSubPr>
                  <m:e>
                    <m:r>
                      <m:rPr>
                        <m:nor/>
                      </m:rPr>
                      <a:rPr/>
                      <m:t>CA</m:t>
                    </m:r>
                  </m:e>
                  <m:sub>
                    <m:r>
                      <a:rPr>
                        <a:latin typeface="Cambria Math" panose="02040503050406030204" pitchFamily="18" charset="0"/>
                      </a:rPr>
                      <m:t>𝐴𝑝</m:t>
                    </m:r>
                  </m:sub>
                </m:sSub>
                <m:r>
                  <a:rPr>
                    <a:latin typeface="Cambria Math" panose="02040503050406030204" pitchFamily="18" charset="0"/>
                  </a:rPr>
                  <m:t>=1–</m:t>
                </m:r>
                <m:d>
                  <m:dPr>
                    <m:begChr m:val="["/>
                    <m:endChr m:val="]"/>
                    <m:ctrlPr>
                      <a:rPr i="1">
                        <a:latin typeface="Cambria Math" panose="02040503050406030204" pitchFamily="18" charset="0"/>
                      </a:rPr>
                    </m:ctrlPr>
                  </m:dPr>
                  <m:e>
                    <m:d>
                      <m:dPr>
                        <m:ctrlPr>
                          <a:rPr i="1">
                            <a:latin typeface="Cambria Math" panose="02040503050406030204" pitchFamily="18" charset="0"/>
                          </a:rPr>
                        </m:ctrlPr>
                      </m:dPr>
                      <m:e>
                        <m:d>
                          <m:dPr>
                            <m:ctrlPr>
                              <a:rPr i="1">
                                <a:latin typeface="Cambria Math" panose="02040503050406030204" pitchFamily="18" charset="0"/>
                              </a:rPr>
                            </m:ctrlPr>
                          </m:dPr>
                          <m:e>
                            <m:r>
                              <a:rPr>
                                <a:latin typeface="Cambria Math" panose="02040503050406030204" pitchFamily="18" charset="0"/>
                              </a:rPr>
                              <m:t>8.064–2.100</m:t>
                            </m:r>
                          </m:e>
                        </m:d>
                        <m:r>
                          <a:rPr>
                            <a:latin typeface="Cambria Math" panose="02040503050406030204" pitchFamily="18" charset="0"/>
                          </a:rPr>
                          <m:t>/8.064</m:t>
                        </m:r>
                      </m:e>
                    </m:d>
                    <m:d>
                      <m:dPr>
                        <m:ctrlPr>
                          <a:rPr i="1">
                            <a:latin typeface="Cambria Math" panose="02040503050406030204" pitchFamily="18" charset="0"/>
                          </a:rPr>
                        </m:ctrlPr>
                      </m:dPr>
                      <m:e>
                        <m:r>
                          <a:rPr>
                            <a:latin typeface="Cambria Math" panose="02040503050406030204" pitchFamily="18" charset="0"/>
                          </a:rPr>
                          <m:t>0,20+</m:t>
                        </m:r>
                        <m:d>
                          <m:dPr>
                            <m:ctrlPr>
                              <a:rPr i="1">
                                <a:latin typeface="Cambria Math" panose="02040503050406030204" pitchFamily="18" charset="0"/>
                              </a:rPr>
                            </m:ctrlPr>
                          </m:dPr>
                          <m:e>
                            <m:r>
                              <a:rPr>
                                <a:latin typeface="Cambria Math" panose="02040503050406030204" pitchFamily="18" charset="0"/>
                              </a:rPr>
                              <m:t>0,80.</m:t>
                            </m:r>
                            <m:d>
                              <m:dPr>
                                <m:ctrlPr>
                                  <a:rPr i="1">
                                    <a:latin typeface="Cambria Math" panose="02040503050406030204" pitchFamily="18" charset="0"/>
                                  </a:rPr>
                                </m:ctrlPr>
                              </m:dPr>
                              <m:e>
                                <m:r>
                                  <a:rPr>
                                    <a:latin typeface="Cambria Math" panose="02040503050406030204" pitchFamily="18" charset="0"/>
                                  </a:rPr>
                                  <m:t>60−22</m:t>
                                </m:r>
                              </m:e>
                            </m:d>
                            <m:r>
                              <a:rPr>
                                <a:latin typeface="Cambria Math" panose="02040503050406030204" pitchFamily="18" charset="0"/>
                              </a:rPr>
                              <m:t>/60</m:t>
                            </m:r>
                          </m:e>
                        </m:d>
                      </m:e>
                    </m:d>
                  </m:e>
                </m:d>
                <m:r>
                  <a:rPr>
                    <a:latin typeface="Cambria Math" panose="02040503050406030204" pitchFamily="18" charset="0"/>
                  </a:rPr>
                  <m:t>=1–</m:t>
                </m:r>
                <m:d>
                  <m:dPr>
                    <m:ctrlPr>
                      <a:rPr i="1">
                        <a:latin typeface="Cambria Math" panose="02040503050406030204" pitchFamily="18" charset="0"/>
                      </a:rPr>
                    </m:ctrlPr>
                  </m:dPr>
                  <m:e>
                    <m:r>
                      <a:rPr>
                        <a:latin typeface="Cambria Math" panose="02040503050406030204" pitchFamily="18" charset="0"/>
                      </a:rPr>
                      <m:t>0,7396.0,7067</m:t>
                    </m:r>
                  </m:e>
                </m:d>
                <m:r>
                  <a:rPr>
                    <a:latin typeface="Cambria Math" panose="02040503050406030204" pitchFamily="18" charset="0"/>
                  </a:rPr>
                  <m:t>=0,477</m:t>
                </m:r>
              </m:oMath>
            </a14:m>
            <a:endParaRPr/>
          </a:p>
          <a:p>
            <a:pPr lvl="1"/>
            <a:r>
              <a:t>O coeficiente de aproveitamento aumentou após a consideração da idade!!!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8ACFA-4A74-9B40-CC3E-92D78F850226}"/>
              </a:ext>
            </a:extLst>
          </p:cNvPr>
          <p:cNvSpPr>
            <a:spLocks noGrp="1"/>
          </p:cNvSpPr>
          <p:nvPr>
            <p:ph type="title"/>
          </p:nvPr>
        </p:nvSpPr>
        <p:spPr>
          <a:xfrm>
            <a:off x="838200" y="983457"/>
            <a:ext cx="10515600" cy="891526"/>
          </a:xfrm>
          <a:prstGeom prst="rect">
            <a:avLst/>
          </a:prstGeom>
        </p:spPr>
        <p:txBody>
          <a:bodyPr/>
          <a:lstStyle/>
          <a:p>
            <a:pPr marL="0" lvl="0" indent="0">
              <a:buNone/>
            </a:pPr>
            <a:r>
              <a:t>Coeficiente de Aproveitamento</a:t>
            </a:r>
          </a:p>
        </p:txBody>
      </p:sp>
      <p:sp>
        <p:nvSpPr>
          <p:cNvPr id="3" name="Content Placeholder 2">
            <a:extLst>
              <a:ext uri="{FF2B5EF4-FFF2-40B4-BE49-F238E27FC236}">
                <a16:creationId xmlns:a16="http://schemas.microsoft.com/office/drawing/2014/main" id="{06E5C504-58F1-2318-F264-E17A9AABC74B}"/>
              </a:ext>
            </a:extLst>
          </p:cNvPr>
          <p:cNvSpPr>
            <a:spLocks noGrp="1"/>
          </p:cNvSpPr>
          <p:nvPr>
            <p:ph idx="1"/>
          </p:nvPr>
        </p:nvSpPr>
        <p:spPr/>
        <p:txBody>
          <a:bodyPr/>
          <a:lstStyle/>
          <a:p>
            <a:pPr marL="0" lvl="0" indent="0">
              <a:spcBef>
                <a:spcPts val="3000"/>
              </a:spcBef>
              <a:buNone/>
            </a:pPr>
            <a:r>
              <a:rPr b="1"/>
              <a:t>Redução do Coeficiente pela idade</a:t>
            </a:r>
          </a:p>
          <a:p>
            <a:pPr lvl="0"/>
            <a:r>
              <a:t>Exemplo (Alonso and D’Amato 2017, 4–5):</a:t>
            </a:r>
          </a:p>
          <a:p>
            <a:pPr lvl="1"/>
            <a:r>
              <a:t>Onde está o erro?</a:t>
            </a:r>
          </a:p>
          <a:p>
            <a:pPr lvl="2"/>
            <a:r>
              <a:t>Pode-se perceber que o erro está no componente básico da fórmula!</a:t>
            </a:r>
          </a:p>
          <a:p>
            <a:pPr lvl="2"/>
            <a:r>
              <a:t>Correto seria: </a:t>
            </a:r>
            <a14:m xmlns:a14="http://schemas.microsoft.com/office/drawing/2010/main">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𝐶</m:t>
                    </m:r>
                  </m:e>
                  <m:sub>
                    <m:r>
                      <a:rPr>
                        <a:latin typeface="Cambria Math" panose="02040503050406030204" pitchFamily="18" charset="0"/>
                      </a:rPr>
                      <m:t>𝐴𝑝</m:t>
                    </m:r>
                  </m:sub>
                </m:sSub>
                <m:r>
                  <a:rPr>
                    <a:latin typeface="Cambria Math" panose="02040503050406030204" pitchFamily="18" charset="0"/>
                  </a:rPr>
                  <m:t>=</m:t>
                </m:r>
                <m:r>
                  <a:rPr>
                    <a:latin typeface="Cambria Math" panose="02040503050406030204" pitchFamily="18" charset="0"/>
                  </a:rPr>
                  <m:t>1</m:t>
                </m:r>
                <m:r>
                  <a:rPr>
                    <a:latin typeface="Cambria Math" panose="02040503050406030204" pitchFamily="18" charset="0"/>
                  </a:rPr>
                  <m:t>–</m:t>
                </m:r>
                <m:d>
                  <m:dPr>
                    <m:begChr m:val="["/>
                    <m:endChr m:val="]"/>
                    <m:ctrlPr>
                      <a:rPr i="1">
                        <a:latin typeface="Cambria Math" panose="02040503050406030204" pitchFamily="18" charset="0"/>
                      </a:rPr>
                    </m:ctrlPr>
                  </m:dPr>
                  <m:e>
                    <m:d>
                      <m:dPr>
                        <m:ctrlPr>
                          <a:rPr i="1">
                            <a:latin typeface="Cambria Math" panose="02040503050406030204" pitchFamily="18" charset="0"/>
                          </a:rPr>
                        </m:ctrlPr>
                      </m:dPr>
                      <m:e>
                        <m:r>
                          <a:rPr>
                            <a:latin typeface="Cambria Math" panose="02040503050406030204" pitchFamily="18" charset="0"/>
                          </a:rPr>
                          <m:t>𝑒</m:t>
                        </m:r>
                        <m:r>
                          <a:rPr>
                            <a:latin typeface="Cambria Math" panose="02040503050406030204" pitchFamily="18" charset="0"/>
                          </a:rPr>
                          <m:t>/</m:t>
                        </m:r>
                        <m:r>
                          <a:rPr>
                            <a:latin typeface="Cambria Math" panose="02040503050406030204" pitchFamily="18" charset="0"/>
                          </a:rPr>
                          <m:t>𝐸</m:t>
                        </m:r>
                      </m:e>
                    </m:d>
                    <m:r>
                      <a:rPr>
                        <a:latin typeface="Cambria Math" panose="02040503050406030204" pitchFamily="18" charset="0"/>
                      </a:rPr>
                      <m:t>.</m:t>
                    </m:r>
                    <m:d>
                      <m:dPr>
                        <m:ctrlPr>
                          <a:rPr i="1">
                            <a:latin typeface="Cambria Math" panose="02040503050406030204" pitchFamily="18" charset="0"/>
                          </a:rPr>
                        </m:ctrlPr>
                      </m:dPr>
                      <m:e>
                        <m:r>
                          <a:rPr>
                            <a:latin typeface="Cambria Math" panose="02040503050406030204" pitchFamily="18" charset="0"/>
                          </a:rPr>
                          <m:t>0</m:t>
                        </m:r>
                        <m:r>
                          <a:rPr>
                            <a:latin typeface="Cambria Math" panose="02040503050406030204" pitchFamily="18" charset="0"/>
                          </a:rPr>
                          <m:t>,</m:t>
                        </m:r>
                        <m:r>
                          <a:rPr>
                            <a:latin typeface="Cambria Math" panose="02040503050406030204" pitchFamily="18" charset="0"/>
                          </a:rPr>
                          <m:t>20</m:t>
                        </m:r>
                        <m:r>
                          <a:rPr>
                            <a:latin typeface="Cambria Math" panose="02040503050406030204" pitchFamily="18" charset="0"/>
                          </a:rPr>
                          <m:t>+</m:t>
                        </m:r>
                        <m:d>
                          <m:dPr>
                            <m:ctrlPr>
                              <a:rPr i="1">
                                <a:latin typeface="Cambria Math" panose="02040503050406030204" pitchFamily="18" charset="0"/>
                              </a:rPr>
                            </m:ctrlPr>
                          </m:dPr>
                          <m:e>
                            <m:r>
                              <a:rPr>
                                <a:latin typeface="Cambria Math" panose="02040503050406030204" pitchFamily="18" charset="0"/>
                              </a:rPr>
                              <m:t>0</m:t>
                            </m:r>
                            <m:r>
                              <a:rPr>
                                <a:latin typeface="Cambria Math" panose="02040503050406030204" pitchFamily="18" charset="0"/>
                              </a:rPr>
                              <m:t>,</m:t>
                            </m:r>
                            <m:r>
                              <a:rPr>
                                <a:latin typeface="Cambria Math" panose="02040503050406030204" pitchFamily="18" charset="0"/>
                              </a:rPr>
                              <m:t>80</m:t>
                            </m:r>
                            <m:r>
                              <a:rPr>
                                <a:latin typeface="Cambria Math" panose="02040503050406030204" pitchFamily="18" charset="0"/>
                              </a:rPr>
                              <m:t>.</m:t>
                            </m:r>
                            <m:d>
                              <m:dPr>
                                <m:ctrlPr>
                                  <a:rPr i="1">
                                    <a:latin typeface="Cambria Math" panose="02040503050406030204" pitchFamily="18" charset="0"/>
                                  </a:rPr>
                                </m:ctrlPr>
                              </m:dPr>
                              <m:e>
                                <m:r>
                                  <a:rPr>
                                    <a:latin typeface="Cambria Math" panose="02040503050406030204" pitchFamily="18" charset="0"/>
                                  </a:rPr>
                                  <m:t>𝑉</m:t>
                                </m:r>
                                <m:r>
                                  <a:rPr>
                                    <a:latin typeface="Cambria Math" panose="02040503050406030204" pitchFamily="18" charset="0"/>
                                  </a:rPr>
                                  <m:t>–</m:t>
                                </m:r>
                                <m:r>
                                  <a:rPr>
                                    <a:latin typeface="Cambria Math" panose="02040503050406030204" pitchFamily="18" charset="0"/>
                                  </a:rPr>
                                  <m:t>𝑣</m:t>
                                </m:r>
                              </m:e>
                            </m:d>
                            <m:r>
                              <a:rPr>
                                <a:latin typeface="Cambria Math" panose="02040503050406030204" pitchFamily="18" charset="0"/>
                              </a:rPr>
                              <m:t>/</m:t>
                            </m:r>
                            <m:r>
                              <a:rPr>
                                <a:latin typeface="Cambria Math" panose="02040503050406030204" pitchFamily="18" charset="0"/>
                              </a:rPr>
                              <m:t>𝑉</m:t>
                            </m:r>
                          </m:e>
                        </m:d>
                      </m:e>
                    </m:d>
                  </m:e>
                </m:d>
                <m:r>
                  <a:rPr>
                    <a:latin typeface="Cambria Math" panose="02040503050406030204" pitchFamily="18" charset="0"/>
                  </a:rPr>
                  <m:t>=</m:t>
                </m:r>
                <m:r>
                  <a:rPr>
                    <a:latin typeface="Cambria Math" panose="02040503050406030204" pitchFamily="18" charset="0"/>
                  </a:rPr>
                  <m:t>1</m:t>
                </m:r>
                <m:r>
                  <a:rPr>
                    <a:latin typeface="Cambria Math" panose="02040503050406030204" pitchFamily="18" charset="0"/>
                  </a:rPr>
                  <m:t>–</m:t>
                </m:r>
                <m:d>
                  <m:dPr>
                    <m:ctrlPr>
                      <a:rPr i="1">
                        <a:latin typeface="Cambria Math" panose="02040503050406030204" pitchFamily="18" charset="0"/>
                      </a:rPr>
                    </m:ctrlPr>
                  </m:dPr>
                  <m:e>
                    <m:r>
                      <a:rPr>
                        <a:latin typeface="Cambria Math" panose="02040503050406030204" pitchFamily="18" charset="0"/>
                      </a:rPr>
                      <m:t>0</m:t>
                    </m:r>
                    <m:r>
                      <a:rPr>
                        <a:latin typeface="Cambria Math" panose="02040503050406030204" pitchFamily="18" charset="0"/>
                      </a:rPr>
                      <m:t>,</m:t>
                    </m:r>
                    <m:r>
                      <a:rPr>
                        <a:latin typeface="Cambria Math" panose="02040503050406030204" pitchFamily="18" charset="0"/>
                      </a:rPr>
                      <m:t>26</m:t>
                    </m:r>
                    <m:r>
                      <a:rPr>
                        <a:latin typeface="Cambria Math" panose="02040503050406030204" pitchFamily="18" charset="0"/>
                      </a:rPr>
                      <m:t>.</m:t>
                    </m:r>
                    <m:r>
                      <a:rPr>
                        <a:latin typeface="Cambria Math" panose="02040503050406030204" pitchFamily="18" charset="0"/>
                      </a:rPr>
                      <m:t>0</m:t>
                    </m:r>
                    <m:r>
                      <a:rPr>
                        <a:latin typeface="Cambria Math" panose="02040503050406030204" pitchFamily="18" charset="0"/>
                      </a:rPr>
                      <m:t>,</m:t>
                    </m:r>
                    <m:r>
                      <a:rPr>
                        <a:latin typeface="Cambria Math" panose="02040503050406030204" pitchFamily="18" charset="0"/>
                      </a:rPr>
                      <m:t>7067</m:t>
                    </m:r>
                  </m:e>
                </m:d>
                <m:r>
                  <a:rPr>
                    <a:latin typeface="Cambria Math" panose="02040503050406030204" pitchFamily="18" charset="0"/>
                  </a:rPr>
                  <m:t>=</m:t>
                </m:r>
                <m:r>
                  <a:rPr>
                    <a:latin typeface="Cambria Math" panose="02040503050406030204" pitchFamily="18" charset="0"/>
                  </a:rPr>
                  <m:t>0</m:t>
                </m:r>
                <m:r>
                  <a:rPr>
                    <a:latin typeface="Cambria Math" panose="02040503050406030204" pitchFamily="18" charset="0"/>
                  </a:rPr>
                  <m:t>,</m:t>
                </m:r>
                <m:r>
                  <a:rPr>
                    <a:latin typeface="Cambria Math" panose="02040503050406030204" pitchFamily="18" charset="0"/>
                  </a:rPr>
                  <m:t>184</m:t>
                </m:r>
              </m:oMath>
            </a14:m>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8ACFA-4A74-9B40-CC3E-92D78F850226}"/>
              </a:ext>
            </a:extLst>
          </p:cNvPr>
          <p:cNvSpPr>
            <a:spLocks noGrp="1"/>
          </p:cNvSpPr>
          <p:nvPr>
            <p:ph type="title"/>
          </p:nvPr>
        </p:nvSpPr>
        <p:spPr>
          <a:xfrm>
            <a:off x="838200" y="983457"/>
            <a:ext cx="10515600" cy="891526"/>
          </a:xfrm>
          <a:prstGeom prst="rect">
            <a:avLst/>
          </a:prstGeom>
        </p:spPr>
        <p:txBody>
          <a:bodyPr/>
          <a:lstStyle/>
          <a:p>
            <a:pPr marL="0" lvl="0" indent="0">
              <a:buNone/>
            </a:pPr>
            <a:r>
              <a:t>Coeficiente de Aproveitamento</a:t>
            </a:r>
          </a:p>
        </p:txBody>
      </p:sp>
      <p:sp>
        <p:nvSpPr>
          <p:cNvPr id="3" name="Content Placeholder 2">
            <a:extLst>
              <a:ext uri="{FF2B5EF4-FFF2-40B4-BE49-F238E27FC236}">
                <a16:creationId xmlns:a16="http://schemas.microsoft.com/office/drawing/2014/main" id="{06E5C504-58F1-2318-F264-E17A9AABC74B}"/>
              </a:ext>
            </a:extLst>
          </p:cNvPr>
          <p:cNvSpPr>
            <a:spLocks noGrp="1"/>
          </p:cNvSpPr>
          <p:nvPr>
            <p:ph idx="1"/>
          </p:nvPr>
        </p:nvSpPr>
        <p:spPr/>
        <p:txBody>
          <a:bodyPr/>
          <a:lstStyle/>
          <a:p>
            <a:pPr marL="0" lvl="0" indent="0">
              <a:spcBef>
                <a:spcPts val="3000"/>
              </a:spcBef>
              <a:buNone/>
            </a:pPr>
            <a:r>
              <a:rPr b="1"/>
              <a:t>Redução do Coeficiente pela idade e padrão</a:t>
            </a:r>
          </a:p>
          <a:p>
            <a:pPr marL="1270000" lvl="0" indent="0">
              <a:buNone/>
            </a:pPr>
            <a:r>
              <a:rPr sz="2000"/>
              <a:t>De fato, como explicar a ocorrência de demolição de imóveis antes de atingirem sua vida útil? Geralmente isto acontece quando ocorre alteração ponderável do padrão em determinada região tornando as construções ali existentes obsoletas funcionalmente (Alonso and D’Amato 2017, 5).</a:t>
            </a:r>
          </a:p>
          <a:p>
            <a:pPr marL="1270000" lvl="0" indent="0">
              <a:buNone/>
            </a:pPr>
            <a:r>
              <a:rPr sz="2000"/>
              <a:t>Então, aos dois fatores endógenos (área e idade) deve ser acrescentado o padrão regional, de natureza exógena, portanto de caráter somatório (Alonso and D’Amato 2017, 6).</a:t>
            </a:r>
          </a:p>
          <a:p>
            <a:pPr lvl="0"/>
            <a14:m xmlns:a14="http://schemas.microsoft.com/office/drawing/2010/main">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𝐶</m:t>
                    </m:r>
                  </m:e>
                  <m:sub>
                    <m:r>
                      <a:rPr>
                        <a:latin typeface="Cambria Math" panose="02040503050406030204" pitchFamily="18" charset="0"/>
                      </a:rPr>
                      <m:t>𝐴𝑝</m:t>
                    </m:r>
                  </m:sub>
                </m:sSub>
                <m:r>
                  <a:rPr>
                    <a:latin typeface="Cambria Math" panose="02040503050406030204" pitchFamily="18" charset="0"/>
                  </a:rPr>
                  <m:t>=</m:t>
                </m:r>
                <m:r>
                  <a:rPr>
                    <a:latin typeface="Cambria Math" panose="02040503050406030204" pitchFamily="18" charset="0"/>
                  </a:rPr>
                  <m:t>1</m:t>
                </m:r>
                <m:r>
                  <a:rPr>
                    <a:latin typeface="Cambria Math" panose="02040503050406030204" pitchFamily="18" charset="0"/>
                  </a:rPr>
                  <m:t>–</m:t>
                </m:r>
                <m:d>
                  <m:dPr>
                    <m:ctrlPr>
                      <a:rPr i="1">
                        <a:latin typeface="Cambria Math" panose="02040503050406030204" pitchFamily="18" charset="0"/>
                      </a:rPr>
                    </m:ctrlPr>
                  </m:dPr>
                  <m:e>
                    <m:r>
                      <a:rPr>
                        <a:latin typeface="Cambria Math" panose="02040503050406030204" pitchFamily="18" charset="0"/>
                      </a:rPr>
                      <m:t>1</m:t>
                    </m:r>
                    <m:r>
                      <a:rPr>
                        <a:latin typeface="Cambria Math" panose="02040503050406030204" pitchFamily="18" charset="0"/>
                      </a:rPr>
                      <m:t>−</m:t>
                    </m:r>
                    <m:f>
                      <m:fPr>
                        <m:ctrlPr>
                          <a:rPr i="1">
                            <a:latin typeface="Cambria Math" panose="02040503050406030204" pitchFamily="18" charset="0"/>
                          </a:rPr>
                        </m:ctrlPr>
                      </m:fPr>
                      <m:num>
                        <m:r>
                          <a:rPr>
                            <a:latin typeface="Cambria Math" panose="02040503050406030204" pitchFamily="18" charset="0"/>
                          </a:rPr>
                          <m:t>𝑒</m:t>
                        </m:r>
                      </m:num>
                      <m:den>
                        <m:r>
                          <a:rPr>
                            <a:latin typeface="Cambria Math" panose="02040503050406030204" pitchFamily="18" charset="0"/>
                          </a:rPr>
                          <m:t>𝐸</m:t>
                        </m:r>
                      </m:den>
                    </m:f>
                  </m:e>
                </m:d>
                <m:r>
                  <a:rPr>
                    <a:latin typeface="Cambria Math" panose="02040503050406030204" pitchFamily="18" charset="0"/>
                  </a:rPr>
                  <m:t>.</m:t>
                </m:r>
                <m:d>
                  <m:dPr>
                    <m:ctrlPr>
                      <a:rPr i="1">
                        <a:latin typeface="Cambria Math" panose="02040503050406030204" pitchFamily="18" charset="0"/>
                      </a:rPr>
                    </m:ctrlPr>
                  </m:dPr>
                  <m:e>
                    <m:r>
                      <a:rPr>
                        <a:latin typeface="Cambria Math" panose="02040503050406030204" pitchFamily="18" charset="0"/>
                      </a:rPr>
                      <m:t>0</m:t>
                    </m:r>
                    <m:r>
                      <a:rPr>
                        <a:latin typeface="Cambria Math" panose="02040503050406030204" pitchFamily="18" charset="0"/>
                      </a:rPr>
                      <m:t>,</m:t>
                    </m:r>
                    <m:r>
                      <a:rPr>
                        <a:latin typeface="Cambria Math" panose="02040503050406030204" pitchFamily="18" charset="0"/>
                      </a:rPr>
                      <m:t>20</m:t>
                    </m:r>
                    <m:r>
                      <a:rPr>
                        <a:latin typeface="Cambria Math" panose="02040503050406030204" pitchFamily="18" charset="0"/>
                      </a:rPr>
                      <m:t>+</m:t>
                    </m:r>
                    <m:d>
                      <m:dPr>
                        <m:ctrlPr>
                          <a:rPr i="1">
                            <a:latin typeface="Cambria Math" panose="02040503050406030204" pitchFamily="18" charset="0"/>
                          </a:rPr>
                        </m:ctrlPr>
                      </m:dPr>
                      <m:e>
                        <m:r>
                          <a:rPr>
                            <a:latin typeface="Cambria Math" panose="02040503050406030204" pitchFamily="18" charset="0"/>
                          </a:rPr>
                          <m:t>0</m:t>
                        </m:r>
                        <m:r>
                          <a:rPr>
                            <a:latin typeface="Cambria Math" panose="02040503050406030204" pitchFamily="18" charset="0"/>
                          </a:rPr>
                          <m:t>,</m:t>
                        </m:r>
                        <m:r>
                          <a:rPr>
                            <a:latin typeface="Cambria Math" panose="02040503050406030204" pitchFamily="18" charset="0"/>
                          </a:rPr>
                          <m:t>80</m:t>
                        </m:r>
                        <m:r>
                          <a:rPr>
                            <a:latin typeface="Cambria Math" panose="02040503050406030204" pitchFamily="18" charset="0"/>
                          </a:rPr>
                          <m:t>.</m:t>
                        </m:r>
                        <m:d>
                          <m:dPr>
                            <m:ctrlPr>
                              <a:rPr i="1">
                                <a:latin typeface="Cambria Math" panose="02040503050406030204" pitchFamily="18" charset="0"/>
                              </a:rPr>
                            </m:ctrlPr>
                          </m:dPr>
                          <m:e>
                            <m:r>
                              <a:rPr>
                                <a:latin typeface="Cambria Math" panose="02040503050406030204" pitchFamily="18" charset="0"/>
                              </a:rPr>
                              <m:t>1</m:t>
                            </m:r>
                            <m:r>
                              <a:rPr>
                                <a:latin typeface="Cambria Math" panose="02040503050406030204" pitchFamily="18" charset="0"/>
                              </a:rPr>
                              <m:t>−</m:t>
                            </m:r>
                            <m:r>
                              <a:rPr>
                                <a:latin typeface="Cambria Math" panose="02040503050406030204" pitchFamily="18" charset="0"/>
                              </a:rPr>
                              <m:t>𝑣</m:t>
                            </m:r>
                            <m:r>
                              <a:rPr>
                                <a:latin typeface="Cambria Math" panose="02040503050406030204" pitchFamily="18" charset="0"/>
                              </a:rPr>
                              <m:t>/</m:t>
                            </m:r>
                            <m:r>
                              <a:rPr>
                                <a:latin typeface="Cambria Math" panose="02040503050406030204" pitchFamily="18" charset="0"/>
                              </a:rPr>
                              <m:t>𝑉</m:t>
                            </m:r>
                          </m:e>
                        </m:d>
                      </m:e>
                    </m:d>
                  </m:e>
                </m:d>
                <m:r>
                  <a:rPr>
                    <a:latin typeface="Cambria Math" panose="02040503050406030204" pitchFamily="18" charset="0"/>
                  </a:rPr>
                  <m:t>+</m:t>
                </m:r>
                <m:d>
                  <m:dPr>
                    <m:ctrlPr>
                      <a:rPr i="1">
                        <a:latin typeface="Cambria Math" panose="02040503050406030204" pitchFamily="18" charset="0"/>
                      </a:rPr>
                    </m:ctrlPr>
                  </m:dPr>
                  <m:e>
                    <m:r>
                      <a:rPr>
                        <a:latin typeface="Cambria Math" panose="02040503050406030204" pitchFamily="18" charset="0"/>
                      </a:rPr>
                      <m:t>1</m:t>
                    </m:r>
                    <m:r>
                      <a:rPr>
                        <a:latin typeface="Cambria Math" panose="02040503050406030204" pitchFamily="18" charset="0"/>
                      </a:rPr>
                      <m:t>−</m:t>
                    </m:r>
                    <m:r>
                      <a:rPr>
                        <a:latin typeface="Cambria Math" panose="02040503050406030204" pitchFamily="18" charset="0"/>
                      </a:rPr>
                      <m:t>𝑝</m:t>
                    </m:r>
                    <m:r>
                      <a:rPr>
                        <a:latin typeface="Cambria Math" panose="02040503050406030204" pitchFamily="18" charset="0"/>
                      </a:rPr>
                      <m:t>/</m:t>
                    </m:r>
                    <m:r>
                      <a:rPr>
                        <a:latin typeface="Cambria Math" panose="02040503050406030204" pitchFamily="18" charset="0"/>
                      </a:rPr>
                      <m:t>𝑃</m:t>
                    </m:r>
                  </m:e>
                </m:d>
              </m:oMath>
            </a14:m>
            <a:endParaRPr sz="20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8ACFA-4A74-9B40-CC3E-92D78F850226}"/>
              </a:ext>
            </a:extLst>
          </p:cNvPr>
          <p:cNvSpPr>
            <a:spLocks noGrp="1"/>
          </p:cNvSpPr>
          <p:nvPr>
            <p:ph type="title"/>
          </p:nvPr>
        </p:nvSpPr>
        <p:spPr>
          <a:xfrm>
            <a:off x="838200" y="983457"/>
            <a:ext cx="10515600" cy="891526"/>
          </a:xfrm>
          <a:prstGeom prst="rect">
            <a:avLst/>
          </a:prstGeom>
        </p:spPr>
        <p:txBody>
          <a:bodyPr/>
          <a:lstStyle/>
          <a:p>
            <a:pPr marL="0" lvl="0" indent="0">
              <a:buNone/>
            </a:pPr>
            <a:r>
              <a:t>Coeficiente de Aproveitamento</a:t>
            </a:r>
          </a:p>
        </p:txBody>
      </p:sp>
      <p:sp>
        <p:nvSpPr>
          <p:cNvPr id="3" name="Content Placeholder 2">
            <a:extLst>
              <a:ext uri="{FF2B5EF4-FFF2-40B4-BE49-F238E27FC236}">
                <a16:creationId xmlns:a16="http://schemas.microsoft.com/office/drawing/2014/main" id="{06E5C504-58F1-2318-F264-E17A9AABC74B}"/>
              </a:ext>
            </a:extLst>
          </p:cNvPr>
          <p:cNvSpPr>
            <a:spLocks noGrp="1"/>
          </p:cNvSpPr>
          <p:nvPr>
            <p:ph idx="1"/>
          </p:nvPr>
        </p:nvSpPr>
        <p:spPr/>
        <p:txBody>
          <a:bodyPr/>
          <a:lstStyle/>
          <a:p>
            <a:pPr marL="0" lvl="0" indent="0">
              <a:spcBef>
                <a:spcPts val="3000"/>
              </a:spcBef>
              <a:buNone/>
            </a:pPr>
            <a:r>
              <a:rPr b="1"/>
              <a:t>Redução do Coeficiente pela idade e padrão</a:t>
            </a:r>
          </a:p>
          <a:p>
            <a:pPr lvl="0"/>
            <a:r>
              <a:t>Exemplo (Alonso and D’Amato 2017, 6–8):</a:t>
            </a:r>
          </a:p>
          <a:p>
            <a:pPr lvl="1"/>
            <a:r>
              <a:t>Mesmos dados do anterior</a:t>
            </a:r>
          </a:p>
          <a:p>
            <a:pPr lvl="1"/>
            <a:r>
              <a:t>Porém, agora considerando que o padrão da construção existente é de 1,470xR-8N, enquanto no entorno prevalece um padrão mais alto, de 1,926xR-8N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8ACFA-4A74-9B40-CC3E-92D78F850226}"/>
              </a:ext>
            </a:extLst>
          </p:cNvPr>
          <p:cNvSpPr>
            <a:spLocks noGrp="1"/>
          </p:cNvSpPr>
          <p:nvPr>
            <p:ph type="title"/>
          </p:nvPr>
        </p:nvSpPr>
        <p:spPr>
          <a:xfrm>
            <a:off x="838200" y="983457"/>
            <a:ext cx="10515600" cy="891526"/>
          </a:xfrm>
          <a:prstGeom prst="rect">
            <a:avLst/>
          </a:prstGeom>
        </p:spPr>
        <p:txBody>
          <a:bodyPr/>
          <a:lstStyle/>
          <a:p>
            <a:pPr marL="0" lvl="0" indent="0">
              <a:buNone/>
            </a:pPr>
            <a:r>
              <a:t>Coeficiente de Aproveitamento</a:t>
            </a:r>
          </a:p>
        </p:txBody>
      </p:sp>
      <p:sp>
        <p:nvSpPr>
          <p:cNvPr id="3" name="Content Placeholder 2">
            <a:extLst>
              <a:ext uri="{FF2B5EF4-FFF2-40B4-BE49-F238E27FC236}">
                <a16:creationId xmlns:a16="http://schemas.microsoft.com/office/drawing/2014/main" id="{06E5C504-58F1-2318-F264-E17A9AABC74B}"/>
              </a:ext>
            </a:extLst>
          </p:cNvPr>
          <p:cNvSpPr>
            <a:spLocks noGrp="1"/>
          </p:cNvSpPr>
          <p:nvPr>
            <p:ph idx="1"/>
          </p:nvPr>
        </p:nvSpPr>
        <p:spPr/>
        <p:txBody>
          <a:bodyPr/>
          <a:lstStyle/>
          <a:p>
            <a:pPr marL="0" lvl="0" indent="0">
              <a:spcBef>
                <a:spcPts val="3000"/>
              </a:spcBef>
              <a:buNone/>
            </a:pPr>
            <a:r>
              <a:rPr b="1"/>
              <a:t>Redução do Coeficiente pela idade e padrão</a:t>
            </a:r>
          </a:p>
          <a:p>
            <a:pPr lvl="0"/>
            <a:r>
              <a:t>Solução (Alonso and D’Amato 2017, 8):</a:t>
            </a:r>
          </a:p>
          <a:p>
            <a:pPr lvl="1"/>
            <a14:m xmlns:a14="http://schemas.microsoft.com/office/drawing/2010/main">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𝐶</m:t>
                    </m:r>
                  </m:e>
                  <m:sub>
                    <m:r>
                      <a:rPr>
                        <a:latin typeface="Cambria Math" panose="02040503050406030204" pitchFamily="18" charset="0"/>
                      </a:rPr>
                      <m:t>𝐴𝑝</m:t>
                    </m:r>
                  </m:sub>
                </m:sSub>
                <m:r>
                  <a:rPr>
                    <a:latin typeface="Cambria Math" panose="02040503050406030204" pitchFamily="18" charset="0"/>
                  </a:rPr>
                  <m:t>=0,714</m:t>
                </m:r>
              </m:oMath>
            </a14:m>
            <a:endParaRPr/>
          </a:p>
          <a:p>
            <a:pPr lvl="1"/>
            <a:r>
              <a:t>Não faz o menor sentido!</a:t>
            </a:r>
          </a:p>
          <a:p>
            <a:pPr lvl="0"/>
            <a:r>
              <a:t>Solução lógica:</a:t>
            </a:r>
          </a:p>
          <a:p>
            <a:pPr lvl="1"/>
            <a14:m xmlns:a14="http://schemas.microsoft.com/office/drawing/2010/main">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𝐶</m:t>
                    </m:r>
                  </m:e>
                  <m:sub>
                    <m:r>
                      <a:rPr>
                        <a:latin typeface="Cambria Math" panose="02040503050406030204" pitchFamily="18" charset="0"/>
                      </a:rPr>
                      <m:t>𝐴𝑝</m:t>
                    </m:r>
                  </m:sub>
                </m:sSub>
                <m:r>
                  <a:rPr>
                    <a:latin typeface="Cambria Math" panose="02040503050406030204" pitchFamily="18" charset="0"/>
                  </a:rPr>
                  <m:t>=1–</m:t>
                </m:r>
                <m:d>
                  <m:dPr>
                    <m:begChr m:val="["/>
                    <m:endChr m:val="]"/>
                    <m:ctrlPr>
                      <a:rPr i="1">
                        <a:latin typeface="Cambria Math" panose="02040503050406030204" pitchFamily="18" charset="0"/>
                      </a:rPr>
                    </m:ctrlPr>
                  </m:dPr>
                  <m:e>
                    <m:d>
                      <m:dPr>
                        <m:ctrlPr>
                          <a:rPr i="1">
                            <a:latin typeface="Cambria Math" panose="02040503050406030204" pitchFamily="18" charset="0"/>
                          </a:rPr>
                        </m:ctrlPr>
                      </m:dPr>
                      <m:e>
                        <m:r>
                          <a:rPr>
                            <a:latin typeface="Cambria Math" panose="02040503050406030204" pitchFamily="18" charset="0"/>
                          </a:rPr>
                          <m:t>𝑒</m:t>
                        </m:r>
                        <m:r>
                          <a:rPr>
                            <a:latin typeface="Cambria Math" panose="02040503050406030204" pitchFamily="18" charset="0"/>
                          </a:rPr>
                          <m:t>/</m:t>
                        </m:r>
                        <m:r>
                          <a:rPr>
                            <a:latin typeface="Cambria Math" panose="02040503050406030204" pitchFamily="18" charset="0"/>
                          </a:rPr>
                          <m:t>𝐸</m:t>
                        </m:r>
                      </m:e>
                    </m:d>
                    <m:r>
                      <a:rPr>
                        <a:latin typeface="Cambria Math" panose="02040503050406030204" pitchFamily="18" charset="0"/>
                      </a:rPr>
                      <m:t>.</m:t>
                    </m:r>
                    <m:d>
                      <m:dPr>
                        <m:ctrlPr>
                          <a:rPr i="1">
                            <a:latin typeface="Cambria Math" panose="02040503050406030204" pitchFamily="18" charset="0"/>
                          </a:rPr>
                        </m:ctrlPr>
                      </m:dPr>
                      <m:e>
                        <m:r>
                          <a:rPr>
                            <a:latin typeface="Cambria Math" panose="02040503050406030204" pitchFamily="18" charset="0"/>
                          </a:rPr>
                          <m:t>0,20+</m:t>
                        </m:r>
                        <m:d>
                          <m:dPr>
                            <m:ctrlPr>
                              <a:rPr i="1">
                                <a:latin typeface="Cambria Math" panose="02040503050406030204" pitchFamily="18" charset="0"/>
                              </a:rPr>
                            </m:ctrlPr>
                          </m:dPr>
                          <m:e>
                            <m:r>
                              <a:rPr>
                                <a:latin typeface="Cambria Math" panose="02040503050406030204" pitchFamily="18" charset="0"/>
                              </a:rPr>
                              <m:t>0,80.</m:t>
                            </m:r>
                            <m:d>
                              <m:dPr>
                                <m:ctrlPr>
                                  <a:rPr i="1">
                                    <a:latin typeface="Cambria Math" panose="02040503050406030204" pitchFamily="18" charset="0"/>
                                  </a:rPr>
                                </m:ctrlPr>
                              </m:dPr>
                              <m:e>
                                <m:r>
                                  <a:rPr>
                                    <a:latin typeface="Cambria Math" panose="02040503050406030204" pitchFamily="18" charset="0"/>
                                  </a:rPr>
                                  <m:t>𝑉</m:t>
                                </m:r>
                                <m:r>
                                  <a:rPr>
                                    <a:latin typeface="Cambria Math" panose="02040503050406030204" pitchFamily="18" charset="0"/>
                                  </a:rPr>
                                  <m:t>–</m:t>
                                </m:r>
                                <m:r>
                                  <a:rPr>
                                    <a:latin typeface="Cambria Math" panose="02040503050406030204" pitchFamily="18" charset="0"/>
                                  </a:rPr>
                                  <m:t>𝑣</m:t>
                                </m:r>
                              </m:e>
                            </m:d>
                            <m:r>
                              <a:rPr>
                                <a:latin typeface="Cambria Math" panose="02040503050406030204" pitchFamily="18" charset="0"/>
                              </a:rPr>
                              <m:t>/</m:t>
                            </m:r>
                            <m:r>
                              <a:rPr>
                                <a:latin typeface="Cambria Math" panose="02040503050406030204" pitchFamily="18" charset="0"/>
                              </a:rPr>
                              <m:t>𝑉</m:t>
                            </m:r>
                          </m:e>
                        </m:d>
                      </m:e>
                    </m:d>
                    <m:r>
                      <a:rPr>
                        <a:latin typeface="Cambria Math" panose="02040503050406030204" pitchFamily="18" charset="0"/>
                      </a:rPr>
                      <m:t>.</m:t>
                    </m:r>
                    <m:d>
                      <m:dPr>
                        <m:ctrlPr>
                          <a:rPr i="1">
                            <a:latin typeface="Cambria Math" panose="02040503050406030204" pitchFamily="18" charset="0"/>
                          </a:rPr>
                        </m:ctrlPr>
                      </m:dPr>
                      <m:e>
                        <m:r>
                          <a:rPr>
                            <a:latin typeface="Cambria Math" panose="02040503050406030204" pitchFamily="18" charset="0"/>
                          </a:rPr>
                          <m:t>𝑝</m:t>
                        </m:r>
                        <m:r>
                          <a:rPr>
                            <a:latin typeface="Cambria Math" panose="02040503050406030204" pitchFamily="18" charset="0"/>
                          </a:rPr>
                          <m:t>/</m:t>
                        </m:r>
                        <m:r>
                          <a:rPr>
                            <a:latin typeface="Cambria Math" panose="02040503050406030204" pitchFamily="18" charset="0"/>
                          </a:rPr>
                          <m:t>𝑃</m:t>
                        </m:r>
                      </m:e>
                    </m:d>
                  </m:e>
                </m:d>
                <m:r>
                  <a:rPr>
                    <a:latin typeface="Cambria Math" panose="02040503050406030204" pitchFamily="18" charset="0"/>
                  </a:rPr>
                  <m:t>=1–</m:t>
                </m:r>
                <m:d>
                  <m:dPr>
                    <m:ctrlPr>
                      <a:rPr i="1">
                        <a:latin typeface="Cambria Math" panose="02040503050406030204" pitchFamily="18" charset="0"/>
                      </a:rPr>
                    </m:ctrlPr>
                  </m:dPr>
                  <m:e>
                    <m:r>
                      <a:rPr>
                        <a:latin typeface="Cambria Math" panose="02040503050406030204" pitchFamily="18" charset="0"/>
                      </a:rPr>
                      <m:t>0,26.0,7067.0.763</m:t>
                    </m:r>
                  </m:e>
                </m:d>
                <m:r>
                  <a:rPr>
                    <a:latin typeface="Cambria Math" panose="02040503050406030204" pitchFamily="18" charset="0"/>
                  </a:rPr>
                  <m:t>=0,184</m:t>
                </m:r>
              </m:oMath>
            </a14:m>
            <a:endParaRPr/>
          </a:p>
          <a:p>
            <a:pPr lvl="0"/>
            <a:r>
              <a:t>Não faz sentido, ao nosso ver, que a variável padrão seja considerada na forma aditiva, enquanto as outras são consideradas na forma multiplicativa.</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09A65-87C6-A0D0-64A7-121C4D105C33}"/>
              </a:ext>
            </a:extLst>
          </p:cNvPr>
          <p:cNvSpPr>
            <a:spLocks noGrp="1"/>
          </p:cNvSpPr>
          <p:nvPr>
            <p:ph type="title"/>
          </p:nvPr>
        </p:nvSpPr>
        <p:spPr>
          <a:xfrm>
            <a:off x="7010400" y="1080656"/>
            <a:ext cx="4337050" cy="3481820"/>
          </a:xfrm>
          <a:prstGeom prst="rect">
            <a:avLst/>
          </a:prstGeom>
        </p:spPr>
        <p:txBody>
          <a:bodyPr/>
          <a:lstStyle/>
          <a:p>
            <a:pPr marL="0" lvl="0" indent="0">
              <a:buNone/>
            </a:pPr>
            <a:r>
              <a:t>Hipótese de Harper</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8ACFA-4A74-9B40-CC3E-92D78F850226}"/>
              </a:ext>
            </a:extLst>
          </p:cNvPr>
          <p:cNvSpPr>
            <a:spLocks noGrp="1"/>
          </p:cNvSpPr>
          <p:nvPr>
            <p:ph type="title"/>
          </p:nvPr>
        </p:nvSpPr>
        <p:spPr>
          <a:xfrm>
            <a:off x="838200" y="983457"/>
            <a:ext cx="10515600" cy="891526"/>
          </a:xfrm>
          <a:prstGeom prst="rect">
            <a:avLst/>
          </a:prstGeom>
        </p:spPr>
        <p:txBody>
          <a:bodyPr/>
          <a:lstStyle/>
          <a:p>
            <a:pPr marL="0" lvl="0" indent="0">
              <a:buNone/>
            </a:pPr>
            <a:r>
              <a:t>Hipótese de Harper</a:t>
            </a:r>
          </a:p>
        </p:txBody>
      </p:sp>
      <p:sp>
        <p:nvSpPr>
          <p:cNvPr id="3" name="Content Placeholder 2">
            <a:extLst>
              <a:ext uri="{FF2B5EF4-FFF2-40B4-BE49-F238E27FC236}">
                <a16:creationId xmlns:a16="http://schemas.microsoft.com/office/drawing/2014/main" id="{06E5C504-58F1-2318-F264-E17A9AABC74B}"/>
              </a:ext>
            </a:extLst>
          </p:cNvPr>
          <p:cNvSpPr>
            <a:spLocks noGrp="1"/>
          </p:cNvSpPr>
          <p:nvPr>
            <p:ph idx="1"/>
          </p:nvPr>
        </p:nvSpPr>
        <p:spPr/>
        <p:txBody>
          <a:bodyPr/>
          <a:lstStyle/>
          <a:p>
            <a:pPr lvl="0"/>
            <a:r>
              <a:t>A hipótese de Harper visa corrigir a área da loja para diferentes profundidades</a:t>
            </a:r>
          </a:p>
          <a:p>
            <a:pPr lvl="0"/>
            <a:r>
              <a:t>A hipótese de Harper considera que o preço médio do metro quadrado varia de forma parabólica com relação à profundidade padrão para o local (D’Amato and Alonso 2019, 168)</a:t>
            </a:r>
          </a:p>
          <a:p>
            <a:pPr lvl="0"/>
            <a:r>
              <a:t>A hipótese implica que:</a:t>
            </a:r>
          </a:p>
          <a:p>
            <a:pPr lvl="1"/>
            <a:r>
              <a:t>A primeira quarta parte da loja (da frente à via de acesso), corresponde à 50% do valor da loja;</a:t>
            </a:r>
          </a:p>
          <a:p>
            <a:pPr lvl="1"/>
            <a:r>
              <a:t>A segunda quarta parte equivale a 21%;</a:t>
            </a:r>
          </a:p>
          <a:p>
            <a:pPr lvl="1"/>
            <a:r>
              <a:t>A terceira quarta parte equivale a 16%;</a:t>
            </a:r>
          </a:p>
          <a:p>
            <a:pPr lvl="1"/>
            <a:r>
              <a:t>E a quarta quarta parte equivale a 13%.</a:t>
            </a:r>
          </a:p>
          <a:p>
            <a:pPr lvl="0"/>
            <a:r>
              <a:t>A hipótese de Harper não corrige o efeito de Frente da loja</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95C04-CC6F-1CD5-4027-3306C4B7516C}"/>
              </a:ext>
            </a:extLst>
          </p:cNvPr>
          <p:cNvSpPr>
            <a:spLocks noGrp="1"/>
          </p:cNvSpPr>
          <p:nvPr>
            <p:ph type="title"/>
          </p:nvPr>
        </p:nvSpPr>
        <p:spPr>
          <a:xfrm>
            <a:off x="838200" y="990600"/>
            <a:ext cx="10515600" cy="700088"/>
          </a:xfrm>
          <a:prstGeom prst="rect">
            <a:avLst/>
          </a:prstGeom>
        </p:spPr>
        <p:txBody>
          <a:bodyPr/>
          <a:lstStyle/>
          <a:p>
            <a:pPr marL="0" lvl="0" indent="0">
              <a:buNone/>
            </a:pPr>
            <a:r>
              <a:t>Hipótese de Harper</a:t>
            </a:r>
          </a:p>
        </p:txBody>
      </p:sp>
      <p:sp>
        <p:nvSpPr>
          <p:cNvPr id="3" name="Content Placeholder 2">
            <a:extLst>
              <a:ext uri="{FF2B5EF4-FFF2-40B4-BE49-F238E27FC236}">
                <a16:creationId xmlns:a16="http://schemas.microsoft.com/office/drawing/2014/main" id="{1A3C9F7A-0844-0C9F-745C-595915C1A032}"/>
              </a:ext>
            </a:extLst>
          </p:cNvPr>
          <p:cNvSpPr>
            <a:spLocks noGrp="1"/>
          </p:cNvSpPr>
          <p:nvPr>
            <p:ph sz="half" idx="1"/>
          </p:nvPr>
        </p:nvSpPr>
        <p:spPr/>
        <p:txBody>
          <a:bodyPr/>
          <a:lstStyle/>
          <a:p>
            <a:pPr marL="0" lvl="0" indent="0">
              <a:buNone/>
            </a:pPr>
            <a14:m xmlns:a14="http://schemas.microsoft.com/office/drawing/2010/main">
              <m:oMathPara xmlns:m="http://schemas.openxmlformats.org/officeDocument/2006/math">
                <m:oMathParaPr>
                  <m:jc m:val="center"/>
                </m:oMathParaPr>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𝑉</m:t>
                      </m:r>
                    </m:e>
                    <m:sub>
                      <m:r>
                        <a:rPr>
                          <a:latin typeface="Cambria Math" panose="02040503050406030204" pitchFamily="18" charset="0"/>
                        </a:rPr>
                        <m:t>𝑙</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𝑉</m:t>
                      </m:r>
                    </m:e>
                    <m:sub>
                      <m:r>
                        <a:rPr>
                          <a:latin typeface="Cambria Math" panose="02040503050406030204" pitchFamily="18" charset="0"/>
                        </a:rPr>
                        <m:t>𝑢</m:t>
                      </m:r>
                    </m:sub>
                  </m:sSub>
                  <m:d>
                    <m:dPr>
                      <m:ctrlPr>
                        <a:rPr i="1">
                          <a:latin typeface="Cambria Math" panose="02040503050406030204" pitchFamily="18" charset="0"/>
                        </a:rPr>
                      </m:ctrlPr>
                    </m:dPr>
                    <m:e>
                      <m:rad>
                        <m:radPr>
                          <m:degHide m:val="on"/>
                          <m:ctrlPr>
                            <a:rPr i="1">
                              <a:latin typeface="Cambria Math" panose="02040503050406030204" pitchFamily="18" charset="0"/>
                            </a:rPr>
                          </m:ctrlPr>
                        </m:radPr>
                        <m:deg/>
                        <m:e>
                          <m:r>
                            <a:rPr>
                              <a:latin typeface="Cambria Math" panose="02040503050406030204" pitchFamily="18" charset="0"/>
                            </a:rPr>
                            <m:t>𝑎𝑆</m:t>
                          </m:r>
                          <m:sSub>
                            <m:sSubPr>
                              <m:ctrlPr>
                                <a:rPr i="1">
                                  <a:latin typeface="Cambria Math" panose="02040503050406030204" pitchFamily="18" charset="0"/>
                                </a:rPr>
                              </m:ctrlPr>
                            </m:sSubPr>
                            <m:e>
                              <m:r>
                                <a:rPr>
                                  <a:latin typeface="Cambria Math" panose="02040503050406030204" pitchFamily="18" charset="0"/>
                                </a:rPr>
                                <m:t>𝑓</m:t>
                              </m:r>
                            </m:e>
                            <m:sub>
                              <m:r>
                                <a:rPr>
                                  <a:latin typeface="Cambria Math" panose="02040503050406030204" pitchFamily="18" charset="0"/>
                                </a:rPr>
                                <m:t>𝑝</m:t>
                              </m:r>
                            </m:sub>
                          </m:sSub>
                        </m:e>
                      </m:rad>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𝐴</m:t>
                          </m:r>
                        </m:e>
                        <m:sub>
                          <m:r>
                            <a:rPr>
                              <a:latin typeface="Cambria Math" panose="02040503050406030204" pitchFamily="18" charset="0"/>
                            </a:rPr>
                            <m:t>𝑝</m:t>
                          </m:r>
                        </m:sub>
                      </m:sSub>
                    </m:e>
                  </m:d>
                </m:oMath>
              </m:oMathPara>
            </a14:m>
            <a:endParaRPr/>
          </a:p>
        </p:txBody>
      </p:sp>
      <p:sp>
        <p:nvSpPr>
          <p:cNvPr id="4" name="Content Placeholder 3">
            <a:extLst>
              <a:ext uri="{FF2B5EF4-FFF2-40B4-BE49-F238E27FC236}">
                <a16:creationId xmlns:a16="http://schemas.microsoft.com/office/drawing/2014/main" id="{F1D3C290-0A1C-BF66-84A7-0888B63645A3}"/>
              </a:ext>
            </a:extLst>
          </p:cNvPr>
          <p:cNvSpPr>
            <a:spLocks noGrp="1"/>
          </p:cNvSpPr>
          <p:nvPr>
            <p:ph sz="half" idx="2"/>
          </p:nvPr>
        </p:nvSpPr>
        <p:spPr/>
        <p:txBody>
          <a:bodyPr/>
          <a:lstStyle/>
          <a:p>
            <a:pPr lvl="0"/>
            <a14:m xmlns:a14="http://schemas.microsoft.com/office/drawing/2010/main">
              <m:oMath xmlns:m="http://schemas.openxmlformats.org/officeDocument/2006/math">
                <m:r>
                  <a:rPr>
                    <a:latin typeface="Cambria Math" panose="02040503050406030204" pitchFamily="18" charset="0"/>
                  </a:rPr>
                  <m:t>𝑎</m:t>
                </m:r>
              </m:oMath>
            </a14:m>
            <a:r>
              <a:t>: frente da loja</a:t>
            </a:r>
          </a:p>
          <a:p>
            <a:pPr lvl="0"/>
            <a14:m xmlns:a14="http://schemas.microsoft.com/office/drawing/2010/main">
              <m:oMath xmlns:m="http://schemas.openxmlformats.org/officeDocument/2006/math">
                <m:r>
                  <a:rPr>
                    <a:latin typeface="Cambria Math" panose="02040503050406030204" pitchFamily="18" charset="0"/>
                  </a:rPr>
                  <m:t>𝑆</m:t>
                </m:r>
              </m:oMath>
            </a14:m>
            <a:r>
              <a:t>: área da loja</a:t>
            </a:r>
          </a:p>
          <a:p>
            <a:pPr lvl="0"/>
            <a14:m xmlns:a14="http://schemas.microsoft.com/office/drawing/2010/main">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𝑓</m:t>
                    </m:r>
                  </m:e>
                  <m:sub>
                    <m:r>
                      <a:rPr>
                        <a:latin typeface="Cambria Math" panose="02040503050406030204" pitchFamily="18" charset="0"/>
                      </a:rPr>
                      <m:t>𝑝</m:t>
                    </m:r>
                  </m:sub>
                </m:sSub>
              </m:oMath>
            </a14:m>
            <a:r>
              <a:t>: fundo padrão (de 15 a 20m)</a:t>
            </a:r>
          </a:p>
          <a:p>
            <a:pPr lvl="0"/>
            <a14:m xmlns:a14="http://schemas.microsoft.com/office/drawing/2010/main">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𝐴</m:t>
                    </m:r>
                  </m:e>
                  <m:sub>
                    <m:r>
                      <a:rPr>
                        <a:latin typeface="Cambria Math" panose="02040503050406030204" pitchFamily="18" charset="0"/>
                      </a:rPr>
                      <m:t>𝑃</m:t>
                    </m:r>
                  </m:sub>
                </m:sSub>
              </m:oMath>
            </a14:m>
            <a:r>
              <a:t>: demais áreas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2_files/figure-pptx/unnamed-chunk-1-1.png"/>
          <p:cNvPicPr>
            <a:picLocks noGrp="1" noChangeAspect="1"/>
          </p:cNvPicPr>
          <p:nvPr/>
        </p:nvPicPr>
        <p:blipFill>
          <a:blip r:embed="rId2"/>
          <a:stretch>
            <a:fillRect/>
          </a:stretch>
        </p:blipFill>
        <p:spPr bwMode="auto">
          <a:xfrm>
            <a:off x="2108200" y="2184400"/>
            <a:ext cx="7975600" cy="3987800"/>
          </a:xfrm>
          <a:prstGeom prst="rect">
            <a:avLst/>
          </a:prstGeom>
          <a:noFill/>
          <a:ln w="9525">
            <a:noFill/>
            <a:headEnd/>
            <a:tailEnd/>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8ACFA-4A74-9B40-CC3E-92D78F850226}"/>
              </a:ext>
            </a:extLst>
          </p:cNvPr>
          <p:cNvSpPr>
            <a:spLocks noGrp="1"/>
          </p:cNvSpPr>
          <p:nvPr>
            <p:ph type="title"/>
          </p:nvPr>
        </p:nvSpPr>
        <p:spPr>
          <a:xfrm>
            <a:off x="838200" y="983457"/>
            <a:ext cx="10515600" cy="891526"/>
          </a:xfrm>
          <a:prstGeom prst="rect">
            <a:avLst/>
          </a:prstGeom>
        </p:spPr>
        <p:txBody>
          <a:bodyPr/>
          <a:lstStyle/>
          <a:p>
            <a:pPr marL="0" lvl="0" indent="0">
              <a:buNone/>
            </a:pPr>
            <a:r>
              <a:t>Hipótese de Harper</a:t>
            </a:r>
          </a:p>
        </p:txBody>
      </p:sp>
      <p:sp>
        <p:nvSpPr>
          <p:cNvPr id="3" name="Content Placeholder 2">
            <a:extLst>
              <a:ext uri="{FF2B5EF4-FFF2-40B4-BE49-F238E27FC236}">
                <a16:creationId xmlns:a16="http://schemas.microsoft.com/office/drawing/2014/main" id="{06E5C504-58F1-2318-F264-E17A9AABC74B}"/>
              </a:ext>
            </a:extLst>
          </p:cNvPr>
          <p:cNvSpPr>
            <a:spLocks noGrp="1"/>
          </p:cNvSpPr>
          <p:nvPr>
            <p:ph idx="1"/>
          </p:nvPr>
        </p:nvSpPr>
        <p:spPr/>
        <p:txBody>
          <a:bodyPr/>
          <a:lstStyle/>
          <a:p>
            <a:pPr marL="0" lvl="0" indent="0">
              <a:spcBef>
                <a:spcPts val="3000"/>
              </a:spcBef>
              <a:buNone/>
            </a:pPr>
            <a:r>
              <a:rPr b="1"/>
              <a:t>Exemplo (Adaptado de D’Amato and Alonso 2019, 168):</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DDFEA84-1946-DBE6-D247-7CA7EE7314A2}"/>
              </a:ext>
            </a:extLst>
          </p:cNvPr>
          <p:cNvSpPr>
            <a:spLocks noGrp="1"/>
          </p:cNvSpPr>
          <p:nvPr>
            <p:ph type="body" idx="1"/>
          </p:nvPr>
        </p:nvSpPr>
        <p:spPr>
          <a:xfrm>
            <a:off x="824706" y="1060677"/>
            <a:ext cx="5157787" cy="823912"/>
          </a:xfrm>
        </p:spPr>
        <p:txBody>
          <a:bodyPr/>
          <a:lstStyle/>
          <a:p>
            <a:pPr lvl="0"/>
            <a:r>
              <a:rPr dirty="0"/>
              <a:t>Seja a </a:t>
            </a:r>
            <a:r>
              <a:rPr dirty="0" err="1"/>
              <a:t>amostra</a:t>
            </a:r>
            <a:r>
              <a:rPr dirty="0"/>
              <a:t>:</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3740444235"/>
              </p:ext>
            </p:extLst>
          </p:nvPr>
        </p:nvGraphicFramePr>
        <p:xfrm>
          <a:off x="824706" y="1884589"/>
          <a:ext cx="5130800" cy="4754880"/>
        </p:xfrm>
        <a:graphic>
          <a:graphicData uri="http://schemas.openxmlformats.org/drawingml/2006/table">
            <a:tbl>
              <a:tblPr firstRow="1" bandRow="1">
                <a:tableStyleId>{5C22544A-7EE6-4342-B048-85BDC9FD1C3A}</a:tableStyleId>
              </a:tblPr>
              <a:tblGrid>
                <a:gridCol w="1282700">
                  <a:extLst>
                    <a:ext uri="{9D8B030D-6E8A-4147-A177-3AD203B41FA5}">
                      <a16:colId xmlns:a16="http://schemas.microsoft.com/office/drawing/2014/main" val="20000"/>
                    </a:ext>
                  </a:extLst>
                </a:gridCol>
                <a:gridCol w="1282700">
                  <a:extLst>
                    <a:ext uri="{9D8B030D-6E8A-4147-A177-3AD203B41FA5}">
                      <a16:colId xmlns:a16="http://schemas.microsoft.com/office/drawing/2014/main" val="20001"/>
                    </a:ext>
                  </a:extLst>
                </a:gridCol>
                <a:gridCol w="1282700">
                  <a:extLst>
                    <a:ext uri="{9D8B030D-6E8A-4147-A177-3AD203B41FA5}">
                      <a16:colId xmlns:a16="http://schemas.microsoft.com/office/drawing/2014/main" val="20002"/>
                    </a:ext>
                  </a:extLst>
                </a:gridCol>
                <a:gridCol w="1282700">
                  <a:extLst>
                    <a:ext uri="{9D8B030D-6E8A-4147-A177-3AD203B41FA5}">
                      <a16:colId xmlns:a16="http://schemas.microsoft.com/office/drawing/2014/main" val="20003"/>
                    </a:ext>
                  </a:extLst>
                </a:gridCol>
              </a:tblGrid>
              <a:tr h="0">
                <a:tc>
                  <a:txBody>
                    <a:bodyPr/>
                    <a:lstStyle/>
                    <a:p>
                      <a:pPr marL="0" lvl="0" indent="0" algn="r">
                        <a:buNone/>
                      </a:pPr>
                      <a:r>
                        <a:t>Id</a:t>
                      </a:r>
                    </a:p>
                  </a:txBody>
                  <a:tcPr/>
                </a:tc>
                <a:tc>
                  <a:txBody>
                    <a:bodyPr/>
                    <a:lstStyle/>
                    <a:p>
                      <a:pPr marL="0" lvl="0" indent="0" algn="r">
                        <a:buNone/>
                      </a:pPr>
                      <a:r>
                        <a:t>Frente</a:t>
                      </a:r>
                    </a:p>
                  </a:txBody>
                  <a:tcPr/>
                </a:tc>
                <a:tc>
                  <a:txBody>
                    <a:bodyPr/>
                    <a:lstStyle/>
                    <a:p>
                      <a:pPr marL="0" lvl="0" indent="0" algn="r">
                        <a:buNone/>
                      </a:pPr>
                      <a:r>
                        <a:t>Prof</a:t>
                      </a:r>
                    </a:p>
                  </a:txBody>
                  <a:tcPr/>
                </a:tc>
                <a:tc>
                  <a:txBody>
                    <a:bodyPr/>
                    <a:lstStyle/>
                    <a:p>
                      <a:pPr marL="0" lvl="0" indent="0" algn="r">
                        <a:buNone/>
                      </a:pPr>
                      <a:r>
                        <a:t>Vl</a:t>
                      </a:r>
                    </a:p>
                  </a:txBody>
                  <a:tcPr/>
                </a:tc>
                <a:extLst>
                  <a:ext uri="{0D108BD9-81ED-4DB2-BD59-A6C34878D82A}">
                    <a16:rowId xmlns:a16="http://schemas.microsoft.com/office/drawing/2014/main" val="10000"/>
                  </a:ext>
                </a:extLst>
              </a:tr>
              <a:tr h="0">
                <a:tc>
                  <a:txBody>
                    <a:bodyPr/>
                    <a:lstStyle/>
                    <a:p>
                      <a:pPr marL="0" lvl="0" indent="0" algn="r">
                        <a:buNone/>
                      </a:pPr>
                      <a:r>
                        <a:t>1</a:t>
                      </a:r>
                    </a:p>
                  </a:txBody>
                  <a:tcPr/>
                </a:tc>
                <a:tc>
                  <a:txBody>
                    <a:bodyPr/>
                    <a:lstStyle/>
                    <a:p>
                      <a:pPr marL="0" lvl="0" indent="0" algn="r">
                        <a:buNone/>
                      </a:pPr>
                      <a:r>
                        <a:t>8</a:t>
                      </a:r>
                    </a:p>
                  </a:txBody>
                  <a:tcPr/>
                </a:tc>
                <a:tc>
                  <a:txBody>
                    <a:bodyPr/>
                    <a:lstStyle/>
                    <a:p>
                      <a:pPr marL="0" lvl="0" indent="0" algn="r">
                        <a:buNone/>
                      </a:pPr>
                      <a:r>
                        <a:t>8</a:t>
                      </a:r>
                    </a:p>
                  </a:txBody>
                  <a:tcPr/>
                </a:tc>
                <a:tc>
                  <a:txBody>
                    <a:bodyPr/>
                    <a:lstStyle/>
                    <a:p>
                      <a:pPr marL="0" lvl="0" indent="0" algn="r">
                        <a:buNone/>
                      </a:pPr>
                      <a:r>
                        <a:t>450</a:t>
                      </a:r>
                    </a:p>
                  </a:txBody>
                  <a:tcPr/>
                </a:tc>
                <a:extLst>
                  <a:ext uri="{0D108BD9-81ED-4DB2-BD59-A6C34878D82A}">
                    <a16:rowId xmlns:a16="http://schemas.microsoft.com/office/drawing/2014/main" val="10001"/>
                  </a:ext>
                </a:extLst>
              </a:tr>
              <a:tr h="0">
                <a:tc>
                  <a:txBody>
                    <a:bodyPr/>
                    <a:lstStyle/>
                    <a:p>
                      <a:pPr marL="0" lvl="0" indent="0" algn="r">
                        <a:buNone/>
                      </a:pPr>
                      <a:r>
                        <a:t>2</a:t>
                      </a:r>
                    </a:p>
                  </a:txBody>
                  <a:tcPr/>
                </a:tc>
                <a:tc>
                  <a:txBody>
                    <a:bodyPr/>
                    <a:lstStyle/>
                    <a:p>
                      <a:pPr marL="0" lvl="0" indent="0" algn="r">
                        <a:buNone/>
                      </a:pPr>
                      <a:r>
                        <a:t>8</a:t>
                      </a:r>
                    </a:p>
                  </a:txBody>
                  <a:tcPr/>
                </a:tc>
                <a:tc>
                  <a:txBody>
                    <a:bodyPr/>
                    <a:lstStyle/>
                    <a:p>
                      <a:pPr marL="0" lvl="0" indent="0" algn="r">
                        <a:buNone/>
                      </a:pPr>
                      <a:r>
                        <a:t>10</a:t>
                      </a:r>
                    </a:p>
                  </a:txBody>
                  <a:tcPr/>
                </a:tc>
                <a:tc>
                  <a:txBody>
                    <a:bodyPr/>
                    <a:lstStyle/>
                    <a:p>
                      <a:pPr marL="0" lvl="0" indent="0" algn="r">
                        <a:buNone/>
                      </a:pPr>
                      <a:r>
                        <a:t>450</a:t>
                      </a:r>
                    </a:p>
                  </a:txBody>
                  <a:tcPr/>
                </a:tc>
                <a:extLst>
                  <a:ext uri="{0D108BD9-81ED-4DB2-BD59-A6C34878D82A}">
                    <a16:rowId xmlns:a16="http://schemas.microsoft.com/office/drawing/2014/main" val="10002"/>
                  </a:ext>
                </a:extLst>
              </a:tr>
              <a:tr h="0">
                <a:tc>
                  <a:txBody>
                    <a:bodyPr/>
                    <a:lstStyle/>
                    <a:p>
                      <a:pPr marL="0" lvl="0" indent="0" algn="r">
                        <a:buNone/>
                      </a:pPr>
                      <a:r>
                        <a:t>3</a:t>
                      </a:r>
                    </a:p>
                  </a:txBody>
                  <a:tcPr/>
                </a:tc>
                <a:tc>
                  <a:txBody>
                    <a:bodyPr/>
                    <a:lstStyle/>
                    <a:p>
                      <a:pPr marL="0" lvl="0" indent="0" algn="r">
                        <a:buNone/>
                      </a:pPr>
                      <a:r>
                        <a:t>8</a:t>
                      </a:r>
                    </a:p>
                  </a:txBody>
                  <a:tcPr/>
                </a:tc>
                <a:tc>
                  <a:txBody>
                    <a:bodyPr/>
                    <a:lstStyle/>
                    <a:p>
                      <a:pPr marL="0" lvl="0" indent="0" algn="r">
                        <a:buNone/>
                      </a:pPr>
                      <a:r>
                        <a:t>12</a:t>
                      </a:r>
                    </a:p>
                  </a:txBody>
                  <a:tcPr/>
                </a:tc>
                <a:tc>
                  <a:txBody>
                    <a:bodyPr/>
                    <a:lstStyle/>
                    <a:p>
                      <a:pPr marL="0" lvl="0" indent="0" algn="r">
                        <a:buNone/>
                      </a:pPr>
                      <a:r>
                        <a:t>500</a:t>
                      </a:r>
                    </a:p>
                  </a:txBody>
                  <a:tcPr/>
                </a:tc>
                <a:extLst>
                  <a:ext uri="{0D108BD9-81ED-4DB2-BD59-A6C34878D82A}">
                    <a16:rowId xmlns:a16="http://schemas.microsoft.com/office/drawing/2014/main" val="10003"/>
                  </a:ext>
                </a:extLst>
              </a:tr>
              <a:tr h="0">
                <a:tc>
                  <a:txBody>
                    <a:bodyPr/>
                    <a:lstStyle/>
                    <a:p>
                      <a:pPr marL="0" lvl="0" indent="0" algn="r">
                        <a:buNone/>
                      </a:pPr>
                      <a:r>
                        <a:t>4</a:t>
                      </a:r>
                    </a:p>
                  </a:txBody>
                  <a:tcPr/>
                </a:tc>
                <a:tc>
                  <a:txBody>
                    <a:bodyPr/>
                    <a:lstStyle/>
                    <a:p>
                      <a:pPr marL="0" lvl="0" indent="0" algn="r">
                        <a:buNone/>
                      </a:pPr>
                      <a:r>
                        <a:t>8</a:t>
                      </a:r>
                    </a:p>
                  </a:txBody>
                  <a:tcPr/>
                </a:tc>
                <a:tc>
                  <a:txBody>
                    <a:bodyPr/>
                    <a:lstStyle/>
                    <a:p>
                      <a:pPr marL="0" lvl="0" indent="0" algn="r">
                        <a:buNone/>
                      </a:pPr>
                      <a:r>
                        <a:t>14</a:t>
                      </a:r>
                    </a:p>
                  </a:txBody>
                  <a:tcPr/>
                </a:tc>
                <a:tc>
                  <a:txBody>
                    <a:bodyPr/>
                    <a:lstStyle/>
                    <a:p>
                      <a:pPr marL="0" lvl="0" indent="0" algn="r">
                        <a:buNone/>
                      </a:pPr>
                      <a:r>
                        <a:t>500</a:t>
                      </a:r>
                    </a:p>
                  </a:txBody>
                  <a:tcPr/>
                </a:tc>
                <a:extLst>
                  <a:ext uri="{0D108BD9-81ED-4DB2-BD59-A6C34878D82A}">
                    <a16:rowId xmlns:a16="http://schemas.microsoft.com/office/drawing/2014/main" val="10004"/>
                  </a:ext>
                </a:extLst>
              </a:tr>
              <a:tr h="0">
                <a:tc>
                  <a:txBody>
                    <a:bodyPr/>
                    <a:lstStyle/>
                    <a:p>
                      <a:pPr marL="0" lvl="0" indent="0" algn="r">
                        <a:buNone/>
                      </a:pPr>
                      <a:r>
                        <a:t>5</a:t>
                      </a:r>
                    </a:p>
                  </a:txBody>
                  <a:tcPr/>
                </a:tc>
                <a:tc>
                  <a:txBody>
                    <a:bodyPr/>
                    <a:lstStyle/>
                    <a:p>
                      <a:pPr marL="0" lvl="0" indent="0" algn="r">
                        <a:buNone/>
                      </a:pPr>
                      <a:r>
                        <a:t>8</a:t>
                      </a:r>
                    </a:p>
                  </a:txBody>
                  <a:tcPr/>
                </a:tc>
                <a:tc>
                  <a:txBody>
                    <a:bodyPr/>
                    <a:lstStyle/>
                    <a:p>
                      <a:pPr marL="0" lvl="0" indent="0" algn="r">
                        <a:buNone/>
                      </a:pPr>
                      <a:r>
                        <a:t>16</a:t>
                      </a:r>
                    </a:p>
                  </a:txBody>
                  <a:tcPr/>
                </a:tc>
                <a:tc>
                  <a:txBody>
                    <a:bodyPr/>
                    <a:lstStyle/>
                    <a:p>
                      <a:pPr marL="0" lvl="0" indent="0" algn="r">
                        <a:buNone/>
                      </a:pPr>
                      <a:r>
                        <a:t>500</a:t>
                      </a:r>
                    </a:p>
                  </a:txBody>
                  <a:tcPr/>
                </a:tc>
                <a:extLst>
                  <a:ext uri="{0D108BD9-81ED-4DB2-BD59-A6C34878D82A}">
                    <a16:rowId xmlns:a16="http://schemas.microsoft.com/office/drawing/2014/main" val="10005"/>
                  </a:ext>
                </a:extLst>
              </a:tr>
              <a:tr h="0">
                <a:tc>
                  <a:txBody>
                    <a:bodyPr/>
                    <a:lstStyle/>
                    <a:p>
                      <a:pPr marL="0" lvl="0" indent="0" algn="r">
                        <a:buNone/>
                      </a:pPr>
                      <a:r>
                        <a:t>6</a:t>
                      </a:r>
                    </a:p>
                  </a:txBody>
                  <a:tcPr/>
                </a:tc>
                <a:tc>
                  <a:txBody>
                    <a:bodyPr/>
                    <a:lstStyle/>
                    <a:p>
                      <a:pPr marL="0" lvl="0" indent="0" algn="r">
                        <a:buNone/>
                      </a:pPr>
                      <a:r>
                        <a:t>8</a:t>
                      </a:r>
                    </a:p>
                  </a:txBody>
                  <a:tcPr/>
                </a:tc>
                <a:tc>
                  <a:txBody>
                    <a:bodyPr/>
                    <a:lstStyle/>
                    <a:p>
                      <a:pPr marL="0" lvl="0" indent="0" algn="r">
                        <a:buNone/>
                      </a:pPr>
                      <a:r>
                        <a:t>18</a:t>
                      </a:r>
                    </a:p>
                  </a:txBody>
                  <a:tcPr/>
                </a:tc>
                <a:tc>
                  <a:txBody>
                    <a:bodyPr/>
                    <a:lstStyle/>
                    <a:p>
                      <a:pPr marL="0" lvl="0" indent="0" algn="r">
                        <a:buNone/>
                      </a:pPr>
                      <a:r>
                        <a:t>550</a:t>
                      </a:r>
                    </a:p>
                  </a:txBody>
                  <a:tcPr/>
                </a:tc>
                <a:extLst>
                  <a:ext uri="{0D108BD9-81ED-4DB2-BD59-A6C34878D82A}">
                    <a16:rowId xmlns:a16="http://schemas.microsoft.com/office/drawing/2014/main" val="10006"/>
                  </a:ext>
                </a:extLst>
              </a:tr>
              <a:tr h="0">
                <a:tc>
                  <a:txBody>
                    <a:bodyPr/>
                    <a:lstStyle/>
                    <a:p>
                      <a:pPr marL="0" lvl="0" indent="0" algn="r">
                        <a:buNone/>
                      </a:pPr>
                      <a:r>
                        <a:t>7</a:t>
                      </a:r>
                    </a:p>
                  </a:txBody>
                  <a:tcPr/>
                </a:tc>
                <a:tc>
                  <a:txBody>
                    <a:bodyPr/>
                    <a:lstStyle/>
                    <a:p>
                      <a:pPr marL="0" lvl="0" indent="0" algn="r">
                        <a:buNone/>
                      </a:pPr>
                      <a:r>
                        <a:t>8</a:t>
                      </a:r>
                    </a:p>
                  </a:txBody>
                  <a:tcPr/>
                </a:tc>
                <a:tc>
                  <a:txBody>
                    <a:bodyPr/>
                    <a:lstStyle/>
                    <a:p>
                      <a:pPr marL="0" lvl="0" indent="0" algn="r">
                        <a:buNone/>
                      </a:pPr>
                      <a:r>
                        <a:t>20</a:t>
                      </a:r>
                    </a:p>
                  </a:txBody>
                  <a:tcPr/>
                </a:tc>
                <a:tc>
                  <a:txBody>
                    <a:bodyPr/>
                    <a:lstStyle/>
                    <a:p>
                      <a:pPr marL="0" lvl="0" indent="0" algn="r">
                        <a:buNone/>
                      </a:pPr>
                      <a:r>
                        <a:t>600</a:t>
                      </a:r>
                    </a:p>
                  </a:txBody>
                  <a:tcPr/>
                </a:tc>
                <a:extLst>
                  <a:ext uri="{0D108BD9-81ED-4DB2-BD59-A6C34878D82A}">
                    <a16:rowId xmlns:a16="http://schemas.microsoft.com/office/drawing/2014/main" val="10007"/>
                  </a:ext>
                </a:extLst>
              </a:tr>
              <a:tr h="0">
                <a:tc>
                  <a:txBody>
                    <a:bodyPr/>
                    <a:lstStyle/>
                    <a:p>
                      <a:pPr marL="0" lvl="0" indent="0" algn="r">
                        <a:buNone/>
                      </a:pPr>
                      <a:r>
                        <a:t>8</a:t>
                      </a:r>
                    </a:p>
                  </a:txBody>
                  <a:tcPr/>
                </a:tc>
                <a:tc>
                  <a:txBody>
                    <a:bodyPr/>
                    <a:lstStyle/>
                    <a:p>
                      <a:pPr marL="0" lvl="0" indent="0" algn="r">
                        <a:buNone/>
                      </a:pPr>
                      <a:r>
                        <a:t>8</a:t>
                      </a:r>
                    </a:p>
                  </a:txBody>
                  <a:tcPr/>
                </a:tc>
                <a:tc>
                  <a:txBody>
                    <a:bodyPr/>
                    <a:lstStyle/>
                    <a:p>
                      <a:pPr marL="0" lvl="0" indent="0" algn="r">
                        <a:buNone/>
                      </a:pPr>
                      <a:r>
                        <a:t>22</a:t>
                      </a:r>
                    </a:p>
                  </a:txBody>
                  <a:tcPr/>
                </a:tc>
                <a:tc>
                  <a:txBody>
                    <a:bodyPr/>
                    <a:lstStyle/>
                    <a:p>
                      <a:pPr marL="0" lvl="0" indent="0" algn="r">
                        <a:buNone/>
                      </a:pPr>
                      <a:r>
                        <a:t>700</a:t>
                      </a:r>
                    </a:p>
                  </a:txBody>
                  <a:tcPr/>
                </a:tc>
                <a:extLst>
                  <a:ext uri="{0D108BD9-81ED-4DB2-BD59-A6C34878D82A}">
                    <a16:rowId xmlns:a16="http://schemas.microsoft.com/office/drawing/2014/main" val="10008"/>
                  </a:ext>
                </a:extLst>
              </a:tr>
              <a:tr h="0">
                <a:tc>
                  <a:txBody>
                    <a:bodyPr/>
                    <a:lstStyle/>
                    <a:p>
                      <a:pPr marL="0" lvl="0" indent="0" algn="r">
                        <a:buNone/>
                      </a:pPr>
                      <a:r>
                        <a:t>9</a:t>
                      </a:r>
                    </a:p>
                  </a:txBody>
                  <a:tcPr/>
                </a:tc>
                <a:tc>
                  <a:txBody>
                    <a:bodyPr/>
                    <a:lstStyle/>
                    <a:p>
                      <a:pPr marL="0" lvl="0" indent="0" algn="r">
                        <a:buNone/>
                      </a:pPr>
                      <a:r>
                        <a:t>8</a:t>
                      </a:r>
                    </a:p>
                  </a:txBody>
                  <a:tcPr/>
                </a:tc>
                <a:tc>
                  <a:txBody>
                    <a:bodyPr/>
                    <a:lstStyle/>
                    <a:p>
                      <a:pPr marL="0" lvl="0" indent="0" algn="r">
                        <a:buNone/>
                      </a:pPr>
                      <a:r>
                        <a:t>24</a:t>
                      </a:r>
                    </a:p>
                  </a:txBody>
                  <a:tcPr/>
                </a:tc>
                <a:tc>
                  <a:txBody>
                    <a:bodyPr/>
                    <a:lstStyle/>
                    <a:p>
                      <a:pPr marL="0" lvl="0" indent="0" algn="r">
                        <a:buNone/>
                      </a:pPr>
                      <a:r>
                        <a:t>750</a:t>
                      </a:r>
                    </a:p>
                  </a:txBody>
                  <a:tcPr/>
                </a:tc>
                <a:extLst>
                  <a:ext uri="{0D108BD9-81ED-4DB2-BD59-A6C34878D82A}">
                    <a16:rowId xmlns:a16="http://schemas.microsoft.com/office/drawing/2014/main" val="10009"/>
                  </a:ext>
                </a:extLst>
              </a:tr>
              <a:tr h="0">
                <a:tc>
                  <a:txBody>
                    <a:bodyPr/>
                    <a:lstStyle/>
                    <a:p>
                      <a:pPr marL="0" lvl="0" indent="0" algn="r">
                        <a:buNone/>
                      </a:pPr>
                      <a:r>
                        <a:t>10</a:t>
                      </a:r>
                    </a:p>
                  </a:txBody>
                  <a:tcPr/>
                </a:tc>
                <a:tc>
                  <a:txBody>
                    <a:bodyPr/>
                    <a:lstStyle/>
                    <a:p>
                      <a:pPr marL="0" lvl="0" indent="0" algn="r">
                        <a:buNone/>
                      </a:pPr>
                      <a:r>
                        <a:t>8</a:t>
                      </a:r>
                    </a:p>
                  </a:txBody>
                  <a:tcPr/>
                </a:tc>
                <a:tc>
                  <a:txBody>
                    <a:bodyPr/>
                    <a:lstStyle/>
                    <a:p>
                      <a:pPr marL="0" lvl="0" indent="0" algn="r">
                        <a:buNone/>
                      </a:pPr>
                      <a:r>
                        <a:t>26</a:t>
                      </a:r>
                    </a:p>
                  </a:txBody>
                  <a:tcPr/>
                </a:tc>
                <a:tc>
                  <a:txBody>
                    <a:bodyPr/>
                    <a:lstStyle/>
                    <a:p>
                      <a:pPr marL="0" lvl="0" indent="0" algn="r">
                        <a:buNone/>
                      </a:pPr>
                      <a:r>
                        <a:t>750</a:t>
                      </a:r>
                    </a:p>
                  </a:txBody>
                  <a:tcPr/>
                </a:tc>
                <a:extLst>
                  <a:ext uri="{0D108BD9-81ED-4DB2-BD59-A6C34878D82A}">
                    <a16:rowId xmlns:a16="http://schemas.microsoft.com/office/drawing/2014/main" val="10010"/>
                  </a:ext>
                </a:extLst>
              </a:tr>
              <a:tr h="0">
                <a:tc>
                  <a:txBody>
                    <a:bodyPr/>
                    <a:lstStyle/>
                    <a:p>
                      <a:pPr marL="0" lvl="0" indent="0" algn="r">
                        <a:buNone/>
                      </a:pPr>
                      <a:r>
                        <a:t>11</a:t>
                      </a:r>
                    </a:p>
                  </a:txBody>
                  <a:tcPr/>
                </a:tc>
                <a:tc>
                  <a:txBody>
                    <a:bodyPr/>
                    <a:lstStyle/>
                    <a:p>
                      <a:pPr marL="0" lvl="0" indent="0" algn="r">
                        <a:buNone/>
                      </a:pPr>
                      <a:r>
                        <a:t>8</a:t>
                      </a:r>
                    </a:p>
                  </a:txBody>
                  <a:tcPr/>
                </a:tc>
                <a:tc>
                  <a:txBody>
                    <a:bodyPr/>
                    <a:lstStyle/>
                    <a:p>
                      <a:pPr marL="0" lvl="0" indent="0" algn="r">
                        <a:buNone/>
                      </a:pPr>
                      <a:r>
                        <a:t>28</a:t>
                      </a:r>
                    </a:p>
                  </a:txBody>
                  <a:tcPr/>
                </a:tc>
                <a:tc>
                  <a:txBody>
                    <a:bodyPr/>
                    <a:lstStyle/>
                    <a:p>
                      <a:pPr marL="0" lvl="0" indent="0" algn="r">
                        <a:buNone/>
                      </a:pPr>
                      <a:r>
                        <a:t>785</a:t>
                      </a:r>
                    </a:p>
                  </a:txBody>
                  <a:tcPr/>
                </a:tc>
                <a:extLst>
                  <a:ext uri="{0D108BD9-81ED-4DB2-BD59-A6C34878D82A}">
                    <a16:rowId xmlns:a16="http://schemas.microsoft.com/office/drawing/2014/main" val="10011"/>
                  </a:ext>
                </a:extLst>
              </a:tr>
              <a:tr h="0">
                <a:tc>
                  <a:txBody>
                    <a:bodyPr/>
                    <a:lstStyle/>
                    <a:p>
                      <a:pPr marL="0" lvl="0" indent="0" algn="r">
                        <a:buNone/>
                      </a:pPr>
                      <a:r>
                        <a:t>12</a:t>
                      </a:r>
                    </a:p>
                  </a:txBody>
                  <a:tcPr/>
                </a:tc>
                <a:tc>
                  <a:txBody>
                    <a:bodyPr/>
                    <a:lstStyle/>
                    <a:p>
                      <a:pPr marL="0" lvl="0" indent="0" algn="r">
                        <a:buNone/>
                      </a:pPr>
                      <a:r>
                        <a:t>8</a:t>
                      </a:r>
                    </a:p>
                  </a:txBody>
                  <a:tcPr/>
                </a:tc>
                <a:tc>
                  <a:txBody>
                    <a:bodyPr/>
                    <a:lstStyle/>
                    <a:p>
                      <a:pPr marL="0" lvl="0" indent="0" algn="r">
                        <a:buNone/>
                      </a:pPr>
                      <a:r>
                        <a:t>30</a:t>
                      </a:r>
                    </a:p>
                  </a:txBody>
                  <a:tcPr/>
                </a:tc>
                <a:tc>
                  <a:txBody>
                    <a:bodyPr/>
                    <a:lstStyle/>
                    <a:p>
                      <a:pPr marL="0" lvl="0" indent="0" algn="r">
                        <a:buNone/>
                      </a:pPr>
                      <a:r>
                        <a:rPr dirty="0"/>
                        <a:t>850</a:t>
                      </a:r>
                    </a:p>
                  </a:txBody>
                  <a:tcPr/>
                </a:tc>
                <a:extLst>
                  <a:ext uri="{0D108BD9-81ED-4DB2-BD59-A6C34878D82A}">
                    <a16:rowId xmlns:a16="http://schemas.microsoft.com/office/drawing/2014/main" val="10012"/>
                  </a:ext>
                </a:extLst>
              </a:tr>
            </a:tbl>
          </a:graphicData>
        </a:graphic>
      </p:graphicFrame>
      <mc:AlternateContent xmlns:mc="http://schemas.openxmlformats.org/markup-compatibility/2006">
        <mc:Choice xmlns:a14="http://schemas.microsoft.com/office/drawing/2010/main" Requires="a14">
          <p:sp>
            <p:nvSpPr>
              <p:cNvPr id="5" name="Text Placeholder 4">
                <a:extLst>
                  <a:ext uri="{FF2B5EF4-FFF2-40B4-BE49-F238E27FC236}">
                    <a16:creationId xmlns:a16="http://schemas.microsoft.com/office/drawing/2014/main" id="{FA093969-95B1-DCCB-7590-32DC494E4877}"/>
                  </a:ext>
                </a:extLst>
              </p:cNvPr>
              <p:cNvSpPr>
                <a:spLocks noGrp="1"/>
              </p:cNvSpPr>
              <p:nvPr>
                <p:ph type="body" sz="quarter" idx="3"/>
              </p:nvPr>
            </p:nvSpPr>
            <p:spPr>
              <a:xfrm>
                <a:off x="6184106" y="4262029"/>
                <a:ext cx="5183188" cy="823912"/>
              </a:xfrm>
            </p:spPr>
            <p:txBody>
              <a:bodyPr/>
              <a:lstStyle/>
              <a:p>
                <a:pPr lvl="0"/>
                <a:endParaRPr lang="pt-BR" dirty="0"/>
              </a:p>
              <a:p>
                <a:pPr lvl="0"/>
                <a:endParaRPr lang="pt-BR" dirty="0"/>
              </a:p>
              <a:p>
                <a:pPr lvl="0"/>
                <a:endParaRPr lang="pt-BR" dirty="0"/>
              </a:p>
              <a:p>
                <a:pPr lvl="0"/>
                <a:r>
                  <a:rPr lang="pt-BR" dirty="0" err="1"/>
                  <a:t>Avaliar</a:t>
                </a:r>
                <a:r>
                  <a:rPr lang="pt-BR" dirty="0"/>
                  <a:t> o </a:t>
                </a:r>
                <a:r>
                  <a:rPr lang="pt-BR" dirty="0" err="1"/>
                  <a:t>aluguel</a:t>
                </a:r>
                <a:r>
                  <a:rPr lang="pt-BR" dirty="0"/>
                  <a:t> de </a:t>
                </a:r>
                <a:r>
                  <a:rPr lang="pt-BR" dirty="0" err="1"/>
                  <a:t>uma</a:t>
                </a:r>
                <a:r>
                  <a:rPr lang="pt-BR" dirty="0"/>
                  <a:t> </a:t>
                </a:r>
                <a:r>
                  <a:rPr lang="pt-BR" dirty="0" err="1"/>
                  <a:t>loja</a:t>
                </a:r>
                <a:r>
                  <a:rPr lang="pt-BR" dirty="0"/>
                  <a:t> com </a:t>
                </a:r>
                <a:br>
                  <a:rPr lang="pt-BR" dirty="0"/>
                </a:br>
                <a:r>
                  <a:rPr lang="pt-BR" dirty="0"/>
                  <a:t>8 x 17,5</a:t>
                </a:r>
                <a14:m>
                  <m:oMath xmlns:m="http://schemas.openxmlformats.org/officeDocument/2006/math">
                    <m:sSup>
                      <m:sSupPr>
                        <m:ctrlPr>
                          <a:rPr lang="ar-AE">
                            <a:latin typeface="Cambria Math" panose="02040503050406030204" pitchFamily="18" charset="0"/>
                          </a:rPr>
                        </m:ctrlPr>
                      </m:sSupPr>
                      <m:e>
                        <m:r>
                          <a:rPr lang="ar-AE" b="1" i="0" smtClean="0">
                            <a:latin typeface="Cambria Math" panose="02040503050406030204" pitchFamily="18" charset="0"/>
                          </a:rPr>
                          <m:t> </m:t>
                        </m:r>
                        <m:r>
                          <a:rPr lang="ar-AE">
                            <a:latin typeface="Cambria Math" panose="02040503050406030204" pitchFamily="18" charset="0"/>
                          </a:rPr>
                          <m:t>𝑚</m:t>
                        </m:r>
                      </m:e>
                      <m:sup>
                        <m:r>
                          <a:rPr lang="ar-AE">
                            <a:latin typeface="Cambria Math" panose="02040503050406030204" pitchFamily="18" charset="0"/>
                          </a:rPr>
                          <m:t>2</m:t>
                        </m:r>
                      </m:sup>
                    </m:sSup>
                  </m:oMath>
                </a14:m>
                <a:endParaRPr lang="ar-AE" dirty="0"/>
              </a:p>
              <a:p>
                <a:pPr lvl="0"/>
                <a:endParaRPr lang="ar-AE" dirty="0"/>
              </a:p>
              <a:p>
                <a:pPr lvl="0"/>
                <a14:m>
                  <m:oMathPara xmlns:m="http://schemas.openxmlformats.org/officeDocument/2006/math">
                    <m:oMathParaPr>
                      <m:jc m:val="center"/>
                    </m:oMathParaPr>
                    <m:oMath xmlns:m="http://schemas.openxmlformats.org/officeDocument/2006/math">
                      <m:r>
                        <a:rPr lang="ar-AE">
                          <a:latin typeface="Cambria Math" panose="02040503050406030204" pitchFamily="18" charset="0"/>
                        </a:rPr>
                        <m:t>𝑉</m:t>
                      </m:r>
                      <m:sSub>
                        <m:sSubPr>
                          <m:ctrlPr>
                            <a:rPr lang="ar-AE" i="1">
                              <a:latin typeface="Cambria Math" panose="02040503050406030204" pitchFamily="18" charset="0"/>
                            </a:rPr>
                          </m:ctrlPr>
                        </m:sSubPr>
                        <m:e>
                          <m:r>
                            <a:rPr lang="ar-AE">
                              <a:latin typeface="Cambria Math" panose="02040503050406030204" pitchFamily="18" charset="0"/>
                            </a:rPr>
                            <m:t>𝑈</m:t>
                          </m:r>
                        </m:e>
                        <m:sub>
                          <m:r>
                            <a:rPr lang="ar-AE">
                              <a:latin typeface="Cambria Math" panose="02040503050406030204" pitchFamily="18" charset="0"/>
                            </a:rPr>
                            <m:t>h</m:t>
                          </m:r>
                          <m:r>
                            <a:rPr lang="ar-AE">
                              <a:latin typeface="Cambria Math" panose="02040503050406030204" pitchFamily="18" charset="0"/>
                            </a:rPr>
                            <m:t>𝑜𝑚</m:t>
                          </m:r>
                        </m:sub>
                      </m:sSub>
                      <m:r>
                        <a:rPr lang="ar-AE">
                          <a:latin typeface="Cambria Math" panose="02040503050406030204" pitchFamily="18" charset="0"/>
                        </a:rPr>
                        <m:t>=</m:t>
                      </m:r>
                      <m:f>
                        <m:fPr>
                          <m:ctrlPr>
                            <a:rPr lang="ar-AE" i="1">
                              <a:latin typeface="Cambria Math" panose="02040503050406030204" pitchFamily="18" charset="0"/>
                            </a:rPr>
                          </m:ctrlPr>
                        </m:fPr>
                        <m:num>
                          <m:r>
                            <a:rPr lang="ar-AE">
                              <a:latin typeface="Cambria Math" panose="02040503050406030204" pitchFamily="18" charset="0"/>
                            </a:rPr>
                            <m:t>𝑉𝑈</m:t>
                          </m:r>
                          <m:r>
                            <a:rPr lang="ar-AE">
                              <a:latin typeface="Cambria Math" panose="02040503050406030204" pitchFamily="18" charset="0"/>
                            </a:rPr>
                            <m:t>.</m:t>
                          </m:r>
                          <m:r>
                            <a:rPr lang="ar-AE">
                              <a:latin typeface="Cambria Math" panose="02040503050406030204" pitchFamily="18" charset="0"/>
                            </a:rPr>
                            <m:t>𝑆</m:t>
                          </m:r>
                        </m:num>
                        <m:den>
                          <m:rad>
                            <m:radPr>
                              <m:degHide m:val="on"/>
                              <m:ctrlPr>
                                <a:rPr lang="ar-AE" i="1">
                                  <a:latin typeface="Cambria Math" panose="02040503050406030204" pitchFamily="18" charset="0"/>
                                </a:rPr>
                              </m:ctrlPr>
                            </m:radPr>
                            <m:deg/>
                            <m:e>
                              <m:r>
                                <a:rPr lang="ar-AE">
                                  <a:latin typeface="Cambria Math" panose="02040503050406030204" pitchFamily="18" charset="0"/>
                                </a:rPr>
                                <m:t>𝑎</m:t>
                              </m:r>
                              <m:r>
                                <a:rPr lang="ar-AE">
                                  <a:latin typeface="Cambria Math" panose="02040503050406030204" pitchFamily="18" charset="0"/>
                                </a:rPr>
                                <m:t>.</m:t>
                              </m:r>
                              <m:r>
                                <a:rPr lang="ar-AE">
                                  <a:latin typeface="Cambria Math" panose="02040503050406030204" pitchFamily="18" charset="0"/>
                                </a:rPr>
                                <m:t>𝑆</m:t>
                              </m:r>
                              <m:r>
                                <a:rPr lang="ar-AE">
                                  <a:latin typeface="Cambria Math" panose="02040503050406030204" pitchFamily="18" charset="0"/>
                                </a:rPr>
                                <m:t>.</m:t>
                              </m:r>
                              <m:sSub>
                                <m:sSubPr>
                                  <m:ctrlPr>
                                    <a:rPr lang="ar-AE" i="1">
                                      <a:latin typeface="Cambria Math" panose="02040503050406030204" pitchFamily="18" charset="0"/>
                                    </a:rPr>
                                  </m:ctrlPr>
                                </m:sSubPr>
                                <m:e>
                                  <m:r>
                                    <a:rPr lang="ar-AE">
                                      <a:latin typeface="Cambria Math" panose="02040503050406030204" pitchFamily="18" charset="0"/>
                                    </a:rPr>
                                    <m:t>𝑓</m:t>
                                  </m:r>
                                </m:e>
                                <m:sub>
                                  <m:r>
                                    <a:rPr lang="ar-AE">
                                      <a:latin typeface="Cambria Math" panose="02040503050406030204" pitchFamily="18" charset="0"/>
                                    </a:rPr>
                                    <m:t>𝑝</m:t>
                                  </m:r>
                                </m:sub>
                              </m:sSub>
                              <m:r>
                                <a:rPr lang="ar-AE">
                                  <a:latin typeface="Cambria Math" panose="02040503050406030204" pitchFamily="18" charset="0"/>
                                </a:rPr>
                                <m:t>.</m:t>
                              </m:r>
                            </m:e>
                          </m:rad>
                        </m:den>
                      </m:f>
                    </m:oMath>
                  </m:oMathPara>
                </a14:m>
                <a:endParaRPr lang="ar-AE" dirty="0"/>
              </a:p>
              <a:p>
                <a:pPr lvl="0"/>
                <a:endParaRPr lang="ar-AE" dirty="0"/>
              </a:p>
              <a:p>
                <a:pPr lvl="0"/>
                <a14:m>
                  <m:oMathPara xmlns:m="http://schemas.openxmlformats.org/officeDocument/2006/math">
                    <m:oMathParaPr>
                      <m:jc m:val="center"/>
                    </m:oMathParaPr>
                    <m:oMath xmlns:m="http://schemas.openxmlformats.org/officeDocument/2006/math">
                      <m:r>
                        <a:rPr lang="ar-AE">
                          <a:latin typeface="Cambria Math" panose="02040503050406030204" pitchFamily="18" charset="0"/>
                        </a:rPr>
                        <m:t>𝑉</m:t>
                      </m:r>
                      <m:sSub>
                        <m:sSubPr>
                          <m:ctrlPr>
                            <a:rPr lang="ar-AE" i="1">
                              <a:latin typeface="Cambria Math" panose="02040503050406030204" pitchFamily="18" charset="0"/>
                            </a:rPr>
                          </m:ctrlPr>
                        </m:sSubPr>
                        <m:e>
                          <m:r>
                            <a:rPr lang="ar-AE">
                              <a:latin typeface="Cambria Math" panose="02040503050406030204" pitchFamily="18" charset="0"/>
                            </a:rPr>
                            <m:t>𝑈</m:t>
                          </m:r>
                        </m:e>
                        <m:sub>
                          <m:r>
                            <a:rPr lang="ar-AE">
                              <a:latin typeface="Cambria Math" panose="02040503050406030204" pitchFamily="18" charset="0"/>
                            </a:rPr>
                            <m:t>h</m:t>
                          </m:r>
                          <m:r>
                            <a:rPr lang="ar-AE">
                              <a:latin typeface="Cambria Math" panose="02040503050406030204" pitchFamily="18" charset="0"/>
                            </a:rPr>
                            <m:t>𝑜𝑚</m:t>
                          </m:r>
                        </m:sub>
                      </m:sSub>
                      <m:r>
                        <a:rPr lang="ar-AE">
                          <a:latin typeface="Cambria Math" panose="02040503050406030204" pitchFamily="18" charset="0"/>
                        </a:rPr>
                        <m:t>=</m:t>
                      </m:r>
                      <m:f>
                        <m:fPr>
                          <m:ctrlPr>
                            <a:rPr lang="ar-AE" i="1">
                              <a:latin typeface="Cambria Math" panose="02040503050406030204" pitchFamily="18" charset="0"/>
                            </a:rPr>
                          </m:ctrlPr>
                        </m:fPr>
                        <m:num>
                          <m:r>
                            <a:rPr lang="ar-AE">
                              <a:latin typeface="Cambria Math" panose="02040503050406030204" pitchFamily="18" charset="0"/>
                            </a:rPr>
                            <m:t>𝑉𝑈</m:t>
                          </m:r>
                          <m:r>
                            <a:rPr lang="ar-AE">
                              <a:latin typeface="Cambria Math" panose="02040503050406030204" pitchFamily="18" charset="0"/>
                            </a:rPr>
                            <m:t>.</m:t>
                          </m:r>
                          <m:r>
                            <a:rPr lang="ar-AE">
                              <a:latin typeface="Cambria Math" panose="02040503050406030204" pitchFamily="18" charset="0"/>
                            </a:rPr>
                            <m:t>𝑆</m:t>
                          </m:r>
                        </m:num>
                        <m:den>
                          <m:rad>
                            <m:radPr>
                              <m:degHide m:val="on"/>
                              <m:ctrlPr>
                                <a:rPr lang="ar-AE" i="1">
                                  <a:latin typeface="Cambria Math" panose="02040503050406030204" pitchFamily="18" charset="0"/>
                                </a:rPr>
                              </m:ctrlPr>
                            </m:radPr>
                            <m:deg/>
                            <m:e>
                              <m:r>
                                <a:rPr lang="ar-AE">
                                  <a:latin typeface="Cambria Math" panose="02040503050406030204" pitchFamily="18" charset="0"/>
                                </a:rPr>
                                <m:t>8</m:t>
                              </m:r>
                              <m:r>
                                <a:rPr lang="ar-AE">
                                  <a:latin typeface="Cambria Math" panose="02040503050406030204" pitchFamily="18" charset="0"/>
                                </a:rPr>
                                <m:t>.</m:t>
                              </m:r>
                              <m:r>
                                <a:rPr lang="ar-AE">
                                  <a:latin typeface="Cambria Math" panose="02040503050406030204" pitchFamily="18" charset="0"/>
                                </a:rPr>
                                <m:t>𝑆</m:t>
                              </m:r>
                              <m:r>
                                <a:rPr lang="ar-AE">
                                  <a:latin typeface="Cambria Math" panose="02040503050406030204" pitchFamily="18" charset="0"/>
                                </a:rPr>
                                <m:t>.</m:t>
                              </m:r>
                              <m:r>
                                <a:rPr lang="ar-AE">
                                  <a:latin typeface="Cambria Math" panose="02040503050406030204" pitchFamily="18" charset="0"/>
                                </a:rPr>
                                <m:t>20</m:t>
                              </m:r>
                            </m:e>
                          </m:rad>
                        </m:den>
                      </m:f>
                    </m:oMath>
                  </m:oMathPara>
                </a14:m>
                <a:endParaRPr dirty="0"/>
              </a:p>
            </p:txBody>
          </p:sp>
        </mc:Choice>
        <mc:Fallback>
          <p:sp>
            <p:nvSpPr>
              <p:cNvPr id="5" name="Text Placeholder 4">
                <a:extLst>
                  <a:ext uri="{FF2B5EF4-FFF2-40B4-BE49-F238E27FC236}">
                    <a16:creationId xmlns:a16="http://schemas.microsoft.com/office/drawing/2014/main" id="{FA093969-95B1-DCCB-7590-32DC494E4877}"/>
                  </a:ext>
                </a:extLst>
              </p:cNvPr>
              <p:cNvSpPr>
                <a:spLocks noGrp="1" noRot="1" noChangeAspect="1" noMove="1" noResize="1" noEditPoints="1" noAdjustHandles="1" noChangeArrowheads="1" noChangeShapeType="1" noTextEdit="1"/>
              </p:cNvSpPr>
              <p:nvPr>
                <p:ph type="body" sz="quarter" idx="3"/>
              </p:nvPr>
            </p:nvSpPr>
            <p:spPr>
              <a:xfrm>
                <a:off x="6184106" y="4262029"/>
                <a:ext cx="5183188" cy="823912"/>
              </a:xfrm>
              <a:blipFill>
                <a:blip r:embed="rId2"/>
                <a:stretch>
                  <a:fillRect l="-2350" t="-344444"/>
                </a:stretch>
              </a:blipFill>
            </p:spPr>
            <p:txBody>
              <a:bodyPr/>
              <a:lstStyle/>
              <a:p>
                <a:r>
                  <a:rPr lang="pt-BR">
                    <a:noFill/>
                  </a:rPr>
                  <a:t> </a:t>
                </a:r>
              </a:p>
            </p:txBody>
          </p:sp>
        </mc:Fallback>
      </mc:AlternateContent>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DDFEA84-1946-DBE6-D247-7CA7EE7314A2}"/>
              </a:ext>
            </a:extLst>
          </p:cNvPr>
          <p:cNvSpPr>
            <a:spLocks noGrp="1"/>
          </p:cNvSpPr>
          <p:nvPr>
            <p:ph type="body" idx="1"/>
          </p:nvPr>
        </p:nvSpPr>
        <p:spPr>
          <a:xfrm>
            <a:off x="912811" y="979713"/>
            <a:ext cx="5183189" cy="600075"/>
          </a:xfrm>
        </p:spPr>
        <p:txBody>
          <a:bodyPr/>
          <a:lstStyle/>
          <a:p>
            <a:pPr lvl="0"/>
            <a:r>
              <a:rPr dirty="0" err="1"/>
              <a:t>Homogeneização</a:t>
            </a:r>
            <a:r>
              <a:rPr dirty="0"/>
              <a:t>:</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790173230"/>
              </p:ext>
            </p:extLst>
          </p:nvPr>
        </p:nvGraphicFramePr>
        <p:xfrm>
          <a:off x="836612" y="1671638"/>
          <a:ext cx="5080000" cy="5029200"/>
        </p:xfrm>
        <a:graphic>
          <a:graphicData uri="http://schemas.openxmlformats.org/drawingml/2006/table">
            <a:tbl>
              <a:tblPr firstRow="1" bandRow="1">
                <a:tableStyleId>{5C22544A-7EE6-4342-B048-85BDC9FD1C3A}</a:tableStyleId>
              </a:tblPr>
              <a:tblGrid>
                <a:gridCol w="635000">
                  <a:extLst>
                    <a:ext uri="{9D8B030D-6E8A-4147-A177-3AD203B41FA5}">
                      <a16:colId xmlns:a16="http://schemas.microsoft.com/office/drawing/2014/main" val="20000"/>
                    </a:ext>
                  </a:extLst>
                </a:gridCol>
                <a:gridCol w="635000">
                  <a:extLst>
                    <a:ext uri="{9D8B030D-6E8A-4147-A177-3AD203B41FA5}">
                      <a16:colId xmlns:a16="http://schemas.microsoft.com/office/drawing/2014/main" val="20001"/>
                    </a:ext>
                  </a:extLst>
                </a:gridCol>
                <a:gridCol w="635000">
                  <a:extLst>
                    <a:ext uri="{9D8B030D-6E8A-4147-A177-3AD203B41FA5}">
                      <a16:colId xmlns:a16="http://schemas.microsoft.com/office/drawing/2014/main" val="20002"/>
                    </a:ext>
                  </a:extLst>
                </a:gridCol>
                <a:gridCol w="635000">
                  <a:extLst>
                    <a:ext uri="{9D8B030D-6E8A-4147-A177-3AD203B41FA5}">
                      <a16:colId xmlns:a16="http://schemas.microsoft.com/office/drawing/2014/main" val="20003"/>
                    </a:ext>
                  </a:extLst>
                </a:gridCol>
                <a:gridCol w="635000">
                  <a:extLst>
                    <a:ext uri="{9D8B030D-6E8A-4147-A177-3AD203B41FA5}">
                      <a16:colId xmlns:a16="http://schemas.microsoft.com/office/drawing/2014/main" val="20004"/>
                    </a:ext>
                  </a:extLst>
                </a:gridCol>
                <a:gridCol w="635000">
                  <a:extLst>
                    <a:ext uri="{9D8B030D-6E8A-4147-A177-3AD203B41FA5}">
                      <a16:colId xmlns:a16="http://schemas.microsoft.com/office/drawing/2014/main" val="20005"/>
                    </a:ext>
                  </a:extLst>
                </a:gridCol>
                <a:gridCol w="635000">
                  <a:extLst>
                    <a:ext uri="{9D8B030D-6E8A-4147-A177-3AD203B41FA5}">
                      <a16:colId xmlns:a16="http://schemas.microsoft.com/office/drawing/2014/main" val="20006"/>
                    </a:ext>
                  </a:extLst>
                </a:gridCol>
                <a:gridCol w="635000">
                  <a:extLst>
                    <a:ext uri="{9D8B030D-6E8A-4147-A177-3AD203B41FA5}">
                      <a16:colId xmlns:a16="http://schemas.microsoft.com/office/drawing/2014/main" val="20007"/>
                    </a:ext>
                  </a:extLst>
                </a:gridCol>
              </a:tblGrid>
              <a:tr h="0">
                <a:tc>
                  <a:txBody>
                    <a:bodyPr/>
                    <a:lstStyle/>
                    <a:p>
                      <a:pPr marL="0" lvl="0" indent="0" algn="r">
                        <a:buNone/>
                      </a:pPr>
                      <a:r>
                        <a:t>Id</a:t>
                      </a:r>
                    </a:p>
                  </a:txBody>
                  <a:tcPr/>
                </a:tc>
                <a:tc>
                  <a:txBody>
                    <a:bodyPr/>
                    <a:lstStyle/>
                    <a:p>
                      <a:pPr marL="0" lvl="0" indent="0" algn="r">
                        <a:buNone/>
                      </a:pPr>
                      <a:r>
                        <a:t>Frente</a:t>
                      </a:r>
                    </a:p>
                  </a:txBody>
                  <a:tcPr/>
                </a:tc>
                <a:tc>
                  <a:txBody>
                    <a:bodyPr/>
                    <a:lstStyle/>
                    <a:p>
                      <a:pPr marL="0" lvl="0" indent="0" algn="r">
                        <a:buNone/>
                      </a:pPr>
                      <a:r>
                        <a:t>Prof</a:t>
                      </a:r>
                    </a:p>
                  </a:txBody>
                  <a:tcPr/>
                </a:tc>
                <a:tc>
                  <a:txBody>
                    <a:bodyPr/>
                    <a:lstStyle/>
                    <a:p>
                      <a:pPr marL="0" lvl="0" indent="0" algn="r">
                        <a:buNone/>
                      </a:pPr>
                      <a:r>
                        <a:rPr dirty="0" err="1"/>
                        <a:t>Vl</a:t>
                      </a:r>
                      <a:endParaRPr dirty="0"/>
                    </a:p>
                  </a:txBody>
                  <a:tcPr/>
                </a:tc>
                <a:tc>
                  <a:txBody>
                    <a:bodyPr/>
                    <a:lstStyle/>
                    <a:p>
                      <a:pPr marL="0" lvl="0" indent="0" algn="r">
                        <a:buNone/>
                      </a:pPr>
                      <a:r>
                        <a:t>Area</a:t>
                      </a:r>
                    </a:p>
                  </a:txBody>
                  <a:tcPr/>
                </a:tc>
                <a:tc>
                  <a:txBody>
                    <a:bodyPr/>
                    <a:lstStyle/>
                    <a:p>
                      <a:pPr marL="0" lvl="0" indent="0" algn="r">
                        <a:buNone/>
                      </a:pPr>
                      <a:r>
                        <a:t>VU</a:t>
                      </a:r>
                    </a:p>
                  </a:txBody>
                  <a:tcPr/>
                </a:tc>
                <a:tc>
                  <a:txBody>
                    <a:bodyPr/>
                    <a:lstStyle/>
                    <a:p>
                      <a:pPr marL="0" lvl="0" indent="0" algn="r">
                        <a:buNone/>
                      </a:pPr>
                      <a:r>
                        <a:t>Harper</a:t>
                      </a:r>
                    </a:p>
                  </a:txBody>
                  <a:tcPr/>
                </a:tc>
                <a:tc>
                  <a:txBody>
                    <a:bodyPr/>
                    <a:lstStyle/>
                    <a:p>
                      <a:pPr marL="0" lvl="0" indent="0" algn="r">
                        <a:buNone/>
                      </a:pPr>
                      <a:r>
                        <a:t>VUhom</a:t>
                      </a:r>
                    </a:p>
                  </a:txBody>
                  <a:tcPr/>
                </a:tc>
                <a:extLst>
                  <a:ext uri="{0D108BD9-81ED-4DB2-BD59-A6C34878D82A}">
                    <a16:rowId xmlns:a16="http://schemas.microsoft.com/office/drawing/2014/main" val="10000"/>
                  </a:ext>
                </a:extLst>
              </a:tr>
              <a:tr h="0">
                <a:tc>
                  <a:txBody>
                    <a:bodyPr/>
                    <a:lstStyle/>
                    <a:p>
                      <a:pPr marL="0" lvl="0" indent="0" algn="r">
                        <a:buNone/>
                      </a:pPr>
                      <a:r>
                        <a:t>1</a:t>
                      </a:r>
                    </a:p>
                  </a:txBody>
                  <a:tcPr/>
                </a:tc>
                <a:tc>
                  <a:txBody>
                    <a:bodyPr/>
                    <a:lstStyle/>
                    <a:p>
                      <a:pPr marL="0" lvl="0" indent="0" algn="r">
                        <a:buNone/>
                      </a:pPr>
                      <a:r>
                        <a:t>8</a:t>
                      </a:r>
                    </a:p>
                  </a:txBody>
                  <a:tcPr/>
                </a:tc>
                <a:tc>
                  <a:txBody>
                    <a:bodyPr/>
                    <a:lstStyle/>
                    <a:p>
                      <a:pPr marL="0" lvl="0" indent="0" algn="r">
                        <a:buNone/>
                      </a:pPr>
                      <a:r>
                        <a:t>8</a:t>
                      </a:r>
                    </a:p>
                  </a:txBody>
                  <a:tcPr/>
                </a:tc>
                <a:tc>
                  <a:txBody>
                    <a:bodyPr/>
                    <a:lstStyle/>
                    <a:p>
                      <a:pPr marL="0" lvl="0" indent="0" algn="r">
                        <a:buNone/>
                      </a:pPr>
                      <a:r>
                        <a:t>450</a:t>
                      </a:r>
                    </a:p>
                  </a:txBody>
                  <a:tcPr/>
                </a:tc>
                <a:tc>
                  <a:txBody>
                    <a:bodyPr/>
                    <a:lstStyle/>
                    <a:p>
                      <a:pPr marL="0" lvl="0" indent="0" algn="r">
                        <a:buNone/>
                      </a:pPr>
                      <a:r>
                        <a:t>64</a:t>
                      </a:r>
                    </a:p>
                  </a:txBody>
                  <a:tcPr/>
                </a:tc>
                <a:tc>
                  <a:txBody>
                    <a:bodyPr/>
                    <a:lstStyle/>
                    <a:p>
                      <a:pPr marL="0" lvl="0" indent="0" algn="r">
                        <a:buNone/>
                      </a:pPr>
                      <a:r>
                        <a:t>7,03</a:t>
                      </a:r>
                    </a:p>
                  </a:txBody>
                  <a:tcPr/>
                </a:tc>
                <a:tc>
                  <a:txBody>
                    <a:bodyPr/>
                    <a:lstStyle/>
                    <a:p>
                      <a:pPr marL="0" lvl="0" indent="0" algn="r">
                        <a:buNone/>
                      </a:pPr>
                      <a:r>
                        <a:t>0,63</a:t>
                      </a:r>
                    </a:p>
                  </a:txBody>
                  <a:tcPr/>
                </a:tc>
                <a:tc>
                  <a:txBody>
                    <a:bodyPr/>
                    <a:lstStyle/>
                    <a:p>
                      <a:pPr marL="0" lvl="0" indent="0" algn="r">
                        <a:buNone/>
                      </a:pPr>
                      <a:r>
                        <a:t>4,45</a:t>
                      </a:r>
                    </a:p>
                  </a:txBody>
                  <a:tcPr/>
                </a:tc>
                <a:extLst>
                  <a:ext uri="{0D108BD9-81ED-4DB2-BD59-A6C34878D82A}">
                    <a16:rowId xmlns:a16="http://schemas.microsoft.com/office/drawing/2014/main" val="10001"/>
                  </a:ext>
                </a:extLst>
              </a:tr>
              <a:tr h="0">
                <a:tc>
                  <a:txBody>
                    <a:bodyPr/>
                    <a:lstStyle/>
                    <a:p>
                      <a:pPr marL="0" lvl="0" indent="0" algn="r">
                        <a:buNone/>
                      </a:pPr>
                      <a:r>
                        <a:t>2</a:t>
                      </a:r>
                    </a:p>
                  </a:txBody>
                  <a:tcPr/>
                </a:tc>
                <a:tc>
                  <a:txBody>
                    <a:bodyPr/>
                    <a:lstStyle/>
                    <a:p>
                      <a:pPr marL="0" lvl="0" indent="0" algn="r">
                        <a:buNone/>
                      </a:pPr>
                      <a:r>
                        <a:t>8</a:t>
                      </a:r>
                    </a:p>
                  </a:txBody>
                  <a:tcPr/>
                </a:tc>
                <a:tc>
                  <a:txBody>
                    <a:bodyPr/>
                    <a:lstStyle/>
                    <a:p>
                      <a:pPr marL="0" lvl="0" indent="0" algn="r">
                        <a:buNone/>
                      </a:pPr>
                      <a:r>
                        <a:t>10</a:t>
                      </a:r>
                    </a:p>
                  </a:txBody>
                  <a:tcPr/>
                </a:tc>
                <a:tc>
                  <a:txBody>
                    <a:bodyPr/>
                    <a:lstStyle/>
                    <a:p>
                      <a:pPr marL="0" lvl="0" indent="0" algn="r">
                        <a:buNone/>
                      </a:pPr>
                      <a:r>
                        <a:t>450</a:t>
                      </a:r>
                    </a:p>
                  </a:txBody>
                  <a:tcPr/>
                </a:tc>
                <a:tc>
                  <a:txBody>
                    <a:bodyPr/>
                    <a:lstStyle/>
                    <a:p>
                      <a:pPr marL="0" lvl="0" indent="0" algn="r">
                        <a:buNone/>
                      </a:pPr>
                      <a:r>
                        <a:t>80</a:t>
                      </a:r>
                    </a:p>
                  </a:txBody>
                  <a:tcPr/>
                </a:tc>
                <a:tc>
                  <a:txBody>
                    <a:bodyPr/>
                    <a:lstStyle/>
                    <a:p>
                      <a:pPr marL="0" lvl="0" indent="0" algn="r">
                        <a:buNone/>
                      </a:pPr>
                      <a:r>
                        <a:t>5,62</a:t>
                      </a:r>
                    </a:p>
                  </a:txBody>
                  <a:tcPr/>
                </a:tc>
                <a:tc>
                  <a:txBody>
                    <a:bodyPr/>
                    <a:lstStyle/>
                    <a:p>
                      <a:pPr marL="0" lvl="0" indent="0" algn="r">
                        <a:buNone/>
                      </a:pPr>
                      <a:r>
                        <a:t>0,71</a:t>
                      </a:r>
                    </a:p>
                  </a:txBody>
                  <a:tcPr/>
                </a:tc>
                <a:tc>
                  <a:txBody>
                    <a:bodyPr/>
                    <a:lstStyle/>
                    <a:p>
                      <a:pPr marL="0" lvl="0" indent="0" algn="r">
                        <a:buNone/>
                      </a:pPr>
                      <a:r>
                        <a:t>3,98</a:t>
                      </a:r>
                    </a:p>
                  </a:txBody>
                  <a:tcPr/>
                </a:tc>
                <a:extLst>
                  <a:ext uri="{0D108BD9-81ED-4DB2-BD59-A6C34878D82A}">
                    <a16:rowId xmlns:a16="http://schemas.microsoft.com/office/drawing/2014/main" val="10002"/>
                  </a:ext>
                </a:extLst>
              </a:tr>
              <a:tr h="0">
                <a:tc>
                  <a:txBody>
                    <a:bodyPr/>
                    <a:lstStyle/>
                    <a:p>
                      <a:pPr marL="0" lvl="0" indent="0" algn="r">
                        <a:buNone/>
                      </a:pPr>
                      <a:r>
                        <a:t>3</a:t>
                      </a:r>
                    </a:p>
                  </a:txBody>
                  <a:tcPr/>
                </a:tc>
                <a:tc>
                  <a:txBody>
                    <a:bodyPr/>
                    <a:lstStyle/>
                    <a:p>
                      <a:pPr marL="0" lvl="0" indent="0" algn="r">
                        <a:buNone/>
                      </a:pPr>
                      <a:r>
                        <a:t>8</a:t>
                      </a:r>
                    </a:p>
                  </a:txBody>
                  <a:tcPr/>
                </a:tc>
                <a:tc>
                  <a:txBody>
                    <a:bodyPr/>
                    <a:lstStyle/>
                    <a:p>
                      <a:pPr marL="0" lvl="0" indent="0" algn="r">
                        <a:buNone/>
                      </a:pPr>
                      <a:r>
                        <a:t>12</a:t>
                      </a:r>
                    </a:p>
                  </a:txBody>
                  <a:tcPr/>
                </a:tc>
                <a:tc>
                  <a:txBody>
                    <a:bodyPr/>
                    <a:lstStyle/>
                    <a:p>
                      <a:pPr marL="0" lvl="0" indent="0" algn="r">
                        <a:buNone/>
                      </a:pPr>
                      <a:r>
                        <a:t>500</a:t>
                      </a:r>
                    </a:p>
                  </a:txBody>
                  <a:tcPr/>
                </a:tc>
                <a:tc>
                  <a:txBody>
                    <a:bodyPr/>
                    <a:lstStyle/>
                    <a:p>
                      <a:pPr marL="0" lvl="0" indent="0" algn="r">
                        <a:buNone/>
                      </a:pPr>
                      <a:r>
                        <a:t>96</a:t>
                      </a:r>
                    </a:p>
                  </a:txBody>
                  <a:tcPr/>
                </a:tc>
                <a:tc>
                  <a:txBody>
                    <a:bodyPr/>
                    <a:lstStyle/>
                    <a:p>
                      <a:pPr marL="0" lvl="0" indent="0" algn="r">
                        <a:buNone/>
                      </a:pPr>
                      <a:r>
                        <a:t>5,21</a:t>
                      </a:r>
                    </a:p>
                  </a:txBody>
                  <a:tcPr/>
                </a:tc>
                <a:tc>
                  <a:txBody>
                    <a:bodyPr/>
                    <a:lstStyle/>
                    <a:p>
                      <a:pPr marL="0" lvl="0" indent="0" algn="r">
                        <a:buNone/>
                      </a:pPr>
                      <a:r>
                        <a:t>0,77</a:t>
                      </a:r>
                    </a:p>
                  </a:txBody>
                  <a:tcPr/>
                </a:tc>
                <a:tc>
                  <a:txBody>
                    <a:bodyPr/>
                    <a:lstStyle/>
                    <a:p>
                      <a:pPr marL="0" lvl="0" indent="0" algn="r">
                        <a:buNone/>
                      </a:pPr>
                      <a:r>
                        <a:t>4,03</a:t>
                      </a:r>
                    </a:p>
                  </a:txBody>
                  <a:tcPr/>
                </a:tc>
                <a:extLst>
                  <a:ext uri="{0D108BD9-81ED-4DB2-BD59-A6C34878D82A}">
                    <a16:rowId xmlns:a16="http://schemas.microsoft.com/office/drawing/2014/main" val="10003"/>
                  </a:ext>
                </a:extLst>
              </a:tr>
              <a:tr h="0">
                <a:tc>
                  <a:txBody>
                    <a:bodyPr/>
                    <a:lstStyle/>
                    <a:p>
                      <a:pPr marL="0" lvl="0" indent="0" algn="r">
                        <a:buNone/>
                      </a:pPr>
                      <a:r>
                        <a:t>4</a:t>
                      </a:r>
                    </a:p>
                  </a:txBody>
                  <a:tcPr/>
                </a:tc>
                <a:tc>
                  <a:txBody>
                    <a:bodyPr/>
                    <a:lstStyle/>
                    <a:p>
                      <a:pPr marL="0" lvl="0" indent="0" algn="r">
                        <a:buNone/>
                      </a:pPr>
                      <a:r>
                        <a:t>8</a:t>
                      </a:r>
                    </a:p>
                  </a:txBody>
                  <a:tcPr/>
                </a:tc>
                <a:tc>
                  <a:txBody>
                    <a:bodyPr/>
                    <a:lstStyle/>
                    <a:p>
                      <a:pPr marL="0" lvl="0" indent="0" algn="r">
                        <a:buNone/>
                      </a:pPr>
                      <a:r>
                        <a:t>14</a:t>
                      </a:r>
                    </a:p>
                  </a:txBody>
                  <a:tcPr/>
                </a:tc>
                <a:tc>
                  <a:txBody>
                    <a:bodyPr/>
                    <a:lstStyle/>
                    <a:p>
                      <a:pPr marL="0" lvl="0" indent="0" algn="r">
                        <a:buNone/>
                      </a:pPr>
                      <a:r>
                        <a:t>500</a:t>
                      </a:r>
                    </a:p>
                  </a:txBody>
                  <a:tcPr/>
                </a:tc>
                <a:tc>
                  <a:txBody>
                    <a:bodyPr/>
                    <a:lstStyle/>
                    <a:p>
                      <a:pPr marL="0" lvl="0" indent="0" algn="r">
                        <a:buNone/>
                      </a:pPr>
                      <a:r>
                        <a:t>112</a:t>
                      </a:r>
                    </a:p>
                  </a:txBody>
                  <a:tcPr/>
                </a:tc>
                <a:tc>
                  <a:txBody>
                    <a:bodyPr/>
                    <a:lstStyle/>
                    <a:p>
                      <a:pPr marL="0" lvl="0" indent="0" algn="r">
                        <a:buNone/>
                      </a:pPr>
                      <a:r>
                        <a:t>4,46</a:t>
                      </a:r>
                    </a:p>
                  </a:txBody>
                  <a:tcPr/>
                </a:tc>
                <a:tc>
                  <a:txBody>
                    <a:bodyPr/>
                    <a:lstStyle/>
                    <a:p>
                      <a:pPr marL="0" lvl="0" indent="0" algn="r">
                        <a:buNone/>
                      </a:pPr>
                      <a:r>
                        <a:t>0,84</a:t>
                      </a:r>
                    </a:p>
                  </a:txBody>
                  <a:tcPr/>
                </a:tc>
                <a:tc>
                  <a:txBody>
                    <a:bodyPr/>
                    <a:lstStyle/>
                    <a:p>
                      <a:pPr marL="0" lvl="0" indent="0" algn="r">
                        <a:buNone/>
                      </a:pPr>
                      <a:r>
                        <a:t>3,74</a:t>
                      </a:r>
                    </a:p>
                  </a:txBody>
                  <a:tcPr/>
                </a:tc>
                <a:extLst>
                  <a:ext uri="{0D108BD9-81ED-4DB2-BD59-A6C34878D82A}">
                    <a16:rowId xmlns:a16="http://schemas.microsoft.com/office/drawing/2014/main" val="10004"/>
                  </a:ext>
                </a:extLst>
              </a:tr>
              <a:tr h="0">
                <a:tc>
                  <a:txBody>
                    <a:bodyPr/>
                    <a:lstStyle/>
                    <a:p>
                      <a:pPr marL="0" lvl="0" indent="0" algn="r">
                        <a:buNone/>
                      </a:pPr>
                      <a:r>
                        <a:t>5</a:t>
                      </a:r>
                    </a:p>
                  </a:txBody>
                  <a:tcPr/>
                </a:tc>
                <a:tc>
                  <a:txBody>
                    <a:bodyPr/>
                    <a:lstStyle/>
                    <a:p>
                      <a:pPr marL="0" lvl="0" indent="0" algn="r">
                        <a:buNone/>
                      </a:pPr>
                      <a:r>
                        <a:t>8</a:t>
                      </a:r>
                    </a:p>
                  </a:txBody>
                  <a:tcPr/>
                </a:tc>
                <a:tc>
                  <a:txBody>
                    <a:bodyPr/>
                    <a:lstStyle/>
                    <a:p>
                      <a:pPr marL="0" lvl="0" indent="0" algn="r">
                        <a:buNone/>
                      </a:pPr>
                      <a:r>
                        <a:t>16</a:t>
                      </a:r>
                    </a:p>
                  </a:txBody>
                  <a:tcPr/>
                </a:tc>
                <a:tc>
                  <a:txBody>
                    <a:bodyPr/>
                    <a:lstStyle/>
                    <a:p>
                      <a:pPr marL="0" lvl="0" indent="0" algn="r">
                        <a:buNone/>
                      </a:pPr>
                      <a:r>
                        <a:t>500</a:t>
                      </a:r>
                    </a:p>
                  </a:txBody>
                  <a:tcPr/>
                </a:tc>
                <a:tc>
                  <a:txBody>
                    <a:bodyPr/>
                    <a:lstStyle/>
                    <a:p>
                      <a:pPr marL="0" lvl="0" indent="0" algn="r">
                        <a:buNone/>
                      </a:pPr>
                      <a:r>
                        <a:t>128</a:t>
                      </a:r>
                    </a:p>
                  </a:txBody>
                  <a:tcPr/>
                </a:tc>
                <a:tc>
                  <a:txBody>
                    <a:bodyPr/>
                    <a:lstStyle/>
                    <a:p>
                      <a:pPr marL="0" lvl="0" indent="0" algn="r">
                        <a:buNone/>
                      </a:pPr>
                      <a:r>
                        <a:t>3,91</a:t>
                      </a:r>
                    </a:p>
                  </a:txBody>
                  <a:tcPr/>
                </a:tc>
                <a:tc>
                  <a:txBody>
                    <a:bodyPr/>
                    <a:lstStyle/>
                    <a:p>
                      <a:pPr marL="0" lvl="0" indent="0" algn="r">
                        <a:buNone/>
                      </a:pPr>
                      <a:r>
                        <a:t>0,89</a:t>
                      </a:r>
                    </a:p>
                  </a:txBody>
                  <a:tcPr/>
                </a:tc>
                <a:tc>
                  <a:txBody>
                    <a:bodyPr/>
                    <a:lstStyle/>
                    <a:p>
                      <a:pPr marL="0" lvl="0" indent="0" algn="r">
                        <a:buNone/>
                      </a:pPr>
                      <a:r>
                        <a:t>3,49</a:t>
                      </a:r>
                    </a:p>
                  </a:txBody>
                  <a:tcPr/>
                </a:tc>
                <a:extLst>
                  <a:ext uri="{0D108BD9-81ED-4DB2-BD59-A6C34878D82A}">
                    <a16:rowId xmlns:a16="http://schemas.microsoft.com/office/drawing/2014/main" val="10005"/>
                  </a:ext>
                </a:extLst>
              </a:tr>
              <a:tr h="0">
                <a:tc>
                  <a:txBody>
                    <a:bodyPr/>
                    <a:lstStyle/>
                    <a:p>
                      <a:pPr marL="0" lvl="0" indent="0" algn="r">
                        <a:buNone/>
                      </a:pPr>
                      <a:r>
                        <a:t>6</a:t>
                      </a:r>
                    </a:p>
                  </a:txBody>
                  <a:tcPr/>
                </a:tc>
                <a:tc>
                  <a:txBody>
                    <a:bodyPr/>
                    <a:lstStyle/>
                    <a:p>
                      <a:pPr marL="0" lvl="0" indent="0" algn="r">
                        <a:buNone/>
                      </a:pPr>
                      <a:r>
                        <a:t>8</a:t>
                      </a:r>
                    </a:p>
                  </a:txBody>
                  <a:tcPr/>
                </a:tc>
                <a:tc>
                  <a:txBody>
                    <a:bodyPr/>
                    <a:lstStyle/>
                    <a:p>
                      <a:pPr marL="0" lvl="0" indent="0" algn="r">
                        <a:buNone/>
                      </a:pPr>
                      <a:r>
                        <a:t>18</a:t>
                      </a:r>
                    </a:p>
                  </a:txBody>
                  <a:tcPr/>
                </a:tc>
                <a:tc>
                  <a:txBody>
                    <a:bodyPr/>
                    <a:lstStyle/>
                    <a:p>
                      <a:pPr marL="0" lvl="0" indent="0" algn="r">
                        <a:buNone/>
                      </a:pPr>
                      <a:r>
                        <a:t>550</a:t>
                      </a:r>
                    </a:p>
                  </a:txBody>
                  <a:tcPr/>
                </a:tc>
                <a:tc>
                  <a:txBody>
                    <a:bodyPr/>
                    <a:lstStyle/>
                    <a:p>
                      <a:pPr marL="0" lvl="0" indent="0" algn="r">
                        <a:buNone/>
                      </a:pPr>
                      <a:r>
                        <a:t>144</a:t>
                      </a:r>
                    </a:p>
                  </a:txBody>
                  <a:tcPr/>
                </a:tc>
                <a:tc>
                  <a:txBody>
                    <a:bodyPr/>
                    <a:lstStyle/>
                    <a:p>
                      <a:pPr marL="0" lvl="0" indent="0" algn="r">
                        <a:buNone/>
                      </a:pPr>
                      <a:r>
                        <a:t>3,82</a:t>
                      </a:r>
                    </a:p>
                  </a:txBody>
                  <a:tcPr/>
                </a:tc>
                <a:tc>
                  <a:txBody>
                    <a:bodyPr/>
                    <a:lstStyle/>
                    <a:p>
                      <a:pPr marL="0" lvl="0" indent="0" algn="r">
                        <a:buNone/>
                      </a:pPr>
                      <a:r>
                        <a:t>0,95</a:t>
                      </a:r>
                    </a:p>
                  </a:txBody>
                  <a:tcPr/>
                </a:tc>
                <a:tc>
                  <a:txBody>
                    <a:bodyPr/>
                    <a:lstStyle/>
                    <a:p>
                      <a:pPr marL="0" lvl="0" indent="0" algn="r">
                        <a:buNone/>
                      </a:pPr>
                      <a:r>
                        <a:t>3,62</a:t>
                      </a:r>
                    </a:p>
                  </a:txBody>
                  <a:tcPr/>
                </a:tc>
                <a:extLst>
                  <a:ext uri="{0D108BD9-81ED-4DB2-BD59-A6C34878D82A}">
                    <a16:rowId xmlns:a16="http://schemas.microsoft.com/office/drawing/2014/main" val="10006"/>
                  </a:ext>
                </a:extLst>
              </a:tr>
              <a:tr h="0">
                <a:tc>
                  <a:txBody>
                    <a:bodyPr/>
                    <a:lstStyle/>
                    <a:p>
                      <a:pPr marL="0" lvl="0" indent="0" algn="r">
                        <a:buNone/>
                      </a:pPr>
                      <a:r>
                        <a:t>7</a:t>
                      </a:r>
                    </a:p>
                  </a:txBody>
                  <a:tcPr/>
                </a:tc>
                <a:tc>
                  <a:txBody>
                    <a:bodyPr/>
                    <a:lstStyle/>
                    <a:p>
                      <a:pPr marL="0" lvl="0" indent="0" algn="r">
                        <a:buNone/>
                      </a:pPr>
                      <a:r>
                        <a:t>8</a:t>
                      </a:r>
                    </a:p>
                  </a:txBody>
                  <a:tcPr/>
                </a:tc>
                <a:tc>
                  <a:txBody>
                    <a:bodyPr/>
                    <a:lstStyle/>
                    <a:p>
                      <a:pPr marL="0" lvl="0" indent="0" algn="r">
                        <a:buNone/>
                      </a:pPr>
                      <a:r>
                        <a:t>20</a:t>
                      </a:r>
                    </a:p>
                  </a:txBody>
                  <a:tcPr/>
                </a:tc>
                <a:tc>
                  <a:txBody>
                    <a:bodyPr/>
                    <a:lstStyle/>
                    <a:p>
                      <a:pPr marL="0" lvl="0" indent="0" algn="r">
                        <a:buNone/>
                      </a:pPr>
                      <a:r>
                        <a:t>600</a:t>
                      </a:r>
                    </a:p>
                  </a:txBody>
                  <a:tcPr/>
                </a:tc>
                <a:tc>
                  <a:txBody>
                    <a:bodyPr/>
                    <a:lstStyle/>
                    <a:p>
                      <a:pPr marL="0" lvl="0" indent="0" algn="r">
                        <a:buNone/>
                      </a:pPr>
                      <a:r>
                        <a:t>160</a:t>
                      </a:r>
                    </a:p>
                  </a:txBody>
                  <a:tcPr/>
                </a:tc>
                <a:tc>
                  <a:txBody>
                    <a:bodyPr/>
                    <a:lstStyle/>
                    <a:p>
                      <a:pPr marL="0" lvl="0" indent="0" algn="r">
                        <a:buNone/>
                      </a:pPr>
                      <a:r>
                        <a:t>3,75</a:t>
                      </a:r>
                    </a:p>
                  </a:txBody>
                  <a:tcPr/>
                </a:tc>
                <a:tc>
                  <a:txBody>
                    <a:bodyPr/>
                    <a:lstStyle/>
                    <a:p>
                      <a:pPr marL="0" lvl="0" indent="0" algn="r">
                        <a:buNone/>
                      </a:pPr>
                      <a:r>
                        <a:t>1,00</a:t>
                      </a:r>
                    </a:p>
                  </a:txBody>
                  <a:tcPr/>
                </a:tc>
                <a:tc>
                  <a:txBody>
                    <a:bodyPr/>
                    <a:lstStyle/>
                    <a:p>
                      <a:pPr marL="0" lvl="0" indent="0" algn="r">
                        <a:buNone/>
                      </a:pPr>
                      <a:r>
                        <a:t>3,75</a:t>
                      </a:r>
                    </a:p>
                  </a:txBody>
                  <a:tcPr/>
                </a:tc>
                <a:extLst>
                  <a:ext uri="{0D108BD9-81ED-4DB2-BD59-A6C34878D82A}">
                    <a16:rowId xmlns:a16="http://schemas.microsoft.com/office/drawing/2014/main" val="10007"/>
                  </a:ext>
                </a:extLst>
              </a:tr>
              <a:tr h="0">
                <a:tc>
                  <a:txBody>
                    <a:bodyPr/>
                    <a:lstStyle/>
                    <a:p>
                      <a:pPr marL="0" lvl="0" indent="0" algn="r">
                        <a:buNone/>
                      </a:pPr>
                      <a:r>
                        <a:t>8</a:t>
                      </a:r>
                    </a:p>
                  </a:txBody>
                  <a:tcPr/>
                </a:tc>
                <a:tc>
                  <a:txBody>
                    <a:bodyPr/>
                    <a:lstStyle/>
                    <a:p>
                      <a:pPr marL="0" lvl="0" indent="0" algn="r">
                        <a:buNone/>
                      </a:pPr>
                      <a:r>
                        <a:t>8</a:t>
                      </a:r>
                    </a:p>
                  </a:txBody>
                  <a:tcPr/>
                </a:tc>
                <a:tc>
                  <a:txBody>
                    <a:bodyPr/>
                    <a:lstStyle/>
                    <a:p>
                      <a:pPr marL="0" lvl="0" indent="0" algn="r">
                        <a:buNone/>
                      </a:pPr>
                      <a:r>
                        <a:t>22</a:t>
                      </a:r>
                    </a:p>
                  </a:txBody>
                  <a:tcPr/>
                </a:tc>
                <a:tc>
                  <a:txBody>
                    <a:bodyPr/>
                    <a:lstStyle/>
                    <a:p>
                      <a:pPr marL="0" lvl="0" indent="0" algn="r">
                        <a:buNone/>
                      </a:pPr>
                      <a:r>
                        <a:t>700</a:t>
                      </a:r>
                    </a:p>
                  </a:txBody>
                  <a:tcPr/>
                </a:tc>
                <a:tc>
                  <a:txBody>
                    <a:bodyPr/>
                    <a:lstStyle/>
                    <a:p>
                      <a:pPr marL="0" lvl="0" indent="0" algn="r">
                        <a:buNone/>
                      </a:pPr>
                      <a:r>
                        <a:t>176</a:t>
                      </a:r>
                    </a:p>
                  </a:txBody>
                  <a:tcPr/>
                </a:tc>
                <a:tc>
                  <a:txBody>
                    <a:bodyPr/>
                    <a:lstStyle/>
                    <a:p>
                      <a:pPr marL="0" lvl="0" indent="0" algn="r">
                        <a:buNone/>
                      </a:pPr>
                      <a:r>
                        <a:t>3,98</a:t>
                      </a:r>
                    </a:p>
                  </a:txBody>
                  <a:tcPr/>
                </a:tc>
                <a:tc>
                  <a:txBody>
                    <a:bodyPr/>
                    <a:lstStyle/>
                    <a:p>
                      <a:pPr marL="0" lvl="0" indent="0" algn="r">
                        <a:buNone/>
                      </a:pPr>
                      <a:r>
                        <a:t>1,05</a:t>
                      </a:r>
                    </a:p>
                  </a:txBody>
                  <a:tcPr/>
                </a:tc>
                <a:tc>
                  <a:txBody>
                    <a:bodyPr/>
                    <a:lstStyle/>
                    <a:p>
                      <a:pPr marL="0" lvl="0" indent="0" algn="r">
                        <a:buNone/>
                      </a:pPr>
                      <a:r>
                        <a:t>4,17</a:t>
                      </a:r>
                    </a:p>
                  </a:txBody>
                  <a:tcPr/>
                </a:tc>
                <a:extLst>
                  <a:ext uri="{0D108BD9-81ED-4DB2-BD59-A6C34878D82A}">
                    <a16:rowId xmlns:a16="http://schemas.microsoft.com/office/drawing/2014/main" val="10008"/>
                  </a:ext>
                </a:extLst>
              </a:tr>
              <a:tr h="0">
                <a:tc>
                  <a:txBody>
                    <a:bodyPr/>
                    <a:lstStyle/>
                    <a:p>
                      <a:pPr marL="0" lvl="0" indent="0" algn="r">
                        <a:buNone/>
                      </a:pPr>
                      <a:r>
                        <a:t>9</a:t>
                      </a:r>
                    </a:p>
                  </a:txBody>
                  <a:tcPr/>
                </a:tc>
                <a:tc>
                  <a:txBody>
                    <a:bodyPr/>
                    <a:lstStyle/>
                    <a:p>
                      <a:pPr marL="0" lvl="0" indent="0" algn="r">
                        <a:buNone/>
                      </a:pPr>
                      <a:r>
                        <a:t>8</a:t>
                      </a:r>
                    </a:p>
                  </a:txBody>
                  <a:tcPr/>
                </a:tc>
                <a:tc>
                  <a:txBody>
                    <a:bodyPr/>
                    <a:lstStyle/>
                    <a:p>
                      <a:pPr marL="0" lvl="0" indent="0" algn="r">
                        <a:buNone/>
                      </a:pPr>
                      <a:r>
                        <a:t>24</a:t>
                      </a:r>
                    </a:p>
                  </a:txBody>
                  <a:tcPr/>
                </a:tc>
                <a:tc>
                  <a:txBody>
                    <a:bodyPr/>
                    <a:lstStyle/>
                    <a:p>
                      <a:pPr marL="0" lvl="0" indent="0" algn="r">
                        <a:buNone/>
                      </a:pPr>
                      <a:r>
                        <a:t>750</a:t>
                      </a:r>
                    </a:p>
                  </a:txBody>
                  <a:tcPr/>
                </a:tc>
                <a:tc>
                  <a:txBody>
                    <a:bodyPr/>
                    <a:lstStyle/>
                    <a:p>
                      <a:pPr marL="0" lvl="0" indent="0" algn="r">
                        <a:buNone/>
                      </a:pPr>
                      <a:r>
                        <a:t>192</a:t>
                      </a:r>
                    </a:p>
                  </a:txBody>
                  <a:tcPr/>
                </a:tc>
                <a:tc>
                  <a:txBody>
                    <a:bodyPr/>
                    <a:lstStyle/>
                    <a:p>
                      <a:pPr marL="0" lvl="0" indent="0" algn="r">
                        <a:buNone/>
                      </a:pPr>
                      <a:r>
                        <a:t>3,91</a:t>
                      </a:r>
                    </a:p>
                  </a:txBody>
                  <a:tcPr/>
                </a:tc>
                <a:tc>
                  <a:txBody>
                    <a:bodyPr/>
                    <a:lstStyle/>
                    <a:p>
                      <a:pPr marL="0" lvl="0" indent="0" algn="r">
                        <a:buNone/>
                      </a:pPr>
                      <a:r>
                        <a:t>1,10</a:t>
                      </a:r>
                    </a:p>
                  </a:txBody>
                  <a:tcPr/>
                </a:tc>
                <a:tc>
                  <a:txBody>
                    <a:bodyPr/>
                    <a:lstStyle/>
                    <a:p>
                      <a:pPr marL="0" lvl="0" indent="0" algn="r">
                        <a:buNone/>
                      </a:pPr>
                      <a:r>
                        <a:t>4,28</a:t>
                      </a:r>
                    </a:p>
                  </a:txBody>
                  <a:tcPr/>
                </a:tc>
                <a:extLst>
                  <a:ext uri="{0D108BD9-81ED-4DB2-BD59-A6C34878D82A}">
                    <a16:rowId xmlns:a16="http://schemas.microsoft.com/office/drawing/2014/main" val="10009"/>
                  </a:ext>
                </a:extLst>
              </a:tr>
              <a:tr h="0">
                <a:tc>
                  <a:txBody>
                    <a:bodyPr/>
                    <a:lstStyle/>
                    <a:p>
                      <a:pPr marL="0" lvl="0" indent="0" algn="r">
                        <a:buNone/>
                      </a:pPr>
                      <a:r>
                        <a:t>10</a:t>
                      </a:r>
                    </a:p>
                  </a:txBody>
                  <a:tcPr/>
                </a:tc>
                <a:tc>
                  <a:txBody>
                    <a:bodyPr/>
                    <a:lstStyle/>
                    <a:p>
                      <a:pPr marL="0" lvl="0" indent="0" algn="r">
                        <a:buNone/>
                      </a:pPr>
                      <a:r>
                        <a:t>8</a:t>
                      </a:r>
                    </a:p>
                  </a:txBody>
                  <a:tcPr/>
                </a:tc>
                <a:tc>
                  <a:txBody>
                    <a:bodyPr/>
                    <a:lstStyle/>
                    <a:p>
                      <a:pPr marL="0" lvl="0" indent="0" algn="r">
                        <a:buNone/>
                      </a:pPr>
                      <a:r>
                        <a:t>26</a:t>
                      </a:r>
                    </a:p>
                  </a:txBody>
                  <a:tcPr/>
                </a:tc>
                <a:tc>
                  <a:txBody>
                    <a:bodyPr/>
                    <a:lstStyle/>
                    <a:p>
                      <a:pPr marL="0" lvl="0" indent="0" algn="r">
                        <a:buNone/>
                      </a:pPr>
                      <a:r>
                        <a:t>750</a:t>
                      </a:r>
                    </a:p>
                  </a:txBody>
                  <a:tcPr/>
                </a:tc>
                <a:tc>
                  <a:txBody>
                    <a:bodyPr/>
                    <a:lstStyle/>
                    <a:p>
                      <a:pPr marL="0" lvl="0" indent="0" algn="r">
                        <a:buNone/>
                      </a:pPr>
                      <a:r>
                        <a:t>208</a:t>
                      </a:r>
                    </a:p>
                  </a:txBody>
                  <a:tcPr/>
                </a:tc>
                <a:tc>
                  <a:txBody>
                    <a:bodyPr/>
                    <a:lstStyle/>
                    <a:p>
                      <a:pPr marL="0" lvl="0" indent="0" algn="r">
                        <a:buNone/>
                      </a:pPr>
                      <a:r>
                        <a:t>3,61</a:t>
                      </a:r>
                    </a:p>
                  </a:txBody>
                  <a:tcPr/>
                </a:tc>
                <a:tc>
                  <a:txBody>
                    <a:bodyPr/>
                    <a:lstStyle/>
                    <a:p>
                      <a:pPr marL="0" lvl="0" indent="0" algn="r">
                        <a:buNone/>
                      </a:pPr>
                      <a:r>
                        <a:t>1,14</a:t>
                      </a:r>
                    </a:p>
                  </a:txBody>
                  <a:tcPr/>
                </a:tc>
                <a:tc>
                  <a:txBody>
                    <a:bodyPr/>
                    <a:lstStyle/>
                    <a:p>
                      <a:pPr marL="0" lvl="0" indent="0" algn="r">
                        <a:buNone/>
                      </a:pPr>
                      <a:r>
                        <a:t>4,11</a:t>
                      </a:r>
                    </a:p>
                  </a:txBody>
                  <a:tcPr/>
                </a:tc>
                <a:extLst>
                  <a:ext uri="{0D108BD9-81ED-4DB2-BD59-A6C34878D82A}">
                    <a16:rowId xmlns:a16="http://schemas.microsoft.com/office/drawing/2014/main" val="10010"/>
                  </a:ext>
                </a:extLst>
              </a:tr>
              <a:tr h="0">
                <a:tc>
                  <a:txBody>
                    <a:bodyPr/>
                    <a:lstStyle/>
                    <a:p>
                      <a:pPr marL="0" lvl="0" indent="0" algn="r">
                        <a:buNone/>
                      </a:pPr>
                      <a:r>
                        <a:t>11</a:t>
                      </a:r>
                    </a:p>
                  </a:txBody>
                  <a:tcPr/>
                </a:tc>
                <a:tc>
                  <a:txBody>
                    <a:bodyPr/>
                    <a:lstStyle/>
                    <a:p>
                      <a:pPr marL="0" lvl="0" indent="0" algn="r">
                        <a:buNone/>
                      </a:pPr>
                      <a:r>
                        <a:t>8</a:t>
                      </a:r>
                    </a:p>
                  </a:txBody>
                  <a:tcPr/>
                </a:tc>
                <a:tc>
                  <a:txBody>
                    <a:bodyPr/>
                    <a:lstStyle/>
                    <a:p>
                      <a:pPr marL="0" lvl="0" indent="0" algn="r">
                        <a:buNone/>
                      </a:pPr>
                      <a:r>
                        <a:t>28</a:t>
                      </a:r>
                    </a:p>
                  </a:txBody>
                  <a:tcPr/>
                </a:tc>
                <a:tc>
                  <a:txBody>
                    <a:bodyPr/>
                    <a:lstStyle/>
                    <a:p>
                      <a:pPr marL="0" lvl="0" indent="0" algn="r">
                        <a:buNone/>
                      </a:pPr>
                      <a:r>
                        <a:t>785</a:t>
                      </a:r>
                    </a:p>
                  </a:txBody>
                  <a:tcPr/>
                </a:tc>
                <a:tc>
                  <a:txBody>
                    <a:bodyPr/>
                    <a:lstStyle/>
                    <a:p>
                      <a:pPr marL="0" lvl="0" indent="0" algn="r">
                        <a:buNone/>
                      </a:pPr>
                      <a:r>
                        <a:t>224</a:t>
                      </a:r>
                    </a:p>
                  </a:txBody>
                  <a:tcPr/>
                </a:tc>
                <a:tc>
                  <a:txBody>
                    <a:bodyPr/>
                    <a:lstStyle/>
                    <a:p>
                      <a:pPr marL="0" lvl="0" indent="0" algn="r">
                        <a:buNone/>
                      </a:pPr>
                      <a:r>
                        <a:t>3,50</a:t>
                      </a:r>
                    </a:p>
                  </a:txBody>
                  <a:tcPr/>
                </a:tc>
                <a:tc>
                  <a:txBody>
                    <a:bodyPr/>
                    <a:lstStyle/>
                    <a:p>
                      <a:pPr marL="0" lvl="0" indent="0" algn="r">
                        <a:buNone/>
                      </a:pPr>
                      <a:r>
                        <a:t>1,18</a:t>
                      </a:r>
                    </a:p>
                  </a:txBody>
                  <a:tcPr/>
                </a:tc>
                <a:tc>
                  <a:txBody>
                    <a:bodyPr/>
                    <a:lstStyle/>
                    <a:p>
                      <a:pPr marL="0" lvl="0" indent="0" algn="r">
                        <a:buNone/>
                      </a:pPr>
                      <a:r>
                        <a:t>4,15</a:t>
                      </a:r>
                    </a:p>
                  </a:txBody>
                  <a:tcPr/>
                </a:tc>
                <a:extLst>
                  <a:ext uri="{0D108BD9-81ED-4DB2-BD59-A6C34878D82A}">
                    <a16:rowId xmlns:a16="http://schemas.microsoft.com/office/drawing/2014/main" val="10011"/>
                  </a:ext>
                </a:extLst>
              </a:tr>
              <a:tr h="0">
                <a:tc>
                  <a:txBody>
                    <a:bodyPr/>
                    <a:lstStyle/>
                    <a:p>
                      <a:pPr marL="0" lvl="0" indent="0" algn="r">
                        <a:buNone/>
                      </a:pPr>
                      <a:r>
                        <a:t>12</a:t>
                      </a:r>
                    </a:p>
                  </a:txBody>
                  <a:tcPr/>
                </a:tc>
                <a:tc>
                  <a:txBody>
                    <a:bodyPr/>
                    <a:lstStyle/>
                    <a:p>
                      <a:pPr marL="0" lvl="0" indent="0" algn="r">
                        <a:buNone/>
                      </a:pPr>
                      <a:r>
                        <a:t>8</a:t>
                      </a:r>
                    </a:p>
                  </a:txBody>
                  <a:tcPr/>
                </a:tc>
                <a:tc>
                  <a:txBody>
                    <a:bodyPr/>
                    <a:lstStyle/>
                    <a:p>
                      <a:pPr marL="0" lvl="0" indent="0" algn="r">
                        <a:buNone/>
                      </a:pPr>
                      <a:r>
                        <a:t>30</a:t>
                      </a:r>
                    </a:p>
                  </a:txBody>
                  <a:tcPr/>
                </a:tc>
                <a:tc>
                  <a:txBody>
                    <a:bodyPr/>
                    <a:lstStyle/>
                    <a:p>
                      <a:pPr marL="0" lvl="0" indent="0" algn="r">
                        <a:buNone/>
                      </a:pPr>
                      <a:r>
                        <a:t>850</a:t>
                      </a:r>
                    </a:p>
                  </a:txBody>
                  <a:tcPr/>
                </a:tc>
                <a:tc>
                  <a:txBody>
                    <a:bodyPr/>
                    <a:lstStyle/>
                    <a:p>
                      <a:pPr marL="0" lvl="0" indent="0" algn="r">
                        <a:buNone/>
                      </a:pPr>
                      <a:r>
                        <a:t>240</a:t>
                      </a:r>
                    </a:p>
                  </a:txBody>
                  <a:tcPr/>
                </a:tc>
                <a:tc>
                  <a:txBody>
                    <a:bodyPr/>
                    <a:lstStyle/>
                    <a:p>
                      <a:pPr marL="0" lvl="0" indent="0" algn="r">
                        <a:buNone/>
                      </a:pPr>
                      <a:r>
                        <a:t>3,54</a:t>
                      </a:r>
                    </a:p>
                  </a:txBody>
                  <a:tcPr/>
                </a:tc>
                <a:tc>
                  <a:txBody>
                    <a:bodyPr/>
                    <a:lstStyle/>
                    <a:p>
                      <a:pPr marL="0" lvl="0" indent="0" algn="r">
                        <a:buNone/>
                      </a:pPr>
                      <a:r>
                        <a:t>1,22</a:t>
                      </a:r>
                    </a:p>
                  </a:txBody>
                  <a:tcPr/>
                </a:tc>
                <a:tc>
                  <a:txBody>
                    <a:bodyPr/>
                    <a:lstStyle/>
                    <a:p>
                      <a:pPr marL="0" lvl="0" indent="0" algn="r">
                        <a:buNone/>
                      </a:pPr>
                      <a:r>
                        <a:rPr dirty="0"/>
                        <a:t>4,34</a:t>
                      </a:r>
                    </a:p>
                  </a:txBody>
                  <a:tcPr/>
                </a:tc>
                <a:extLst>
                  <a:ext uri="{0D108BD9-81ED-4DB2-BD59-A6C34878D82A}">
                    <a16:rowId xmlns:a16="http://schemas.microsoft.com/office/drawing/2014/main" val="10012"/>
                  </a:ext>
                </a:extLst>
              </a:tr>
            </a:tbl>
          </a:graphicData>
        </a:graphic>
      </p:graphicFrame>
      <mc:AlternateContent xmlns:mc="http://schemas.openxmlformats.org/markup-compatibility/2006">
        <mc:Choice xmlns:a14="http://schemas.microsoft.com/office/drawing/2010/main" Requires="a14">
          <p:sp>
            <p:nvSpPr>
              <p:cNvPr id="5" name="Text Placeholder 4">
                <a:extLst>
                  <a:ext uri="{FF2B5EF4-FFF2-40B4-BE49-F238E27FC236}">
                    <a16:creationId xmlns:a16="http://schemas.microsoft.com/office/drawing/2014/main" id="{FA093969-95B1-DCCB-7590-32DC494E4877}"/>
                  </a:ext>
                </a:extLst>
              </p:cNvPr>
              <p:cNvSpPr>
                <a:spLocks noGrp="1"/>
              </p:cNvSpPr>
              <p:nvPr>
                <p:ph type="body" sz="quarter" idx="3"/>
              </p:nvPr>
            </p:nvSpPr>
            <p:spPr>
              <a:xfrm>
                <a:off x="6422571" y="5001306"/>
                <a:ext cx="5183188" cy="823912"/>
              </a:xfrm>
            </p:spPr>
            <p:txBody>
              <a:bodyPr/>
              <a:lstStyle/>
              <a:p>
                <a:pPr lvl="0"/>
                <a14:m>
                  <m:oMath xmlns:m="http://schemas.openxmlformats.org/officeDocument/2006/math">
                    <m:r>
                      <a:rPr>
                        <a:latin typeface="Cambria Math" panose="02040503050406030204" pitchFamily="18" charset="0"/>
                      </a:rPr>
                      <m:t>𝑉</m:t>
                    </m:r>
                    <m:sSub>
                      <m:sSubPr>
                        <m:ctrlPr>
                          <a:rPr i="1">
                            <a:latin typeface="Cambria Math" panose="02040503050406030204" pitchFamily="18" charset="0"/>
                          </a:rPr>
                        </m:ctrlPr>
                      </m:sSubPr>
                      <m:e>
                        <m:r>
                          <a:rPr>
                            <a:latin typeface="Cambria Math" panose="02040503050406030204" pitchFamily="18" charset="0"/>
                          </a:rPr>
                          <m:t>𝑈</m:t>
                        </m:r>
                      </m:e>
                      <m:sub>
                        <m:r>
                          <a:rPr>
                            <a:latin typeface="Cambria Math" panose="02040503050406030204" pitchFamily="18" charset="0"/>
                          </a:rPr>
                          <m:t>h</m:t>
                        </m:r>
                        <m:r>
                          <a:rPr>
                            <a:latin typeface="Cambria Math" panose="02040503050406030204" pitchFamily="18" charset="0"/>
                          </a:rPr>
                          <m:t>𝑜𝑚</m:t>
                        </m:r>
                      </m:sub>
                    </m:sSub>
                    <m:r>
                      <a:rPr>
                        <a:latin typeface="Cambria Math" panose="02040503050406030204" pitchFamily="18" charset="0"/>
                      </a:rPr>
                      <m:t>=</m:t>
                    </m:r>
                  </m:oMath>
                </a14:m>
                <a:r>
                  <a:rPr dirty="0"/>
                  <a:t>R$ 4,01</a:t>
                </a:r>
                <a14:m>
                  <m:oMath xmlns:m="http://schemas.openxmlformats.org/officeDocument/2006/math">
                    <m:r>
                      <a:rPr>
                        <a:latin typeface="Cambria Math" panose="02040503050406030204" pitchFamily="18" charset="0"/>
                      </a:rPr>
                      <m:t>/</m:t>
                    </m:r>
                    <m:sSup>
                      <m:sSupPr>
                        <m:ctrlPr>
                          <a:rPr i="1">
                            <a:latin typeface="Cambria Math" panose="02040503050406030204" pitchFamily="18" charset="0"/>
                          </a:rPr>
                        </m:ctrlPr>
                      </m:sSupPr>
                      <m:e>
                        <m:r>
                          <a:rPr>
                            <a:latin typeface="Cambria Math" panose="02040503050406030204" pitchFamily="18" charset="0"/>
                          </a:rPr>
                          <m:t>𝑚</m:t>
                        </m:r>
                      </m:e>
                      <m:sup>
                        <m:r>
                          <a:rPr>
                            <a:latin typeface="Cambria Math" panose="02040503050406030204" pitchFamily="18" charset="0"/>
                          </a:rPr>
                          <m:t>2</m:t>
                        </m:r>
                      </m:sup>
                    </m:sSup>
                  </m:oMath>
                </a14:m>
                <a:endParaRPr dirty="0"/>
              </a:p>
              <a:p>
                <a:pPr lvl="0"/>
                <a:r>
                  <a:rPr dirty="0" err="1"/>
                  <a:t>Avaliar</a:t>
                </a:r>
                <a:r>
                  <a:rPr dirty="0"/>
                  <a:t> o </a:t>
                </a:r>
                <a:r>
                  <a:rPr dirty="0" err="1"/>
                  <a:t>aluguel</a:t>
                </a:r>
                <a:r>
                  <a:rPr dirty="0"/>
                  <a:t> de </a:t>
                </a:r>
                <a:r>
                  <a:rPr dirty="0" err="1"/>
                  <a:t>uma</a:t>
                </a:r>
                <a:r>
                  <a:rPr dirty="0"/>
                  <a:t> </a:t>
                </a:r>
                <a:r>
                  <a:rPr dirty="0" err="1"/>
                  <a:t>loja</a:t>
                </a:r>
                <a:r>
                  <a:rPr dirty="0"/>
                  <a:t> com </a:t>
                </a:r>
                <a14:m>
                  <m:oMath xmlns:m="http://schemas.openxmlformats.org/officeDocument/2006/math">
                    <m:r>
                      <a:rPr>
                        <a:latin typeface="Cambria Math" panose="02040503050406030204" pitchFamily="18" charset="0"/>
                      </a:rPr>
                      <m:t>8</m:t>
                    </m:r>
                    <m:r>
                      <a:rPr>
                        <a:latin typeface="Cambria Math" panose="02040503050406030204" pitchFamily="18" charset="0"/>
                      </a:rPr>
                      <m:t>×</m:t>
                    </m:r>
                    <m:r>
                      <a:rPr>
                        <a:latin typeface="Cambria Math" panose="02040503050406030204" pitchFamily="18" charset="0"/>
                      </a:rPr>
                      <m:t>17</m:t>
                    </m:r>
                    <m:r>
                      <a:rPr>
                        <a:latin typeface="Cambria Math" panose="02040503050406030204" pitchFamily="18" charset="0"/>
                      </a:rPr>
                      <m:t>,</m:t>
                    </m:r>
                    <m:r>
                      <a:rPr>
                        <a:latin typeface="Cambria Math" panose="02040503050406030204" pitchFamily="18" charset="0"/>
                      </a:rPr>
                      <m:t>5</m:t>
                    </m:r>
                    <m:r>
                      <a:rPr>
                        <a:latin typeface="Cambria Math" panose="02040503050406030204" pitchFamily="18" charset="0"/>
                      </a:rPr>
                      <m:t>=</m:t>
                    </m:r>
                    <m:r>
                      <a:rPr>
                        <a:latin typeface="Cambria Math" panose="02040503050406030204" pitchFamily="18" charset="0"/>
                      </a:rPr>
                      <m:t>140</m:t>
                    </m:r>
                    <m:sSup>
                      <m:sSupPr>
                        <m:ctrlPr>
                          <a:rPr i="1">
                            <a:latin typeface="Cambria Math" panose="02040503050406030204" pitchFamily="18" charset="0"/>
                          </a:rPr>
                        </m:ctrlPr>
                      </m:sSupPr>
                      <m:e>
                        <m:r>
                          <a:rPr>
                            <a:latin typeface="Cambria Math" panose="02040503050406030204" pitchFamily="18" charset="0"/>
                          </a:rPr>
                          <m:t>𝑚</m:t>
                        </m:r>
                      </m:e>
                      <m:sup>
                        <m:r>
                          <a:rPr>
                            <a:latin typeface="Cambria Math" panose="02040503050406030204" pitchFamily="18" charset="0"/>
                          </a:rPr>
                          <m:t>2</m:t>
                        </m:r>
                      </m:sup>
                    </m:sSup>
                  </m:oMath>
                </a14:m>
                <a:r>
                  <a:rPr dirty="0"/>
                  <a:t>:</a:t>
                </a:r>
              </a:p>
              <a:p>
                <a:pPr lvl="0"/>
                <a:r>
                  <a:rPr dirty="0" err="1"/>
                  <a:t>Homogeneização</a:t>
                </a:r>
                <a:r>
                  <a:rPr dirty="0"/>
                  <a:t> do </a:t>
                </a:r>
                <a:r>
                  <a:rPr dirty="0" err="1"/>
                  <a:t>avaliando</a:t>
                </a:r>
                <a:r>
                  <a:rPr dirty="0"/>
                  <a:t>: </a:t>
                </a:r>
                <a14:m>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𝑆</m:t>
                        </m:r>
                      </m:e>
                      <m:sub>
                        <m:r>
                          <a:rPr>
                            <a:latin typeface="Cambria Math" panose="02040503050406030204" pitchFamily="18" charset="0"/>
                          </a:rPr>
                          <m:t>h</m:t>
                        </m:r>
                        <m:r>
                          <a:rPr>
                            <a:latin typeface="Cambria Math" panose="02040503050406030204" pitchFamily="18" charset="0"/>
                          </a:rPr>
                          <m:t>𝑜𝑚</m:t>
                        </m:r>
                      </m:sub>
                    </m:sSub>
                    <m:r>
                      <a:rPr>
                        <a:latin typeface="Cambria Math" panose="02040503050406030204" pitchFamily="18" charset="0"/>
                      </a:rPr>
                      <m:t>=</m:t>
                    </m:r>
                    <m:rad>
                      <m:radPr>
                        <m:degHide m:val="on"/>
                        <m:ctrlPr>
                          <a:rPr i="1">
                            <a:latin typeface="Cambria Math" panose="02040503050406030204" pitchFamily="18" charset="0"/>
                          </a:rPr>
                        </m:ctrlPr>
                      </m:radPr>
                      <m:deg/>
                      <m:e>
                        <m:r>
                          <a:rPr>
                            <a:latin typeface="Cambria Math" panose="02040503050406030204" pitchFamily="18" charset="0"/>
                          </a:rPr>
                          <m:t>8</m:t>
                        </m:r>
                        <m:r>
                          <a:rPr>
                            <a:latin typeface="Cambria Math" panose="02040503050406030204" pitchFamily="18" charset="0"/>
                          </a:rPr>
                          <m:t>.</m:t>
                        </m:r>
                        <m:r>
                          <a:rPr>
                            <a:latin typeface="Cambria Math" panose="02040503050406030204" pitchFamily="18" charset="0"/>
                          </a:rPr>
                          <m:t>140</m:t>
                        </m:r>
                        <m:r>
                          <a:rPr>
                            <a:latin typeface="Cambria Math" panose="02040503050406030204" pitchFamily="18" charset="0"/>
                          </a:rPr>
                          <m:t>.</m:t>
                        </m:r>
                        <m:r>
                          <a:rPr>
                            <a:latin typeface="Cambria Math" panose="02040503050406030204" pitchFamily="18" charset="0"/>
                          </a:rPr>
                          <m:t>20</m:t>
                        </m:r>
                      </m:e>
                    </m:rad>
                    <m:r>
                      <a:rPr>
                        <a:latin typeface="Cambria Math" panose="02040503050406030204" pitchFamily="18" charset="0"/>
                      </a:rPr>
                      <m:t>≈</m:t>
                    </m:r>
                    <m:r>
                      <a:rPr>
                        <a:latin typeface="Cambria Math" panose="02040503050406030204" pitchFamily="18" charset="0"/>
                      </a:rPr>
                      <m:t>150</m:t>
                    </m:r>
                    <m:r>
                      <a:rPr>
                        <a:latin typeface="Cambria Math" panose="02040503050406030204" pitchFamily="18" charset="0"/>
                      </a:rPr>
                      <m:t>,</m:t>
                    </m:r>
                    <m:r>
                      <a:rPr>
                        <a:latin typeface="Cambria Math" panose="02040503050406030204" pitchFamily="18" charset="0"/>
                      </a:rPr>
                      <m:t>0</m:t>
                    </m:r>
                    <m:sSup>
                      <m:sSupPr>
                        <m:ctrlPr>
                          <a:rPr i="1">
                            <a:latin typeface="Cambria Math" panose="02040503050406030204" pitchFamily="18" charset="0"/>
                          </a:rPr>
                        </m:ctrlPr>
                      </m:sSupPr>
                      <m:e>
                        <m:r>
                          <a:rPr>
                            <a:latin typeface="Cambria Math" panose="02040503050406030204" pitchFamily="18" charset="0"/>
                          </a:rPr>
                          <m:t>𝑚</m:t>
                        </m:r>
                      </m:e>
                      <m:sup>
                        <m:r>
                          <a:rPr>
                            <a:latin typeface="Cambria Math" panose="02040503050406030204" pitchFamily="18" charset="0"/>
                          </a:rPr>
                          <m:t>2</m:t>
                        </m:r>
                      </m:sup>
                    </m:sSup>
                  </m:oMath>
                </a14:m>
                <a:endParaRPr dirty="0"/>
              </a:p>
              <a:p>
                <a:pPr lvl="0"/>
                <a:r>
                  <a:rPr dirty="0"/>
                  <a:t>Valor </a:t>
                </a:r>
                <a:r>
                  <a:rPr dirty="0" err="1"/>
                  <a:t>Locatício</a:t>
                </a:r>
                <a:r>
                  <a:rPr dirty="0"/>
                  <a:t>: </a:t>
                </a:r>
                <a14:m>
                  <m:oMath xmlns:m="http://schemas.openxmlformats.org/officeDocument/2006/math">
                    <m:r>
                      <a:rPr>
                        <a:latin typeface="Cambria Math" panose="02040503050406030204" pitchFamily="18" charset="0"/>
                      </a:rPr>
                      <m:t>𝑉𝑙</m:t>
                    </m:r>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𝑆</m:t>
                        </m:r>
                      </m:e>
                      <m:sub>
                        <m:r>
                          <a:rPr>
                            <a:latin typeface="Cambria Math" panose="02040503050406030204" pitchFamily="18" charset="0"/>
                          </a:rPr>
                          <m:t>h</m:t>
                        </m:r>
                        <m:r>
                          <a:rPr>
                            <a:latin typeface="Cambria Math" panose="02040503050406030204" pitchFamily="18" charset="0"/>
                          </a:rPr>
                          <m:t>𝑜𝑚</m:t>
                        </m:r>
                      </m:sub>
                    </m:sSub>
                    <m:r>
                      <a:rPr>
                        <a:latin typeface="Cambria Math" panose="02040503050406030204" pitchFamily="18" charset="0"/>
                      </a:rPr>
                      <m:t>.</m:t>
                    </m:r>
                    <m:r>
                      <a:rPr>
                        <a:latin typeface="Cambria Math" panose="02040503050406030204" pitchFamily="18" charset="0"/>
                      </a:rPr>
                      <m:t>𝑉</m:t>
                    </m:r>
                    <m:sSub>
                      <m:sSubPr>
                        <m:ctrlPr>
                          <a:rPr i="1">
                            <a:latin typeface="Cambria Math" panose="02040503050406030204" pitchFamily="18" charset="0"/>
                          </a:rPr>
                        </m:ctrlPr>
                      </m:sSubPr>
                      <m:e>
                        <m:r>
                          <a:rPr>
                            <a:latin typeface="Cambria Math" panose="02040503050406030204" pitchFamily="18" charset="0"/>
                          </a:rPr>
                          <m:t>𝑈</m:t>
                        </m:r>
                      </m:e>
                      <m:sub>
                        <m:r>
                          <a:rPr>
                            <a:latin typeface="Cambria Math" panose="02040503050406030204" pitchFamily="18" charset="0"/>
                          </a:rPr>
                          <m:t>h</m:t>
                        </m:r>
                        <m:r>
                          <a:rPr>
                            <a:latin typeface="Cambria Math" panose="02040503050406030204" pitchFamily="18" charset="0"/>
                          </a:rPr>
                          <m:t>𝑜𝑚</m:t>
                        </m:r>
                      </m:sub>
                    </m:sSub>
                    <m:r>
                      <a:rPr>
                        <a:latin typeface="Cambria Math" panose="02040503050406030204" pitchFamily="18" charset="0"/>
                      </a:rPr>
                      <m:t>=</m:t>
                    </m:r>
                    <m:r>
                      <a:rPr>
                        <a:latin typeface="Cambria Math" panose="02040503050406030204" pitchFamily="18" charset="0"/>
                      </a:rPr>
                      <m:t>150</m:t>
                    </m:r>
                    <m:r>
                      <a:rPr>
                        <a:latin typeface="Cambria Math" panose="02040503050406030204" pitchFamily="18" charset="0"/>
                      </a:rPr>
                      <m:t>×</m:t>
                    </m:r>
                    <m:r>
                      <a:rPr>
                        <a:latin typeface="Cambria Math" panose="02040503050406030204" pitchFamily="18" charset="0"/>
                      </a:rPr>
                      <m:t>4</m:t>
                    </m:r>
                    <m:r>
                      <a:rPr>
                        <a:latin typeface="Cambria Math" panose="02040503050406030204" pitchFamily="18" charset="0"/>
                      </a:rPr>
                      <m:t>,</m:t>
                    </m:r>
                    <m:r>
                      <a:rPr>
                        <a:latin typeface="Cambria Math" panose="02040503050406030204" pitchFamily="18" charset="0"/>
                      </a:rPr>
                      <m:t>01</m:t>
                    </m:r>
                  </m:oMath>
                </a14:m>
                <a:endParaRPr dirty="0"/>
              </a:p>
              <a:p>
                <a:pPr lvl="0"/>
                <a:r>
                  <a:rPr dirty="0"/>
                  <a:t>Valor </a:t>
                </a:r>
                <a:r>
                  <a:rPr dirty="0" err="1"/>
                  <a:t>Locatício</a:t>
                </a:r>
                <a:r>
                  <a:rPr dirty="0"/>
                  <a:t>: </a:t>
                </a:r>
                <a14:m>
                  <m:oMath xmlns:m="http://schemas.openxmlformats.org/officeDocument/2006/math">
                    <m:r>
                      <a:rPr>
                        <a:latin typeface="Cambria Math" panose="02040503050406030204" pitchFamily="18" charset="0"/>
                      </a:rPr>
                      <m:t>𝑉𝑙</m:t>
                    </m:r>
                    <m:r>
                      <a:rPr>
                        <a:latin typeface="Cambria Math" panose="02040503050406030204" pitchFamily="18" charset="0"/>
                      </a:rPr>
                      <m:t>≈</m:t>
                    </m:r>
                    <m:r>
                      <m:rPr>
                        <m:nor/>
                      </m:rPr>
                      <a:rPr/>
                      <m:t>R</m:t>
                    </m:r>
                    <m:r>
                      <m:rPr>
                        <m:nor/>
                      </m:rPr>
                      <a:rPr/>
                      <m:t>$</m:t>
                    </m:r>
                    <m:r>
                      <a:rPr>
                        <a:latin typeface="Cambria Math" panose="02040503050406030204" pitchFamily="18" charset="0"/>
                      </a:rPr>
                      <m:t>600</m:t>
                    </m:r>
                    <m:r>
                      <a:rPr>
                        <a:latin typeface="Cambria Math" panose="02040503050406030204" pitchFamily="18" charset="0"/>
                      </a:rPr>
                      <m:t>,</m:t>
                    </m:r>
                    <m:r>
                      <a:rPr>
                        <a:latin typeface="Cambria Math" panose="02040503050406030204" pitchFamily="18" charset="0"/>
                      </a:rPr>
                      <m:t>00</m:t>
                    </m:r>
                  </m:oMath>
                </a14:m>
                <a:endParaRPr dirty="0"/>
              </a:p>
            </p:txBody>
          </p:sp>
        </mc:Choice>
        <mc:Fallback>
          <p:sp>
            <p:nvSpPr>
              <p:cNvPr id="5" name="Text Placeholder 4">
                <a:extLst>
                  <a:ext uri="{FF2B5EF4-FFF2-40B4-BE49-F238E27FC236}">
                    <a16:creationId xmlns:a16="http://schemas.microsoft.com/office/drawing/2014/main" id="{FA093969-95B1-DCCB-7590-32DC494E4877}"/>
                  </a:ext>
                </a:extLst>
              </p:cNvPr>
              <p:cNvSpPr>
                <a:spLocks noGrp="1" noRot="1" noChangeAspect="1" noMove="1" noResize="1" noEditPoints="1" noAdjustHandles="1" noChangeArrowheads="1" noChangeShapeType="1" noTextEdit="1"/>
              </p:cNvSpPr>
              <p:nvPr>
                <p:ph type="body" sz="quarter" idx="3"/>
              </p:nvPr>
            </p:nvSpPr>
            <p:spPr>
              <a:xfrm>
                <a:off x="6422571" y="5001306"/>
                <a:ext cx="5183188" cy="823912"/>
              </a:xfrm>
              <a:blipFill>
                <a:blip r:embed="rId2"/>
                <a:stretch>
                  <a:fillRect l="-2471" t="-359559" b="-20588"/>
                </a:stretch>
              </a:blipFill>
            </p:spPr>
            <p:txBody>
              <a:bodyPr/>
              <a:lstStyle/>
              <a:p>
                <a:r>
                  <a:rPr lang="pt-BR">
                    <a:noFill/>
                  </a:rPr>
                  <a:t> </a:t>
                </a:r>
              </a:p>
            </p:txBody>
          </p:sp>
        </mc:Fallback>
      </mc:AlternateContent>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8ACFA-4A74-9B40-CC3E-92D78F850226}"/>
              </a:ext>
            </a:extLst>
          </p:cNvPr>
          <p:cNvSpPr>
            <a:spLocks noGrp="1"/>
          </p:cNvSpPr>
          <p:nvPr>
            <p:ph type="title"/>
          </p:nvPr>
        </p:nvSpPr>
        <p:spPr>
          <a:xfrm>
            <a:off x="838200" y="983457"/>
            <a:ext cx="10515600" cy="891526"/>
          </a:xfrm>
          <a:prstGeom prst="rect">
            <a:avLst/>
          </a:prstGeom>
        </p:spPr>
        <p:txBody>
          <a:bodyPr/>
          <a:lstStyle/>
          <a:p>
            <a:pPr marL="0" lvl="0" indent="0">
              <a:buNone/>
            </a:pPr>
            <a:r>
              <a:t>Exemplo 2:</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06E5C504-58F1-2318-F264-E17A9AABC74B}"/>
                  </a:ext>
                </a:extLst>
              </p:cNvPr>
              <p:cNvSpPr>
                <a:spLocks noGrp="1"/>
              </p:cNvSpPr>
              <p:nvPr>
                <p:ph idx="1"/>
              </p:nvPr>
            </p:nvSpPr>
            <p:spPr/>
            <p:txBody>
              <a:bodyPr/>
              <a:lstStyle/>
              <a:p>
                <a:pPr lvl="0"/>
                <a:r>
                  <a:rPr dirty="0"/>
                  <a:t>Com </a:t>
                </a:r>
                <a:r>
                  <a:rPr dirty="0" err="1"/>
                  <a:t>os</a:t>
                </a:r>
                <a:r>
                  <a:rPr dirty="0"/>
                  <a:t> dados do </a:t>
                </a:r>
                <a:r>
                  <a:rPr dirty="0" err="1"/>
                  <a:t>exemplo</a:t>
                </a:r>
                <a:r>
                  <a:rPr dirty="0"/>
                  <a:t> anterior, </a:t>
                </a:r>
                <a:r>
                  <a:rPr dirty="0" err="1"/>
                  <a:t>calcular</a:t>
                </a:r>
                <a:r>
                  <a:rPr dirty="0"/>
                  <a:t> o </a:t>
                </a:r>
                <a:r>
                  <a:rPr dirty="0" err="1"/>
                  <a:t>aluguel</a:t>
                </a:r>
                <a:r>
                  <a:rPr dirty="0"/>
                  <a:t> de </a:t>
                </a:r>
                <a:r>
                  <a:rPr dirty="0" err="1"/>
                  <a:t>uma</a:t>
                </a:r>
                <a:r>
                  <a:rPr dirty="0"/>
                  <a:t> </a:t>
                </a:r>
                <a:r>
                  <a:rPr dirty="0" err="1"/>
                  <a:t>loja</a:t>
                </a:r>
                <a:r>
                  <a:rPr dirty="0"/>
                  <a:t> com</a:t>
                </a:r>
                <a:r>
                  <a:rPr lang="pt-BR" dirty="0"/>
                  <a:t>:</a:t>
                </a:r>
                <a:r>
                  <a:rPr dirty="0"/>
                  <a:t> </a:t>
                </a:r>
                <a:endParaRPr lang="pt-BR" dirty="0"/>
              </a:p>
              <a:p>
                <a:pPr lvl="1"/>
                <a:r>
                  <a:rPr dirty="0"/>
                  <a:t>8</a:t>
                </a:r>
                <a:r>
                  <a:rPr lang="pt-BR" dirty="0"/>
                  <a:t> </a:t>
                </a:r>
                <a:r>
                  <a:rPr dirty="0"/>
                  <a:t>x</a:t>
                </a:r>
                <a:r>
                  <a:rPr lang="pt-BR" dirty="0"/>
                  <a:t> </a:t>
                </a:r>
                <a:r>
                  <a:rPr dirty="0"/>
                  <a:t>22,5</a:t>
                </a:r>
                <a:r>
                  <a:rPr lang="ar-AE" dirty="0"/>
                  <a:t> </a:t>
                </a:r>
                <a14:m>
                  <m:oMath xmlns:m="http://schemas.openxmlformats.org/officeDocument/2006/math">
                    <m:sSup>
                      <m:sSupPr>
                        <m:ctrlPr>
                          <a:rPr lang="ar-AE" i="1">
                            <a:latin typeface="Cambria Math" panose="02040503050406030204" pitchFamily="18" charset="0"/>
                          </a:rPr>
                        </m:ctrlPr>
                      </m:sSupPr>
                      <m:e>
                        <m:r>
                          <a:rPr lang="ar-AE">
                            <a:latin typeface="Cambria Math" panose="02040503050406030204" pitchFamily="18" charset="0"/>
                          </a:rPr>
                          <m:t>𝑚</m:t>
                        </m:r>
                      </m:e>
                      <m:sup>
                        <m:r>
                          <a:rPr lang="ar-AE">
                            <a:latin typeface="Cambria Math" panose="02040503050406030204" pitchFamily="18" charset="0"/>
                          </a:rPr>
                          <m:t>2</m:t>
                        </m:r>
                      </m:sup>
                    </m:sSup>
                  </m:oMath>
                </a14:m>
                <a:r>
                  <a:rPr dirty="0"/>
                  <a:t>, </a:t>
                </a:r>
                <a:r>
                  <a:rPr dirty="0" err="1"/>
                  <a:t>contando</a:t>
                </a:r>
                <a:r>
                  <a:rPr dirty="0"/>
                  <a:t> com </a:t>
                </a:r>
                <a:r>
                  <a:rPr dirty="0" err="1"/>
                  <a:t>mais</a:t>
                </a:r>
                <a:r>
                  <a:rPr dirty="0"/>
                  <a:t> 50</a:t>
                </a:r>
                <a14:m>
                  <m:oMath xmlns:m="http://schemas.openxmlformats.org/officeDocument/2006/math">
                    <m:sSup>
                      <m:sSupPr>
                        <m:ctrlPr>
                          <a:rPr>
                            <a:latin typeface="Cambria Math" panose="02040503050406030204" pitchFamily="18" charset="0"/>
                          </a:rPr>
                        </m:ctrlPr>
                      </m:sSupPr>
                      <m:e>
                        <m:r>
                          <a:rPr>
                            <a:latin typeface="Cambria Math" panose="02040503050406030204" pitchFamily="18" charset="0"/>
                          </a:rPr>
                          <m:t>𝑚</m:t>
                        </m:r>
                      </m:e>
                      <m:sup>
                        <m:r>
                          <a:rPr>
                            <a:latin typeface="Cambria Math" panose="02040503050406030204" pitchFamily="18" charset="0"/>
                          </a:rPr>
                          <m:t>2</m:t>
                        </m:r>
                      </m:sup>
                    </m:sSup>
                  </m:oMath>
                </a14:m>
                <a:r>
                  <a:rPr dirty="0"/>
                  <a:t> de </a:t>
                </a:r>
                <a:r>
                  <a:rPr dirty="0" err="1"/>
                  <a:t>sobreloja</a:t>
                </a:r>
                <a:r>
                  <a:rPr dirty="0"/>
                  <a:t> (</a:t>
                </a:r>
                <a:r>
                  <a:rPr dirty="0" err="1"/>
                  <a:t>mezzanino</a:t>
                </a:r>
                <a:r>
                  <a:rPr dirty="0"/>
                  <a:t>)</a:t>
                </a:r>
              </a:p>
              <a:p>
                <a:pPr lvl="0"/>
                <a:r>
                  <a:rPr dirty="0" err="1"/>
                  <a:t>Solução</a:t>
                </a:r>
                <a:r>
                  <a:rPr dirty="0"/>
                  <a:t>:</a:t>
                </a:r>
              </a:p>
              <a:p>
                <a:pPr lvl="1"/>
                <a14:m>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𝑆</m:t>
                        </m:r>
                      </m:e>
                      <m:sub>
                        <m:r>
                          <a:rPr>
                            <a:latin typeface="Cambria Math" panose="02040503050406030204" pitchFamily="18" charset="0"/>
                          </a:rPr>
                          <m:t>h</m:t>
                        </m:r>
                        <m:r>
                          <a:rPr>
                            <a:latin typeface="Cambria Math" panose="02040503050406030204" pitchFamily="18" charset="0"/>
                          </a:rPr>
                          <m:t>𝑜𝑚</m:t>
                        </m:r>
                      </m:sub>
                    </m:sSub>
                    <m:r>
                      <a:rPr>
                        <a:latin typeface="Cambria Math" panose="02040503050406030204" pitchFamily="18" charset="0"/>
                      </a:rPr>
                      <m:t>=</m:t>
                    </m:r>
                    <m:rad>
                      <m:radPr>
                        <m:degHide m:val="on"/>
                        <m:ctrlPr>
                          <a:rPr i="1">
                            <a:latin typeface="Cambria Math" panose="02040503050406030204" pitchFamily="18" charset="0"/>
                          </a:rPr>
                        </m:ctrlPr>
                      </m:radPr>
                      <m:deg/>
                      <m:e>
                        <m:r>
                          <a:rPr>
                            <a:latin typeface="Cambria Math" panose="02040503050406030204" pitchFamily="18" charset="0"/>
                          </a:rPr>
                          <m:t>8</m:t>
                        </m:r>
                        <m:r>
                          <a:rPr>
                            <a:latin typeface="Cambria Math" panose="02040503050406030204" pitchFamily="18" charset="0"/>
                          </a:rPr>
                          <m:t>.</m:t>
                        </m:r>
                        <m:r>
                          <a:rPr>
                            <a:latin typeface="Cambria Math" panose="02040503050406030204" pitchFamily="18" charset="0"/>
                          </a:rPr>
                          <m:t>180</m:t>
                        </m:r>
                        <m:r>
                          <a:rPr>
                            <a:latin typeface="Cambria Math" panose="02040503050406030204" pitchFamily="18" charset="0"/>
                          </a:rPr>
                          <m:t>.</m:t>
                        </m:r>
                        <m:r>
                          <a:rPr>
                            <a:latin typeface="Cambria Math" panose="02040503050406030204" pitchFamily="18" charset="0"/>
                          </a:rPr>
                          <m:t>20</m:t>
                        </m:r>
                      </m:e>
                    </m:rad>
                    <m:r>
                      <a:rPr>
                        <a:latin typeface="Cambria Math" panose="02040503050406030204" pitchFamily="18" charset="0"/>
                      </a:rPr>
                      <m:t>+</m:t>
                    </m:r>
                    <m:r>
                      <a:rPr>
                        <a:latin typeface="Cambria Math" panose="02040503050406030204" pitchFamily="18" charset="0"/>
                      </a:rPr>
                      <m:t>50</m:t>
                    </m:r>
                    <m:r>
                      <a:rPr>
                        <a:latin typeface="Cambria Math" panose="02040503050406030204" pitchFamily="18" charset="0"/>
                      </a:rPr>
                      <m:t>/</m:t>
                    </m:r>
                    <m:r>
                      <a:rPr>
                        <a:latin typeface="Cambria Math" panose="02040503050406030204" pitchFamily="18" charset="0"/>
                      </a:rPr>
                      <m:t>2</m:t>
                    </m:r>
                  </m:oMath>
                </a14:m>
                <a:endParaRPr dirty="0"/>
              </a:p>
              <a:p>
                <a:pPr lvl="1"/>
                <a14:m>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𝑆</m:t>
                        </m:r>
                      </m:e>
                      <m:sub>
                        <m:r>
                          <a:rPr>
                            <a:latin typeface="Cambria Math" panose="02040503050406030204" pitchFamily="18" charset="0"/>
                          </a:rPr>
                          <m:t>h</m:t>
                        </m:r>
                        <m:r>
                          <a:rPr>
                            <a:latin typeface="Cambria Math" panose="02040503050406030204" pitchFamily="18" charset="0"/>
                          </a:rPr>
                          <m:t>𝑜𝑚</m:t>
                        </m:r>
                      </m:sub>
                    </m:sSub>
                    <m:r>
                      <a:rPr>
                        <a:latin typeface="Cambria Math" panose="02040503050406030204" pitchFamily="18" charset="0"/>
                      </a:rPr>
                      <m:t>=</m:t>
                    </m:r>
                    <m:r>
                      <a:rPr>
                        <a:latin typeface="Cambria Math" panose="02040503050406030204" pitchFamily="18" charset="0"/>
                      </a:rPr>
                      <m:t>169</m:t>
                    </m:r>
                    <m:r>
                      <a:rPr>
                        <a:latin typeface="Cambria Math" panose="02040503050406030204" pitchFamily="18" charset="0"/>
                      </a:rPr>
                      <m:t>,</m:t>
                    </m:r>
                    <m:r>
                      <a:rPr>
                        <a:latin typeface="Cambria Math" panose="02040503050406030204" pitchFamily="18" charset="0"/>
                      </a:rPr>
                      <m:t>70</m:t>
                    </m:r>
                    <m:r>
                      <a:rPr>
                        <a:latin typeface="Cambria Math" panose="02040503050406030204" pitchFamily="18" charset="0"/>
                      </a:rPr>
                      <m:t>+</m:t>
                    </m:r>
                    <m:r>
                      <a:rPr>
                        <a:latin typeface="Cambria Math" panose="02040503050406030204" pitchFamily="18" charset="0"/>
                      </a:rPr>
                      <m:t>25</m:t>
                    </m:r>
                    <m:r>
                      <a:rPr>
                        <a:latin typeface="Cambria Math" panose="02040503050406030204" pitchFamily="18" charset="0"/>
                      </a:rPr>
                      <m:t>=</m:t>
                    </m:r>
                    <m:r>
                      <a:rPr>
                        <a:latin typeface="Cambria Math" panose="02040503050406030204" pitchFamily="18" charset="0"/>
                      </a:rPr>
                      <m:t>194</m:t>
                    </m:r>
                    <m:r>
                      <a:rPr>
                        <a:latin typeface="Cambria Math" panose="02040503050406030204" pitchFamily="18" charset="0"/>
                      </a:rPr>
                      <m:t>,</m:t>
                    </m:r>
                    <m:r>
                      <a:rPr>
                        <a:latin typeface="Cambria Math" panose="02040503050406030204" pitchFamily="18" charset="0"/>
                      </a:rPr>
                      <m:t>70</m:t>
                    </m:r>
                    <m:sSup>
                      <m:sSupPr>
                        <m:ctrlPr>
                          <a:rPr i="1">
                            <a:latin typeface="Cambria Math" panose="02040503050406030204" pitchFamily="18" charset="0"/>
                          </a:rPr>
                        </m:ctrlPr>
                      </m:sSupPr>
                      <m:e>
                        <m:r>
                          <a:rPr>
                            <a:latin typeface="Cambria Math" panose="02040503050406030204" pitchFamily="18" charset="0"/>
                          </a:rPr>
                          <m:t>𝑚</m:t>
                        </m:r>
                      </m:e>
                      <m:sup>
                        <m:r>
                          <a:rPr>
                            <a:latin typeface="Cambria Math" panose="02040503050406030204" pitchFamily="18" charset="0"/>
                          </a:rPr>
                          <m:t>2</m:t>
                        </m:r>
                      </m:sup>
                    </m:sSup>
                  </m:oMath>
                </a14:m>
                <a:endParaRPr dirty="0"/>
              </a:p>
              <a:p>
                <a:pPr lvl="1"/>
                <a14:m>
                  <m:oMath xmlns:m="http://schemas.openxmlformats.org/officeDocument/2006/math">
                    <m:r>
                      <a:rPr>
                        <a:latin typeface="Cambria Math" panose="02040503050406030204" pitchFamily="18" charset="0"/>
                      </a:rPr>
                      <m:t>𝑉𝑙</m:t>
                    </m:r>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𝑆</m:t>
                        </m:r>
                      </m:e>
                      <m:sub>
                        <m:r>
                          <a:rPr>
                            <a:latin typeface="Cambria Math" panose="02040503050406030204" pitchFamily="18" charset="0"/>
                          </a:rPr>
                          <m:t>h</m:t>
                        </m:r>
                        <m:r>
                          <a:rPr>
                            <a:latin typeface="Cambria Math" panose="02040503050406030204" pitchFamily="18" charset="0"/>
                          </a:rPr>
                          <m:t>𝑜𝑚</m:t>
                        </m:r>
                      </m:sub>
                    </m:sSub>
                    <m:r>
                      <a:rPr>
                        <a:latin typeface="Cambria Math" panose="02040503050406030204" pitchFamily="18" charset="0"/>
                      </a:rPr>
                      <m:t>.</m:t>
                    </m:r>
                    <m:r>
                      <a:rPr>
                        <a:latin typeface="Cambria Math" panose="02040503050406030204" pitchFamily="18" charset="0"/>
                      </a:rPr>
                      <m:t>𝑉</m:t>
                    </m:r>
                    <m:sSub>
                      <m:sSubPr>
                        <m:ctrlPr>
                          <a:rPr i="1">
                            <a:latin typeface="Cambria Math" panose="02040503050406030204" pitchFamily="18" charset="0"/>
                          </a:rPr>
                        </m:ctrlPr>
                      </m:sSubPr>
                      <m:e>
                        <m:r>
                          <a:rPr>
                            <a:latin typeface="Cambria Math" panose="02040503050406030204" pitchFamily="18" charset="0"/>
                          </a:rPr>
                          <m:t>𝑈</m:t>
                        </m:r>
                      </m:e>
                      <m:sub>
                        <m:r>
                          <a:rPr>
                            <a:latin typeface="Cambria Math" panose="02040503050406030204" pitchFamily="18" charset="0"/>
                          </a:rPr>
                          <m:t>h</m:t>
                        </m:r>
                        <m:r>
                          <a:rPr>
                            <a:latin typeface="Cambria Math" panose="02040503050406030204" pitchFamily="18" charset="0"/>
                          </a:rPr>
                          <m:t>𝑜𝑚</m:t>
                        </m:r>
                      </m:sub>
                    </m:sSub>
                    <m:r>
                      <a:rPr>
                        <a:latin typeface="Cambria Math" panose="02040503050406030204" pitchFamily="18" charset="0"/>
                      </a:rPr>
                      <m:t>=</m:t>
                    </m:r>
                    <m:r>
                      <a:rPr>
                        <a:latin typeface="Cambria Math" panose="02040503050406030204" pitchFamily="18" charset="0"/>
                      </a:rPr>
                      <m:t>194</m:t>
                    </m:r>
                    <m:r>
                      <a:rPr>
                        <a:latin typeface="Cambria Math" panose="02040503050406030204" pitchFamily="18" charset="0"/>
                      </a:rPr>
                      <m:t>,</m:t>
                    </m:r>
                    <m:r>
                      <a:rPr>
                        <a:latin typeface="Cambria Math" panose="02040503050406030204" pitchFamily="18" charset="0"/>
                      </a:rPr>
                      <m:t>70</m:t>
                    </m:r>
                    <m:r>
                      <a:rPr>
                        <a:latin typeface="Cambria Math" panose="02040503050406030204" pitchFamily="18" charset="0"/>
                      </a:rPr>
                      <m:t>×</m:t>
                    </m:r>
                    <m:r>
                      <a:rPr>
                        <a:latin typeface="Cambria Math" panose="02040503050406030204" pitchFamily="18" charset="0"/>
                      </a:rPr>
                      <m:t>4</m:t>
                    </m:r>
                    <m:r>
                      <a:rPr>
                        <a:latin typeface="Cambria Math" panose="02040503050406030204" pitchFamily="18" charset="0"/>
                      </a:rPr>
                      <m:t>,</m:t>
                    </m:r>
                    <m:r>
                      <a:rPr>
                        <a:latin typeface="Cambria Math" panose="02040503050406030204" pitchFamily="18" charset="0"/>
                      </a:rPr>
                      <m:t>01</m:t>
                    </m:r>
                  </m:oMath>
                </a14:m>
                <a:endParaRPr dirty="0"/>
              </a:p>
              <a:p>
                <a:pPr lvl="1"/>
                <a14:m>
                  <m:oMath xmlns:m="http://schemas.openxmlformats.org/officeDocument/2006/math">
                    <m:r>
                      <a:rPr>
                        <a:latin typeface="Cambria Math" panose="02040503050406030204" pitchFamily="18" charset="0"/>
                      </a:rPr>
                      <m:t>𝑉𝑙</m:t>
                    </m:r>
                    <m:r>
                      <a:rPr>
                        <a:latin typeface="Cambria Math" panose="02040503050406030204" pitchFamily="18" charset="0"/>
                      </a:rPr>
                      <m:t>≈</m:t>
                    </m:r>
                    <m:r>
                      <m:rPr>
                        <m:nor/>
                      </m:rPr>
                      <a:rPr/>
                      <m:t>R</m:t>
                    </m:r>
                    <m:r>
                      <m:rPr>
                        <m:nor/>
                      </m:rPr>
                      <a:rPr/>
                      <m:t>$ </m:t>
                    </m:r>
                    <m:r>
                      <a:rPr>
                        <a:latin typeface="Cambria Math" panose="02040503050406030204" pitchFamily="18" charset="0"/>
                      </a:rPr>
                      <m:t>780</m:t>
                    </m:r>
                    <m:r>
                      <a:rPr>
                        <a:latin typeface="Cambria Math" panose="02040503050406030204" pitchFamily="18" charset="0"/>
                      </a:rPr>
                      <m:t>,</m:t>
                    </m:r>
                    <m:r>
                      <a:rPr>
                        <a:latin typeface="Cambria Math" panose="02040503050406030204" pitchFamily="18" charset="0"/>
                      </a:rPr>
                      <m:t>75</m:t>
                    </m:r>
                  </m:oMath>
                </a14:m>
                <a:endParaRPr dirty="0"/>
              </a:p>
            </p:txBody>
          </p:sp>
        </mc:Choice>
        <mc:Fallback>
          <p:sp>
            <p:nvSpPr>
              <p:cNvPr id="3" name="Content Placeholder 2">
                <a:extLst>
                  <a:ext uri="{FF2B5EF4-FFF2-40B4-BE49-F238E27FC236}">
                    <a16:creationId xmlns:a16="http://schemas.microsoft.com/office/drawing/2014/main" id="{06E5C504-58F1-2318-F264-E17A9AABC74B}"/>
                  </a:ext>
                </a:extLst>
              </p:cNvPr>
              <p:cNvSpPr>
                <a:spLocks noGrp="1" noRot="1" noChangeAspect="1" noMove="1" noResize="1" noEditPoints="1" noAdjustHandles="1" noChangeArrowheads="1" noChangeShapeType="1" noTextEdit="1"/>
              </p:cNvSpPr>
              <p:nvPr>
                <p:ph idx="1"/>
              </p:nvPr>
            </p:nvSpPr>
            <p:spPr>
              <a:blipFill>
                <a:blip r:embed="rId2"/>
                <a:stretch>
                  <a:fillRect l="-812" t="-2141"/>
                </a:stretch>
              </a:blipFill>
            </p:spPr>
            <p:txBody>
              <a:bodyPr/>
              <a:lstStyle/>
              <a:p>
                <a:r>
                  <a:rPr lang="pt-BR">
                    <a:noFill/>
                  </a:rPr>
                  <a:t> </a:t>
                </a:r>
              </a:p>
            </p:txBody>
          </p:sp>
        </mc:Fallback>
      </mc:AlternateContent>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09A65-87C6-A0D0-64A7-121C4D105C33}"/>
              </a:ext>
            </a:extLst>
          </p:cNvPr>
          <p:cNvSpPr>
            <a:spLocks noGrp="1"/>
          </p:cNvSpPr>
          <p:nvPr>
            <p:ph type="title"/>
          </p:nvPr>
        </p:nvSpPr>
        <p:spPr>
          <a:xfrm>
            <a:off x="7010400" y="1080656"/>
            <a:ext cx="4337050" cy="3481820"/>
          </a:xfrm>
          <a:prstGeom prst="rect">
            <a:avLst/>
          </a:prstGeom>
        </p:spPr>
        <p:txBody>
          <a:bodyPr/>
          <a:lstStyle/>
          <a:p>
            <a:pPr marL="0" lvl="0" indent="0">
              <a:buNone/>
            </a:pPr>
            <a:r>
              <a:t>Cota parte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8ACFA-4A74-9B40-CC3E-92D78F850226}"/>
              </a:ext>
            </a:extLst>
          </p:cNvPr>
          <p:cNvSpPr>
            <a:spLocks noGrp="1"/>
          </p:cNvSpPr>
          <p:nvPr>
            <p:ph type="title"/>
          </p:nvPr>
        </p:nvSpPr>
        <p:spPr>
          <a:xfrm>
            <a:off x="838200" y="983457"/>
            <a:ext cx="10515600" cy="891526"/>
          </a:xfrm>
          <a:prstGeom prst="rect">
            <a:avLst/>
          </a:prstGeom>
        </p:spPr>
        <p:txBody>
          <a:bodyPr/>
          <a:lstStyle/>
          <a:p>
            <a:pPr marL="0" lvl="0" indent="0">
              <a:buNone/>
            </a:pPr>
            <a:r>
              <a:t>Cota parte</a:t>
            </a:r>
          </a:p>
        </p:txBody>
      </p:sp>
      <p:sp>
        <p:nvSpPr>
          <p:cNvPr id="3" name="Content Placeholder 2">
            <a:extLst>
              <a:ext uri="{FF2B5EF4-FFF2-40B4-BE49-F238E27FC236}">
                <a16:creationId xmlns:a16="http://schemas.microsoft.com/office/drawing/2014/main" id="{06E5C504-58F1-2318-F264-E17A9AABC74B}"/>
              </a:ext>
            </a:extLst>
          </p:cNvPr>
          <p:cNvSpPr>
            <a:spLocks noGrp="1"/>
          </p:cNvSpPr>
          <p:nvPr>
            <p:ph idx="1"/>
          </p:nvPr>
        </p:nvSpPr>
        <p:spPr/>
        <p:txBody>
          <a:bodyPr/>
          <a:lstStyle/>
          <a:p>
            <a:pPr lvl="0"/>
            <a:r>
              <a:t>Em muitos casos a avaliação desejada é de uma unidade do edifício e não do seu todo</a:t>
            </a:r>
          </a:p>
          <a:p>
            <a:pPr lvl="0"/>
            <a:r>
              <a:t>Assim surge o problema, nos casos de aplicação do método evolutivo, de saber qual cota-parte do terreno cabe àquela unidade que se deseja avaliar.</a:t>
            </a:r>
          </a:p>
          <a:p>
            <a:pPr lvl="0"/>
            <a:r>
              <a:t>Matematicamente:</a:t>
            </a:r>
          </a:p>
          <a:p>
            <a:pPr lvl="1"/>
            <a14:m xmlns:a14="http://schemas.microsoft.com/office/drawing/2010/main">
              <m:oMath xmlns:m="http://schemas.openxmlformats.org/officeDocument/2006/math">
                <m:r>
                  <a:rPr>
                    <a:latin typeface="Cambria Math" panose="02040503050406030204" pitchFamily="18" charset="0"/>
                  </a:rPr>
                  <m:t>𝐶𝑃</m:t>
                </m:r>
                <m:r>
                  <a:rPr>
                    <a:latin typeface="Cambria Math" panose="02040503050406030204" pitchFamily="18" charset="0"/>
                  </a:rPr>
                  <m:t>=</m:t>
                </m:r>
                <m:f>
                  <m:fPr>
                    <m:ctrlPr>
                      <a:rPr i="1">
                        <a:latin typeface="Cambria Math" panose="02040503050406030204" pitchFamily="18" charset="0"/>
                      </a:rPr>
                    </m:ctrlPr>
                  </m:fPr>
                  <m:num>
                    <m:sSub>
                      <m:sSubPr>
                        <m:ctrlPr>
                          <a:rPr i="1">
                            <a:latin typeface="Cambria Math" panose="02040503050406030204" pitchFamily="18" charset="0"/>
                          </a:rPr>
                        </m:ctrlPr>
                      </m:sSubPr>
                      <m:e>
                        <m:r>
                          <a:rPr>
                            <a:latin typeface="Cambria Math" panose="02040503050406030204" pitchFamily="18" charset="0"/>
                          </a:rPr>
                          <m:t>𝐴</m:t>
                        </m:r>
                      </m:e>
                      <m:sub>
                        <m:r>
                          <a:rPr>
                            <a:latin typeface="Cambria Math" panose="02040503050406030204" pitchFamily="18" charset="0"/>
                          </a:rPr>
                          <m:t>h</m:t>
                        </m:r>
                        <m:r>
                          <a:rPr>
                            <a:latin typeface="Cambria Math" panose="02040503050406030204" pitchFamily="18" charset="0"/>
                          </a:rPr>
                          <m:t>𝑢</m:t>
                        </m:r>
                      </m:sub>
                    </m:sSub>
                  </m:num>
                  <m:den>
                    <m:sSub>
                      <m:sSubPr>
                        <m:ctrlPr>
                          <a:rPr i="1">
                            <a:latin typeface="Cambria Math" panose="02040503050406030204" pitchFamily="18" charset="0"/>
                          </a:rPr>
                        </m:ctrlPr>
                      </m:sSubPr>
                      <m:e>
                        <m:r>
                          <a:rPr>
                            <a:latin typeface="Cambria Math" panose="02040503050406030204" pitchFamily="18" charset="0"/>
                          </a:rPr>
                          <m:t>𝐴</m:t>
                        </m:r>
                      </m:e>
                      <m:sub>
                        <m:r>
                          <a:rPr>
                            <a:latin typeface="Cambria Math" panose="02040503050406030204" pitchFamily="18" charset="0"/>
                          </a:rPr>
                          <m:t>h</m:t>
                        </m:r>
                        <m:r>
                          <a:rPr>
                            <a:latin typeface="Cambria Math" panose="02040503050406030204" pitchFamily="18" charset="0"/>
                          </a:rPr>
                          <m:t>𝑡</m:t>
                        </m:r>
                      </m:sub>
                    </m:sSub>
                  </m:den>
                </m:f>
                <m:r>
                  <a:rPr>
                    <a:latin typeface="Cambria Math" panose="02040503050406030204" pitchFamily="18" charset="0"/>
                  </a:rPr>
                  <m:t>;  </m:t>
                </m:r>
                <m:r>
                  <a:rPr>
                    <a:latin typeface="Cambria Math" panose="02040503050406030204" pitchFamily="18" charset="0"/>
                  </a:rPr>
                  <m:t>𝐶</m:t>
                </m:r>
                <m:sSub>
                  <m:sSubPr>
                    <m:ctrlPr>
                      <a:rPr i="1">
                        <a:latin typeface="Cambria Math" panose="02040503050406030204" pitchFamily="18" charset="0"/>
                      </a:rPr>
                    </m:ctrlPr>
                  </m:sSubPr>
                  <m:e>
                    <m:r>
                      <a:rPr>
                        <a:latin typeface="Cambria Math" panose="02040503050406030204" pitchFamily="18" charset="0"/>
                      </a:rPr>
                      <m:t>𝑇</m:t>
                    </m:r>
                  </m:e>
                  <m:sub>
                    <m:r>
                      <a:rPr>
                        <a:latin typeface="Cambria Math" panose="02040503050406030204" pitchFamily="18" charset="0"/>
                      </a:rPr>
                      <m:t>𝑢𝑛</m:t>
                    </m:r>
                  </m:sub>
                </m:sSub>
                <m:r>
                  <a:rPr>
                    <a:latin typeface="Cambria Math" panose="02040503050406030204" pitchFamily="18" charset="0"/>
                  </a:rPr>
                  <m:t>=</m:t>
                </m:r>
                <m:r>
                  <a:rPr>
                    <a:latin typeface="Cambria Math" panose="02040503050406030204" pitchFamily="18" charset="0"/>
                  </a:rPr>
                  <m:t>𝐶𝑇</m:t>
                </m:r>
                <m:r>
                  <a:rPr>
                    <a:latin typeface="Cambria Math" panose="02040503050406030204" pitchFamily="18" charset="0"/>
                  </a:rPr>
                  <m:t>.</m:t>
                </m:r>
                <m:r>
                  <a:rPr>
                    <a:latin typeface="Cambria Math" panose="02040503050406030204" pitchFamily="18" charset="0"/>
                  </a:rPr>
                  <m:t>𝐶𝑃</m:t>
                </m:r>
              </m:oMath>
            </a14:m>
            <a:endParaRPr/>
          </a:p>
          <a:p>
            <a:pPr lvl="2"/>
            <a:r>
              <a:t>CP: Cota-Parte</a:t>
            </a:r>
          </a:p>
          <a:p>
            <a:pPr lvl="2"/>
            <a:r>
              <a:t>CT: Capital Terreno (Total)</a:t>
            </a:r>
          </a:p>
          <a:p>
            <a:pPr lvl="2"/>
            <a:r>
              <a:t>CTun: Capital Terreno correspondente à unidade em análise</a:t>
            </a:r>
          </a:p>
          <a:p>
            <a:pPr lvl="2"/>
            <a:r>
              <a:t>Ahu: área homogeneizada da unidade</a:t>
            </a:r>
          </a:p>
          <a:p>
            <a:pPr lvl="2"/>
            <a:r>
              <a:t>Aht: área homogeneizada total</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8ACFA-4A74-9B40-CC3E-92D78F850226}"/>
              </a:ext>
            </a:extLst>
          </p:cNvPr>
          <p:cNvSpPr>
            <a:spLocks noGrp="1"/>
          </p:cNvSpPr>
          <p:nvPr>
            <p:ph type="title"/>
          </p:nvPr>
        </p:nvSpPr>
        <p:spPr>
          <a:xfrm>
            <a:off x="838200" y="983457"/>
            <a:ext cx="10515600" cy="891526"/>
          </a:xfrm>
          <a:prstGeom prst="rect">
            <a:avLst/>
          </a:prstGeom>
        </p:spPr>
        <p:txBody>
          <a:bodyPr/>
          <a:lstStyle/>
          <a:p>
            <a:pPr marL="0" lvl="0" indent="0">
              <a:buNone/>
            </a:pPr>
            <a:r>
              <a:t>Exemplo</a:t>
            </a:r>
          </a:p>
        </p:txBody>
      </p:sp>
      <p:sp>
        <p:nvSpPr>
          <p:cNvPr id="3" name="Content Placeholder 2">
            <a:extLst>
              <a:ext uri="{FF2B5EF4-FFF2-40B4-BE49-F238E27FC236}">
                <a16:creationId xmlns:a16="http://schemas.microsoft.com/office/drawing/2014/main" id="{06E5C504-58F1-2318-F264-E17A9AABC74B}"/>
              </a:ext>
            </a:extLst>
          </p:cNvPr>
          <p:cNvSpPr>
            <a:spLocks noGrp="1"/>
          </p:cNvSpPr>
          <p:nvPr>
            <p:ph idx="1"/>
          </p:nvPr>
        </p:nvSpPr>
        <p:spPr/>
        <p:txBody>
          <a:bodyPr/>
          <a:lstStyle/>
          <a:p>
            <a:pPr lvl="0"/>
            <a:r>
              <a:t>Cálcular a Cota Parte do Térreo num edifício composto de um terreno de 400m2, com área construída de 200m2 no térreo e superiores de 400m2.</a:t>
            </a:r>
          </a:p>
          <a:p>
            <a:pPr lvl="0"/>
            <a:r>
              <a:t>Considerar pesos 3:1</a:t>
            </a:r>
          </a:p>
          <a:p>
            <a:pPr lvl="0"/>
            <a:r>
              <a:t>Solução:</a:t>
            </a:r>
          </a:p>
          <a:p>
            <a:pPr lvl="1"/>
            <a14:m xmlns:a14="http://schemas.microsoft.com/office/drawing/2010/main">
              <m:oMath xmlns:m="http://schemas.openxmlformats.org/officeDocument/2006/math">
                <m:r>
                  <a:rPr>
                    <a:latin typeface="Cambria Math" panose="02040503050406030204" pitchFamily="18" charset="0"/>
                  </a:rPr>
                  <m:t>𝐶𝑃</m:t>
                </m:r>
                <m:r>
                  <a:rPr>
                    <a:latin typeface="Cambria Math" panose="02040503050406030204" pitchFamily="18" charset="0"/>
                  </a:rPr>
                  <m:t>=</m:t>
                </m:r>
                <m:f>
                  <m:fPr>
                    <m:ctrlPr>
                      <a:rPr i="1">
                        <a:latin typeface="Cambria Math" panose="02040503050406030204" pitchFamily="18" charset="0"/>
                      </a:rPr>
                    </m:ctrlPr>
                  </m:fPr>
                  <m:num>
                    <m:sSub>
                      <m:sSubPr>
                        <m:ctrlPr>
                          <a:rPr i="1">
                            <a:latin typeface="Cambria Math" panose="02040503050406030204" pitchFamily="18" charset="0"/>
                          </a:rPr>
                        </m:ctrlPr>
                      </m:sSubPr>
                      <m:e>
                        <m:r>
                          <a:rPr>
                            <a:latin typeface="Cambria Math" panose="02040503050406030204" pitchFamily="18" charset="0"/>
                          </a:rPr>
                          <m:t>𝐴</m:t>
                        </m:r>
                      </m:e>
                      <m:sub>
                        <m:r>
                          <a:rPr>
                            <a:latin typeface="Cambria Math" panose="02040503050406030204" pitchFamily="18" charset="0"/>
                          </a:rPr>
                          <m:t>h</m:t>
                        </m:r>
                        <m:r>
                          <a:rPr>
                            <a:latin typeface="Cambria Math" panose="02040503050406030204" pitchFamily="18" charset="0"/>
                          </a:rPr>
                          <m:t>𝑢</m:t>
                        </m:r>
                      </m:sub>
                    </m:sSub>
                  </m:num>
                  <m:den>
                    <m:sSub>
                      <m:sSubPr>
                        <m:ctrlPr>
                          <a:rPr i="1">
                            <a:latin typeface="Cambria Math" panose="02040503050406030204" pitchFamily="18" charset="0"/>
                          </a:rPr>
                        </m:ctrlPr>
                      </m:sSubPr>
                      <m:e>
                        <m:r>
                          <a:rPr>
                            <a:latin typeface="Cambria Math" panose="02040503050406030204" pitchFamily="18" charset="0"/>
                          </a:rPr>
                          <m:t>𝐴</m:t>
                        </m:r>
                      </m:e>
                      <m:sub>
                        <m:r>
                          <a:rPr>
                            <a:latin typeface="Cambria Math" panose="02040503050406030204" pitchFamily="18" charset="0"/>
                          </a:rPr>
                          <m:t>h</m:t>
                        </m:r>
                        <m:r>
                          <a:rPr>
                            <a:latin typeface="Cambria Math" panose="02040503050406030204" pitchFamily="18" charset="0"/>
                          </a:rPr>
                          <m:t>𝑡</m:t>
                        </m:r>
                      </m:sub>
                    </m:sSub>
                  </m:den>
                </m:f>
                <m:r>
                  <a:rPr>
                    <a:latin typeface="Cambria Math" panose="02040503050406030204" pitchFamily="18" charset="0"/>
                  </a:rPr>
                  <m:t>=</m:t>
                </m:r>
                <m:f>
                  <m:fPr>
                    <m:ctrlPr>
                      <a:rPr i="1">
                        <a:latin typeface="Cambria Math" panose="02040503050406030204" pitchFamily="18" charset="0"/>
                      </a:rPr>
                    </m:ctrlPr>
                  </m:fPr>
                  <m:num>
                    <m:sSub>
                      <m:sSubPr>
                        <m:ctrlPr>
                          <a:rPr i="1">
                            <a:latin typeface="Cambria Math" panose="02040503050406030204" pitchFamily="18" charset="0"/>
                          </a:rPr>
                        </m:ctrlPr>
                      </m:sSubPr>
                      <m:e>
                        <m:r>
                          <a:rPr>
                            <a:latin typeface="Cambria Math" panose="02040503050406030204" pitchFamily="18" charset="0"/>
                          </a:rPr>
                          <m:t>𝐴</m:t>
                        </m:r>
                      </m:e>
                      <m:sub>
                        <m:r>
                          <a:rPr>
                            <a:latin typeface="Cambria Math" panose="02040503050406030204" pitchFamily="18" charset="0"/>
                          </a:rPr>
                          <m:t>𝑇𝑒𝑟𝑟𝑒𝑜</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𝑝</m:t>
                        </m:r>
                      </m:e>
                      <m:sub>
                        <m:r>
                          <a:rPr>
                            <a:latin typeface="Cambria Math" panose="02040503050406030204" pitchFamily="18" charset="0"/>
                          </a:rPr>
                          <m:t>𝑇𝑒𝑟𝑟𝑒𝑜</m:t>
                        </m:r>
                      </m:sub>
                    </m:sSub>
                  </m:num>
                  <m:den>
                    <m:sSub>
                      <m:sSubPr>
                        <m:ctrlPr>
                          <a:rPr i="1">
                            <a:latin typeface="Cambria Math" panose="02040503050406030204" pitchFamily="18" charset="0"/>
                          </a:rPr>
                        </m:ctrlPr>
                      </m:sSubPr>
                      <m:e>
                        <m:r>
                          <a:rPr>
                            <a:latin typeface="Cambria Math" panose="02040503050406030204" pitchFamily="18" charset="0"/>
                          </a:rPr>
                          <m:t>𝐴</m:t>
                        </m:r>
                      </m:e>
                      <m:sub>
                        <m:r>
                          <a:rPr>
                            <a:latin typeface="Cambria Math" panose="02040503050406030204" pitchFamily="18" charset="0"/>
                          </a:rPr>
                          <m:t>𝑇𝑒𝑟𝑟𝑒𝑜</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𝑝</m:t>
                        </m:r>
                      </m:e>
                      <m:sub>
                        <m:r>
                          <a:rPr>
                            <a:latin typeface="Cambria Math" panose="02040503050406030204" pitchFamily="18" charset="0"/>
                          </a:rPr>
                          <m:t>𝑇𝑒𝑟𝑟𝑒𝑜</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𝐴</m:t>
                        </m:r>
                      </m:e>
                      <m:sub>
                        <m:r>
                          <a:rPr>
                            <a:latin typeface="Cambria Math" panose="02040503050406030204" pitchFamily="18" charset="0"/>
                          </a:rPr>
                          <m:t>𝑆𝑢𝑝𝑒𝑟𝑖𝑜𝑟𝑒𝑠</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𝑝</m:t>
                        </m:r>
                      </m:e>
                      <m:sub>
                        <m:r>
                          <a:rPr>
                            <a:latin typeface="Cambria Math" panose="02040503050406030204" pitchFamily="18" charset="0"/>
                          </a:rPr>
                          <m:t>𝑆𝑢𝑝𝑒𝑟𝑖𝑜𝑟𝑒𝑠</m:t>
                        </m:r>
                      </m:sub>
                    </m:sSub>
                  </m:den>
                </m:f>
              </m:oMath>
            </a14:m>
            <a:endParaRPr/>
          </a:p>
          <a:p>
            <a:pPr lvl="1"/>
            <a14:m xmlns:a14="http://schemas.microsoft.com/office/drawing/2010/main">
              <m:oMath xmlns:m="http://schemas.openxmlformats.org/officeDocument/2006/math">
                <m:r>
                  <a:rPr>
                    <a:latin typeface="Cambria Math" panose="02040503050406030204" pitchFamily="18" charset="0"/>
                  </a:rPr>
                  <m:t>𝐶𝑃</m:t>
                </m:r>
                <m:r>
                  <a:rPr>
                    <a:latin typeface="Cambria Math" panose="02040503050406030204" pitchFamily="18" charset="0"/>
                  </a:rPr>
                  <m:t>=</m:t>
                </m:r>
                <m:f>
                  <m:fPr>
                    <m:ctrlPr>
                      <a:rPr i="1">
                        <a:latin typeface="Cambria Math" panose="02040503050406030204" pitchFamily="18" charset="0"/>
                      </a:rPr>
                    </m:ctrlPr>
                  </m:fPr>
                  <m:num>
                    <m:r>
                      <a:rPr>
                        <a:latin typeface="Cambria Math" panose="02040503050406030204" pitchFamily="18" charset="0"/>
                      </a:rPr>
                      <m:t>200</m:t>
                    </m:r>
                    <m:r>
                      <a:rPr>
                        <a:latin typeface="Cambria Math" panose="02040503050406030204" pitchFamily="18" charset="0"/>
                      </a:rPr>
                      <m:t>.</m:t>
                    </m:r>
                    <m:r>
                      <a:rPr>
                        <a:latin typeface="Cambria Math" panose="02040503050406030204" pitchFamily="18" charset="0"/>
                      </a:rPr>
                      <m:t>3</m:t>
                    </m:r>
                  </m:num>
                  <m:den>
                    <m:r>
                      <a:rPr>
                        <a:latin typeface="Cambria Math" panose="02040503050406030204" pitchFamily="18" charset="0"/>
                      </a:rPr>
                      <m:t>200</m:t>
                    </m:r>
                    <m:r>
                      <a:rPr>
                        <a:latin typeface="Cambria Math" panose="02040503050406030204" pitchFamily="18" charset="0"/>
                      </a:rPr>
                      <m:t>.</m:t>
                    </m:r>
                    <m:r>
                      <a:rPr>
                        <a:latin typeface="Cambria Math" panose="02040503050406030204" pitchFamily="18" charset="0"/>
                      </a:rPr>
                      <m:t>3</m:t>
                    </m:r>
                    <m:r>
                      <a:rPr>
                        <a:latin typeface="Cambria Math" panose="02040503050406030204" pitchFamily="18" charset="0"/>
                      </a:rPr>
                      <m:t>+</m:t>
                    </m:r>
                    <m:r>
                      <a:rPr>
                        <a:latin typeface="Cambria Math" panose="02040503050406030204" pitchFamily="18" charset="0"/>
                      </a:rPr>
                      <m:t>400</m:t>
                    </m:r>
                    <m:r>
                      <a:rPr>
                        <a:latin typeface="Cambria Math" panose="02040503050406030204" pitchFamily="18" charset="0"/>
                      </a:rPr>
                      <m:t>.</m:t>
                    </m:r>
                    <m:r>
                      <a:rPr>
                        <a:latin typeface="Cambria Math" panose="02040503050406030204" pitchFamily="18" charset="0"/>
                      </a:rPr>
                      <m:t>1</m:t>
                    </m:r>
                  </m:den>
                </m:f>
                <m:r>
                  <a:rPr>
                    <a:latin typeface="Cambria Math" panose="02040503050406030204" pitchFamily="18" charset="0"/>
                  </a:rPr>
                  <m:t>=</m:t>
                </m:r>
                <m:f>
                  <m:fPr>
                    <m:ctrlPr>
                      <a:rPr i="1">
                        <a:latin typeface="Cambria Math" panose="02040503050406030204" pitchFamily="18" charset="0"/>
                      </a:rPr>
                    </m:ctrlPr>
                  </m:fPr>
                  <m:num>
                    <m:r>
                      <a:rPr>
                        <a:latin typeface="Cambria Math" panose="02040503050406030204" pitchFamily="18" charset="0"/>
                      </a:rPr>
                      <m:t>600</m:t>
                    </m:r>
                  </m:num>
                  <m:den>
                    <m:r>
                      <a:rPr>
                        <a:latin typeface="Cambria Math" panose="02040503050406030204" pitchFamily="18" charset="0"/>
                      </a:rPr>
                      <m:t>1</m:t>
                    </m:r>
                    <m:r>
                      <a:rPr>
                        <a:latin typeface="Cambria Math" panose="02040503050406030204" pitchFamily="18" charset="0"/>
                      </a:rPr>
                      <m:t>.</m:t>
                    </m:r>
                    <m:r>
                      <a:rPr>
                        <a:latin typeface="Cambria Math" panose="02040503050406030204" pitchFamily="18" charset="0"/>
                      </a:rPr>
                      <m:t>000</m:t>
                    </m:r>
                  </m:den>
                </m:f>
                <m:r>
                  <a:rPr>
                    <a:latin typeface="Cambria Math" panose="02040503050406030204" pitchFamily="18" charset="0"/>
                  </a:rPr>
                  <m:t>=</m:t>
                </m:r>
                <m:r>
                  <a:rPr>
                    <a:latin typeface="Cambria Math" panose="02040503050406030204" pitchFamily="18" charset="0"/>
                  </a:rPr>
                  <m:t>60</m:t>
                </m:r>
                <m:r>
                  <a:rPr>
                    <a:latin typeface="Cambria Math" panose="02040503050406030204" pitchFamily="18" charset="0"/>
                  </a:rPr>
                  <m:t>%</m:t>
                </m:r>
              </m:oMath>
            </a14:m>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8ACFA-4A74-9B40-CC3E-92D78F850226}"/>
              </a:ext>
            </a:extLst>
          </p:cNvPr>
          <p:cNvSpPr>
            <a:spLocks noGrp="1"/>
          </p:cNvSpPr>
          <p:nvPr>
            <p:ph type="title"/>
          </p:nvPr>
        </p:nvSpPr>
        <p:spPr>
          <a:xfrm>
            <a:off x="838200" y="983457"/>
            <a:ext cx="10515600" cy="891526"/>
          </a:xfrm>
          <a:prstGeom prst="rect">
            <a:avLst/>
          </a:prstGeom>
        </p:spPr>
        <p:txBody>
          <a:bodyPr/>
          <a:lstStyle/>
          <a:p>
            <a:pPr marL="0" lvl="0" indent="0">
              <a:buNone/>
            </a:pPr>
            <a:r>
              <a:t>Cálculo do aluguel de uma cota parte</a:t>
            </a:r>
          </a:p>
        </p:txBody>
      </p:sp>
      <p:sp>
        <p:nvSpPr>
          <p:cNvPr id="3" name="Content Placeholder 2">
            <a:extLst>
              <a:ext uri="{FF2B5EF4-FFF2-40B4-BE49-F238E27FC236}">
                <a16:creationId xmlns:a16="http://schemas.microsoft.com/office/drawing/2014/main" id="{06E5C504-58F1-2318-F264-E17A9AABC74B}"/>
              </a:ext>
            </a:extLst>
          </p:cNvPr>
          <p:cNvSpPr>
            <a:spLocks noGrp="1"/>
          </p:cNvSpPr>
          <p:nvPr>
            <p:ph idx="1"/>
          </p:nvPr>
        </p:nvSpPr>
        <p:spPr/>
        <p:txBody>
          <a:bodyPr/>
          <a:lstStyle/>
          <a:p>
            <a:pPr lvl="0"/>
            <a:r>
              <a:t>Para o cômputo do aluguel de uma única unidade, pode-se calcular a Cota Parte (CP) da unidade e aplicar ao valor total do Capital Terreno.</a:t>
            </a:r>
          </a:p>
          <a:p>
            <a:pPr lvl="0"/>
            <a:r>
              <a:t>No entanto, se o objetivo for calcular apenas o valor do aluguel da unidade, pode-se calcular o Capital terreno referente à unidade (CTun) diretamente através da fórmula (Candeloro, p.63):</a:t>
            </a:r>
          </a:p>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𝐶</m:t>
                  </m:r>
                  <m:sSub>
                    <m:sSubPr>
                      <m:ctrlPr>
                        <a:rPr i="1">
                          <a:latin typeface="Cambria Math" panose="02040503050406030204" pitchFamily="18" charset="0"/>
                        </a:rPr>
                      </m:ctrlPr>
                    </m:sSubPr>
                    <m:e>
                      <m:r>
                        <a:rPr>
                          <a:latin typeface="Cambria Math" panose="02040503050406030204" pitchFamily="18" charset="0"/>
                        </a:rPr>
                        <m:t>𝑇</m:t>
                      </m:r>
                    </m:e>
                    <m:sub>
                      <m:r>
                        <a:rPr>
                          <a:latin typeface="Cambria Math" panose="02040503050406030204" pitchFamily="18" charset="0"/>
                        </a:rPr>
                        <m:t>𝑢𝑛</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𝑞</m:t>
                      </m:r>
                    </m:e>
                    <m:sub>
                      <m:r>
                        <a:rPr>
                          <a:latin typeface="Cambria Math" panose="02040503050406030204" pitchFamily="18" charset="0"/>
                        </a:rPr>
                        <m:t>𝑡</m:t>
                      </m:r>
                    </m:sub>
                  </m:sSub>
                  <m:r>
                    <a:rPr>
                      <a:latin typeface="Cambria Math" panose="02040503050406030204" pitchFamily="18" charset="0"/>
                    </a:rPr>
                    <m:t>.</m:t>
                  </m:r>
                  <m:f>
                    <m:fPr>
                      <m:ctrlPr>
                        <a:rPr i="1">
                          <a:latin typeface="Cambria Math" panose="02040503050406030204" pitchFamily="18" charset="0"/>
                        </a:rPr>
                      </m:ctrlPr>
                    </m:fPr>
                    <m:num>
                      <m:sSub>
                        <m:sSubPr>
                          <m:ctrlPr>
                            <a:rPr i="1">
                              <a:latin typeface="Cambria Math" panose="02040503050406030204" pitchFamily="18" charset="0"/>
                            </a:rPr>
                          </m:ctrlPr>
                        </m:sSubPr>
                        <m:e>
                          <m:r>
                            <a:rPr>
                              <a:latin typeface="Cambria Math" panose="02040503050406030204" pitchFamily="18" charset="0"/>
                            </a:rPr>
                            <m:t>𝐴</m:t>
                          </m:r>
                        </m:e>
                        <m:sub>
                          <m:r>
                            <a:rPr>
                              <a:latin typeface="Cambria Math" panose="02040503050406030204" pitchFamily="18" charset="0"/>
                            </a:rPr>
                            <m:t>h𝑢</m:t>
                          </m:r>
                        </m:sub>
                      </m:sSub>
                    </m:num>
                    <m:den>
                      <m:r>
                        <a:rPr>
                          <a:latin typeface="Cambria Math" panose="02040503050406030204" pitchFamily="18" charset="0"/>
                        </a:rPr>
                        <m:t>𝑇𝑂</m:t>
                      </m:r>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𝑝</m:t>
                          </m:r>
                        </m:e>
                        <m:sub>
                          <m:r>
                            <a:rPr>
                              <a:latin typeface="Cambria Math" panose="02040503050406030204" pitchFamily="18" charset="0"/>
                            </a:rPr>
                            <m:t>𝑇</m:t>
                          </m:r>
                          <m:r>
                            <a:rPr>
                              <a:latin typeface="Cambria Math" panose="02040503050406030204" pitchFamily="18" charset="0"/>
                            </a:rPr>
                            <m:t>é</m:t>
                          </m:r>
                          <m:r>
                            <a:rPr>
                              <a:latin typeface="Cambria Math" panose="02040503050406030204" pitchFamily="18" charset="0"/>
                            </a:rPr>
                            <m:t>𝑟𝑟𝑒𝑜</m:t>
                          </m:r>
                        </m:sub>
                      </m:sSub>
                      <m:r>
                        <a:rPr>
                          <a:latin typeface="Cambria Math" panose="02040503050406030204" pitchFamily="18" charset="0"/>
                        </a:rPr>
                        <m:t>+</m:t>
                      </m:r>
                      <m:d>
                        <m:dPr>
                          <m:ctrlPr>
                            <a:rPr i="1">
                              <a:latin typeface="Cambria Math" panose="02040503050406030204" pitchFamily="18" charset="0"/>
                            </a:rPr>
                          </m:ctrlPr>
                        </m:dPr>
                        <m:e>
                          <m:r>
                            <a:rPr>
                              <a:latin typeface="Cambria Math" panose="02040503050406030204" pitchFamily="18" charset="0"/>
                            </a:rPr>
                            <m:t>𝐶</m:t>
                          </m:r>
                          <m:sSub>
                            <m:sSubPr>
                              <m:ctrlPr>
                                <a:rPr i="1">
                                  <a:latin typeface="Cambria Math" panose="02040503050406030204" pitchFamily="18" charset="0"/>
                                </a:rPr>
                              </m:ctrlPr>
                            </m:sSubPr>
                            <m:e>
                              <m:r>
                                <a:rPr>
                                  <a:latin typeface="Cambria Math" panose="02040503050406030204" pitchFamily="18" charset="0"/>
                                </a:rPr>
                                <m:t>𝐴</m:t>
                              </m:r>
                            </m:e>
                            <m:sub>
                              <m:r>
                                <a:rPr>
                                  <a:latin typeface="Cambria Math" panose="02040503050406030204" pitchFamily="18" charset="0"/>
                                </a:rPr>
                                <m:t>𝑏</m:t>
                              </m:r>
                              <m:r>
                                <a:rPr>
                                  <a:latin typeface="Cambria Math" panose="02040503050406030204" pitchFamily="18" charset="0"/>
                                </a:rPr>
                                <m:t>á</m:t>
                              </m:r>
                              <m:r>
                                <a:rPr>
                                  <a:latin typeface="Cambria Math" panose="02040503050406030204" pitchFamily="18" charset="0"/>
                                </a:rPr>
                                <m:t>𝑠𝑖𝑐𝑜</m:t>
                              </m:r>
                            </m:sub>
                          </m:sSub>
                          <m:r>
                            <a:rPr>
                              <a:latin typeface="Cambria Math" panose="02040503050406030204" pitchFamily="18" charset="0"/>
                            </a:rPr>
                            <m:t>−</m:t>
                          </m:r>
                          <m:r>
                            <a:rPr>
                              <a:latin typeface="Cambria Math" panose="02040503050406030204" pitchFamily="18" charset="0"/>
                            </a:rPr>
                            <m:t>𝑇𝑂</m:t>
                          </m:r>
                        </m:e>
                      </m:d>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𝑝</m:t>
                          </m:r>
                        </m:e>
                        <m:sub>
                          <m:r>
                            <a:rPr>
                              <a:latin typeface="Cambria Math" panose="02040503050406030204" pitchFamily="18" charset="0"/>
                            </a:rPr>
                            <m:t>𝑆𝑢𝑝𝑒𝑟𝑖𝑜𝑟𝑒𝑠</m:t>
                          </m:r>
                        </m:sub>
                      </m:sSub>
                    </m:den>
                  </m:f>
                </m:oMath>
              </m:oMathPara>
            </a14:m>
            <a:endParaRPr/>
          </a:p>
          <a:p>
            <a:pPr lvl="0"/>
            <a:r>
              <a:t>qt: Unitário do Terreno</a:t>
            </a:r>
          </a:p>
          <a:p>
            <a:pPr lvl="0"/>
            <a:r>
              <a:t>TO: Taxa de Ocupação do Terreno</a:t>
            </a:r>
          </a:p>
          <a:p>
            <a:pPr lvl="0"/>
            <a:r>
              <a:t>CAbásico: Coeficiente de Aproveitamento Básico do Terreno</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8ACFA-4A74-9B40-CC3E-92D78F850226}"/>
              </a:ext>
            </a:extLst>
          </p:cNvPr>
          <p:cNvSpPr>
            <a:spLocks noGrp="1"/>
          </p:cNvSpPr>
          <p:nvPr>
            <p:ph type="title"/>
          </p:nvPr>
        </p:nvSpPr>
        <p:spPr>
          <a:xfrm>
            <a:off x="838200" y="983457"/>
            <a:ext cx="10515600" cy="891526"/>
          </a:xfrm>
          <a:prstGeom prst="rect">
            <a:avLst/>
          </a:prstGeom>
        </p:spPr>
        <p:txBody>
          <a:bodyPr/>
          <a:lstStyle/>
          <a:p>
            <a:pPr marL="0" lvl="0" indent="0">
              <a:buNone/>
            </a:pPr>
            <a:r>
              <a:t>Exemplo</a:t>
            </a:r>
          </a:p>
        </p:txBody>
      </p:sp>
      <p:sp>
        <p:nvSpPr>
          <p:cNvPr id="3" name="Content Placeholder 2">
            <a:extLst>
              <a:ext uri="{FF2B5EF4-FFF2-40B4-BE49-F238E27FC236}">
                <a16:creationId xmlns:a16="http://schemas.microsoft.com/office/drawing/2014/main" id="{06E5C504-58F1-2318-F264-E17A9AABC74B}"/>
              </a:ext>
            </a:extLst>
          </p:cNvPr>
          <p:cNvSpPr>
            <a:spLocks noGrp="1"/>
          </p:cNvSpPr>
          <p:nvPr>
            <p:ph idx="1"/>
          </p:nvPr>
        </p:nvSpPr>
        <p:spPr/>
        <p:txBody>
          <a:bodyPr/>
          <a:lstStyle/>
          <a:p>
            <a:pPr lvl="0"/>
            <a:r>
              <a:t>Loja, com 200m2 no térreo e 100m2 no superior. O valor unitário do terreno é de qt = 1.000,00 R$/m2, porém sua área total é desconhecida, assim como as áreas construídas das outras áreas. Considerar TO = 0,8, CA = 3,5 e pesos 5:1</a:t>
            </a:r>
          </a:p>
          <a:p>
            <a:pPr lvl="0"/>
            <a:r>
              <a:t>Solução:</a:t>
            </a:r>
          </a:p>
          <a:p>
            <a:pPr lvl="1"/>
            <a14:m xmlns:a14="http://schemas.microsoft.com/office/drawing/2010/main">
              <m:oMath xmlns:m="http://schemas.openxmlformats.org/officeDocument/2006/math">
                <m:r>
                  <a:rPr>
                    <a:latin typeface="Cambria Math" panose="02040503050406030204" pitchFamily="18" charset="0"/>
                  </a:rPr>
                  <m:t>𝐶</m:t>
                </m:r>
                <m:sSub>
                  <m:sSubPr>
                    <m:ctrlPr>
                      <a:rPr i="1">
                        <a:latin typeface="Cambria Math" panose="02040503050406030204" pitchFamily="18" charset="0"/>
                      </a:rPr>
                    </m:ctrlPr>
                  </m:sSubPr>
                  <m:e>
                    <m:r>
                      <a:rPr>
                        <a:latin typeface="Cambria Math" panose="02040503050406030204" pitchFamily="18" charset="0"/>
                      </a:rPr>
                      <m:t>𝑇</m:t>
                    </m:r>
                  </m:e>
                  <m:sub>
                    <m:r>
                      <a:rPr>
                        <a:latin typeface="Cambria Math" panose="02040503050406030204" pitchFamily="18" charset="0"/>
                      </a:rPr>
                      <m:t>𝑢𝑛</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𝑞</m:t>
                    </m:r>
                  </m:e>
                  <m:sub>
                    <m:r>
                      <a:rPr>
                        <a:latin typeface="Cambria Math" panose="02040503050406030204" pitchFamily="18" charset="0"/>
                      </a:rPr>
                      <m:t>𝑡</m:t>
                    </m:r>
                  </m:sub>
                </m:sSub>
                <m:r>
                  <a:rPr>
                    <a:latin typeface="Cambria Math" panose="02040503050406030204" pitchFamily="18" charset="0"/>
                  </a:rPr>
                  <m:t>.</m:t>
                </m:r>
                <m:f>
                  <m:fPr>
                    <m:ctrlPr>
                      <a:rPr i="1">
                        <a:latin typeface="Cambria Math" panose="02040503050406030204" pitchFamily="18" charset="0"/>
                      </a:rPr>
                    </m:ctrlPr>
                  </m:fPr>
                  <m:num>
                    <m:sSub>
                      <m:sSubPr>
                        <m:ctrlPr>
                          <a:rPr i="1">
                            <a:latin typeface="Cambria Math" panose="02040503050406030204" pitchFamily="18" charset="0"/>
                          </a:rPr>
                        </m:ctrlPr>
                      </m:sSubPr>
                      <m:e>
                        <m:r>
                          <a:rPr>
                            <a:latin typeface="Cambria Math" panose="02040503050406030204" pitchFamily="18" charset="0"/>
                          </a:rPr>
                          <m:t>𝐴</m:t>
                        </m:r>
                      </m:e>
                      <m:sub>
                        <m:r>
                          <a:rPr>
                            <a:latin typeface="Cambria Math" panose="02040503050406030204" pitchFamily="18" charset="0"/>
                          </a:rPr>
                          <m:t>h</m:t>
                        </m:r>
                        <m:r>
                          <a:rPr>
                            <a:latin typeface="Cambria Math" panose="02040503050406030204" pitchFamily="18" charset="0"/>
                          </a:rPr>
                          <m:t>𝑢</m:t>
                        </m:r>
                      </m:sub>
                    </m:sSub>
                  </m:num>
                  <m:den>
                    <m:r>
                      <a:rPr>
                        <a:latin typeface="Cambria Math" panose="02040503050406030204" pitchFamily="18" charset="0"/>
                      </a:rPr>
                      <m:t>𝑇𝑂</m:t>
                    </m:r>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𝑝</m:t>
                        </m:r>
                      </m:e>
                      <m:sub>
                        <m:r>
                          <a:rPr>
                            <a:latin typeface="Cambria Math" panose="02040503050406030204" pitchFamily="18" charset="0"/>
                          </a:rPr>
                          <m:t>𝑇</m:t>
                        </m:r>
                        <m:r>
                          <a:rPr>
                            <a:latin typeface="Cambria Math" panose="02040503050406030204" pitchFamily="18" charset="0"/>
                          </a:rPr>
                          <m:t>é</m:t>
                        </m:r>
                        <m:r>
                          <a:rPr>
                            <a:latin typeface="Cambria Math" panose="02040503050406030204" pitchFamily="18" charset="0"/>
                          </a:rPr>
                          <m:t>𝑟𝑟𝑒𝑜</m:t>
                        </m:r>
                      </m:sub>
                    </m:sSub>
                    <m:r>
                      <a:rPr>
                        <a:latin typeface="Cambria Math" panose="02040503050406030204" pitchFamily="18" charset="0"/>
                      </a:rPr>
                      <m:t>+</m:t>
                    </m:r>
                    <m:d>
                      <m:dPr>
                        <m:ctrlPr>
                          <a:rPr i="1">
                            <a:latin typeface="Cambria Math" panose="02040503050406030204" pitchFamily="18" charset="0"/>
                          </a:rPr>
                        </m:ctrlPr>
                      </m:dPr>
                      <m:e>
                        <m:r>
                          <a:rPr>
                            <a:latin typeface="Cambria Math" panose="02040503050406030204" pitchFamily="18" charset="0"/>
                          </a:rPr>
                          <m:t>𝐶</m:t>
                        </m:r>
                        <m:sSub>
                          <m:sSubPr>
                            <m:ctrlPr>
                              <a:rPr i="1">
                                <a:latin typeface="Cambria Math" panose="02040503050406030204" pitchFamily="18" charset="0"/>
                              </a:rPr>
                            </m:ctrlPr>
                          </m:sSubPr>
                          <m:e>
                            <m:r>
                              <a:rPr>
                                <a:latin typeface="Cambria Math" panose="02040503050406030204" pitchFamily="18" charset="0"/>
                              </a:rPr>
                              <m:t>𝐴</m:t>
                            </m:r>
                          </m:e>
                          <m:sub>
                            <m:r>
                              <a:rPr>
                                <a:latin typeface="Cambria Math" panose="02040503050406030204" pitchFamily="18" charset="0"/>
                              </a:rPr>
                              <m:t>𝑏</m:t>
                            </m:r>
                            <m:r>
                              <a:rPr>
                                <a:latin typeface="Cambria Math" panose="02040503050406030204" pitchFamily="18" charset="0"/>
                              </a:rPr>
                              <m:t>á</m:t>
                            </m:r>
                            <m:r>
                              <a:rPr>
                                <a:latin typeface="Cambria Math" panose="02040503050406030204" pitchFamily="18" charset="0"/>
                              </a:rPr>
                              <m:t>𝑠𝑖𝑐𝑜</m:t>
                            </m:r>
                          </m:sub>
                        </m:sSub>
                        <m:r>
                          <a:rPr>
                            <a:latin typeface="Cambria Math" panose="02040503050406030204" pitchFamily="18" charset="0"/>
                          </a:rPr>
                          <m:t>−</m:t>
                        </m:r>
                        <m:r>
                          <a:rPr>
                            <a:latin typeface="Cambria Math" panose="02040503050406030204" pitchFamily="18" charset="0"/>
                          </a:rPr>
                          <m:t>𝑇𝑂</m:t>
                        </m:r>
                      </m:e>
                    </m:d>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𝑝</m:t>
                        </m:r>
                      </m:e>
                      <m:sub>
                        <m:r>
                          <a:rPr>
                            <a:latin typeface="Cambria Math" panose="02040503050406030204" pitchFamily="18" charset="0"/>
                          </a:rPr>
                          <m:t>𝑆𝑢𝑝𝑒𝑟𝑖𝑜𝑟𝑒𝑠</m:t>
                        </m:r>
                      </m:sub>
                    </m:sSub>
                  </m:den>
                </m:f>
              </m:oMath>
            </a14:m>
            <a:endParaRPr/>
          </a:p>
          <a:p>
            <a:pPr lvl="1"/>
            <a14:m xmlns:a14="http://schemas.microsoft.com/office/drawing/2010/main">
              <m:oMath xmlns:m="http://schemas.openxmlformats.org/officeDocument/2006/math">
                <m:r>
                  <a:rPr>
                    <a:latin typeface="Cambria Math" panose="02040503050406030204" pitchFamily="18" charset="0"/>
                  </a:rPr>
                  <m:t>𝐶</m:t>
                </m:r>
                <m:sSub>
                  <m:sSubPr>
                    <m:ctrlPr>
                      <a:rPr i="1">
                        <a:latin typeface="Cambria Math" panose="02040503050406030204" pitchFamily="18" charset="0"/>
                      </a:rPr>
                    </m:ctrlPr>
                  </m:sSubPr>
                  <m:e>
                    <m:r>
                      <a:rPr>
                        <a:latin typeface="Cambria Math" panose="02040503050406030204" pitchFamily="18" charset="0"/>
                      </a:rPr>
                      <m:t>𝑇</m:t>
                    </m:r>
                  </m:e>
                  <m:sub>
                    <m:r>
                      <a:rPr>
                        <a:latin typeface="Cambria Math" panose="02040503050406030204" pitchFamily="18" charset="0"/>
                      </a:rPr>
                      <m:t>𝑢𝑛</m:t>
                    </m:r>
                  </m:sub>
                </m:sSub>
                <m:r>
                  <a:rPr>
                    <a:latin typeface="Cambria Math" panose="02040503050406030204" pitchFamily="18" charset="0"/>
                  </a:rPr>
                  <m:t>=</m:t>
                </m:r>
                <m:r>
                  <a:rPr>
                    <a:latin typeface="Cambria Math" panose="02040503050406030204" pitchFamily="18" charset="0"/>
                  </a:rPr>
                  <m:t>1</m:t>
                </m:r>
                <m:r>
                  <a:rPr>
                    <a:latin typeface="Cambria Math" panose="02040503050406030204" pitchFamily="18" charset="0"/>
                  </a:rPr>
                  <m:t>.</m:t>
                </m:r>
                <m:r>
                  <a:rPr>
                    <a:latin typeface="Cambria Math" panose="02040503050406030204" pitchFamily="18" charset="0"/>
                  </a:rPr>
                  <m:t>000</m:t>
                </m:r>
                <m:r>
                  <a:rPr>
                    <a:latin typeface="Cambria Math" panose="02040503050406030204" pitchFamily="18" charset="0"/>
                  </a:rPr>
                  <m:t>,</m:t>
                </m:r>
                <m:r>
                  <a:rPr>
                    <a:latin typeface="Cambria Math" panose="02040503050406030204" pitchFamily="18" charset="0"/>
                  </a:rPr>
                  <m:t>00</m:t>
                </m:r>
                <m:r>
                  <a:rPr>
                    <a:latin typeface="Cambria Math" panose="02040503050406030204" pitchFamily="18" charset="0"/>
                  </a:rPr>
                  <m:t>.</m:t>
                </m:r>
                <m:f>
                  <m:fPr>
                    <m:ctrlPr>
                      <a:rPr i="1">
                        <a:latin typeface="Cambria Math" panose="02040503050406030204" pitchFamily="18" charset="0"/>
                      </a:rPr>
                    </m:ctrlPr>
                  </m:fPr>
                  <m:num>
                    <m:r>
                      <a:rPr>
                        <a:latin typeface="Cambria Math" panose="02040503050406030204" pitchFamily="18" charset="0"/>
                      </a:rPr>
                      <m:t>200</m:t>
                    </m:r>
                    <m:r>
                      <a:rPr>
                        <a:latin typeface="Cambria Math" panose="02040503050406030204" pitchFamily="18" charset="0"/>
                      </a:rPr>
                      <m:t>.</m:t>
                    </m:r>
                    <m:r>
                      <a:rPr>
                        <a:latin typeface="Cambria Math" panose="02040503050406030204" pitchFamily="18" charset="0"/>
                      </a:rPr>
                      <m:t>5</m:t>
                    </m:r>
                    <m:r>
                      <a:rPr>
                        <a:latin typeface="Cambria Math" panose="02040503050406030204" pitchFamily="18" charset="0"/>
                      </a:rPr>
                      <m:t>+</m:t>
                    </m:r>
                    <m:r>
                      <a:rPr>
                        <a:latin typeface="Cambria Math" panose="02040503050406030204" pitchFamily="18" charset="0"/>
                      </a:rPr>
                      <m:t>100</m:t>
                    </m:r>
                    <m:r>
                      <a:rPr>
                        <a:latin typeface="Cambria Math" panose="02040503050406030204" pitchFamily="18" charset="0"/>
                      </a:rPr>
                      <m:t>.</m:t>
                    </m:r>
                    <m:r>
                      <a:rPr>
                        <a:latin typeface="Cambria Math" panose="02040503050406030204" pitchFamily="18" charset="0"/>
                      </a:rPr>
                      <m:t>1</m:t>
                    </m:r>
                  </m:num>
                  <m:den>
                    <m:r>
                      <a:rPr>
                        <a:latin typeface="Cambria Math" panose="02040503050406030204" pitchFamily="18" charset="0"/>
                      </a:rPr>
                      <m:t>0</m:t>
                    </m:r>
                    <m:r>
                      <a:rPr>
                        <a:latin typeface="Cambria Math" panose="02040503050406030204" pitchFamily="18" charset="0"/>
                      </a:rPr>
                      <m:t>,</m:t>
                    </m:r>
                    <m:r>
                      <a:rPr>
                        <a:latin typeface="Cambria Math" panose="02040503050406030204" pitchFamily="18" charset="0"/>
                      </a:rPr>
                      <m:t>8</m:t>
                    </m:r>
                    <m:r>
                      <a:rPr>
                        <a:latin typeface="Cambria Math" panose="02040503050406030204" pitchFamily="18" charset="0"/>
                      </a:rPr>
                      <m:t>.</m:t>
                    </m:r>
                    <m:r>
                      <a:rPr>
                        <a:latin typeface="Cambria Math" panose="02040503050406030204" pitchFamily="18" charset="0"/>
                      </a:rPr>
                      <m:t>5</m:t>
                    </m:r>
                    <m:r>
                      <a:rPr>
                        <a:latin typeface="Cambria Math" panose="02040503050406030204" pitchFamily="18" charset="0"/>
                      </a:rPr>
                      <m:t>,</m:t>
                    </m:r>
                    <m:r>
                      <a:rPr>
                        <a:latin typeface="Cambria Math" panose="02040503050406030204" pitchFamily="18" charset="0"/>
                      </a:rPr>
                      <m:t>0</m:t>
                    </m:r>
                    <m:r>
                      <a:rPr>
                        <a:latin typeface="Cambria Math" panose="02040503050406030204" pitchFamily="18" charset="0"/>
                      </a:rPr>
                      <m:t>+</m:t>
                    </m:r>
                    <m:d>
                      <m:dPr>
                        <m:ctrlPr>
                          <a:rPr i="1">
                            <a:latin typeface="Cambria Math" panose="02040503050406030204" pitchFamily="18" charset="0"/>
                          </a:rPr>
                        </m:ctrlPr>
                      </m:dPr>
                      <m:e>
                        <m:r>
                          <a:rPr>
                            <a:latin typeface="Cambria Math" panose="02040503050406030204" pitchFamily="18" charset="0"/>
                          </a:rPr>
                          <m:t>3</m:t>
                        </m:r>
                        <m:r>
                          <a:rPr>
                            <a:latin typeface="Cambria Math" panose="02040503050406030204" pitchFamily="18" charset="0"/>
                          </a:rPr>
                          <m:t>,</m:t>
                        </m:r>
                        <m:r>
                          <a:rPr>
                            <a:latin typeface="Cambria Math" panose="02040503050406030204" pitchFamily="18" charset="0"/>
                          </a:rPr>
                          <m:t>5</m:t>
                        </m:r>
                        <m:r>
                          <a:rPr>
                            <a:latin typeface="Cambria Math" panose="02040503050406030204" pitchFamily="18" charset="0"/>
                          </a:rPr>
                          <m:t>−</m:t>
                        </m:r>
                        <m:r>
                          <a:rPr>
                            <a:latin typeface="Cambria Math" panose="02040503050406030204" pitchFamily="18" charset="0"/>
                          </a:rPr>
                          <m:t>0</m:t>
                        </m:r>
                        <m:r>
                          <a:rPr>
                            <a:latin typeface="Cambria Math" panose="02040503050406030204" pitchFamily="18" charset="0"/>
                          </a:rPr>
                          <m:t>,</m:t>
                        </m:r>
                        <m:r>
                          <a:rPr>
                            <a:latin typeface="Cambria Math" panose="02040503050406030204" pitchFamily="18" charset="0"/>
                          </a:rPr>
                          <m:t>8</m:t>
                        </m:r>
                      </m:e>
                    </m:d>
                    <m:r>
                      <a:rPr>
                        <a:latin typeface="Cambria Math" panose="02040503050406030204" pitchFamily="18" charset="0"/>
                      </a:rPr>
                      <m:t>.</m:t>
                    </m:r>
                    <m:r>
                      <a:rPr>
                        <a:latin typeface="Cambria Math" panose="02040503050406030204" pitchFamily="18" charset="0"/>
                      </a:rPr>
                      <m:t>1</m:t>
                    </m:r>
                    <m:r>
                      <a:rPr>
                        <a:latin typeface="Cambria Math" panose="02040503050406030204" pitchFamily="18" charset="0"/>
                      </a:rPr>
                      <m:t>,</m:t>
                    </m:r>
                    <m:r>
                      <a:rPr>
                        <a:latin typeface="Cambria Math" panose="02040503050406030204" pitchFamily="18" charset="0"/>
                      </a:rPr>
                      <m:t>0</m:t>
                    </m:r>
                  </m:den>
                </m:f>
              </m:oMath>
            </a14:m>
            <a:endParaRPr/>
          </a:p>
          <a:p>
            <a:pPr lvl="1"/>
            <a14:m xmlns:a14="http://schemas.microsoft.com/office/drawing/2010/main">
              <m:oMath xmlns:m="http://schemas.openxmlformats.org/officeDocument/2006/math">
                <m:r>
                  <a:rPr>
                    <a:latin typeface="Cambria Math" panose="02040503050406030204" pitchFamily="18" charset="0"/>
                  </a:rPr>
                  <m:t>𝐶</m:t>
                </m:r>
                <m:sSub>
                  <m:sSubPr>
                    <m:ctrlPr>
                      <a:rPr i="1">
                        <a:latin typeface="Cambria Math" panose="02040503050406030204" pitchFamily="18" charset="0"/>
                      </a:rPr>
                    </m:ctrlPr>
                  </m:sSubPr>
                  <m:e>
                    <m:r>
                      <a:rPr>
                        <a:latin typeface="Cambria Math" panose="02040503050406030204" pitchFamily="18" charset="0"/>
                      </a:rPr>
                      <m:t>𝑇</m:t>
                    </m:r>
                  </m:e>
                  <m:sub>
                    <m:r>
                      <a:rPr>
                        <a:latin typeface="Cambria Math" panose="02040503050406030204" pitchFamily="18" charset="0"/>
                      </a:rPr>
                      <m:t>𝑢𝑛</m:t>
                    </m:r>
                  </m:sub>
                </m:sSub>
                <m:r>
                  <a:rPr>
                    <a:latin typeface="Cambria Math" panose="02040503050406030204" pitchFamily="18" charset="0"/>
                  </a:rPr>
                  <m:t>=</m:t>
                </m:r>
                <m:r>
                  <a:rPr>
                    <a:latin typeface="Cambria Math" panose="02040503050406030204" pitchFamily="18" charset="0"/>
                  </a:rPr>
                  <m:t>164</m:t>
                </m:r>
                <m:r>
                  <a:rPr>
                    <a:latin typeface="Cambria Math" panose="02040503050406030204" pitchFamily="18" charset="0"/>
                  </a:rPr>
                  <m:t>.</m:t>
                </m:r>
                <m:r>
                  <a:rPr>
                    <a:latin typeface="Cambria Math" panose="02040503050406030204" pitchFamily="18" charset="0"/>
                  </a:rPr>
                  <m:t>179</m:t>
                </m:r>
                <m:r>
                  <a:rPr>
                    <a:latin typeface="Cambria Math" panose="02040503050406030204" pitchFamily="18" charset="0"/>
                  </a:rPr>
                  <m:t>,</m:t>
                </m:r>
                <m:r>
                  <a:rPr>
                    <a:latin typeface="Cambria Math" panose="02040503050406030204" pitchFamily="18" charset="0"/>
                  </a:rPr>
                  <m:t>10</m:t>
                </m:r>
              </m:oMath>
            </a14:m>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8ACFA-4A74-9B40-CC3E-92D78F850226}"/>
              </a:ext>
            </a:extLst>
          </p:cNvPr>
          <p:cNvSpPr>
            <a:spLocks noGrp="1"/>
          </p:cNvSpPr>
          <p:nvPr>
            <p:ph type="title"/>
          </p:nvPr>
        </p:nvSpPr>
        <p:spPr>
          <a:xfrm>
            <a:off x="838200" y="983457"/>
            <a:ext cx="10515600" cy="891526"/>
          </a:xfrm>
          <a:prstGeom prst="rect">
            <a:avLst/>
          </a:prstGeom>
        </p:spPr>
        <p:txBody>
          <a:bodyPr/>
          <a:lstStyle/>
          <a:p>
            <a:pPr marL="0" lvl="0" indent="0">
              <a:buNone/>
            </a:pPr>
            <a:r>
              <a:t>Exercício</a:t>
            </a:r>
          </a:p>
        </p:txBody>
      </p:sp>
      <p:sp>
        <p:nvSpPr>
          <p:cNvPr id="3" name="Content Placeholder 2">
            <a:extLst>
              <a:ext uri="{FF2B5EF4-FFF2-40B4-BE49-F238E27FC236}">
                <a16:creationId xmlns:a16="http://schemas.microsoft.com/office/drawing/2014/main" id="{06E5C504-58F1-2318-F264-E17A9AABC74B}"/>
              </a:ext>
            </a:extLst>
          </p:cNvPr>
          <p:cNvSpPr>
            <a:spLocks noGrp="1"/>
          </p:cNvSpPr>
          <p:nvPr>
            <p:ph idx="1"/>
          </p:nvPr>
        </p:nvSpPr>
        <p:spPr/>
        <p:txBody>
          <a:bodyPr/>
          <a:lstStyle/>
          <a:p>
            <a:pPr lvl="0"/>
            <a:r>
              <a:t>Imaginem que o escritório de Avaliações e Perícias em que você trabalha foi contratado por um potencial comprador de um edifício localizado na região central da cidade para efetuar a avaliação do aluguel de diversas lojas e escritórios neste edifício;</a:t>
            </a:r>
          </a:p>
          <a:p>
            <a:pPr lvl="0"/>
            <a:r>
              <a:t>O edifício é constituído de Térreo + 2 andares, cada um com 150m2;</a:t>
            </a:r>
          </a:p>
          <a:p>
            <a:pPr lvl="0"/>
            <a:r>
              <a:t>O proprietário pretende ocupar com seu escritório pouco mais da metade da área do 2º pavimento (90 m2) e locar o restante;</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8ACFA-4A74-9B40-CC3E-92D78F850226}"/>
              </a:ext>
            </a:extLst>
          </p:cNvPr>
          <p:cNvSpPr>
            <a:spLocks noGrp="1"/>
          </p:cNvSpPr>
          <p:nvPr>
            <p:ph type="title"/>
          </p:nvPr>
        </p:nvSpPr>
        <p:spPr>
          <a:xfrm>
            <a:off x="838200" y="983457"/>
            <a:ext cx="10515600" cy="891526"/>
          </a:xfrm>
          <a:prstGeom prst="rect">
            <a:avLst/>
          </a:prstGeom>
        </p:spPr>
        <p:txBody>
          <a:bodyPr/>
          <a:lstStyle/>
          <a:p>
            <a:pPr marL="0" lvl="0" indent="0">
              <a:buNone/>
            </a:pPr>
            <a:r>
              <a:t>Exercício</a:t>
            </a:r>
          </a:p>
        </p:txBody>
      </p:sp>
      <p:sp>
        <p:nvSpPr>
          <p:cNvPr id="3" name="Content Placeholder 2">
            <a:extLst>
              <a:ext uri="{FF2B5EF4-FFF2-40B4-BE49-F238E27FC236}">
                <a16:creationId xmlns:a16="http://schemas.microsoft.com/office/drawing/2014/main" id="{06E5C504-58F1-2318-F264-E17A9AABC74B}"/>
              </a:ext>
            </a:extLst>
          </p:cNvPr>
          <p:cNvSpPr>
            <a:spLocks noGrp="1"/>
          </p:cNvSpPr>
          <p:nvPr>
            <p:ph idx="1"/>
          </p:nvPr>
        </p:nvSpPr>
        <p:spPr/>
        <p:txBody>
          <a:bodyPr/>
          <a:lstStyle/>
          <a:p>
            <a:pPr lvl="0"/>
            <a:r>
              <a:t>O proprietário informou que algumas pessoas já manifestaram interesse em locar espaços no seu prédio</a:t>
            </a:r>
          </a:p>
          <a:p>
            <a:pPr lvl="1"/>
            <a:r>
              <a:t>1 interessado em instalar uma loja (térreo) com 90 m2;</a:t>
            </a:r>
          </a:p>
          <a:p>
            <a:pPr lvl="1"/>
            <a:r>
              <a:t>1 interessado em uma loja (térreo) com 60 m2;</a:t>
            </a:r>
          </a:p>
          <a:p>
            <a:pPr lvl="1"/>
            <a:r>
              <a:t>1 interessado em uma laje corporativa de 150 m2 para sua empresa (1º pavimento);</a:t>
            </a:r>
          </a:p>
          <a:p>
            <a:pPr lvl="1"/>
            <a:r>
              <a:t>1 interessado na metade restante do 2º pavimento (60 m2);</a:t>
            </a:r>
          </a:p>
          <a:p>
            <a:pPr lvl="0"/>
            <a:r>
              <a:t>O potencial proprietário ainda deseja saber qual o valor do aluguel da área que ele próprio irá ocupar no 2º pavimento (90 m2), para fins de calcular o VPL da compra do edifício (aluguel implícito).</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8ACFA-4A74-9B40-CC3E-92D78F850226}"/>
              </a:ext>
            </a:extLst>
          </p:cNvPr>
          <p:cNvSpPr>
            <a:spLocks noGrp="1"/>
          </p:cNvSpPr>
          <p:nvPr>
            <p:ph type="title"/>
          </p:nvPr>
        </p:nvSpPr>
        <p:spPr>
          <a:xfrm>
            <a:off x="838200" y="983457"/>
            <a:ext cx="10515600" cy="891526"/>
          </a:xfrm>
          <a:prstGeom prst="rect">
            <a:avLst/>
          </a:prstGeom>
        </p:spPr>
        <p:txBody>
          <a:bodyPr/>
          <a:lstStyle/>
          <a:p>
            <a:pPr marL="0" lvl="0" indent="0">
              <a:buNone/>
            </a:pPr>
            <a:r>
              <a:t>Exercício</a:t>
            </a:r>
          </a:p>
        </p:txBody>
      </p:sp>
      <p:sp>
        <p:nvSpPr>
          <p:cNvPr id="3" name="Content Placeholder 2">
            <a:extLst>
              <a:ext uri="{FF2B5EF4-FFF2-40B4-BE49-F238E27FC236}">
                <a16:creationId xmlns:a16="http://schemas.microsoft.com/office/drawing/2014/main" id="{06E5C504-58F1-2318-F264-E17A9AABC74B}"/>
              </a:ext>
            </a:extLst>
          </p:cNvPr>
          <p:cNvSpPr>
            <a:spLocks noGrp="1"/>
          </p:cNvSpPr>
          <p:nvPr>
            <p:ph idx="1"/>
          </p:nvPr>
        </p:nvSpPr>
        <p:spPr/>
        <p:txBody>
          <a:bodyPr/>
          <a:lstStyle/>
          <a:p>
            <a:pPr lvl="0"/>
            <a:r>
              <a:t>O diretor de Avaliações resolveu pulverizar o trabalho entre diversos avaliadores;</a:t>
            </a:r>
          </a:p>
          <a:p>
            <a:pPr lvl="0"/>
            <a:r>
              <a:t>No entanto, para que o resultado final seja um trabalho uniforme, o Diretor estabeleu os critérios que cada avaliador deverá considerar nas suas avaliações.</a:t>
            </a:r>
          </a:p>
          <a:p>
            <a:pPr lvl="0"/>
            <a:r>
              <a:t>Os critérios estabelecidos pelo Diretor, assim como os dados por ele disponibilizados para os avaliadores encontram-se nos próximos slides.</a:t>
            </a:r>
          </a:p>
          <a:p>
            <a:pPr lvl="0"/>
            <a:r>
              <a:t>Para uma melhor apresentação do trabalho, o Diretor solicitou que fosse utilizado o método da Cota Parte, evitando assim que o laudo final fique repleto de cálculos repetitivos.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95C04-CC6F-1CD5-4027-3306C4B7516C}"/>
              </a:ext>
            </a:extLst>
          </p:cNvPr>
          <p:cNvSpPr>
            <a:spLocks noGrp="1"/>
          </p:cNvSpPr>
          <p:nvPr>
            <p:ph type="title"/>
          </p:nvPr>
        </p:nvSpPr>
        <p:spPr>
          <a:xfrm>
            <a:off x="838200" y="990600"/>
            <a:ext cx="10515600" cy="700088"/>
          </a:xfrm>
          <a:prstGeom prst="rect">
            <a:avLst/>
          </a:prstGeom>
        </p:spPr>
        <p:txBody>
          <a:bodyPr/>
          <a:lstStyle/>
          <a:p>
            <a:pPr marL="0" lvl="0" indent="0">
              <a:buNone/>
            </a:pPr>
            <a:r>
              <a:t>Exercício</a:t>
            </a:r>
          </a:p>
        </p:txBody>
      </p:sp>
      <p:sp>
        <p:nvSpPr>
          <p:cNvPr id="3" name="Content Placeholder 2">
            <a:extLst>
              <a:ext uri="{FF2B5EF4-FFF2-40B4-BE49-F238E27FC236}">
                <a16:creationId xmlns:a16="http://schemas.microsoft.com/office/drawing/2014/main" id="{1A3C9F7A-0844-0C9F-745C-595915C1A032}"/>
              </a:ext>
            </a:extLst>
          </p:cNvPr>
          <p:cNvSpPr>
            <a:spLocks noGrp="1"/>
          </p:cNvSpPr>
          <p:nvPr>
            <p:ph sz="half" idx="1"/>
          </p:nvPr>
        </p:nvSpPr>
        <p:spPr/>
        <p:txBody>
          <a:bodyPr/>
          <a:lstStyle/>
          <a:p>
            <a:pPr lvl="0"/>
            <a:r>
              <a:t>Dados do Terreno:</a:t>
            </a:r>
          </a:p>
          <a:p>
            <a:pPr lvl="1"/>
            <a:r>
              <a:t>Área: 400m2</a:t>
            </a:r>
          </a:p>
          <a:p>
            <a:pPr lvl="1"/>
            <a:r>
              <a:t>qt = 2.000,00 R$/m2</a:t>
            </a:r>
          </a:p>
          <a:p>
            <a:pPr lvl="1"/>
            <a:r>
              <a:t>CA básico: 1</a:t>
            </a:r>
          </a:p>
          <a:p>
            <a:pPr lvl="1"/>
            <a:r>
              <a:t>TO: 0,5</a:t>
            </a:r>
          </a:p>
          <a:p>
            <a:pPr lvl="1"/>
            <a:r>
              <a:t>Pesos: 3:1 (térreo:superiores)</a:t>
            </a:r>
          </a:p>
          <a:p>
            <a:pPr lvl="1"/>
            <a:r>
              <a:t>Taxa de renda: 8% a.a.</a:t>
            </a:r>
          </a:p>
          <a:p>
            <a:pPr lvl="0"/>
            <a:r>
              <a:t>Considerar a idade no cálculo do coeficiente de aproveitamento, através da seguinte expressão:</a:t>
            </a:r>
          </a:p>
          <a:p>
            <a:pPr lvl="1"/>
            <a14:m xmlns:a14="http://schemas.microsoft.com/office/drawing/2010/main">
              <m:oMath xmlns:m="http://schemas.openxmlformats.org/officeDocument/2006/math">
                <m:r>
                  <a:rPr>
                    <a:latin typeface="Cambria Math" panose="02040503050406030204" pitchFamily="18" charset="0"/>
                  </a:rPr>
                  <m:t>𝐶𝐴</m:t>
                </m:r>
                <m:r>
                  <a:rPr>
                    <a:latin typeface="Cambria Math" panose="02040503050406030204" pitchFamily="18" charset="0"/>
                  </a:rPr>
                  <m:t>=</m:t>
                </m:r>
                <m:f>
                  <m:fPr>
                    <m:ctrlPr>
                      <a:rPr i="1">
                        <a:latin typeface="Cambria Math" panose="02040503050406030204" pitchFamily="18" charset="0"/>
                      </a:rPr>
                    </m:ctrlPr>
                  </m:fPr>
                  <m:num>
                    <m:sSub>
                      <m:sSubPr>
                        <m:ctrlPr>
                          <a:rPr i="1">
                            <a:latin typeface="Cambria Math" panose="02040503050406030204" pitchFamily="18" charset="0"/>
                          </a:rPr>
                        </m:ctrlPr>
                      </m:sSubPr>
                      <m:e>
                        <m:r>
                          <a:rPr>
                            <a:latin typeface="Cambria Math" panose="02040503050406030204" pitchFamily="18" charset="0"/>
                          </a:rPr>
                          <m:t>𝐴</m:t>
                        </m:r>
                      </m:e>
                      <m:sub>
                        <m:r>
                          <a:rPr>
                            <a:latin typeface="Cambria Math" panose="02040503050406030204" pitchFamily="18" charset="0"/>
                          </a:rPr>
                          <m:t>h</m:t>
                        </m:r>
                        <m:r>
                          <a:rPr>
                            <a:latin typeface="Cambria Math" panose="02040503050406030204" pitchFamily="18" charset="0"/>
                          </a:rPr>
                          <m:t>𝑢</m:t>
                        </m:r>
                      </m:sub>
                    </m:sSub>
                  </m:num>
                  <m:den>
                    <m:sSub>
                      <m:sSubPr>
                        <m:ctrlPr>
                          <a:rPr i="1">
                            <a:latin typeface="Cambria Math" panose="02040503050406030204" pitchFamily="18" charset="0"/>
                          </a:rPr>
                        </m:ctrlPr>
                      </m:sSubPr>
                      <m:e>
                        <m:r>
                          <a:rPr>
                            <a:latin typeface="Cambria Math" panose="02040503050406030204" pitchFamily="18" charset="0"/>
                          </a:rPr>
                          <m:t>𝐴</m:t>
                        </m:r>
                      </m:e>
                      <m:sub>
                        <m:r>
                          <a:rPr>
                            <a:latin typeface="Cambria Math" panose="02040503050406030204" pitchFamily="18" charset="0"/>
                          </a:rPr>
                          <m:t>h</m:t>
                        </m:r>
                        <m:r>
                          <a:rPr>
                            <a:latin typeface="Cambria Math" panose="02040503050406030204" pitchFamily="18" charset="0"/>
                          </a:rPr>
                          <m:t>𝑒𝑥𝑖𝑠𝑡</m:t>
                        </m:r>
                      </m:sub>
                    </m:sSub>
                  </m:den>
                </m:f>
                <m:r>
                  <a:rPr>
                    <a:latin typeface="Cambria Math" panose="02040503050406030204" pitchFamily="18" charset="0"/>
                  </a:rPr>
                  <m:t>.</m:t>
                </m:r>
                <m:d>
                  <m:dPr>
                    <m:ctrlPr>
                      <a:rPr i="1">
                        <a:latin typeface="Cambria Math" panose="02040503050406030204" pitchFamily="18" charset="0"/>
                      </a:rPr>
                    </m:ctrlPr>
                  </m:dPr>
                  <m:e>
                    <m:r>
                      <a:rPr>
                        <a:latin typeface="Cambria Math" panose="02040503050406030204" pitchFamily="18" charset="0"/>
                      </a:rPr>
                      <m:t>0</m:t>
                    </m:r>
                    <m:r>
                      <a:rPr>
                        <a:latin typeface="Cambria Math" panose="02040503050406030204" pitchFamily="18" charset="0"/>
                      </a:rPr>
                      <m:t>,</m:t>
                    </m:r>
                    <m:r>
                      <a:rPr>
                        <a:latin typeface="Cambria Math" panose="02040503050406030204" pitchFamily="18" charset="0"/>
                      </a:rPr>
                      <m:t>2</m:t>
                    </m:r>
                    <m:r>
                      <a:rPr>
                        <a:latin typeface="Cambria Math" panose="02040503050406030204" pitchFamily="18" charset="0"/>
                      </a:rPr>
                      <m:t>+</m:t>
                    </m:r>
                    <m:r>
                      <a:rPr>
                        <a:latin typeface="Cambria Math" panose="02040503050406030204" pitchFamily="18" charset="0"/>
                      </a:rPr>
                      <m:t>0</m:t>
                    </m:r>
                    <m:r>
                      <a:rPr>
                        <a:latin typeface="Cambria Math" panose="02040503050406030204" pitchFamily="18" charset="0"/>
                      </a:rPr>
                      <m:t>,</m:t>
                    </m:r>
                    <m:r>
                      <a:rPr>
                        <a:latin typeface="Cambria Math" panose="02040503050406030204" pitchFamily="18" charset="0"/>
                      </a:rPr>
                      <m:t>8</m:t>
                    </m:r>
                    <m:f>
                      <m:fPr>
                        <m:ctrlPr>
                          <a:rPr i="1">
                            <a:latin typeface="Cambria Math" panose="02040503050406030204" pitchFamily="18" charset="0"/>
                          </a:rPr>
                        </m:ctrlPr>
                      </m:fPr>
                      <m:num>
                        <m:r>
                          <a:rPr>
                            <a:latin typeface="Cambria Math" panose="02040503050406030204" pitchFamily="18" charset="0"/>
                          </a:rPr>
                          <m:t>𝑉</m:t>
                        </m:r>
                        <m:r>
                          <a:rPr>
                            <a:latin typeface="Cambria Math" panose="02040503050406030204" pitchFamily="18" charset="0"/>
                          </a:rPr>
                          <m:t>−</m:t>
                        </m:r>
                        <m:r>
                          <a:rPr>
                            <a:latin typeface="Cambria Math" panose="02040503050406030204" pitchFamily="18" charset="0"/>
                          </a:rPr>
                          <m:t>𝑣</m:t>
                        </m:r>
                      </m:num>
                      <m:den>
                        <m:r>
                          <a:rPr>
                            <a:latin typeface="Cambria Math" panose="02040503050406030204" pitchFamily="18" charset="0"/>
                          </a:rPr>
                          <m:t>𝑉</m:t>
                        </m:r>
                      </m:den>
                    </m:f>
                  </m:e>
                </m:d>
              </m:oMath>
            </a14:m>
            <a:endParaRPr/>
          </a:p>
        </p:txBody>
      </p:sp>
      <p:sp>
        <p:nvSpPr>
          <p:cNvPr id="4" name="Content Placeholder 3">
            <a:extLst>
              <a:ext uri="{FF2B5EF4-FFF2-40B4-BE49-F238E27FC236}">
                <a16:creationId xmlns:a16="http://schemas.microsoft.com/office/drawing/2014/main" id="{F1D3C290-0A1C-BF66-84A7-0888B63645A3}"/>
              </a:ext>
            </a:extLst>
          </p:cNvPr>
          <p:cNvSpPr>
            <a:spLocks noGrp="1"/>
          </p:cNvSpPr>
          <p:nvPr>
            <p:ph sz="half" idx="2"/>
          </p:nvPr>
        </p:nvSpPr>
        <p:spPr/>
        <p:txBody>
          <a:bodyPr/>
          <a:lstStyle/>
          <a:p>
            <a:pPr lvl="0"/>
            <a:r>
              <a:t>Dados da Benfeitoria:</a:t>
            </a:r>
          </a:p>
          <a:p>
            <a:pPr lvl="1"/>
            <a:r>
              <a:t>Idade aparente: 15 anos</a:t>
            </a:r>
          </a:p>
          <a:p>
            <a:pPr lvl="1"/>
            <a:r>
              <a:t>Vida útil: 60 anos</a:t>
            </a:r>
          </a:p>
          <a:p>
            <a:pPr lvl="1"/>
            <a:r>
              <a:t>Taxa de renda: 12% a.a.</a:t>
            </a:r>
          </a:p>
          <a:p>
            <a:pPr lvl="1"/>
            <a:r>
              <a:t>qb = 2.000,00 R$/m2 (x 1,2)</a:t>
            </a:r>
          </a:p>
          <a:p>
            <a:pPr lvl="0"/>
            <a:r>
              <a:t>Considerar a depreciação pelo método da linha reta, com valor residual igual a 20%.</a:t>
            </a:r>
          </a:p>
          <a:p>
            <a:pPr lvl="0"/>
            <a:r>
              <a:t>Considerar o Fator de Comercialização igual a 1,10, tanto para o Capital Terreno, quanto para o Capital Benfeitoria!</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8ACFA-4A74-9B40-CC3E-92D78F850226}"/>
              </a:ext>
            </a:extLst>
          </p:cNvPr>
          <p:cNvSpPr>
            <a:spLocks noGrp="1"/>
          </p:cNvSpPr>
          <p:nvPr>
            <p:ph type="title"/>
          </p:nvPr>
        </p:nvSpPr>
        <p:spPr>
          <a:xfrm>
            <a:off x="838200" y="983457"/>
            <a:ext cx="10515600" cy="891526"/>
          </a:xfrm>
          <a:prstGeom prst="rect">
            <a:avLst/>
          </a:prstGeom>
        </p:spPr>
        <p:txBody>
          <a:bodyPr/>
          <a:lstStyle/>
          <a:p>
            <a:pPr marL="0" lvl="0" indent="0">
              <a:buNone/>
            </a:pPr>
            <a:r>
              <a:t>Exercício</a:t>
            </a:r>
          </a:p>
        </p:txBody>
      </p:sp>
      <p:sp>
        <p:nvSpPr>
          <p:cNvPr id="3" name="Content Placeholder 2">
            <a:extLst>
              <a:ext uri="{FF2B5EF4-FFF2-40B4-BE49-F238E27FC236}">
                <a16:creationId xmlns:a16="http://schemas.microsoft.com/office/drawing/2014/main" id="{06E5C504-58F1-2318-F264-E17A9AABC74B}"/>
              </a:ext>
            </a:extLst>
          </p:cNvPr>
          <p:cNvSpPr>
            <a:spLocks noGrp="1"/>
          </p:cNvSpPr>
          <p:nvPr>
            <p:ph idx="1"/>
          </p:nvPr>
        </p:nvSpPr>
        <p:spPr/>
        <p:txBody>
          <a:bodyPr/>
          <a:lstStyle/>
          <a:p>
            <a:pPr lvl="0"/>
            <a:r>
              <a:t>Unidade 1: Loja (Térreo) com 90m2;</a:t>
            </a:r>
          </a:p>
          <a:p>
            <a:pPr lvl="0"/>
            <a:r>
              <a:t>Unidade 2: Loja (Térreo) com 60m2;</a:t>
            </a:r>
          </a:p>
          <a:p>
            <a:pPr lvl="0"/>
            <a:r>
              <a:t>Unidade 3: Laje corporativa (1º andar), com 150 m2;</a:t>
            </a:r>
          </a:p>
          <a:p>
            <a:pPr lvl="0"/>
            <a:r>
              <a:t>Unidade 4: Sala Comercial (2º andar), com 60 m2;</a:t>
            </a:r>
          </a:p>
          <a:p>
            <a:pPr lvl="0"/>
            <a:r>
              <a:t>Unidade 5: Sala Comercial (2º andar), com 90 m2;</a:t>
            </a:r>
          </a:p>
          <a:p>
            <a:pPr lvl="0"/>
            <a:r>
              <a:t>DICAS:</a:t>
            </a:r>
          </a:p>
          <a:p>
            <a:pPr lvl="1"/>
            <a:r>
              <a:t>Para uma melhor apresentação, resolva pela fórmula da Cota-Parte;</a:t>
            </a:r>
          </a:p>
          <a:p>
            <a:pPr lvl="1"/>
            <a:r>
              <a:t>Elabore os cálculos em uma planilha eletrônica antes de escrevê-los no editor de textos;</a:t>
            </a:r>
          </a:p>
          <a:p>
            <a:pPr lvl="1"/>
            <a:r>
              <a:t>Para verificação pode ser feito o cálculo do aluguel de cada andar em separado e depois aplicar a proporcionalidade entre a área do andar e a da unidade.</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09A65-87C6-A0D0-64A7-121C4D105C33}"/>
              </a:ext>
            </a:extLst>
          </p:cNvPr>
          <p:cNvSpPr>
            <a:spLocks noGrp="1"/>
          </p:cNvSpPr>
          <p:nvPr>
            <p:ph type="title"/>
          </p:nvPr>
        </p:nvSpPr>
        <p:spPr>
          <a:xfrm>
            <a:off x="7010400" y="1080656"/>
            <a:ext cx="4337050" cy="3481820"/>
          </a:xfrm>
          <a:prstGeom prst="rect">
            <a:avLst/>
          </a:prstGeom>
        </p:spPr>
        <p:txBody>
          <a:bodyPr/>
          <a:lstStyle/>
          <a:p>
            <a:pPr marL="0" lvl="0" indent="0">
              <a:buNone/>
            </a:pPr>
            <a:r>
              <a:t>Atualização de Aluguéis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8FE57-6952-DCF2-0990-90E39B648B0A}"/>
              </a:ext>
            </a:extLst>
          </p:cNvPr>
          <p:cNvSpPr>
            <a:spLocks noGrp="1"/>
          </p:cNvSpPr>
          <p:nvPr>
            <p:ph type="title"/>
          </p:nvPr>
        </p:nvSpPr>
        <p:spPr>
          <a:xfrm>
            <a:off x="839788" y="987424"/>
            <a:ext cx="3932237" cy="1069975"/>
          </a:xfrm>
          <a:prstGeom prst="rect">
            <a:avLst/>
          </a:prstGeom>
        </p:spPr>
        <p:txBody>
          <a:bodyPr/>
          <a:lstStyle/>
          <a:p>
            <a:pPr marL="0" lvl="0" indent="0">
              <a:buNone/>
            </a:pPr>
            <a:r>
              <a:t>Atualização de Aluguéis</a:t>
            </a:r>
          </a:p>
        </p:txBody>
      </p:sp>
      <p:sp>
        <p:nvSpPr>
          <p:cNvPr id="4" name="Text Placeholder 3">
            <a:extLst>
              <a:ext uri="{FF2B5EF4-FFF2-40B4-BE49-F238E27FC236}">
                <a16:creationId xmlns:a16="http://schemas.microsoft.com/office/drawing/2014/main" id="{77A29933-B652-DA47-BFD3-9E7FA42D22D3}"/>
              </a:ext>
            </a:extLst>
          </p:cNvPr>
          <p:cNvSpPr>
            <a:spLocks noGrp="1"/>
          </p:cNvSpPr>
          <p:nvPr>
            <p:ph type="body" sz="half" idx="2"/>
          </p:nvPr>
        </p:nvSpPr>
        <p:spPr/>
        <p:txBody>
          <a:bodyPr/>
          <a:lstStyle/>
          <a:p>
            <a:pPr marL="285750" lvl="0" indent="-285750">
              <a:buFont typeface="Arial" panose="020B0604020202020204" pitchFamily="34" charset="0"/>
              <a:buChar char="•"/>
            </a:pPr>
            <a:r>
              <a:rPr dirty="0"/>
              <a:t>A </a:t>
            </a:r>
            <a:r>
              <a:rPr dirty="0" err="1"/>
              <a:t>atualização</a:t>
            </a:r>
            <a:r>
              <a:rPr dirty="0"/>
              <a:t> de </a:t>
            </a:r>
            <a:r>
              <a:rPr dirty="0" err="1"/>
              <a:t>aluguéis</a:t>
            </a:r>
            <a:r>
              <a:rPr dirty="0"/>
              <a:t> é </a:t>
            </a:r>
            <a:r>
              <a:rPr dirty="0" err="1"/>
              <a:t>utilizada</a:t>
            </a:r>
            <a:r>
              <a:rPr dirty="0"/>
              <a:t> </a:t>
            </a:r>
            <a:r>
              <a:rPr dirty="0" err="1"/>
              <a:t>na</a:t>
            </a:r>
            <a:r>
              <a:rPr dirty="0"/>
              <a:t> </a:t>
            </a:r>
            <a:r>
              <a:rPr dirty="0" err="1"/>
              <a:t>aplicação</a:t>
            </a:r>
            <a:r>
              <a:rPr dirty="0"/>
              <a:t> do </a:t>
            </a:r>
            <a:r>
              <a:rPr dirty="0" err="1"/>
              <a:t>Método</a:t>
            </a:r>
            <a:r>
              <a:rPr dirty="0"/>
              <a:t> </a:t>
            </a:r>
            <a:r>
              <a:rPr dirty="0" err="1"/>
              <a:t>Comparativo</a:t>
            </a:r>
            <a:r>
              <a:rPr dirty="0"/>
              <a:t> de Dados de Mercado</a:t>
            </a:r>
          </a:p>
          <a:p>
            <a:pPr marL="285750" lvl="0" indent="-285750">
              <a:buFont typeface="Arial" panose="020B0604020202020204" pitchFamily="34" charset="0"/>
              <a:buChar char="•"/>
            </a:pPr>
            <a:r>
              <a:rPr dirty="0"/>
              <a:t>A </a:t>
            </a:r>
            <a:r>
              <a:rPr dirty="0" err="1"/>
              <a:t>existência</a:t>
            </a:r>
            <a:r>
              <a:rPr dirty="0"/>
              <a:t> de </a:t>
            </a:r>
            <a:r>
              <a:rPr dirty="0" err="1"/>
              <a:t>poucos</a:t>
            </a:r>
            <a:r>
              <a:rPr dirty="0"/>
              <a:t> dados de mercado </a:t>
            </a:r>
            <a:r>
              <a:rPr dirty="0" err="1"/>
              <a:t>contemporâneos</a:t>
            </a:r>
            <a:r>
              <a:rPr dirty="0"/>
              <a:t> </a:t>
            </a:r>
            <a:r>
              <a:rPr dirty="0" err="1"/>
              <a:t>exige</a:t>
            </a:r>
            <a:r>
              <a:rPr dirty="0"/>
              <a:t> que </a:t>
            </a:r>
            <a:r>
              <a:rPr dirty="0" err="1"/>
              <a:t>seja</a:t>
            </a:r>
            <a:r>
              <a:rPr dirty="0"/>
              <a:t> </a:t>
            </a:r>
            <a:r>
              <a:rPr dirty="0" err="1"/>
              <a:t>feita</a:t>
            </a:r>
            <a:r>
              <a:rPr dirty="0"/>
              <a:t> a </a:t>
            </a:r>
            <a:r>
              <a:rPr dirty="0" err="1"/>
              <a:t>comparação</a:t>
            </a:r>
            <a:r>
              <a:rPr dirty="0"/>
              <a:t> de dados de </a:t>
            </a:r>
            <a:r>
              <a:rPr dirty="0" err="1"/>
              <a:t>aluguéis</a:t>
            </a:r>
            <a:r>
              <a:rPr dirty="0"/>
              <a:t> </a:t>
            </a:r>
            <a:r>
              <a:rPr dirty="0" err="1"/>
              <a:t>contratados</a:t>
            </a:r>
            <a:r>
              <a:rPr dirty="0"/>
              <a:t> </a:t>
            </a:r>
            <a:r>
              <a:rPr dirty="0" err="1"/>
              <a:t>em</a:t>
            </a:r>
            <a:r>
              <a:rPr dirty="0"/>
              <a:t> </a:t>
            </a:r>
            <a:r>
              <a:rPr dirty="0" err="1"/>
              <a:t>perídos</a:t>
            </a:r>
            <a:r>
              <a:rPr dirty="0"/>
              <a:t> </a:t>
            </a:r>
            <a:r>
              <a:rPr dirty="0" err="1"/>
              <a:t>anteriores</a:t>
            </a:r>
            <a:endParaRPr dirty="0"/>
          </a:p>
          <a:p>
            <a:pPr marL="285750" lvl="0" indent="-285750">
              <a:buFont typeface="Arial" panose="020B0604020202020204" pitchFamily="34" charset="0"/>
              <a:buChar char="•"/>
            </a:pPr>
            <a:r>
              <a:rPr b="1" dirty="0" err="1"/>
              <a:t>Exemplo</a:t>
            </a:r>
            <a:r>
              <a:rPr dirty="0"/>
              <a:t>: </a:t>
            </a:r>
            <a:r>
              <a:rPr dirty="0" err="1"/>
              <a:t>calcular</a:t>
            </a:r>
            <a:r>
              <a:rPr dirty="0"/>
              <a:t> o </a:t>
            </a:r>
            <a:r>
              <a:rPr dirty="0" err="1"/>
              <a:t>aluguel</a:t>
            </a:r>
            <a:r>
              <a:rPr dirty="0"/>
              <a:t> </a:t>
            </a:r>
            <a:r>
              <a:rPr dirty="0" err="1"/>
              <a:t>vigente</a:t>
            </a:r>
            <a:r>
              <a:rPr dirty="0"/>
              <a:t> </a:t>
            </a:r>
            <a:r>
              <a:rPr dirty="0" err="1"/>
              <a:t>em</a:t>
            </a:r>
            <a:r>
              <a:rPr dirty="0"/>
              <a:t> </a:t>
            </a:r>
            <a:r>
              <a:rPr dirty="0" err="1"/>
              <a:t>maio</a:t>
            </a:r>
            <a:r>
              <a:rPr dirty="0"/>
              <a:t>/2008 (D’Amato and Alonso 2019, 75):</a:t>
            </a:r>
          </a:p>
        </p:txBody>
      </p:sp>
      <p:graphicFrame>
        <p:nvGraphicFramePr>
          <p:cNvPr id="6" name="Content Placeholder 5"/>
          <p:cNvGraphicFramePr>
            <a:graphicFrameLocks noGrp="1"/>
          </p:cNvGraphicFramePr>
          <p:nvPr>
            <p:ph idx="1"/>
          </p:nvPr>
        </p:nvGraphicFramePr>
        <p:xfrm>
          <a:off x="5181600" y="977900"/>
          <a:ext cx="6172200" cy="3200400"/>
        </p:xfrm>
        <a:graphic>
          <a:graphicData uri="http://schemas.openxmlformats.org/drawingml/2006/table">
            <a:tbl>
              <a:tblPr firstRow="1" bandRow="1">
                <a:tableStyleId>{5C22544A-7EE6-4342-B048-85BDC9FD1C3A}</a:tableStyleId>
              </a:tblPr>
              <a:tblGrid>
                <a:gridCol w="1028700">
                  <a:extLst>
                    <a:ext uri="{9D8B030D-6E8A-4147-A177-3AD203B41FA5}">
                      <a16:colId xmlns:a16="http://schemas.microsoft.com/office/drawing/2014/main" val="20000"/>
                    </a:ext>
                  </a:extLst>
                </a:gridCol>
                <a:gridCol w="1028700">
                  <a:extLst>
                    <a:ext uri="{9D8B030D-6E8A-4147-A177-3AD203B41FA5}">
                      <a16:colId xmlns:a16="http://schemas.microsoft.com/office/drawing/2014/main" val="20001"/>
                    </a:ext>
                  </a:extLst>
                </a:gridCol>
                <a:gridCol w="1028700">
                  <a:extLst>
                    <a:ext uri="{9D8B030D-6E8A-4147-A177-3AD203B41FA5}">
                      <a16:colId xmlns:a16="http://schemas.microsoft.com/office/drawing/2014/main" val="20002"/>
                    </a:ext>
                  </a:extLst>
                </a:gridCol>
                <a:gridCol w="1028700">
                  <a:extLst>
                    <a:ext uri="{9D8B030D-6E8A-4147-A177-3AD203B41FA5}">
                      <a16:colId xmlns:a16="http://schemas.microsoft.com/office/drawing/2014/main" val="20003"/>
                    </a:ext>
                  </a:extLst>
                </a:gridCol>
                <a:gridCol w="1028700">
                  <a:extLst>
                    <a:ext uri="{9D8B030D-6E8A-4147-A177-3AD203B41FA5}">
                      <a16:colId xmlns:a16="http://schemas.microsoft.com/office/drawing/2014/main" val="20004"/>
                    </a:ext>
                  </a:extLst>
                </a:gridCol>
                <a:gridCol w="1028700">
                  <a:extLst>
                    <a:ext uri="{9D8B030D-6E8A-4147-A177-3AD203B41FA5}">
                      <a16:colId xmlns:a16="http://schemas.microsoft.com/office/drawing/2014/main" val="20005"/>
                    </a:ext>
                  </a:extLst>
                </a:gridCol>
              </a:tblGrid>
              <a:tr h="0">
                <a:tc>
                  <a:txBody>
                    <a:bodyPr/>
                    <a:lstStyle/>
                    <a:p>
                      <a:pPr marL="0" lvl="0" indent="0" algn="r">
                        <a:buNone/>
                      </a:pPr>
                      <a:r>
                        <a:t>Id</a:t>
                      </a:r>
                    </a:p>
                  </a:txBody>
                  <a:tcPr/>
                </a:tc>
                <a:tc>
                  <a:txBody>
                    <a:bodyPr/>
                    <a:lstStyle/>
                    <a:p>
                      <a:pPr marL="0" lvl="0" indent="0" algn="l">
                        <a:buNone/>
                      </a:pPr>
                      <a:r>
                        <a:t>Inicio</a:t>
                      </a:r>
                    </a:p>
                  </a:txBody>
                  <a:tcPr/>
                </a:tc>
                <a:tc>
                  <a:txBody>
                    <a:bodyPr/>
                    <a:lstStyle/>
                    <a:p>
                      <a:pPr marL="0" lvl="0" indent="0" algn="r">
                        <a:buNone/>
                      </a:pPr>
                      <a:r>
                        <a:t>Prazo</a:t>
                      </a:r>
                    </a:p>
                  </a:txBody>
                  <a:tcPr/>
                </a:tc>
                <a:tc>
                  <a:txBody>
                    <a:bodyPr/>
                    <a:lstStyle/>
                    <a:p>
                      <a:pPr marL="0" lvl="0" indent="0" algn="r">
                        <a:buNone/>
                      </a:pPr>
                      <a:r>
                        <a:t>Aluguel</a:t>
                      </a:r>
                    </a:p>
                  </a:txBody>
                  <a:tcPr/>
                </a:tc>
                <a:tc>
                  <a:txBody>
                    <a:bodyPr/>
                    <a:lstStyle/>
                    <a:p>
                      <a:pPr marL="0" lvl="0" indent="0" algn="l">
                        <a:buNone/>
                      </a:pPr>
                      <a:r>
                        <a:t>Reajuste</a:t>
                      </a:r>
                    </a:p>
                  </a:txBody>
                  <a:tcPr/>
                </a:tc>
                <a:tc>
                  <a:txBody>
                    <a:bodyPr/>
                    <a:lstStyle/>
                    <a:p>
                      <a:pPr marL="0" lvl="0" indent="0" algn="l">
                        <a:buNone/>
                      </a:pPr>
                      <a:r>
                        <a:t>Indice</a:t>
                      </a:r>
                    </a:p>
                  </a:txBody>
                  <a:tcPr/>
                </a:tc>
                <a:extLst>
                  <a:ext uri="{0D108BD9-81ED-4DB2-BD59-A6C34878D82A}">
                    <a16:rowId xmlns:a16="http://schemas.microsoft.com/office/drawing/2014/main" val="10000"/>
                  </a:ext>
                </a:extLst>
              </a:tr>
              <a:tr h="0">
                <a:tc>
                  <a:txBody>
                    <a:bodyPr/>
                    <a:lstStyle/>
                    <a:p>
                      <a:pPr marL="0" lvl="0" indent="0" algn="r">
                        <a:buNone/>
                      </a:pPr>
                      <a:r>
                        <a:t>1</a:t>
                      </a:r>
                    </a:p>
                  </a:txBody>
                  <a:tcPr/>
                </a:tc>
                <a:tc>
                  <a:txBody>
                    <a:bodyPr/>
                    <a:lstStyle/>
                    <a:p>
                      <a:pPr marL="0" lvl="0" indent="0" algn="l">
                        <a:buNone/>
                      </a:pPr>
                      <a:r>
                        <a:t>01/03/2014</a:t>
                      </a:r>
                    </a:p>
                  </a:txBody>
                  <a:tcPr/>
                </a:tc>
                <a:tc>
                  <a:txBody>
                    <a:bodyPr/>
                    <a:lstStyle/>
                    <a:p>
                      <a:pPr marL="0" lvl="0" indent="0" algn="r">
                        <a:buNone/>
                      </a:pPr>
                      <a:r>
                        <a:t>60</a:t>
                      </a:r>
                    </a:p>
                  </a:txBody>
                  <a:tcPr/>
                </a:tc>
                <a:tc>
                  <a:txBody>
                    <a:bodyPr/>
                    <a:lstStyle/>
                    <a:p>
                      <a:pPr marL="0" lvl="0" indent="0" algn="r">
                        <a:buNone/>
                      </a:pPr>
                      <a:r>
                        <a:t>1400</a:t>
                      </a:r>
                    </a:p>
                  </a:txBody>
                  <a:tcPr/>
                </a:tc>
                <a:tc>
                  <a:txBody>
                    <a:bodyPr/>
                    <a:lstStyle/>
                    <a:p>
                      <a:pPr marL="0" lvl="0" indent="0" algn="l">
                        <a:buNone/>
                      </a:pPr>
                      <a:r>
                        <a:t>Anual</a:t>
                      </a:r>
                    </a:p>
                  </a:txBody>
                  <a:tcPr/>
                </a:tc>
                <a:tc>
                  <a:txBody>
                    <a:bodyPr/>
                    <a:lstStyle/>
                    <a:p>
                      <a:pPr marL="0" lvl="0" indent="0" algn="l">
                        <a:buNone/>
                      </a:pPr>
                      <a:r>
                        <a:t>IGP-M</a:t>
                      </a:r>
                    </a:p>
                  </a:txBody>
                  <a:tcPr/>
                </a:tc>
                <a:extLst>
                  <a:ext uri="{0D108BD9-81ED-4DB2-BD59-A6C34878D82A}">
                    <a16:rowId xmlns:a16="http://schemas.microsoft.com/office/drawing/2014/main" val="10001"/>
                  </a:ext>
                </a:extLst>
              </a:tr>
              <a:tr h="0">
                <a:tc>
                  <a:txBody>
                    <a:bodyPr/>
                    <a:lstStyle/>
                    <a:p>
                      <a:pPr marL="0" lvl="0" indent="0" algn="r">
                        <a:buNone/>
                      </a:pPr>
                      <a:r>
                        <a:t>2</a:t>
                      </a:r>
                    </a:p>
                  </a:txBody>
                  <a:tcPr/>
                </a:tc>
                <a:tc>
                  <a:txBody>
                    <a:bodyPr/>
                    <a:lstStyle/>
                    <a:p>
                      <a:pPr marL="0" lvl="0" indent="0" algn="l">
                        <a:buNone/>
                      </a:pPr>
                      <a:r>
                        <a:t>12/06/2015</a:t>
                      </a:r>
                    </a:p>
                  </a:txBody>
                  <a:tcPr/>
                </a:tc>
                <a:tc>
                  <a:txBody>
                    <a:bodyPr/>
                    <a:lstStyle/>
                    <a:p>
                      <a:pPr marL="0" lvl="0" indent="0" algn="r">
                        <a:buNone/>
                      </a:pPr>
                      <a:r>
                        <a:t>60</a:t>
                      </a:r>
                    </a:p>
                  </a:txBody>
                  <a:tcPr/>
                </a:tc>
                <a:tc>
                  <a:txBody>
                    <a:bodyPr/>
                    <a:lstStyle/>
                    <a:p>
                      <a:pPr marL="0" lvl="0" indent="0" algn="r">
                        <a:buNone/>
                      </a:pPr>
                      <a:r>
                        <a:t>1350</a:t>
                      </a:r>
                    </a:p>
                  </a:txBody>
                  <a:tcPr/>
                </a:tc>
                <a:tc>
                  <a:txBody>
                    <a:bodyPr/>
                    <a:lstStyle/>
                    <a:p>
                      <a:pPr marL="0" lvl="0" indent="0" algn="l">
                        <a:buNone/>
                      </a:pPr>
                      <a:r>
                        <a:t>Anual</a:t>
                      </a:r>
                    </a:p>
                  </a:txBody>
                  <a:tcPr/>
                </a:tc>
                <a:tc>
                  <a:txBody>
                    <a:bodyPr/>
                    <a:lstStyle/>
                    <a:p>
                      <a:pPr marL="0" lvl="0" indent="0" algn="l">
                        <a:buNone/>
                      </a:pPr>
                      <a:r>
                        <a:t>IGP-M</a:t>
                      </a:r>
                    </a:p>
                  </a:txBody>
                  <a:tcPr/>
                </a:tc>
                <a:extLst>
                  <a:ext uri="{0D108BD9-81ED-4DB2-BD59-A6C34878D82A}">
                    <a16:rowId xmlns:a16="http://schemas.microsoft.com/office/drawing/2014/main" val="10002"/>
                  </a:ext>
                </a:extLst>
              </a:tr>
              <a:tr h="0">
                <a:tc>
                  <a:txBody>
                    <a:bodyPr/>
                    <a:lstStyle/>
                    <a:p>
                      <a:pPr marL="0" lvl="0" indent="0" algn="r">
                        <a:buNone/>
                      </a:pPr>
                      <a:r>
                        <a:t>3</a:t>
                      </a:r>
                    </a:p>
                  </a:txBody>
                  <a:tcPr/>
                </a:tc>
                <a:tc>
                  <a:txBody>
                    <a:bodyPr/>
                    <a:lstStyle/>
                    <a:p>
                      <a:pPr marL="0" lvl="0" indent="0" algn="l">
                        <a:buNone/>
                      </a:pPr>
                      <a:r>
                        <a:t>17/08/2015</a:t>
                      </a:r>
                    </a:p>
                  </a:txBody>
                  <a:tcPr/>
                </a:tc>
                <a:tc>
                  <a:txBody>
                    <a:bodyPr/>
                    <a:lstStyle/>
                    <a:p>
                      <a:pPr marL="0" lvl="0" indent="0" algn="r">
                        <a:buNone/>
                      </a:pPr>
                      <a:r>
                        <a:t>48</a:t>
                      </a:r>
                    </a:p>
                  </a:txBody>
                  <a:tcPr/>
                </a:tc>
                <a:tc>
                  <a:txBody>
                    <a:bodyPr/>
                    <a:lstStyle/>
                    <a:p>
                      <a:pPr marL="0" lvl="0" indent="0" algn="r">
                        <a:buNone/>
                      </a:pPr>
                      <a:r>
                        <a:t>1200</a:t>
                      </a:r>
                    </a:p>
                  </a:txBody>
                  <a:tcPr/>
                </a:tc>
                <a:tc>
                  <a:txBody>
                    <a:bodyPr/>
                    <a:lstStyle/>
                    <a:p>
                      <a:pPr marL="0" lvl="0" indent="0" algn="l">
                        <a:buNone/>
                      </a:pPr>
                      <a:r>
                        <a:t>Anual</a:t>
                      </a:r>
                    </a:p>
                  </a:txBody>
                  <a:tcPr/>
                </a:tc>
                <a:tc>
                  <a:txBody>
                    <a:bodyPr/>
                    <a:lstStyle/>
                    <a:p>
                      <a:pPr marL="0" lvl="0" indent="0" algn="l">
                        <a:buNone/>
                      </a:pPr>
                      <a:r>
                        <a:t>IGP-M</a:t>
                      </a:r>
                    </a:p>
                  </a:txBody>
                  <a:tcPr/>
                </a:tc>
                <a:extLst>
                  <a:ext uri="{0D108BD9-81ED-4DB2-BD59-A6C34878D82A}">
                    <a16:rowId xmlns:a16="http://schemas.microsoft.com/office/drawing/2014/main" val="10003"/>
                  </a:ext>
                </a:extLst>
              </a:tr>
              <a:tr h="0">
                <a:tc>
                  <a:txBody>
                    <a:bodyPr/>
                    <a:lstStyle/>
                    <a:p>
                      <a:pPr marL="0" lvl="0" indent="0" algn="r">
                        <a:buNone/>
                      </a:pPr>
                      <a:r>
                        <a:t>4</a:t>
                      </a:r>
                    </a:p>
                  </a:txBody>
                  <a:tcPr/>
                </a:tc>
                <a:tc>
                  <a:txBody>
                    <a:bodyPr/>
                    <a:lstStyle/>
                    <a:p>
                      <a:pPr marL="0" lvl="0" indent="0" algn="l">
                        <a:buNone/>
                      </a:pPr>
                      <a:r>
                        <a:t>12/09/2015</a:t>
                      </a:r>
                    </a:p>
                  </a:txBody>
                  <a:tcPr/>
                </a:tc>
                <a:tc>
                  <a:txBody>
                    <a:bodyPr/>
                    <a:lstStyle/>
                    <a:p>
                      <a:pPr marL="0" lvl="0" indent="0" algn="r">
                        <a:buNone/>
                      </a:pPr>
                      <a:r>
                        <a:t>48</a:t>
                      </a:r>
                    </a:p>
                  </a:txBody>
                  <a:tcPr/>
                </a:tc>
                <a:tc>
                  <a:txBody>
                    <a:bodyPr/>
                    <a:lstStyle/>
                    <a:p>
                      <a:pPr marL="0" lvl="0" indent="0" algn="r">
                        <a:buNone/>
                      </a:pPr>
                      <a:r>
                        <a:t>1164</a:t>
                      </a:r>
                    </a:p>
                  </a:txBody>
                  <a:tcPr/>
                </a:tc>
                <a:tc>
                  <a:txBody>
                    <a:bodyPr/>
                    <a:lstStyle/>
                    <a:p>
                      <a:pPr marL="0" lvl="0" indent="0" algn="l">
                        <a:buNone/>
                      </a:pPr>
                      <a:r>
                        <a:t>Anual</a:t>
                      </a:r>
                    </a:p>
                  </a:txBody>
                  <a:tcPr/>
                </a:tc>
                <a:tc>
                  <a:txBody>
                    <a:bodyPr/>
                    <a:lstStyle/>
                    <a:p>
                      <a:pPr marL="0" lvl="0" indent="0" algn="l">
                        <a:buNone/>
                      </a:pPr>
                      <a:r>
                        <a:t>IGP-M</a:t>
                      </a:r>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8ACFA-4A74-9B40-CC3E-92D78F850226}"/>
              </a:ext>
            </a:extLst>
          </p:cNvPr>
          <p:cNvSpPr>
            <a:spLocks noGrp="1"/>
          </p:cNvSpPr>
          <p:nvPr>
            <p:ph type="title"/>
          </p:nvPr>
        </p:nvSpPr>
        <p:spPr>
          <a:xfrm>
            <a:off x="838200" y="983457"/>
            <a:ext cx="10515600" cy="891526"/>
          </a:xfrm>
          <a:prstGeom prst="rect">
            <a:avLst/>
          </a:prstGeom>
        </p:spPr>
        <p:txBody>
          <a:bodyPr/>
          <a:lstStyle/>
          <a:p>
            <a:pPr marL="0" lvl="0" indent="0">
              <a:buNone/>
            </a:pPr>
            <a:r>
              <a:t>Atualização de Aluguéis</a:t>
            </a:r>
          </a:p>
        </p:txBody>
      </p:sp>
      <p:sp>
        <p:nvSpPr>
          <p:cNvPr id="3" name="Content Placeholder 2">
            <a:extLst>
              <a:ext uri="{FF2B5EF4-FFF2-40B4-BE49-F238E27FC236}">
                <a16:creationId xmlns:a16="http://schemas.microsoft.com/office/drawing/2014/main" id="{06E5C504-58F1-2318-F264-E17A9AABC74B}"/>
              </a:ext>
            </a:extLst>
          </p:cNvPr>
          <p:cNvSpPr>
            <a:spLocks noGrp="1"/>
          </p:cNvSpPr>
          <p:nvPr>
            <p:ph idx="1"/>
          </p:nvPr>
        </p:nvSpPr>
        <p:spPr/>
        <p:txBody>
          <a:bodyPr/>
          <a:lstStyle/>
          <a:p>
            <a:pPr lvl="0"/>
            <a:r>
              <a:rPr b="1"/>
              <a:t>Luvas</a:t>
            </a:r>
            <a:r>
              <a:t>: luvas são a cobrança de uma certa importância no início da locação (Candeloro, n.d., 70)</a:t>
            </a:r>
          </a:p>
          <a:p>
            <a:pPr lvl="1"/>
            <a:r>
              <a:t>Pela atual legislação, as luvas só podem ser cobradas no início da locação, porém não na renovação;</a:t>
            </a:r>
          </a:p>
          <a:p>
            <a:pPr lvl="1"/>
            <a:r>
              <a:t>Para o tratamento equânime dos dados de aluguéis com ou sem luvas, estas, quando existentes, devem ser diluídas e acrescentadas ao valor mensal do aluguel;</a:t>
            </a:r>
          </a:p>
          <a:p>
            <a:pPr lvl="2"/>
            <a:r>
              <a:t>É necessário, para isto, aplicação de juros e correção monetária;</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8ACFA-4A74-9B40-CC3E-92D78F850226}"/>
              </a:ext>
            </a:extLst>
          </p:cNvPr>
          <p:cNvSpPr>
            <a:spLocks noGrp="1"/>
          </p:cNvSpPr>
          <p:nvPr>
            <p:ph type="title"/>
          </p:nvPr>
        </p:nvSpPr>
        <p:spPr>
          <a:xfrm>
            <a:off x="838200" y="983457"/>
            <a:ext cx="10515600" cy="891526"/>
          </a:xfrm>
          <a:prstGeom prst="rect">
            <a:avLst/>
          </a:prstGeom>
        </p:spPr>
        <p:txBody>
          <a:bodyPr/>
          <a:lstStyle/>
          <a:p>
            <a:pPr marL="0" lvl="0" indent="0">
              <a:buNone/>
            </a:pPr>
            <a:r>
              <a:t>Atualização de Aluguéis</a:t>
            </a:r>
          </a:p>
        </p:txBody>
      </p:sp>
      <p:sp>
        <p:nvSpPr>
          <p:cNvPr id="3" name="Content Placeholder 2">
            <a:extLst>
              <a:ext uri="{FF2B5EF4-FFF2-40B4-BE49-F238E27FC236}">
                <a16:creationId xmlns:a16="http://schemas.microsoft.com/office/drawing/2014/main" id="{06E5C504-58F1-2318-F264-E17A9AABC74B}"/>
              </a:ext>
            </a:extLst>
          </p:cNvPr>
          <p:cNvSpPr>
            <a:spLocks noGrp="1"/>
          </p:cNvSpPr>
          <p:nvPr>
            <p:ph idx="1"/>
          </p:nvPr>
        </p:nvSpPr>
        <p:spPr/>
        <p:txBody>
          <a:bodyPr/>
          <a:lstStyle/>
          <a:p>
            <a:pPr lvl="0"/>
            <a:r>
              <a:t>Exemplo (D’Amato and Alonso 2019, 169–70):</a:t>
            </a:r>
          </a:p>
          <a:p>
            <a:pPr lvl="1"/>
            <a:r>
              <a:t>Aluguel com contrato de 5 anos (60 meses).</a:t>
            </a:r>
          </a:p>
          <a:p>
            <a:pPr lvl="2"/>
            <a:r>
              <a:t>Valor locatício mensal: R$ 2.000,00</a:t>
            </a:r>
          </a:p>
          <a:p>
            <a:pPr lvl="2"/>
            <a:r>
              <a:t>Luvas: R$ 50.000</a:t>
            </a:r>
          </a:p>
          <a:p>
            <a:pPr lvl="2"/>
            <a:r>
              <a:t>Selic: 9,25% a.a. (0,74% a.m.)</a:t>
            </a:r>
          </a:p>
          <a:p>
            <a:pPr lvl="2"/>
            <a:r>
              <a:t>Correção monetária: 1,37% a.a. (0,114% a.m.)</a:t>
            </a:r>
          </a:p>
          <a:p>
            <a:pPr lvl="0"/>
            <a:r>
              <a:t>Solução:</a:t>
            </a:r>
          </a:p>
          <a:p>
            <a:pPr lvl="1"/>
            <a:r>
              <a:t>Taxa efetiva: </a:t>
            </a:r>
            <a14:m xmlns:a14="http://schemas.microsoft.com/office/drawing/2010/main">
              <m:oMath xmlns:m="http://schemas.openxmlformats.org/officeDocument/2006/math">
                <m:d>
                  <m:dPr>
                    <m:ctrlPr>
                      <a:rPr>
                        <a:latin typeface="Cambria Math" panose="02040503050406030204" pitchFamily="18" charset="0"/>
                      </a:rPr>
                    </m:ctrlPr>
                  </m:dPr>
                  <m:e>
                    <m:r>
                      <a:rPr>
                        <a:latin typeface="Cambria Math" panose="02040503050406030204" pitchFamily="18" charset="0"/>
                      </a:rPr>
                      <m:t>1</m:t>
                    </m:r>
                    <m:r>
                      <a:rPr>
                        <a:latin typeface="Cambria Math" panose="02040503050406030204" pitchFamily="18" charset="0"/>
                      </a:rPr>
                      <m:t>+</m:t>
                    </m:r>
                    <m:r>
                      <a:rPr>
                        <a:latin typeface="Cambria Math" panose="02040503050406030204" pitchFamily="18" charset="0"/>
                      </a:rPr>
                      <m:t>0</m:t>
                    </m:r>
                    <m:r>
                      <a:rPr>
                        <a:latin typeface="Cambria Math" panose="02040503050406030204" pitchFamily="18" charset="0"/>
                      </a:rPr>
                      <m:t>,</m:t>
                    </m:r>
                    <m:r>
                      <a:rPr>
                        <a:latin typeface="Cambria Math" panose="02040503050406030204" pitchFamily="18" charset="0"/>
                      </a:rPr>
                      <m:t>0074</m:t>
                    </m:r>
                  </m:e>
                </m:d>
                <m:r>
                  <a:rPr>
                    <a:latin typeface="Cambria Math" panose="02040503050406030204" pitchFamily="18" charset="0"/>
                  </a:rPr>
                  <m:t>.</m:t>
                </m:r>
                <m:d>
                  <m:dPr>
                    <m:ctrlPr>
                      <a:rPr i="1">
                        <a:latin typeface="Cambria Math" panose="02040503050406030204" pitchFamily="18" charset="0"/>
                      </a:rPr>
                    </m:ctrlPr>
                  </m:dPr>
                  <m:e>
                    <m:r>
                      <a:rPr>
                        <a:latin typeface="Cambria Math" panose="02040503050406030204" pitchFamily="18" charset="0"/>
                      </a:rPr>
                      <m:t>1</m:t>
                    </m:r>
                    <m:r>
                      <a:rPr>
                        <a:latin typeface="Cambria Math" panose="02040503050406030204" pitchFamily="18" charset="0"/>
                      </a:rPr>
                      <m:t>+</m:t>
                    </m:r>
                    <m:r>
                      <a:rPr>
                        <a:latin typeface="Cambria Math" panose="02040503050406030204" pitchFamily="18" charset="0"/>
                      </a:rPr>
                      <m:t>0</m:t>
                    </m:r>
                    <m:r>
                      <a:rPr>
                        <a:latin typeface="Cambria Math" panose="02040503050406030204" pitchFamily="18" charset="0"/>
                      </a:rPr>
                      <m:t>,</m:t>
                    </m:r>
                    <m:r>
                      <a:rPr>
                        <a:latin typeface="Cambria Math" panose="02040503050406030204" pitchFamily="18" charset="0"/>
                      </a:rPr>
                      <m:t>00114</m:t>
                    </m:r>
                  </m:e>
                </m:d>
                <m:r>
                  <a:rPr>
                    <a:latin typeface="Cambria Math" panose="02040503050406030204" pitchFamily="18" charset="0"/>
                  </a:rPr>
                  <m:t>−</m:t>
                </m:r>
                <m:r>
                  <a:rPr>
                    <a:latin typeface="Cambria Math" panose="02040503050406030204" pitchFamily="18" charset="0"/>
                  </a:rPr>
                  <m:t>1</m:t>
                </m:r>
                <m:r>
                  <a:rPr>
                    <a:latin typeface="Cambria Math" panose="02040503050406030204" pitchFamily="18" charset="0"/>
                  </a:rPr>
                  <m:t>=</m:t>
                </m:r>
                <m:r>
                  <a:rPr>
                    <a:latin typeface="Cambria Math" panose="02040503050406030204" pitchFamily="18" charset="0"/>
                  </a:rPr>
                  <m:t>0</m:t>
                </m:r>
                <m:r>
                  <a:rPr>
                    <a:latin typeface="Cambria Math" panose="02040503050406030204" pitchFamily="18" charset="0"/>
                  </a:rPr>
                  <m:t>,</m:t>
                </m:r>
                <m:r>
                  <a:rPr>
                    <a:latin typeface="Cambria Math" panose="02040503050406030204" pitchFamily="18" charset="0"/>
                  </a:rPr>
                  <m:t>855</m:t>
                </m:r>
                <m:r>
                  <a:rPr>
                    <a:latin typeface="Cambria Math" panose="02040503050406030204" pitchFamily="18" charset="0"/>
                  </a:rPr>
                  <m:t>%</m:t>
                </m:r>
              </m:oMath>
            </a14:m>
            <a:endParaRPr/>
          </a:p>
          <a:p>
            <a:pPr lvl="1"/>
            <a:r>
              <a:t>Fator de recuperação do capital: </a:t>
            </a:r>
            <a14:m xmlns:a14="http://schemas.microsoft.com/office/drawing/2010/main">
              <m:oMath xmlns:m="http://schemas.openxmlformats.org/officeDocument/2006/math">
                <m:r>
                  <a:rPr>
                    <a:latin typeface="Cambria Math" panose="02040503050406030204" pitchFamily="18" charset="0"/>
                  </a:rPr>
                  <m:t>𝐹𝑅𝐶</m:t>
                </m:r>
                <m:d>
                  <m:dPr>
                    <m:ctrlPr>
                      <a:rPr i="1">
                        <a:latin typeface="Cambria Math" panose="02040503050406030204" pitchFamily="18" charset="0"/>
                      </a:rPr>
                    </m:ctrlPr>
                  </m:dPr>
                  <m:e>
                    <m:r>
                      <a:rPr>
                        <a:latin typeface="Cambria Math" panose="02040503050406030204" pitchFamily="18" charset="0"/>
                      </a:rPr>
                      <m:t>0</m:t>
                    </m:r>
                    <m:r>
                      <a:rPr>
                        <a:latin typeface="Cambria Math" panose="02040503050406030204" pitchFamily="18" charset="0"/>
                      </a:rPr>
                      <m:t>,</m:t>
                    </m:r>
                    <m:r>
                      <a:rPr>
                        <a:latin typeface="Cambria Math" panose="02040503050406030204" pitchFamily="18" charset="0"/>
                      </a:rPr>
                      <m:t>855</m:t>
                    </m:r>
                    <m:r>
                      <a:rPr>
                        <a:latin typeface="Cambria Math" panose="02040503050406030204" pitchFamily="18" charset="0"/>
                      </a:rPr>
                      <m:t>%,</m:t>
                    </m:r>
                    <m:r>
                      <a:rPr>
                        <a:latin typeface="Cambria Math" panose="02040503050406030204" pitchFamily="18" charset="0"/>
                      </a:rPr>
                      <m:t>60</m:t>
                    </m:r>
                  </m:e>
                </m:d>
                <m:r>
                  <a:rPr>
                    <a:latin typeface="Cambria Math" panose="02040503050406030204" pitchFamily="18" charset="0"/>
                  </a:rPr>
                  <m:t>=</m:t>
                </m:r>
                <m:r>
                  <a:rPr>
                    <a:latin typeface="Cambria Math" panose="02040503050406030204" pitchFamily="18" charset="0"/>
                  </a:rPr>
                  <m:t>0</m:t>
                </m:r>
                <m:r>
                  <a:rPr>
                    <a:latin typeface="Cambria Math" panose="02040503050406030204" pitchFamily="18" charset="0"/>
                  </a:rPr>
                  <m:t>,</m:t>
                </m:r>
                <m:r>
                  <a:rPr>
                    <a:latin typeface="Cambria Math" panose="02040503050406030204" pitchFamily="18" charset="0"/>
                  </a:rPr>
                  <m:t>02137</m:t>
                </m:r>
              </m:oMath>
            </a14:m>
            <a:endParaRPr/>
          </a:p>
          <a:p>
            <a:pPr lvl="1"/>
            <a:r>
              <a:t>Aluguel:</a:t>
            </a:r>
          </a:p>
          <a:p>
            <a:pPr lvl="1"/>
            <a14:m xmlns:a14="http://schemas.microsoft.com/office/drawing/2010/main">
              <m:oMath xmlns:m="http://schemas.openxmlformats.org/officeDocument/2006/math">
                <m:r>
                  <a:rPr>
                    <a:latin typeface="Cambria Math" panose="02040503050406030204" pitchFamily="18" charset="0"/>
                  </a:rPr>
                  <m:t>𝐴𝑙</m:t>
                </m:r>
                <m:r>
                  <a:rPr>
                    <a:latin typeface="Cambria Math" panose="02040503050406030204" pitchFamily="18" charset="0"/>
                  </a:rPr>
                  <m:t>=</m:t>
                </m:r>
                <m:r>
                  <a:rPr>
                    <a:latin typeface="Cambria Math" panose="02040503050406030204" pitchFamily="18" charset="0"/>
                  </a:rPr>
                  <m:t>2</m:t>
                </m:r>
                <m:r>
                  <a:rPr>
                    <a:latin typeface="Cambria Math" panose="02040503050406030204" pitchFamily="18" charset="0"/>
                  </a:rPr>
                  <m:t>.</m:t>
                </m:r>
                <m:r>
                  <a:rPr>
                    <a:latin typeface="Cambria Math" panose="02040503050406030204" pitchFamily="18" charset="0"/>
                  </a:rPr>
                  <m:t>000</m:t>
                </m:r>
                <m:r>
                  <a:rPr>
                    <a:latin typeface="Cambria Math" panose="02040503050406030204" pitchFamily="18" charset="0"/>
                  </a:rPr>
                  <m:t>+</m:t>
                </m:r>
                <m:r>
                  <a:rPr>
                    <a:latin typeface="Cambria Math" panose="02040503050406030204" pitchFamily="18" charset="0"/>
                  </a:rPr>
                  <m:t>50</m:t>
                </m:r>
                <m:r>
                  <a:rPr>
                    <a:latin typeface="Cambria Math" panose="02040503050406030204" pitchFamily="18" charset="0"/>
                  </a:rPr>
                  <m:t>.</m:t>
                </m:r>
                <m:r>
                  <a:rPr>
                    <a:latin typeface="Cambria Math" panose="02040503050406030204" pitchFamily="18" charset="0"/>
                  </a:rPr>
                  <m:t>000</m:t>
                </m:r>
                <m:r>
                  <a:rPr>
                    <a:latin typeface="Cambria Math" panose="02040503050406030204" pitchFamily="18" charset="0"/>
                  </a:rPr>
                  <m:t>×</m:t>
                </m:r>
                <m:r>
                  <a:rPr>
                    <a:latin typeface="Cambria Math" panose="02040503050406030204" pitchFamily="18" charset="0"/>
                  </a:rPr>
                  <m:t>0</m:t>
                </m:r>
                <m:r>
                  <a:rPr>
                    <a:latin typeface="Cambria Math" panose="02040503050406030204" pitchFamily="18" charset="0"/>
                  </a:rPr>
                  <m:t>,</m:t>
                </m:r>
                <m:r>
                  <a:rPr>
                    <a:latin typeface="Cambria Math" panose="02040503050406030204" pitchFamily="18" charset="0"/>
                  </a:rPr>
                  <m:t>02137</m:t>
                </m:r>
                <m:r>
                  <a:rPr>
                    <a:latin typeface="Cambria Math" panose="02040503050406030204" pitchFamily="18" charset="0"/>
                  </a:rPr>
                  <m:t>=</m:t>
                </m:r>
                <m:r>
                  <a:rPr>
                    <a:latin typeface="Cambria Math" panose="02040503050406030204" pitchFamily="18" charset="0"/>
                  </a:rPr>
                  <m:t>3</m:t>
                </m:r>
                <m:r>
                  <a:rPr>
                    <a:latin typeface="Cambria Math" panose="02040503050406030204" pitchFamily="18" charset="0"/>
                  </a:rPr>
                  <m:t>.</m:t>
                </m:r>
                <m:r>
                  <a:rPr>
                    <a:latin typeface="Cambria Math" panose="02040503050406030204" pitchFamily="18" charset="0"/>
                  </a:rPr>
                  <m:t>067</m:t>
                </m:r>
                <m:r>
                  <a:rPr>
                    <a:latin typeface="Cambria Math" panose="02040503050406030204" pitchFamily="18" charset="0"/>
                  </a:rPr>
                  <m:t>,</m:t>
                </m:r>
                <m:r>
                  <a:rPr>
                    <a:latin typeface="Cambria Math" panose="02040503050406030204" pitchFamily="18" charset="0"/>
                  </a:rPr>
                  <m:t>00</m:t>
                </m:r>
                <m:r>
                  <a:rPr>
                    <a:latin typeface="Cambria Math" panose="02040503050406030204" pitchFamily="18" charset="0"/>
                  </a:rPr>
                  <m:t>/</m:t>
                </m:r>
                <m:r>
                  <m:rPr>
                    <m:nor/>
                  </m:rPr>
                  <a:rPr/>
                  <m:t>m</m:t>
                </m:r>
                <m:r>
                  <m:rPr>
                    <m:nor/>
                  </m:rPr>
                  <a:rPr/>
                  <m:t>ê</m:t>
                </m:r>
                <m:r>
                  <m:rPr>
                    <m:nor/>
                  </m:rPr>
                  <a:rPr/>
                  <m:t>s</m:t>
                </m:r>
              </m:oMath>
            </a14:m>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8FE57-6952-DCF2-0990-90E39B648B0A}"/>
              </a:ext>
            </a:extLst>
          </p:cNvPr>
          <p:cNvSpPr>
            <a:spLocks noGrp="1"/>
          </p:cNvSpPr>
          <p:nvPr>
            <p:ph type="title"/>
          </p:nvPr>
        </p:nvSpPr>
        <p:spPr>
          <a:xfrm>
            <a:off x="839788" y="987424"/>
            <a:ext cx="3932237" cy="1069975"/>
          </a:xfrm>
          <a:prstGeom prst="rect">
            <a:avLst/>
          </a:prstGeom>
        </p:spPr>
        <p:txBody>
          <a:bodyPr/>
          <a:lstStyle/>
          <a:p>
            <a:pPr marL="0" lvl="0" indent="0">
              <a:buNone/>
            </a:pPr>
            <a:r>
              <a:t>Atualização de Aluguéis</a:t>
            </a:r>
          </a:p>
        </p:txBody>
      </p:sp>
      <p:sp>
        <p:nvSpPr>
          <p:cNvPr id="4" name="Text Placeholder 3">
            <a:extLst>
              <a:ext uri="{FF2B5EF4-FFF2-40B4-BE49-F238E27FC236}">
                <a16:creationId xmlns:a16="http://schemas.microsoft.com/office/drawing/2014/main" id="{77A29933-B652-DA47-BFD3-9E7FA42D22D3}"/>
              </a:ext>
            </a:extLst>
          </p:cNvPr>
          <p:cNvSpPr>
            <a:spLocks noGrp="1"/>
          </p:cNvSpPr>
          <p:nvPr>
            <p:ph type="body" sz="half" idx="2"/>
          </p:nvPr>
        </p:nvSpPr>
        <p:spPr/>
        <p:txBody>
          <a:bodyPr/>
          <a:lstStyle/>
          <a:p>
            <a:pPr marL="285750" lvl="0" indent="-285750">
              <a:buFont typeface="Arial" panose="020B0604020202020204" pitchFamily="34" charset="0"/>
              <a:buChar char="•"/>
            </a:pPr>
            <a:r>
              <a:rPr dirty="0"/>
              <a:t>Por que sou </a:t>
            </a:r>
            <a:r>
              <a:rPr dirty="0" err="1"/>
              <a:t>contrário</a:t>
            </a:r>
            <a:r>
              <a:rPr dirty="0"/>
              <a:t>?</a:t>
            </a:r>
          </a:p>
          <a:p>
            <a:pPr marL="742950" lvl="1" indent="-285750">
              <a:buFont typeface="Arial" panose="020B0604020202020204" pitchFamily="34" charset="0"/>
              <a:buChar char="•"/>
            </a:pPr>
            <a:r>
              <a:rPr dirty="0" err="1"/>
              <a:t>Equilíbrio</a:t>
            </a:r>
            <a:r>
              <a:rPr dirty="0"/>
              <a:t> dos mercados </a:t>
            </a:r>
            <a:r>
              <a:rPr dirty="0" err="1"/>
              <a:t>imobiliário</a:t>
            </a:r>
            <a:r>
              <a:rPr dirty="0"/>
              <a:t> e de </a:t>
            </a:r>
            <a:r>
              <a:rPr dirty="0" err="1"/>
              <a:t>ativos</a:t>
            </a:r>
            <a:endParaRPr dirty="0"/>
          </a:p>
          <a:p>
            <a:pPr marL="742950" lvl="1" indent="-285750">
              <a:buFont typeface="Arial" panose="020B0604020202020204" pitchFamily="34" charset="0"/>
              <a:buChar char="•"/>
            </a:pPr>
            <a:r>
              <a:rPr dirty="0"/>
              <a:t>Quando o </a:t>
            </a:r>
            <a:r>
              <a:rPr dirty="0" err="1"/>
              <a:t>primeiro</a:t>
            </a:r>
            <a:r>
              <a:rPr dirty="0"/>
              <a:t> </a:t>
            </a:r>
            <a:r>
              <a:rPr dirty="0" err="1"/>
              <a:t>contrato</a:t>
            </a:r>
            <a:r>
              <a:rPr dirty="0"/>
              <a:t> </a:t>
            </a:r>
            <a:r>
              <a:rPr dirty="0" err="1"/>
              <a:t>foi</a:t>
            </a:r>
            <a:r>
              <a:rPr dirty="0"/>
              <a:t> </a:t>
            </a:r>
            <a:r>
              <a:rPr dirty="0" err="1"/>
              <a:t>firmado</a:t>
            </a:r>
            <a:r>
              <a:rPr dirty="0"/>
              <a:t>, </a:t>
            </a:r>
            <a:r>
              <a:rPr dirty="0" err="1"/>
              <a:t>em</a:t>
            </a:r>
            <a:r>
              <a:rPr dirty="0"/>
              <a:t> </a:t>
            </a:r>
            <a:r>
              <a:rPr dirty="0" err="1"/>
              <a:t>março</a:t>
            </a:r>
            <a:r>
              <a:rPr dirty="0"/>
              <a:t> de 2014, a </a:t>
            </a:r>
            <a:r>
              <a:rPr dirty="0" err="1"/>
              <a:t>atividade</a:t>
            </a:r>
            <a:r>
              <a:rPr dirty="0"/>
              <a:t> </a:t>
            </a:r>
            <a:r>
              <a:rPr dirty="0" err="1"/>
              <a:t>econômica</a:t>
            </a:r>
            <a:r>
              <a:rPr dirty="0"/>
              <a:t> </a:t>
            </a:r>
            <a:r>
              <a:rPr dirty="0" err="1"/>
              <a:t>ainda</a:t>
            </a:r>
            <a:r>
              <a:rPr dirty="0"/>
              <a:t> </a:t>
            </a:r>
            <a:r>
              <a:rPr dirty="0" err="1"/>
              <a:t>estava</a:t>
            </a:r>
            <a:r>
              <a:rPr dirty="0"/>
              <a:t> </a:t>
            </a:r>
            <a:r>
              <a:rPr dirty="0" err="1"/>
              <a:t>acelerada</a:t>
            </a:r>
            <a:r>
              <a:rPr dirty="0"/>
              <a:t> (</a:t>
            </a:r>
            <a:r>
              <a:rPr dirty="0" err="1"/>
              <a:t>desemprego</a:t>
            </a:r>
            <a:r>
              <a:rPr dirty="0"/>
              <a:t> </a:t>
            </a:r>
            <a:r>
              <a:rPr dirty="0" err="1"/>
              <a:t>baixo</a:t>
            </a:r>
            <a:r>
              <a:rPr dirty="0"/>
              <a:t>, </a:t>
            </a:r>
            <a:r>
              <a:rPr dirty="0" err="1"/>
              <a:t>renda</a:t>
            </a:r>
            <a:r>
              <a:rPr dirty="0"/>
              <a:t> </a:t>
            </a:r>
            <a:r>
              <a:rPr dirty="0" err="1"/>
              <a:t>alta</a:t>
            </a:r>
            <a:r>
              <a:rPr dirty="0"/>
              <a:t>)</a:t>
            </a:r>
          </a:p>
          <a:p>
            <a:pPr marL="742950" lvl="1" indent="-285750">
              <a:buFont typeface="Arial" panose="020B0604020202020204" pitchFamily="34" charset="0"/>
              <a:buChar char="•"/>
            </a:pPr>
            <a:r>
              <a:rPr dirty="0"/>
              <a:t>Em 2015, a </a:t>
            </a:r>
            <a:r>
              <a:rPr dirty="0" err="1"/>
              <a:t>Atividade</a:t>
            </a:r>
            <a:r>
              <a:rPr dirty="0"/>
              <a:t> </a:t>
            </a:r>
            <a:r>
              <a:rPr dirty="0" err="1"/>
              <a:t>Econômica</a:t>
            </a:r>
            <a:r>
              <a:rPr dirty="0"/>
              <a:t> </a:t>
            </a:r>
            <a:r>
              <a:rPr dirty="0" err="1"/>
              <a:t>já</a:t>
            </a:r>
            <a:r>
              <a:rPr dirty="0"/>
              <a:t> </a:t>
            </a:r>
            <a:r>
              <a:rPr dirty="0" err="1"/>
              <a:t>havia</a:t>
            </a:r>
            <a:r>
              <a:rPr dirty="0"/>
              <a:t> </a:t>
            </a:r>
            <a:r>
              <a:rPr dirty="0" err="1"/>
              <a:t>caído</a:t>
            </a:r>
            <a:r>
              <a:rPr dirty="0"/>
              <a:t> </a:t>
            </a:r>
            <a:r>
              <a:rPr dirty="0" err="1"/>
              <a:t>bruscamente</a:t>
            </a:r>
            <a:r>
              <a:rPr dirty="0"/>
              <a:t>, o que </a:t>
            </a:r>
            <a:r>
              <a:rPr dirty="0" err="1"/>
              <a:t>afeta</a:t>
            </a:r>
            <a:r>
              <a:rPr dirty="0"/>
              <a:t> o mercado de </a:t>
            </a:r>
            <a:r>
              <a:rPr dirty="0" err="1"/>
              <a:t>aluguéis</a:t>
            </a:r>
            <a:r>
              <a:rPr dirty="0"/>
              <a:t>.</a:t>
            </a:r>
          </a:p>
        </p:txBody>
      </p:sp>
      <p:pic>
        <p:nvPicPr>
          <p:cNvPr id="3" name="Picture 1" descr="./img/PIB.png"/>
          <p:cNvPicPr>
            <a:picLocks noGrp="1" noChangeAspect="1"/>
          </p:cNvPicPr>
          <p:nvPr/>
        </p:nvPicPr>
        <p:blipFill>
          <a:blip r:embed="rId2"/>
          <a:stretch>
            <a:fillRect/>
          </a:stretch>
        </p:blipFill>
        <p:spPr bwMode="auto">
          <a:xfrm>
            <a:off x="5181600" y="1625600"/>
            <a:ext cx="6172200" cy="3581400"/>
          </a:xfrm>
          <a:prstGeom prst="rect">
            <a:avLst/>
          </a:prstGeom>
          <a:noFill/>
          <a:ln w="9525">
            <a:noFill/>
            <a:headEnd/>
            <a:tailEnd/>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09A65-87C6-A0D0-64A7-121C4D105C33}"/>
              </a:ext>
            </a:extLst>
          </p:cNvPr>
          <p:cNvSpPr>
            <a:spLocks noGrp="1"/>
          </p:cNvSpPr>
          <p:nvPr>
            <p:ph type="title"/>
          </p:nvPr>
        </p:nvSpPr>
        <p:spPr>
          <a:xfrm>
            <a:off x="7010400" y="1080656"/>
            <a:ext cx="4337050" cy="3481820"/>
          </a:xfrm>
          <a:prstGeom prst="rect">
            <a:avLst/>
          </a:prstGeom>
        </p:spPr>
        <p:txBody>
          <a:bodyPr/>
          <a:lstStyle/>
          <a:p>
            <a:pPr marL="0" lvl="0" indent="0">
              <a:buNone/>
            </a:pPr>
            <a:r>
              <a:t>Equilíbrio dos Mercados</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8ACFA-4A74-9B40-CC3E-92D78F850226}"/>
              </a:ext>
            </a:extLst>
          </p:cNvPr>
          <p:cNvSpPr>
            <a:spLocks noGrp="1"/>
          </p:cNvSpPr>
          <p:nvPr>
            <p:ph type="title"/>
          </p:nvPr>
        </p:nvSpPr>
        <p:spPr>
          <a:xfrm>
            <a:off x="838200" y="983457"/>
            <a:ext cx="10515600" cy="891526"/>
          </a:xfrm>
          <a:prstGeom prst="rect">
            <a:avLst/>
          </a:prstGeom>
        </p:spPr>
        <p:txBody>
          <a:bodyPr>
            <a:normAutofit/>
          </a:bodyPr>
          <a:lstStyle/>
          <a:p>
            <a:pPr marL="0" lvl="0" indent="0">
              <a:buNone/>
            </a:pPr>
            <a:r>
              <a:rPr sz="4000" dirty="0"/>
              <a:t>Choque de </a:t>
            </a:r>
            <a:r>
              <a:rPr sz="4000" dirty="0" err="1"/>
              <a:t>demanda</a:t>
            </a:r>
            <a:endParaRPr sz="4000" dirty="0"/>
          </a:p>
        </p:txBody>
      </p:sp>
      <p:pic>
        <p:nvPicPr>
          <p:cNvPr id="3" name="Picture 1" descr="02_files/figure-pptx/choqueDemanda-1.png"/>
          <p:cNvPicPr>
            <a:picLocks noGrp="1" noChangeAspect="1"/>
          </p:cNvPicPr>
          <p:nvPr/>
        </p:nvPicPr>
        <p:blipFill>
          <a:blip r:embed="rId2"/>
          <a:stretch>
            <a:fillRect/>
          </a:stretch>
        </p:blipFill>
        <p:spPr bwMode="auto">
          <a:xfrm>
            <a:off x="1099458" y="1654628"/>
            <a:ext cx="10330542" cy="5165272"/>
          </a:xfrm>
          <a:prstGeom prst="rect">
            <a:avLst/>
          </a:prstGeom>
          <a:noFill/>
          <a:ln w="9525">
            <a:noFill/>
            <a:headEnd/>
            <a:tailEnd/>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8ACFA-4A74-9B40-CC3E-92D78F850226}"/>
              </a:ext>
            </a:extLst>
          </p:cNvPr>
          <p:cNvSpPr>
            <a:spLocks noGrp="1"/>
          </p:cNvSpPr>
          <p:nvPr>
            <p:ph type="title"/>
          </p:nvPr>
        </p:nvSpPr>
        <p:spPr>
          <a:xfrm>
            <a:off x="838200" y="983457"/>
            <a:ext cx="10515600" cy="891526"/>
          </a:xfrm>
          <a:prstGeom prst="rect">
            <a:avLst/>
          </a:prstGeom>
        </p:spPr>
        <p:txBody>
          <a:bodyPr>
            <a:normAutofit/>
          </a:bodyPr>
          <a:lstStyle/>
          <a:p>
            <a:pPr marL="0" lvl="0" indent="0">
              <a:buNone/>
            </a:pPr>
            <a:r>
              <a:rPr sz="3600" dirty="0" err="1"/>
              <a:t>Efeito</a:t>
            </a:r>
            <a:r>
              <a:rPr sz="3600" dirty="0"/>
              <a:t> de um </a:t>
            </a:r>
            <a:r>
              <a:rPr sz="3600" dirty="0" err="1"/>
              <a:t>aumento</a:t>
            </a:r>
            <a:r>
              <a:rPr sz="3600" dirty="0"/>
              <a:t> da taxa de </a:t>
            </a:r>
            <a:r>
              <a:rPr sz="3600" dirty="0" err="1"/>
              <a:t>juros</a:t>
            </a:r>
            <a:r>
              <a:rPr sz="3600" dirty="0"/>
              <a:t> de </a:t>
            </a:r>
            <a:r>
              <a:rPr sz="3600" dirty="0" err="1"/>
              <a:t>longo</a:t>
            </a:r>
            <a:r>
              <a:rPr sz="3600" dirty="0"/>
              <a:t> </a:t>
            </a:r>
            <a:r>
              <a:rPr sz="3600" dirty="0" err="1"/>
              <a:t>prazo</a:t>
            </a:r>
            <a:endParaRPr sz="3600" dirty="0"/>
          </a:p>
        </p:txBody>
      </p:sp>
      <p:pic>
        <p:nvPicPr>
          <p:cNvPr id="3" name="Picture 1" descr="02_files/figure-pptx/choqueJuros-1.png"/>
          <p:cNvPicPr>
            <a:picLocks noGrp="1" noChangeAspect="1"/>
          </p:cNvPicPr>
          <p:nvPr/>
        </p:nvPicPr>
        <p:blipFill>
          <a:blip r:embed="rId2"/>
          <a:stretch>
            <a:fillRect/>
          </a:stretch>
        </p:blipFill>
        <p:spPr bwMode="auto">
          <a:xfrm>
            <a:off x="1026885" y="1738085"/>
            <a:ext cx="10000343" cy="5000172"/>
          </a:xfrm>
          <a:prstGeom prst="rect">
            <a:avLst/>
          </a:prstGeom>
          <a:noFill/>
          <a:ln w="9525">
            <a:noFill/>
            <a:headEnd/>
            <a:tailEnd/>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8ACFA-4A74-9B40-CC3E-92D78F850226}"/>
              </a:ext>
            </a:extLst>
          </p:cNvPr>
          <p:cNvSpPr>
            <a:spLocks noGrp="1"/>
          </p:cNvSpPr>
          <p:nvPr>
            <p:ph type="title"/>
          </p:nvPr>
        </p:nvSpPr>
        <p:spPr>
          <a:xfrm>
            <a:off x="838200" y="983457"/>
            <a:ext cx="10515600" cy="891526"/>
          </a:xfrm>
          <a:prstGeom prst="rect">
            <a:avLst/>
          </a:prstGeom>
        </p:spPr>
        <p:txBody>
          <a:bodyPr/>
          <a:lstStyle/>
          <a:p>
            <a:pPr marL="0" lvl="0" indent="0">
              <a:buNone/>
            </a:pPr>
            <a:r>
              <a:t>Efeito do aumento de custos de construção</a:t>
            </a:r>
          </a:p>
        </p:txBody>
      </p:sp>
      <p:pic>
        <p:nvPicPr>
          <p:cNvPr id="3" name="Picture 1" descr="02_files/figure-pptx/choqueCustos-1.png"/>
          <p:cNvPicPr>
            <a:picLocks noGrp="1" noChangeAspect="1"/>
          </p:cNvPicPr>
          <p:nvPr/>
        </p:nvPicPr>
        <p:blipFill>
          <a:blip r:embed="rId2"/>
          <a:stretch>
            <a:fillRect/>
          </a:stretch>
        </p:blipFill>
        <p:spPr bwMode="auto">
          <a:xfrm>
            <a:off x="1447800" y="1600200"/>
            <a:ext cx="10515600" cy="5257800"/>
          </a:xfrm>
          <a:prstGeom prst="rect">
            <a:avLst/>
          </a:prstGeom>
          <a:noFill/>
          <a:ln w="9525">
            <a:noFill/>
            <a:headEnd/>
            <a:tailEnd/>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8FE57-6952-DCF2-0990-90E39B648B0A}"/>
              </a:ext>
            </a:extLst>
          </p:cNvPr>
          <p:cNvSpPr>
            <a:spLocks noGrp="1"/>
          </p:cNvSpPr>
          <p:nvPr>
            <p:ph type="title"/>
          </p:nvPr>
        </p:nvSpPr>
        <p:spPr>
          <a:xfrm>
            <a:off x="839788" y="987424"/>
            <a:ext cx="3932237" cy="1069975"/>
          </a:xfrm>
          <a:prstGeom prst="rect">
            <a:avLst/>
          </a:prstGeom>
        </p:spPr>
        <p:txBody>
          <a:bodyPr/>
          <a:lstStyle/>
          <a:p>
            <a:pPr marL="0" lvl="0" indent="0">
              <a:buNone/>
            </a:pPr>
            <a:r>
              <a:t>Como entender o mercado imobiliário (1)</a:t>
            </a:r>
          </a:p>
        </p:txBody>
      </p:sp>
      <p:sp>
        <p:nvSpPr>
          <p:cNvPr id="4" name="Text Placeholder 3">
            <a:extLst>
              <a:ext uri="{FF2B5EF4-FFF2-40B4-BE49-F238E27FC236}">
                <a16:creationId xmlns:a16="http://schemas.microsoft.com/office/drawing/2014/main" id="{77A29933-B652-DA47-BFD3-9E7FA42D22D3}"/>
              </a:ext>
            </a:extLst>
          </p:cNvPr>
          <p:cNvSpPr>
            <a:spLocks noGrp="1"/>
          </p:cNvSpPr>
          <p:nvPr>
            <p:ph type="body" sz="half" idx="2"/>
          </p:nvPr>
        </p:nvSpPr>
        <p:spPr/>
        <p:txBody>
          <a:bodyPr/>
          <a:lstStyle/>
          <a:p>
            <a:pPr marL="457200" lvl="0" indent="-457200">
              <a:buAutoNum type="arabicPeriod"/>
            </a:pPr>
            <a:r>
              <a:rPr dirty="0"/>
              <a:t>A pandemia de Covid-19 </a:t>
            </a:r>
            <a:r>
              <a:rPr dirty="0" err="1"/>
              <a:t>acarretou</a:t>
            </a:r>
            <a:r>
              <a:rPr dirty="0"/>
              <a:t> num </a:t>
            </a:r>
            <a:r>
              <a:rPr dirty="0" err="1"/>
              <a:t>aumento</a:t>
            </a:r>
            <a:r>
              <a:rPr dirty="0"/>
              <a:t> dos custos de </a:t>
            </a:r>
            <a:r>
              <a:rPr dirty="0" err="1"/>
              <a:t>construção</a:t>
            </a:r>
            <a:r>
              <a:rPr dirty="0"/>
              <a:t>, </a:t>
            </a:r>
            <a:r>
              <a:rPr dirty="0" err="1"/>
              <a:t>porém</a:t>
            </a:r>
            <a:r>
              <a:rPr dirty="0"/>
              <a:t> </a:t>
            </a:r>
            <a:r>
              <a:rPr dirty="0" err="1"/>
              <a:t>os</a:t>
            </a:r>
            <a:r>
              <a:rPr dirty="0"/>
              <a:t> </a:t>
            </a:r>
            <a:r>
              <a:rPr dirty="0" err="1"/>
              <a:t>juros</a:t>
            </a:r>
            <a:r>
              <a:rPr dirty="0"/>
              <a:t> de </a:t>
            </a:r>
            <a:r>
              <a:rPr dirty="0" err="1"/>
              <a:t>longo</a:t>
            </a:r>
            <a:r>
              <a:rPr dirty="0"/>
              <a:t> </a:t>
            </a:r>
            <a:r>
              <a:rPr dirty="0" err="1"/>
              <a:t>prazo</a:t>
            </a:r>
            <a:r>
              <a:rPr dirty="0"/>
              <a:t> </a:t>
            </a:r>
            <a:r>
              <a:rPr dirty="0" err="1"/>
              <a:t>também</a:t>
            </a:r>
            <a:r>
              <a:rPr dirty="0"/>
              <a:t> </a:t>
            </a:r>
            <a:r>
              <a:rPr dirty="0" err="1"/>
              <a:t>cederam</a:t>
            </a:r>
            <a:r>
              <a:rPr dirty="0"/>
              <a:t>:</a:t>
            </a:r>
          </a:p>
        </p:txBody>
      </p:sp>
      <p:pic>
        <p:nvPicPr>
          <p:cNvPr id="3" name="Picture 1" descr="./img/CC.jpg"/>
          <p:cNvPicPr>
            <a:picLocks noGrp="1" noChangeAspect="1"/>
          </p:cNvPicPr>
          <p:nvPr/>
        </p:nvPicPr>
        <p:blipFill>
          <a:blip r:embed="rId2"/>
          <a:stretch>
            <a:fillRect/>
          </a:stretch>
        </p:blipFill>
        <p:spPr bwMode="auto">
          <a:xfrm>
            <a:off x="5181600" y="1206500"/>
            <a:ext cx="6172200" cy="3886200"/>
          </a:xfrm>
          <a:prstGeom prst="rect">
            <a:avLst/>
          </a:prstGeom>
          <a:noFill/>
          <a:ln w="9525">
            <a:noFill/>
            <a:headEnd/>
            <a:tailEnd/>
          </a:ln>
        </p:spPr>
      </p:pic>
      <p:sp>
        <p:nvSpPr>
          <p:cNvPr id="5" name="TextBox 3"/>
          <p:cNvSpPr txBox="1"/>
          <p:nvPr/>
        </p:nvSpPr>
        <p:spPr>
          <a:xfrm>
            <a:off x="5181600" y="5334000"/>
            <a:ext cx="6172200" cy="508000"/>
          </a:xfrm>
          <a:prstGeom prst="rect">
            <a:avLst/>
          </a:prstGeom>
          <a:noFill/>
        </p:spPr>
        <p:txBody>
          <a:bodyPr/>
          <a:lstStyle/>
          <a:p>
            <a:pPr marL="0" lvl="0" indent="0" algn="ctr">
              <a:buNone/>
            </a:pPr>
            <a:r>
              <a:t>Elevação dos custos de construção</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8ACFA-4A74-9B40-CC3E-92D78F850226}"/>
              </a:ext>
            </a:extLst>
          </p:cNvPr>
          <p:cNvSpPr>
            <a:spLocks noGrp="1"/>
          </p:cNvSpPr>
          <p:nvPr>
            <p:ph type="title"/>
          </p:nvPr>
        </p:nvSpPr>
        <p:spPr>
          <a:xfrm>
            <a:off x="838200" y="983457"/>
            <a:ext cx="10515600" cy="891526"/>
          </a:xfrm>
          <a:prstGeom prst="rect">
            <a:avLst/>
          </a:prstGeom>
        </p:spPr>
        <p:txBody>
          <a:bodyPr/>
          <a:lstStyle/>
          <a:p>
            <a:pPr marL="0" lvl="0" indent="0">
              <a:buNone/>
            </a:pPr>
            <a:r>
              <a:t>Como entender o mercado imobiliário (1)</a:t>
            </a:r>
          </a:p>
        </p:txBody>
      </p:sp>
      <p:sp>
        <p:nvSpPr>
          <p:cNvPr id="3" name="Content Placeholder 2">
            <a:extLst>
              <a:ext uri="{FF2B5EF4-FFF2-40B4-BE49-F238E27FC236}">
                <a16:creationId xmlns:a16="http://schemas.microsoft.com/office/drawing/2014/main" id="{06E5C504-58F1-2318-F264-E17A9AABC74B}"/>
              </a:ext>
            </a:extLst>
          </p:cNvPr>
          <p:cNvSpPr>
            <a:spLocks noGrp="1"/>
          </p:cNvSpPr>
          <p:nvPr>
            <p:ph idx="1"/>
          </p:nvPr>
        </p:nvSpPr>
        <p:spPr/>
        <p:txBody>
          <a:bodyPr/>
          <a:lstStyle/>
          <a:p>
            <a:pPr lvl="0"/>
            <a:r>
              <a:t>O aumento dos custos de construção diminui o </a:t>
            </a:r>
            <a:r>
              <a:rPr i="1"/>
              <a:t>output</a:t>
            </a:r>
            <a:r>
              <a:t> do mercado de construção, o que leva a uma diminuição do estoque, o que por sua vez aumenta o preço dos aluguéis.</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8FE57-6952-DCF2-0990-90E39B648B0A}"/>
              </a:ext>
            </a:extLst>
          </p:cNvPr>
          <p:cNvSpPr>
            <a:spLocks noGrp="1"/>
          </p:cNvSpPr>
          <p:nvPr>
            <p:ph type="title"/>
          </p:nvPr>
        </p:nvSpPr>
        <p:spPr>
          <a:xfrm>
            <a:off x="839788" y="987424"/>
            <a:ext cx="3932237" cy="1069975"/>
          </a:xfrm>
          <a:prstGeom prst="rect">
            <a:avLst/>
          </a:prstGeom>
        </p:spPr>
        <p:txBody>
          <a:bodyPr/>
          <a:lstStyle/>
          <a:p>
            <a:pPr marL="0" lvl="0" indent="0">
              <a:buNone/>
            </a:pPr>
            <a:r>
              <a:t>Como entender o mercado imobiliário (2)</a:t>
            </a:r>
          </a:p>
        </p:txBody>
      </p:sp>
      <p:sp>
        <p:nvSpPr>
          <p:cNvPr id="4" name="Text Placeholder 3">
            <a:extLst>
              <a:ext uri="{FF2B5EF4-FFF2-40B4-BE49-F238E27FC236}">
                <a16:creationId xmlns:a16="http://schemas.microsoft.com/office/drawing/2014/main" id="{77A29933-B652-DA47-BFD3-9E7FA42D22D3}"/>
              </a:ext>
            </a:extLst>
          </p:cNvPr>
          <p:cNvSpPr>
            <a:spLocks noGrp="1"/>
          </p:cNvSpPr>
          <p:nvPr>
            <p:ph type="body" sz="half" idx="2"/>
          </p:nvPr>
        </p:nvSpPr>
        <p:spPr/>
        <p:txBody>
          <a:bodyPr/>
          <a:lstStyle/>
          <a:p>
            <a:pPr marL="457200" lvl="0" indent="-457200">
              <a:buAutoNum type="arabicPeriod" startAt="2"/>
            </a:pPr>
            <a:r>
              <a:rPr dirty="0" err="1"/>
              <a:t>Após</a:t>
            </a:r>
            <a:r>
              <a:rPr dirty="0"/>
              <a:t> a pandemia, </a:t>
            </a:r>
            <a:r>
              <a:rPr dirty="0" err="1"/>
              <a:t>os</a:t>
            </a:r>
            <a:r>
              <a:rPr dirty="0"/>
              <a:t> </a:t>
            </a:r>
            <a:r>
              <a:rPr dirty="0" err="1"/>
              <a:t>juros</a:t>
            </a:r>
            <a:r>
              <a:rPr dirty="0"/>
              <a:t> de </a:t>
            </a:r>
            <a:r>
              <a:rPr dirty="0" err="1"/>
              <a:t>longo</a:t>
            </a:r>
            <a:r>
              <a:rPr dirty="0"/>
              <a:t> </a:t>
            </a:r>
            <a:r>
              <a:rPr dirty="0" err="1"/>
              <a:t>prazo</a:t>
            </a:r>
            <a:r>
              <a:rPr dirty="0"/>
              <a:t>, que </a:t>
            </a:r>
            <a:r>
              <a:rPr dirty="0" err="1"/>
              <a:t>haviam</a:t>
            </a:r>
            <a:r>
              <a:rPr dirty="0"/>
              <a:t> </a:t>
            </a:r>
            <a:r>
              <a:rPr dirty="0" err="1"/>
              <a:t>caído</a:t>
            </a:r>
            <a:r>
              <a:rPr dirty="0"/>
              <a:t>, </a:t>
            </a:r>
            <a:r>
              <a:rPr dirty="0" err="1"/>
              <a:t>voltaram</a:t>
            </a:r>
            <a:r>
              <a:rPr dirty="0"/>
              <a:t> a </a:t>
            </a:r>
            <a:r>
              <a:rPr dirty="0" err="1"/>
              <a:t>elevar</a:t>
            </a:r>
            <a:r>
              <a:rPr dirty="0"/>
              <a:t>-se:</a:t>
            </a:r>
          </a:p>
        </p:txBody>
      </p:sp>
      <p:pic>
        <p:nvPicPr>
          <p:cNvPr id="3" name="Picture 1" descr="./img/arte18fin-301-juros-c1.webp"/>
          <p:cNvPicPr>
            <a:picLocks noGrp="1" noChangeAspect="1"/>
          </p:cNvPicPr>
          <p:nvPr/>
        </p:nvPicPr>
        <p:blipFill>
          <a:blip r:embed="rId2"/>
          <a:stretch>
            <a:fillRect/>
          </a:stretch>
        </p:blipFill>
        <p:spPr bwMode="auto">
          <a:xfrm>
            <a:off x="5181600" y="1219200"/>
            <a:ext cx="6172200" cy="3860800"/>
          </a:xfrm>
          <a:prstGeom prst="rect">
            <a:avLst/>
          </a:prstGeom>
          <a:noFill/>
          <a:ln w="9525">
            <a:noFill/>
            <a:headEnd/>
            <a:tailEnd/>
          </a:ln>
        </p:spPr>
      </p:pic>
      <p:sp>
        <p:nvSpPr>
          <p:cNvPr id="5" name="TextBox 3"/>
          <p:cNvSpPr txBox="1"/>
          <p:nvPr/>
        </p:nvSpPr>
        <p:spPr>
          <a:xfrm>
            <a:off x="5181600" y="5334000"/>
            <a:ext cx="6172200" cy="508000"/>
          </a:xfrm>
          <a:prstGeom prst="rect">
            <a:avLst/>
          </a:prstGeom>
          <a:noFill/>
        </p:spPr>
        <p:txBody>
          <a:bodyPr/>
          <a:lstStyle/>
          <a:p>
            <a:pPr marL="0" lvl="0" indent="0" algn="ctr">
              <a:buNone/>
            </a:pPr>
            <a:r>
              <a:t>Elevação dos juros no longo prazo</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8ACFA-4A74-9B40-CC3E-92D78F850226}"/>
              </a:ext>
            </a:extLst>
          </p:cNvPr>
          <p:cNvSpPr>
            <a:spLocks noGrp="1"/>
          </p:cNvSpPr>
          <p:nvPr>
            <p:ph type="title"/>
          </p:nvPr>
        </p:nvSpPr>
        <p:spPr>
          <a:xfrm>
            <a:off x="838200" y="983457"/>
            <a:ext cx="10515600" cy="891526"/>
          </a:xfrm>
          <a:prstGeom prst="rect">
            <a:avLst/>
          </a:prstGeom>
        </p:spPr>
        <p:txBody>
          <a:bodyPr/>
          <a:lstStyle/>
          <a:p>
            <a:pPr marL="0" lvl="0" indent="0">
              <a:buNone/>
            </a:pPr>
            <a:r>
              <a:t>Como entender o mercado imobiliário (3)</a:t>
            </a:r>
          </a:p>
        </p:txBody>
      </p:sp>
      <p:sp>
        <p:nvSpPr>
          <p:cNvPr id="3" name="Content Placeholder 2">
            <a:extLst>
              <a:ext uri="{FF2B5EF4-FFF2-40B4-BE49-F238E27FC236}">
                <a16:creationId xmlns:a16="http://schemas.microsoft.com/office/drawing/2014/main" id="{06E5C504-58F1-2318-F264-E17A9AABC74B}"/>
              </a:ext>
            </a:extLst>
          </p:cNvPr>
          <p:cNvSpPr>
            <a:spLocks noGrp="1"/>
          </p:cNvSpPr>
          <p:nvPr>
            <p:ph idx="1"/>
          </p:nvPr>
        </p:nvSpPr>
        <p:spPr/>
        <p:txBody>
          <a:bodyPr/>
          <a:lstStyle/>
          <a:p>
            <a:pPr lvl="0"/>
            <a:r>
              <a:t>O aumento dos juros de longo prazo diminue o apetite dos investidores por imóveis e impacta o mercado de construção, o que também leva a aumento dos aluguéis.</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8FE57-6952-DCF2-0990-90E39B648B0A}"/>
              </a:ext>
            </a:extLst>
          </p:cNvPr>
          <p:cNvSpPr>
            <a:spLocks noGrp="1"/>
          </p:cNvSpPr>
          <p:nvPr>
            <p:ph type="title"/>
          </p:nvPr>
        </p:nvSpPr>
        <p:spPr>
          <a:xfrm>
            <a:off x="839788" y="987424"/>
            <a:ext cx="3932237" cy="1069975"/>
          </a:xfrm>
          <a:prstGeom prst="rect">
            <a:avLst/>
          </a:prstGeom>
        </p:spPr>
        <p:txBody>
          <a:bodyPr/>
          <a:lstStyle/>
          <a:p>
            <a:pPr marL="0" lvl="0" indent="0">
              <a:buNone/>
            </a:pPr>
            <a:r>
              <a:t>Como entender o mercado imobiliário (4)</a:t>
            </a:r>
          </a:p>
        </p:txBody>
      </p:sp>
      <p:sp>
        <p:nvSpPr>
          <p:cNvPr id="4" name="Text Placeholder 3">
            <a:extLst>
              <a:ext uri="{FF2B5EF4-FFF2-40B4-BE49-F238E27FC236}">
                <a16:creationId xmlns:a16="http://schemas.microsoft.com/office/drawing/2014/main" id="{77A29933-B652-DA47-BFD3-9E7FA42D22D3}"/>
              </a:ext>
            </a:extLst>
          </p:cNvPr>
          <p:cNvSpPr>
            <a:spLocks noGrp="1"/>
          </p:cNvSpPr>
          <p:nvPr>
            <p:ph type="body" sz="half" idx="2"/>
          </p:nvPr>
        </p:nvSpPr>
        <p:spPr/>
        <p:txBody>
          <a:bodyPr/>
          <a:lstStyle/>
          <a:p>
            <a:pPr lvl="0"/>
            <a:r>
              <a:rPr dirty="0"/>
              <a:t>Uma </a:t>
            </a:r>
            <a:r>
              <a:rPr dirty="0" err="1"/>
              <a:t>visão</a:t>
            </a:r>
            <a:r>
              <a:rPr dirty="0"/>
              <a:t> de </a:t>
            </a:r>
            <a:r>
              <a:rPr dirty="0" err="1"/>
              <a:t>prazo</a:t>
            </a:r>
            <a:r>
              <a:rPr dirty="0"/>
              <a:t> </a:t>
            </a:r>
            <a:r>
              <a:rPr dirty="0" err="1"/>
              <a:t>maior</a:t>
            </a:r>
            <a:r>
              <a:rPr dirty="0"/>
              <a:t>:</a:t>
            </a:r>
          </a:p>
        </p:txBody>
      </p:sp>
      <p:pic>
        <p:nvPicPr>
          <p:cNvPr id="3" name="Picture 1" descr="./img/SelicReal_Evolucao.png"/>
          <p:cNvPicPr>
            <a:picLocks noGrp="1" noChangeAspect="1"/>
          </p:cNvPicPr>
          <p:nvPr/>
        </p:nvPicPr>
        <p:blipFill>
          <a:blip r:embed="rId2"/>
          <a:stretch>
            <a:fillRect/>
          </a:stretch>
        </p:blipFill>
        <p:spPr bwMode="auto">
          <a:xfrm>
            <a:off x="5181600" y="1244600"/>
            <a:ext cx="6172200" cy="3835400"/>
          </a:xfrm>
          <a:prstGeom prst="rect">
            <a:avLst/>
          </a:prstGeom>
          <a:noFill/>
          <a:ln w="9525">
            <a:noFill/>
            <a:headEnd/>
            <a:tailEnd/>
          </a:ln>
        </p:spPr>
      </p:pic>
      <p:sp>
        <p:nvSpPr>
          <p:cNvPr id="5" name="TextBox 3"/>
          <p:cNvSpPr txBox="1"/>
          <p:nvPr/>
        </p:nvSpPr>
        <p:spPr>
          <a:xfrm>
            <a:off x="5181600" y="5334000"/>
            <a:ext cx="6172200" cy="508000"/>
          </a:xfrm>
          <a:prstGeom prst="rect">
            <a:avLst/>
          </a:prstGeom>
          <a:noFill/>
        </p:spPr>
        <p:txBody>
          <a:bodyPr/>
          <a:lstStyle/>
          <a:p>
            <a:pPr marL="0" lvl="0" indent="0" algn="ctr">
              <a:buNone/>
            </a:pPr>
            <a:r>
              <a:t>Taxa Selic Real ex-post (evolução). Fonte: https://blogdoibre.fgv.br/posts/evolucao-historica-das-taxas-de-juros-reais-e-de-seus-determinantes-no-brasil</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8FE57-6952-DCF2-0990-90E39B648B0A}"/>
              </a:ext>
            </a:extLst>
          </p:cNvPr>
          <p:cNvSpPr>
            <a:spLocks noGrp="1"/>
          </p:cNvSpPr>
          <p:nvPr>
            <p:ph type="title"/>
          </p:nvPr>
        </p:nvSpPr>
        <p:spPr>
          <a:xfrm>
            <a:off x="839788" y="987424"/>
            <a:ext cx="3932237" cy="1069975"/>
          </a:xfrm>
          <a:prstGeom prst="rect">
            <a:avLst/>
          </a:prstGeom>
        </p:spPr>
        <p:txBody>
          <a:bodyPr/>
          <a:lstStyle/>
          <a:p>
            <a:pPr marL="0" lvl="0" indent="0">
              <a:buNone/>
            </a:pPr>
            <a:r>
              <a:t>Como entender o mercado imobiliário (5)</a:t>
            </a:r>
          </a:p>
        </p:txBody>
      </p:sp>
      <p:sp>
        <p:nvSpPr>
          <p:cNvPr id="4" name="Text Placeholder 3">
            <a:extLst>
              <a:ext uri="{FF2B5EF4-FFF2-40B4-BE49-F238E27FC236}">
                <a16:creationId xmlns:a16="http://schemas.microsoft.com/office/drawing/2014/main" id="{77A29933-B652-DA47-BFD3-9E7FA42D22D3}"/>
              </a:ext>
            </a:extLst>
          </p:cNvPr>
          <p:cNvSpPr>
            <a:spLocks noGrp="1"/>
          </p:cNvSpPr>
          <p:nvPr>
            <p:ph type="body" sz="half" idx="2"/>
          </p:nvPr>
        </p:nvSpPr>
        <p:spPr/>
        <p:txBody>
          <a:bodyPr/>
          <a:lstStyle/>
          <a:p>
            <a:pPr marL="457200" lvl="0" indent="-457200">
              <a:buAutoNum type="arabicPeriod" startAt="3"/>
            </a:pPr>
            <a:r>
              <a:rPr dirty="0"/>
              <a:t>A </a:t>
            </a:r>
            <a:r>
              <a:rPr dirty="0" err="1"/>
              <a:t>atividade</a:t>
            </a:r>
            <a:r>
              <a:rPr dirty="0"/>
              <a:t> </a:t>
            </a:r>
            <a:r>
              <a:rPr dirty="0" err="1"/>
              <a:t>econômica</a:t>
            </a:r>
            <a:r>
              <a:rPr dirty="0"/>
              <a:t> </a:t>
            </a:r>
            <a:r>
              <a:rPr dirty="0" err="1"/>
              <a:t>vem</a:t>
            </a:r>
            <a:r>
              <a:rPr dirty="0"/>
              <a:t> se </a:t>
            </a:r>
            <a:r>
              <a:rPr dirty="0" err="1"/>
              <a:t>recuperando</a:t>
            </a:r>
            <a:r>
              <a:rPr dirty="0"/>
              <a:t> </a:t>
            </a:r>
            <a:r>
              <a:rPr dirty="0" err="1"/>
              <a:t>após</a:t>
            </a:r>
            <a:r>
              <a:rPr dirty="0"/>
              <a:t> o </a:t>
            </a:r>
            <a:r>
              <a:rPr dirty="0" err="1"/>
              <a:t>baque</a:t>
            </a:r>
            <a:r>
              <a:rPr dirty="0"/>
              <a:t> da pandemia de COVID-19:</a:t>
            </a:r>
          </a:p>
        </p:txBody>
      </p:sp>
      <p:pic>
        <p:nvPicPr>
          <p:cNvPr id="3" name="Picture 1" descr="./img/PIB2.png"/>
          <p:cNvPicPr>
            <a:picLocks noGrp="1" noChangeAspect="1"/>
          </p:cNvPicPr>
          <p:nvPr/>
        </p:nvPicPr>
        <p:blipFill>
          <a:blip r:embed="rId2"/>
          <a:stretch>
            <a:fillRect/>
          </a:stretch>
        </p:blipFill>
        <p:spPr bwMode="auto">
          <a:xfrm>
            <a:off x="5181600" y="1460500"/>
            <a:ext cx="6172200" cy="3403600"/>
          </a:xfrm>
          <a:prstGeom prst="rect">
            <a:avLst/>
          </a:prstGeom>
          <a:noFill/>
          <a:ln w="9525">
            <a:noFill/>
            <a:headEnd/>
            <a:tailEnd/>
          </a:ln>
        </p:spPr>
      </p:pic>
      <p:sp>
        <p:nvSpPr>
          <p:cNvPr id="5" name="TextBox 3"/>
          <p:cNvSpPr txBox="1"/>
          <p:nvPr/>
        </p:nvSpPr>
        <p:spPr>
          <a:xfrm>
            <a:off x="5181600" y="5334000"/>
            <a:ext cx="6172200" cy="508000"/>
          </a:xfrm>
          <a:prstGeom prst="rect">
            <a:avLst/>
          </a:prstGeom>
          <a:noFill/>
        </p:spPr>
        <p:txBody>
          <a:bodyPr/>
          <a:lstStyle/>
          <a:p>
            <a:pPr marL="0" lvl="0" indent="0" algn="ctr">
              <a:buNone/>
            </a:pPr>
            <a:r>
              <a:t>Recuperação do PIB após a pandemia</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8ACFA-4A74-9B40-CC3E-92D78F850226}"/>
              </a:ext>
            </a:extLst>
          </p:cNvPr>
          <p:cNvSpPr>
            <a:spLocks noGrp="1"/>
          </p:cNvSpPr>
          <p:nvPr>
            <p:ph type="title"/>
          </p:nvPr>
        </p:nvSpPr>
        <p:spPr>
          <a:xfrm>
            <a:off x="838200" y="983457"/>
            <a:ext cx="10515600" cy="891526"/>
          </a:xfrm>
          <a:prstGeom prst="rect">
            <a:avLst/>
          </a:prstGeom>
        </p:spPr>
        <p:txBody>
          <a:bodyPr/>
          <a:lstStyle/>
          <a:p>
            <a:pPr marL="0" lvl="0" indent="0">
              <a:buNone/>
            </a:pPr>
            <a:r>
              <a:t>Como entender o mercado imobiliário (6)</a:t>
            </a:r>
          </a:p>
        </p:txBody>
      </p:sp>
      <p:sp>
        <p:nvSpPr>
          <p:cNvPr id="3" name="Content Placeholder 2">
            <a:extLst>
              <a:ext uri="{FF2B5EF4-FFF2-40B4-BE49-F238E27FC236}">
                <a16:creationId xmlns:a16="http://schemas.microsoft.com/office/drawing/2014/main" id="{06E5C504-58F1-2318-F264-E17A9AABC74B}"/>
              </a:ext>
            </a:extLst>
          </p:cNvPr>
          <p:cNvSpPr>
            <a:spLocks noGrp="1"/>
          </p:cNvSpPr>
          <p:nvPr>
            <p:ph idx="1"/>
          </p:nvPr>
        </p:nvSpPr>
        <p:spPr/>
        <p:txBody>
          <a:bodyPr/>
          <a:lstStyle/>
          <a:p>
            <a:pPr lvl="0"/>
            <a:r>
              <a:t>O aumento da atividade econômica leva ao aumento do preço dos aluguéis.</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8FE57-6952-DCF2-0990-90E39B648B0A}"/>
              </a:ext>
            </a:extLst>
          </p:cNvPr>
          <p:cNvSpPr>
            <a:spLocks noGrp="1"/>
          </p:cNvSpPr>
          <p:nvPr>
            <p:ph type="title"/>
          </p:nvPr>
        </p:nvSpPr>
        <p:spPr>
          <a:xfrm>
            <a:off x="839788" y="987424"/>
            <a:ext cx="3932237" cy="1069975"/>
          </a:xfrm>
          <a:prstGeom prst="rect">
            <a:avLst/>
          </a:prstGeom>
        </p:spPr>
        <p:txBody>
          <a:bodyPr/>
          <a:lstStyle/>
          <a:p>
            <a:pPr marL="0" lvl="0" indent="0">
              <a:buNone/>
            </a:pPr>
            <a:r>
              <a:t>Como entender o mercado imobiliário (7)</a:t>
            </a:r>
          </a:p>
        </p:txBody>
      </p:sp>
      <p:sp>
        <p:nvSpPr>
          <p:cNvPr id="4" name="Text Placeholder 3">
            <a:extLst>
              <a:ext uri="{FF2B5EF4-FFF2-40B4-BE49-F238E27FC236}">
                <a16:creationId xmlns:a16="http://schemas.microsoft.com/office/drawing/2014/main" id="{77A29933-B652-DA47-BFD3-9E7FA42D22D3}"/>
              </a:ext>
            </a:extLst>
          </p:cNvPr>
          <p:cNvSpPr>
            <a:spLocks noGrp="1"/>
          </p:cNvSpPr>
          <p:nvPr>
            <p:ph type="body" sz="half" idx="2"/>
          </p:nvPr>
        </p:nvSpPr>
        <p:spPr/>
        <p:txBody>
          <a:bodyPr/>
          <a:lstStyle/>
          <a:p>
            <a:pPr marL="285750" lvl="0" indent="-285750">
              <a:buFont typeface="Arial" panose="020B0604020202020204" pitchFamily="34" charset="0"/>
              <a:buChar char="•"/>
            </a:pPr>
            <a:r>
              <a:rPr b="1" dirty="0" err="1"/>
              <a:t>Resultado</a:t>
            </a:r>
            <a:r>
              <a:rPr b="1" dirty="0"/>
              <a:t>:</a:t>
            </a:r>
          </a:p>
        </p:txBody>
      </p:sp>
      <p:pic>
        <p:nvPicPr>
          <p:cNvPr id="3" name="Picture 1" descr="./img/IVAR_evolucao.png"/>
          <p:cNvPicPr>
            <a:picLocks noGrp="1" noChangeAspect="1"/>
          </p:cNvPicPr>
          <p:nvPr/>
        </p:nvPicPr>
        <p:blipFill>
          <a:blip r:embed="rId2"/>
          <a:stretch>
            <a:fillRect/>
          </a:stretch>
        </p:blipFill>
        <p:spPr bwMode="auto">
          <a:xfrm>
            <a:off x="5181600" y="1244600"/>
            <a:ext cx="6172200" cy="3822700"/>
          </a:xfrm>
          <a:prstGeom prst="rect">
            <a:avLst/>
          </a:prstGeom>
          <a:noFill/>
          <a:ln w="9525">
            <a:noFill/>
            <a:headEnd/>
            <a:tailEnd/>
          </a:ln>
        </p:spPr>
      </p:pic>
      <p:sp>
        <p:nvSpPr>
          <p:cNvPr id="5" name="TextBox 3"/>
          <p:cNvSpPr txBox="1"/>
          <p:nvPr/>
        </p:nvSpPr>
        <p:spPr>
          <a:xfrm>
            <a:off x="5181600" y="5334000"/>
            <a:ext cx="6172200" cy="508000"/>
          </a:xfrm>
          <a:prstGeom prst="rect">
            <a:avLst/>
          </a:prstGeom>
          <a:noFill/>
        </p:spPr>
        <p:txBody>
          <a:bodyPr/>
          <a:lstStyle/>
          <a:p>
            <a:pPr marL="0" lvl="0" indent="0" algn="ctr">
              <a:buNone/>
            </a:pPr>
            <a:r>
              <a:t>Variação percentual acumulada em 12 meses.</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8FE57-6952-DCF2-0990-90E39B648B0A}"/>
              </a:ext>
            </a:extLst>
          </p:cNvPr>
          <p:cNvSpPr>
            <a:spLocks noGrp="1"/>
          </p:cNvSpPr>
          <p:nvPr>
            <p:ph type="title"/>
          </p:nvPr>
        </p:nvSpPr>
        <p:spPr>
          <a:xfrm>
            <a:off x="839788" y="987424"/>
            <a:ext cx="3932237" cy="1069975"/>
          </a:xfrm>
          <a:prstGeom prst="rect">
            <a:avLst/>
          </a:prstGeom>
        </p:spPr>
        <p:txBody>
          <a:bodyPr/>
          <a:lstStyle/>
          <a:p>
            <a:pPr marL="0" lvl="0" indent="0">
              <a:buNone/>
            </a:pPr>
            <a:r>
              <a:t>Como entender o mercado imobiliário (8)</a:t>
            </a:r>
          </a:p>
        </p:txBody>
      </p:sp>
      <p:sp>
        <p:nvSpPr>
          <p:cNvPr id="4" name="Text Placeholder 3">
            <a:extLst>
              <a:ext uri="{FF2B5EF4-FFF2-40B4-BE49-F238E27FC236}">
                <a16:creationId xmlns:a16="http://schemas.microsoft.com/office/drawing/2014/main" id="{77A29933-B652-DA47-BFD3-9E7FA42D22D3}"/>
              </a:ext>
            </a:extLst>
          </p:cNvPr>
          <p:cNvSpPr>
            <a:spLocks noGrp="1"/>
          </p:cNvSpPr>
          <p:nvPr>
            <p:ph type="body" sz="half" idx="2"/>
          </p:nvPr>
        </p:nvSpPr>
        <p:spPr/>
        <p:txBody>
          <a:bodyPr/>
          <a:lstStyle/>
          <a:p>
            <a:pPr marL="285750" lvl="0" indent="-285750">
              <a:buFont typeface="Arial" panose="020B0604020202020204" pitchFamily="34" charset="0"/>
              <a:buChar char="•"/>
            </a:pPr>
            <a:r>
              <a:rPr dirty="0"/>
              <a:t>Para </a:t>
            </a:r>
            <a:r>
              <a:rPr dirty="0" err="1"/>
              <a:t>melhor</a:t>
            </a:r>
            <a:r>
              <a:rPr dirty="0"/>
              <a:t> </a:t>
            </a:r>
            <a:r>
              <a:rPr dirty="0" err="1"/>
              <a:t>compreender</a:t>
            </a:r>
            <a:r>
              <a:rPr dirty="0"/>
              <a:t> o slide anterior:</a:t>
            </a:r>
          </a:p>
        </p:txBody>
      </p:sp>
      <p:pic>
        <p:nvPicPr>
          <p:cNvPr id="3" name="Picture 1" descr="./img/variacao_acumulada_em_12_meses._ivar.jpeg"/>
          <p:cNvPicPr>
            <a:picLocks noGrp="1" noChangeAspect="1"/>
          </p:cNvPicPr>
          <p:nvPr/>
        </p:nvPicPr>
        <p:blipFill>
          <a:blip r:embed="rId2"/>
          <a:stretch>
            <a:fillRect/>
          </a:stretch>
        </p:blipFill>
        <p:spPr bwMode="auto">
          <a:xfrm>
            <a:off x="5181600" y="2082800"/>
            <a:ext cx="6172200" cy="2146300"/>
          </a:xfrm>
          <a:prstGeom prst="rect">
            <a:avLst/>
          </a:prstGeom>
          <a:noFill/>
          <a:ln w="9525">
            <a:noFill/>
            <a:headEnd/>
            <a:tailEnd/>
          </a:ln>
        </p:spPr>
      </p:pic>
      <p:sp>
        <p:nvSpPr>
          <p:cNvPr id="5" name="TextBox 3"/>
          <p:cNvSpPr txBox="1"/>
          <p:nvPr/>
        </p:nvSpPr>
        <p:spPr>
          <a:xfrm>
            <a:off x="5181600" y="5334000"/>
            <a:ext cx="6172200" cy="508000"/>
          </a:xfrm>
          <a:prstGeom prst="rect">
            <a:avLst/>
          </a:prstGeom>
          <a:noFill/>
        </p:spPr>
        <p:txBody>
          <a:bodyPr/>
          <a:lstStyle/>
          <a:p>
            <a:pPr marL="0" lvl="0" indent="0" algn="ctr">
              <a:buNone/>
            </a:pPr>
            <a:r>
              <a:t>Variação percentual acumulada em 12 meses.</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8FE57-6952-DCF2-0990-90E39B648B0A}"/>
              </a:ext>
            </a:extLst>
          </p:cNvPr>
          <p:cNvSpPr>
            <a:spLocks noGrp="1"/>
          </p:cNvSpPr>
          <p:nvPr>
            <p:ph type="title"/>
          </p:nvPr>
        </p:nvSpPr>
        <p:spPr>
          <a:xfrm>
            <a:off x="839788" y="987424"/>
            <a:ext cx="3932237" cy="1069975"/>
          </a:xfrm>
          <a:prstGeom prst="rect">
            <a:avLst/>
          </a:prstGeom>
        </p:spPr>
        <p:txBody>
          <a:bodyPr/>
          <a:lstStyle/>
          <a:p>
            <a:pPr marL="0" lvl="0" indent="0">
              <a:buNone/>
            </a:pPr>
            <a:r>
              <a:t>Como entender o mercado imobiliário (9)</a:t>
            </a:r>
          </a:p>
        </p:txBody>
      </p:sp>
      <p:sp>
        <p:nvSpPr>
          <p:cNvPr id="4" name="Text Placeholder 3">
            <a:extLst>
              <a:ext uri="{FF2B5EF4-FFF2-40B4-BE49-F238E27FC236}">
                <a16:creationId xmlns:a16="http://schemas.microsoft.com/office/drawing/2014/main" id="{77A29933-B652-DA47-BFD3-9E7FA42D22D3}"/>
              </a:ext>
            </a:extLst>
          </p:cNvPr>
          <p:cNvSpPr>
            <a:spLocks noGrp="1"/>
          </p:cNvSpPr>
          <p:nvPr>
            <p:ph type="body" sz="half" idx="2"/>
          </p:nvPr>
        </p:nvSpPr>
        <p:spPr/>
        <p:txBody>
          <a:bodyPr/>
          <a:lstStyle/>
          <a:p>
            <a:pPr marL="285750" lvl="0" indent="-285750">
              <a:buFont typeface="Arial" panose="020B0604020202020204" pitchFamily="34" charset="0"/>
              <a:buChar char="•"/>
            </a:pPr>
            <a:r>
              <a:rPr dirty="0" err="1"/>
              <a:t>Visão</a:t>
            </a:r>
            <a:r>
              <a:rPr dirty="0"/>
              <a:t> de </a:t>
            </a:r>
            <a:r>
              <a:rPr dirty="0" err="1"/>
              <a:t>mais</a:t>
            </a:r>
            <a:r>
              <a:rPr dirty="0"/>
              <a:t> </a:t>
            </a:r>
            <a:r>
              <a:rPr dirty="0" err="1"/>
              <a:t>longo</a:t>
            </a:r>
            <a:r>
              <a:rPr dirty="0"/>
              <a:t> </a:t>
            </a:r>
            <a:r>
              <a:rPr dirty="0" err="1"/>
              <a:t>prazo</a:t>
            </a:r>
            <a:r>
              <a:rPr dirty="0"/>
              <a:t>:</a:t>
            </a:r>
          </a:p>
        </p:txBody>
      </p:sp>
      <p:pic>
        <p:nvPicPr>
          <p:cNvPr id="3" name="Picture 1" descr="./img/Rent-Aluguel-resid.jpg"/>
          <p:cNvPicPr>
            <a:picLocks noGrp="1" noChangeAspect="1"/>
          </p:cNvPicPr>
          <p:nvPr/>
        </p:nvPicPr>
        <p:blipFill>
          <a:blip r:embed="rId2"/>
          <a:stretch>
            <a:fillRect/>
          </a:stretch>
        </p:blipFill>
        <p:spPr bwMode="auto">
          <a:xfrm>
            <a:off x="5181600" y="1409700"/>
            <a:ext cx="6172200" cy="3479800"/>
          </a:xfrm>
          <a:prstGeom prst="rect">
            <a:avLst/>
          </a:prstGeom>
          <a:noFill/>
          <a:ln w="9525">
            <a:noFill/>
            <a:headEnd/>
            <a:tailEnd/>
          </a:ln>
        </p:spPr>
      </p:pic>
      <p:sp>
        <p:nvSpPr>
          <p:cNvPr id="5" name="TextBox 3"/>
          <p:cNvSpPr txBox="1"/>
          <p:nvPr/>
        </p:nvSpPr>
        <p:spPr>
          <a:xfrm>
            <a:off x="5181600" y="5334000"/>
            <a:ext cx="6172200" cy="508000"/>
          </a:xfrm>
          <a:prstGeom prst="rect">
            <a:avLst/>
          </a:prstGeom>
          <a:noFill/>
        </p:spPr>
        <p:txBody>
          <a:bodyPr/>
          <a:lstStyle/>
          <a:p>
            <a:pPr marL="0" lvl="0" indent="0" algn="ctr">
              <a:buNone/>
            </a:pPr>
            <a:r>
              <a:t>Rentabilidade do Aluguel (% a.a.)</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8ACFA-4A74-9B40-CC3E-92D78F850226}"/>
              </a:ext>
            </a:extLst>
          </p:cNvPr>
          <p:cNvSpPr>
            <a:spLocks noGrp="1"/>
          </p:cNvSpPr>
          <p:nvPr>
            <p:ph type="title"/>
          </p:nvPr>
        </p:nvSpPr>
        <p:spPr>
          <a:xfrm>
            <a:off x="838200" y="983457"/>
            <a:ext cx="10515600" cy="891526"/>
          </a:xfrm>
          <a:prstGeom prst="rect">
            <a:avLst/>
          </a:prstGeom>
        </p:spPr>
        <p:txBody>
          <a:bodyPr/>
          <a:lstStyle/>
          <a:p>
            <a:pPr marL="0" lvl="0" indent="0">
              <a:buNone/>
            </a:pPr>
            <a:r>
              <a:t>Referências</a:t>
            </a:r>
          </a:p>
        </p:txBody>
      </p:sp>
      <p:sp>
        <p:nvSpPr>
          <p:cNvPr id="3" name="Content Placeholder 2">
            <a:extLst>
              <a:ext uri="{FF2B5EF4-FFF2-40B4-BE49-F238E27FC236}">
                <a16:creationId xmlns:a16="http://schemas.microsoft.com/office/drawing/2014/main" id="{06E5C504-58F1-2318-F264-E17A9AABC74B}"/>
              </a:ext>
            </a:extLst>
          </p:cNvPr>
          <p:cNvSpPr>
            <a:spLocks noGrp="1"/>
          </p:cNvSpPr>
          <p:nvPr>
            <p:ph idx="1"/>
          </p:nvPr>
        </p:nvSpPr>
        <p:spPr/>
        <p:txBody>
          <a:bodyPr/>
          <a:lstStyle/>
          <a:p>
            <a:pPr marL="0" lvl="0" indent="0">
              <a:buNone/>
            </a:pPr>
            <a:r>
              <a:t>Adams, Zeno, and Roland Füss. 2010. “Macroeconomic Determinants of International Housing Markets.” </a:t>
            </a:r>
            <a:r>
              <a:rPr i="1"/>
              <a:t>Journal of Housing Economics</a:t>
            </a:r>
            <a:r>
              <a:t> 19 (1): 38–50. https://doi.org/</a:t>
            </a:r>
            <a:r>
              <a:rPr>
                <a:hlinkClick r:id="rId2"/>
              </a:rPr>
              <a:t>https://doi.org/10.1016/j.jhe.2009.10.005</a:t>
            </a:r>
            <a:r>
              <a:t>.</a:t>
            </a:r>
          </a:p>
          <a:p>
            <a:pPr marL="0" lvl="0" indent="0">
              <a:buNone/>
            </a:pPr>
            <a:r>
              <a:t>Alonso, Nelson Roberto Pereira, and Mônica D’Amato. 2017. “O Aproveitamento Do Terreno à Luz Das Normas Técnicas,” 10.</a:t>
            </a:r>
          </a:p>
          <a:p>
            <a:pPr marL="0" lvl="0" indent="0">
              <a:buNone/>
            </a:pPr>
            <a:r>
              <a:t>Candeloro, Milton. n.d. “Avaliação de Aluguéis.” Instituto Brasileiro de Educação Continuada.</a:t>
            </a:r>
          </a:p>
          <a:p>
            <a:pPr marL="0" lvl="0" indent="0">
              <a:buNone/>
            </a:pPr>
            <a:r>
              <a:t>D’Amato, Mônica, and Nelson Roberto Pereira Alonso. 2019. </a:t>
            </a:r>
            <a:r>
              <a:rPr i="1"/>
              <a:t>Avaliação de Aluguéis</a:t>
            </a:r>
            <a:r>
              <a:t>. Edited by Leud. 4th ed. São Paulo.</a:t>
            </a:r>
          </a:p>
          <a:p>
            <a:pPr marL="0" lvl="0" indent="0">
              <a:buNone/>
            </a:pPr>
            <a:r>
              <a:t>DiPasquale, D., and W. C. Wheaton. 1996. </a:t>
            </a:r>
            <a:r>
              <a:rPr i="1"/>
              <a:t>Urban Economics and Real Estate Markets</a:t>
            </a:r>
            <a:r>
              <a:t>. New York: Prentice Hall.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3677</Words>
  <Application>Microsoft Office PowerPoint</Application>
  <PresentationFormat>Widescreen</PresentationFormat>
  <Paragraphs>505</Paragraphs>
  <Slides>64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64</vt:i4>
      </vt:variant>
    </vt:vector>
  </HeadingPairs>
  <TitlesOfParts>
    <vt:vector size="70" baseType="lpstr">
      <vt:lpstr>Aptos</vt:lpstr>
      <vt:lpstr>Aptos Display</vt:lpstr>
      <vt:lpstr>Arial</vt:lpstr>
      <vt:lpstr>Calibri Light</vt:lpstr>
      <vt:lpstr>Cambria Math</vt:lpstr>
      <vt:lpstr>Office Theme</vt:lpstr>
      <vt:lpstr>Avaliação de Alugueis</vt:lpstr>
      <vt:lpstr>Aproveitamento do Terreno</vt:lpstr>
      <vt:lpstr>Aproveitamento do Terreno</vt:lpstr>
      <vt:lpstr>Aproveitamento do Terreno</vt:lpstr>
      <vt:lpstr>Aproveitamento do Terreno</vt:lpstr>
      <vt:lpstr>Cálculo do Coeficiente de Aproveitamento</vt:lpstr>
      <vt:lpstr>Cálculo do Coeficiente de Aproveitamento</vt:lpstr>
      <vt:lpstr>Resolução</vt:lpstr>
      <vt:lpstr>Resolução</vt:lpstr>
      <vt:lpstr>PowerPoint Presentation</vt:lpstr>
      <vt:lpstr>PowerPoint Presentation</vt:lpstr>
      <vt:lpstr>Resolução</vt:lpstr>
      <vt:lpstr>PowerPoint Presentation</vt:lpstr>
      <vt:lpstr>PowerPoint Presentation</vt:lpstr>
      <vt:lpstr>PowerPoint Presentation</vt:lpstr>
      <vt:lpstr>PowerPoint Presentation</vt:lpstr>
      <vt:lpstr>Coeficiente de Aproveitamento</vt:lpstr>
      <vt:lpstr>Coeficiente de Aproveitamento</vt:lpstr>
      <vt:lpstr>Coeficiente de Aproveitamento</vt:lpstr>
      <vt:lpstr>Coeficiente de Aproveitamento</vt:lpstr>
      <vt:lpstr>Coeficiente de Aproveitamento</vt:lpstr>
      <vt:lpstr>Coeficiente de Aproveitamento</vt:lpstr>
      <vt:lpstr>Coeficiente de Aproveitamento</vt:lpstr>
      <vt:lpstr>Coeficiente de Aproveitamento</vt:lpstr>
      <vt:lpstr>Coeficiente de Aproveitamento</vt:lpstr>
      <vt:lpstr>Coeficiente de Aproveitamento</vt:lpstr>
      <vt:lpstr>Hipótese de Harper</vt:lpstr>
      <vt:lpstr>Hipótese de Harper</vt:lpstr>
      <vt:lpstr>Hipótese de Harper</vt:lpstr>
      <vt:lpstr>PowerPoint Presentation</vt:lpstr>
      <vt:lpstr>Hipótese de Harper</vt:lpstr>
      <vt:lpstr>PowerPoint Presentation</vt:lpstr>
      <vt:lpstr>PowerPoint Presentation</vt:lpstr>
      <vt:lpstr>Exemplo 2:</vt:lpstr>
      <vt:lpstr>Cota parte</vt:lpstr>
      <vt:lpstr>Cota parte</vt:lpstr>
      <vt:lpstr>Exemplo</vt:lpstr>
      <vt:lpstr>Cálculo do aluguel de uma cota parte</vt:lpstr>
      <vt:lpstr>Exemplo</vt:lpstr>
      <vt:lpstr>Exercício</vt:lpstr>
      <vt:lpstr>Exercício</vt:lpstr>
      <vt:lpstr>Exercício</vt:lpstr>
      <vt:lpstr>Exercício</vt:lpstr>
      <vt:lpstr>Exercício</vt:lpstr>
      <vt:lpstr>Atualização de Aluguéis</vt:lpstr>
      <vt:lpstr>Atualização de Aluguéis</vt:lpstr>
      <vt:lpstr>Atualização de Aluguéis</vt:lpstr>
      <vt:lpstr>Atualização de Aluguéis</vt:lpstr>
      <vt:lpstr>Atualização de Aluguéis</vt:lpstr>
      <vt:lpstr>Equilíbrio dos Mercados</vt:lpstr>
      <vt:lpstr>Choque de demanda</vt:lpstr>
      <vt:lpstr>Efeito de um aumento da taxa de juros de longo prazo</vt:lpstr>
      <vt:lpstr>Efeito do aumento de custos de construção</vt:lpstr>
      <vt:lpstr>Como entender o mercado imobiliário (1)</vt:lpstr>
      <vt:lpstr>Como entender o mercado imobiliário (1)</vt:lpstr>
      <vt:lpstr>Como entender o mercado imobiliário (2)</vt:lpstr>
      <vt:lpstr>Como entender o mercado imobiliário (3)</vt:lpstr>
      <vt:lpstr>Como entender o mercado imobiliário (4)</vt:lpstr>
      <vt:lpstr>Como entender o mercado imobiliário (5)</vt:lpstr>
      <vt:lpstr>Como entender o mercado imobiliário (6)</vt:lpstr>
      <vt:lpstr>Como entender o mercado imobiliário (7)</vt:lpstr>
      <vt:lpstr>Como entender o mercado imobiliário (8)</vt:lpstr>
      <vt:lpstr>Como entender o mercado imobiliário (9)</vt:lpstr>
      <vt:lpstr>Referências</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12</TotalTime>
  <Words>0</Words>
  <Application>Microsoft Office PowerPoint</Application>
  <PresentationFormat>Widescreen</PresentationFormat>
  <Paragraphs>0</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Aptos Display</vt:lpstr>
      <vt:lpstr>Arial</vt:lpstr>
      <vt:lpstr>Calibri Light</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Avaliação de Alugueis</dc:title>
  <dc:creator>Luiz Fernando Palin Droubi</dc:creator>
  <cp:keywords/>
  <cp:lastModifiedBy>Luiz F P Droubi</cp:lastModifiedBy>
  <cp:revision>3</cp:revision>
  <dcterms:created xsi:type="dcterms:W3CDTF">2025-08-12T17:33:45Z</dcterms:created>
  <dcterms:modified xsi:type="dcterms:W3CDTF">2025-08-12T17:46:50Z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ibliography">
    <vt:lpwstr>referencias.bib</vt:lpwstr>
  </property>
  <property fmtid="{D5CDD505-2E9C-101B-9397-08002B2CF9AE}" pid="5" name="by-author">
    <vt:lpwstr/>
  </property>
  <property fmtid="{D5CDD505-2E9C-101B-9397-08002B2CF9AE}" pid="6" name="date">
    <vt:lpwstr>2025-08-12</vt:lpwstr>
  </property>
  <property fmtid="{D5CDD505-2E9C-101B-9397-08002B2CF9AE}" pid="7" name="header-includes">
    <vt:lpwstr/>
  </property>
  <property fmtid="{D5CDD505-2E9C-101B-9397-08002B2CF9AE}" pid="8" name="include-after">
    <vt:lpwstr/>
  </property>
  <property fmtid="{D5CDD505-2E9C-101B-9397-08002B2CF9AE}" pid="9" name="include-before">
    <vt:lpwstr/>
  </property>
  <property fmtid="{D5CDD505-2E9C-101B-9397-08002B2CF9AE}" pid="10" name="labels">
    <vt:lpwstr/>
  </property>
  <property fmtid="{D5CDD505-2E9C-101B-9397-08002B2CF9AE}" pid="11" name="subtitle">
    <vt:lpwstr>Parte 02</vt:lpwstr>
  </property>
  <property fmtid="{D5CDD505-2E9C-101B-9397-08002B2CF9AE}" pid="12" name="toc-title">
    <vt:lpwstr>Table of contents</vt:lpwstr>
  </property>
</Properties>
</file>