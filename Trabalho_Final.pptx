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7" r:id="rId3"/>
    <p:sldId id="298" r:id="rId4"/>
    <p:sldId id="299" r:id="rId5"/>
    <p:sldId id="300" r:id="rId6"/>
    <p:sldId id="30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5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99184EF-FA25-F3AE-75D7-F656215212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01DC64-32ED-4555-94EE-36CF84939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8035" y="1071418"/>
            <a:ext cx="5098473" cy="3011055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4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4167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85A2D54-DC1C-40E3-99D2-3189CED1CA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017"/>
            <a:ext cx="10515600" cy="3987945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4352E-5D44-398F-A011-DF2E30ACB5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E782E1-44D1-417C-B4AA-50D7BFA4EE6C}" type="datetimeFigureOut">
              <a:rPr lang="pt-BR" smtClean="0"/>
              <a:t>17/08/2025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6E681-2A6F-0CE2-2D99-35BD43C23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Avaliação de Aluguéis – Prof. Luiz Droubi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A42ED-9BA8-B94A-2523-84DBC8DD7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45C7DE-4DED-4D23-9A7C-BB8E49D80690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1483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09A65-87C6-A0D0-64A7-121C4D105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1080656"/>
            <a:ext cx="4337050" cy="348182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A4A0E-8BB9-250E-3B6F-5C1B3C88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45C7DE-4DED-4D23-9A7C-BB8E49D8069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4302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A16FCF3-D3F0-3D4C-0EAF-680FBDA38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B95C04-CC6F-1CD5-4027-3306C4B75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0600"/>
            <a:ext cx="10515600" cy="700088"/>
          </a:xfrm>
          <a:prstGeom prst="rect">
            <a:avLst/>
          </a:prstGeom>
        </p:spPr>
        <p:txBody>
          <a:bodyPr/>
          <a:lstStyle>
            <a:lvl1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C9F7A-0844-0C9F-745C-595915C1A0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3C290-0A1C-BF66-84A7-0888B6364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FECB4A-0386-3039-0851-CCC3E04D9C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E782E1-44D1-417C-B4AA-50D7BFA4EE6C}" type="datetimeFigureOut">
              <a:rPr lang="pt-BR" smtClean="0"/>
              <a:t>17/08/2025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92097-C142-BB53-623E-8005A2F15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Avaliações de Aluguéis – Prof. Luiz Droubi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DD9C17-D42B-D90D-FEA0-420C5779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45C7DE-4DED-4D23-9A7C-BB8E49D8069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064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48251B0B-D73E-0498-462C-8DAFE97451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FCD8AA-A4C0-5B63-3615-FF99B19EA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935038"/>
            <a:ext cx="10506076" cy="746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FEA84-1946-DBE6-D247-7CA7EE731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0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345DF-1932-E5A8-6820-7C8C3A19F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093969-95B1-DCCB-7590-32DC494E48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0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5BD13B-C7A3-BC61-0A2C-4A180D54B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34C295-0681-0C23-0480-95E2F96B2B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E782E1-44D1-417C-B4AA-50D7BFA4EE6C}" type="datetimeFigureOut">
              <a:rPr lang="pt-BR" smtClean="0"/>
              <a:t>17/08/2025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4C8C7E-DD30-1A6D-49BD-775F13B2E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41F14D-A749-3310-7F10-52D7AD5E5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45C7DE-4DED-4D23-9A7C-BB8E49D8069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225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BCEC30F6-C215-0C16-327C-F05F9F5CA1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CB0D80-2C6C-D796-58D3-D86379469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93199"/>
            <a:ext cx="10679545" cy="89102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B44A4E-1FD5-1155-7B86-C0286EE3AB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E782E1-44D1-417C-B4AA-50D7BFA4EE6C}" type="datetimeFigureOut">
              <a:rPr lang="pt-BR" smtClean="0"/>
              <a:t>17/08/2025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DCEC8B-6062-2D30-1642-1F591A8A6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AE0141-205B-B8DB-94C4-95145D592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45C7DE-4DED-4D23-9A7C-BB8E49D8069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717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E91E5A-8957-3612-FD30-8EFB0ED741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E782E1-44D1-417C-B4AA-50D7BFA4EE6C}" type="datetimeFigureOut">
              <a:rPr lang="pt-BR" smtClean="0"/>
              <a:t>17/08/2025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CF00DE-34E6-5D89-3EF0-EC5FE033C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F009E-D7BD-B94A-FE3F-22E48D090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45C7DE-4DED-4D23-9A7C-BB8E49D8069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2858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8275CD64-694E-B27B-4E21-C44AC1F8F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B8FE57-6952-DCF2-0990-90E39B64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414E9-BCF4-5F4C-6ADB-65C830A85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4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2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2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29933-B652-DA47-BFD3-9E7FA42D2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69F08-BE59-89D4-071E-4A1F646682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E782E1-44D1-417C-B4AA-50D7BFA4EE6C}" type="datetimeFigureOut">
              <a:rPr lang="pt-BR" smtClean="0"/>
              <a:t>17/08/2025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8C1A8-7DCB-9C6A-5983-7F12BC806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Avaliações de Aluguéis – Prof. Luiz Droubi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E1B7BE-D1F4-2469-8A50-E64180142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45C7DE-4DED-4D23-9A7C-BB8E49D8069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766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09477F5-002E-A991-76D4-54C2F64C50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1E7028-8E93-2025-BE29-8F061C2C6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029ACA-2AA7-A033-EDE3-12E52AB1E0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AD6DFE-2D96-A0D7-CE7E-2B5CFF802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1CE78B-013E-347C-9FD5-0AC06B597A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E782E1-44D1-417C-B4AA-50D7BFA4EE6C}" type="datetimeFigureOut">
              <a:rPr lang="pt-BR" smtClean="0"/>
              <a:t>17/08/2025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02DAA-ECCB-F11F-205D-8A79EAB3C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Avaliações de Aluguéis – Prof. Luiz Droubi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76756-D959-C520-1294-BD4F67C5A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45C7DE-4DED-4D23-9A7C-BB8E49D8069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335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6CA1D-5698-F02F-390A-5CECD3598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662384-B41E-E5B3-66DF-D3CAFF762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744C3-6E3E-72EE-0444-5A0390BCA0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E782E1-44D1-417C-B4AA-50D7BFA4EE6C}" type="datetimeFigureOut">
              <a:rPr lang="pt-BR" smtClean="0"/>
              <a:t>17/08/2025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FE1A9-E1EF-3CA8-4576-5FAD3799C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9890A-3050-FAC4-C512-9105EB419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45C7DE-4DED-4D23-9A7C-BB8E49D8069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0266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8377BB-D121-7F34-C00F-D7DE2739A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1EDB92-3760-8609-4648-D2F128AD4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AFA4B-992C-A562-B1E7-CC14039E95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E782E1-44D1-417C-B4AA-50D7BFA4EE6C}" type="datetimeFigureOut">
              <a:rPr lang="pt-BR" smtClean="0"/>
              <a:t>17/08/2025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CE77C-C80E-8260-B9B0-42B11D530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10BC9-0B28-5B58-213C-3C99A16DB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45C7DE-4DED-4D23-9A7C-BB8E49D8069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8581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F64680-033D-7B6C-311D-AF99E8B0317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4F6716-DAE2-3F5E-C9EE-042B8A623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9564" y="2257040"/>
            <a:ext cx="5213296" cy="24257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BF84D-7D99-C72C-766F-0FDF12BB15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250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luiz.droubi@inbec.edu.b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1DC64-32ED-4555-94EE-36CF84939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8035" y="1071418"/>
            <a:ext cx="5098473" cy="301105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pt-BR" sz="3600" dirty="0"/>
              <a:t>Trabalho Final</a:t>
            </a:r>
            <a:br>
              <a:rPr lang="pt-BR" sz="3600" dirty="0"/>
            </a:br>
            <a:r>
              <a:rPr lang="pt-BR" sz="3600" dirty="0"/>
              <a:t>Prof. Luiz Droubi</a:t>
            </a:r>
            <a:br>
              <a:rPr lang="pt-BR" sz="3600" dirty="0"/>
            </a:br>
            <a:r>
              <a:rPr lang="pt-BR" sz="3600" dirty="0">
                <a:hlinkClick r:id="rId2"/>
              </a:rPr>
              <a:t>luiz.droubi@inbec.edu.br</a:t>
            </a:r>
            <a:br>
              <a:rPr lang="pt-BR" sz="3600" dirty="0"/>
            </a:br>
            <a:r>
              <a:rPr lang="pt-BR" sz="3600" dirty="0"/>
              <a:t>(48)98426-1422</a:t>
            </a:r>
            <a:br>
              <a:rPr lang="pt-BR" sz="3600" dirty="0"/>
            </a:br>
            <a:r>
              <a:rPr lang="pt-BR" sz="3600" dirty="0"/>
              <a:t>@lfpdroubi</a:t>
            </a:r>
            <a:br>
              <a:rPr lang="pt-BR" sz="3600" dirty="0"/>
            </a:br>
            <a:r>
              <a:rPr lang="pt-BR" sz="3600" dirty="0"/>
              <a:t>@valoristica</a:t>
            </a:r>
            <a:endParaRPr sz="3600" dirty="0"/>
          </a:p>
        </p:txBody>
      </p:sp>
      <p:sp>
        <p:nvSpPr>
          <p:cNvPr id="3" name=" 2"/>
          <p:cNvSpPr/>
          <p:nvPr/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Exercício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Imaginem que o escritório de Avaliações e Perícias em que você trabalha foi contratado por um potencial comprador de um edifício localizado na região central da cidade para efetuar a avaliação do aluguel de diversas lojas e escritórios neste edifício;</a:t>
            </a:r>
          </a:p>
          <a:p>
            <a:pPr lvl="0"/>
            <a:r>
              <a:t>O edifício é constituído de Térreo + 2 andares, cada um com 150m2;</a:t>
            </a:r>
          </a:p>
          <a:p>
            <a:pPr lvl="0"/>
            <a:r>
              <a:t>O proprietário pretende ocupar com seu escritório pouco mais da metade da área do 2º pavimento (90 m2) e locar o restante;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Exercício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O proprietário informou que algumas pessoas já manifestaram interesse em locar espaços no seu prédio</a:t>
            </a:r>
          </a:p>
          <a:p>
            <a:pPr lvl="1"/>
            <a:r>
              <a:t>1 interessado em instalar uma loja (térreo) com 90 m2;</a:t>
            </a:r>
          </a:p>
          <a:p>
            <a:pPr lvl="1"/>
            <a:r>
              <a:t>1 interessado em uma loja (térreo) com 60 m2;</a:t>
            </a:r>
          </a:p>
          <a:p>
            <a:pPr lvl="1"/>
            <a:r>
              <a:t>1 interessado em uma laje corporativa de 150 m2 para sua empresa (1º pavimento);</a:t>
            </a:r>
          </a:p>
          <a:p>
            <a:pPr lvl="1"/>
            <a:r>
              <a:t>1 interessado na metade restante do 2º pavimento (60 m2);</a:t>
            </a:r>
          </a:p>
          <a:p>
            <a:pPr lvl="0"/>
            <a:r>
              <a:t>O potencial proprietário ainda deseja saber qual o valor do aluguel da área que ele próprio irá ocupar no 2º pavimento (90 m2), para fins de calcular o VPL da compra do edifício (aluguel implícito).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Exercício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O diretor de Avaliações resolveu pulverizar o trabalho entre diversos avaliadores;</a:t>
            </a:r>
          </a:p>
          <a:p>
            <a:pPr lvl="0"/>
            <a:r>
              <a:t>No entanto, para que o resultado final seja um trabalho uniforme, o Diretor estabeleu os critérios que cada avaliador deverá considerar nas suas avaliações.</a:t>
            </a:r>
          </a:p>
          <a:p>
            <a:pPr lvl="0"/>
            <a:r>
              <a:t>Os critérios estabelecidos pelo Diretor, assim como os dados por ele disponibilizados para os avaliadores encontram-se nos próximos slides.</a:t>
            </a:r>
          </a:p>
          <a:p>
            <a:pPr lvl="0"/>
            <a:r>
              <a:t>Para uma melhor apresentação do trabalho, o Diretor solicitou que fosse utilizado o método da Cota Parte, evitando assim que o laudo final fique repleto de cálculos repetitivos.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95C04-CC6F-1CD5-4027-3306C4B75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0600"/>
            <a:ext cx="10515600" cy="700088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Exercício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3C9F7A-0844-0C9F-745C-595915C1A03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lvl="0"/>
                <a:r>
                  <a:rPr dirty="0"/>
                  <a:t>Dados do </a:t>
                </a:r>
                <a:r>
                  <a:rPr dirty="0" err="1"/>
                  <a:t>Terreno</a:t>
                </a:r>
                <a:r>
                  <a:rPr dirty="0"/>
                  <a:t>:</a:t>
                </a:r>
              </a:p>
              <a:p>
                <a:pPr lvl="1"/>
                <a:r>
                  <a:rPr dirty="0" err="1"/>
                  <a:t>Área</a:t>
                </a:r>
                <a:r>
                  <a:rPr dirty="0"/>
                  <a:t>: 400m2</a:t>
                </a:r>
              </a:p>
              <a:p>
                <a:pPr lvl="1"/>
                <a:r>
                  <a:rPr dirty="0"/>
                  <a:t>qt = 2.000,00 R$/m2</a:t>
                </a:r>
              </a:p>
              <a:p>
                <a:pPr lvl="1"/>
                <a:r>
                  <a:rPr dirty="0"/>
                  <a:t>CA </a:t>
                </a:r>
                <a:r>
                  <a:rPr dirty="0" err="1"/>
                  <a:t>básico</a:t>
                </a:r>
                <a:r>
                  <a:rPr dirty="0"/>
                  <a:t>: 1</a:t>
                </a:r>
              </a:p>
              <a:p>
                <a:pPr lvl="1"/>
                <a:r>
                  <a:rPr dirty="0"/>
                  <a:t>TO: 0,5</a:t>
                </a:r>
              </a:p>
              <a:p>
                <a:pPr lvl="1"/>
                <a:r>
                  <a:rPr dirty="0"/>
                  <a:t>Pesos: 3:1 (</a:t>
                </a:r>
                <a:r>
                  <a:rPr dirty="0" err="1"/>
                  <a:t>térreo:superiores</a:t>
                </a:r>
                <a:r>
                  <a:rPr dirty="0"/>
                  <a:t>)</a:t>
                </a:r>
              </a:p>
              <a:p>
                <a:pPr lvl="1"/>
                <a:r>
                  <a:rPr dirty="0"/>
                  <a:t>Taxa de </a:t>
                </a:r>
                <a:r>
                  <a:rPr dirty="0" err="1"/>
                  <a:t>renda</a:t>
                </a:r>
                <a:r>
                  <a:rPr dirty="0"/>
                  <a:t>: 8% </a:t>
                </a:r>
                <a:r>
                  <a:rPr dirty="0" err="1"/>
                  <a:t>a.a.</a:t>
                </a:r>
                <a:endParaRPr dirty="0"/>
              </a:p>
              <a:p>
                <a:pPr lvl="0"/>
                <a:r>
                  <a:rPr dirty="0" err="1"/>
                  <a:t>Considerar</a:t>
                </a:r>
                <a:r>
                  <a:rPr dirty="0"/>
                  <a:t> a </a:t>
                </a:r>
                <a:r>
                  <a:rPr dirty="0" err="1"/>
                  <a:t>idade</a:t>
                </a:r>
                <a:r>
                  <a:rPr dirty="0"/>
                  <a:t> no </a:t>
                </a:r>
                <a:r>
                  <a:rPr dirty="0" err="1"/>
                  <a:t>cálculo</a:t>
                </a:r>
                <a:r>
                  <a:rPr dirty="0"/>
                  <a:t> do </a:t>
                </a:r>
                <a:r>
                  <a:rPr dirty="0" err="1"/>
                  <a:t>coeficiente</a:t>
                </a:r>
                <a:r>
                  <a:rPr dirty="0"/>
                  <a:t> de </a:t>
                </a:r>
                <a:r>
                  <a:rPr dirty="0" err="1"/>
                  <a:t>aproveitamento</a:t>
                </a:r>
                <a:r>
                  <a:rPr dirty="0"/>
                  <a:t>, </a:t>
                </a:r>
                <a:r>
                  <a:rPr dirty="0" err="1"/>
                  <a:t>através</a:t>
                </a:r>
                <a:r>
                  <a:rPr dirty="0"/>
                  <a:t> da </a:t>
                </a:r>
                <a:r>
                  <a:rPr dirty="0" err="1"/>
                  <a:t>seguinte</a:t>
                </a:r>
                <a:r>
                  <a:rPr dirty="0"/>
                  <a:t> </a:t>
                </a:r>
                <a:r>
                  <a:rPr dirty="0" err="1"/>
                  <a:t>expressão</a:t>
                </a:r>
                <a:r>
                  <a:rPr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𝐶𝐴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h𝑢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h𝑒𝑥𝑖𝑠𝑡</m:t>
                            </m:r>
                          </m:sub>
                        </m:sSub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0,2+0,8</m:t>
                        </m:r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𝑣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𝑉</m:t>
                            </m:r>
                          </m:den>
                        </m:f>
                      </m:e>
                    </m:d>
                  </m:oMath>
                </a14:m>
                <a:endParaRPr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3C9F7A-0844-0C9F-745C-595915C1A0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647" t="-1961" r="-1529" b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3C290-0A1C-BF66-84A7-0888B63645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/>
            <a:r>
              <a:rPr dirty="0"/>
              <a:t>Dados da </a:t>
            </a:r>
            <a:r>
              <a:rPr dirty="0" err="1"/>
              <a:t>Benfeitoria</a:t>
            </a:r>
            <a:r>
              <a:rPr dirty="0"/>
              <a:t>:</a:t>
            </a:r>
          </a:p>
          <a:p>
            <a:pPr lvl="1"/>
            <a:r>
              <a:rPr dirty="0" err="1"/>
              <a:t>Idade</a:t>
            </a:r>
            <a:r>
              <a:rPr dirty="0"/>
              <a:t> </a:t>
            </a:r>
            <a:r>
              <a:rPr dirty="0" err="1"/>
              <a:t>aparente</a:t>
            </a:r>
            <a:r>
              <a:rPr dirty="0"/>
              <a:t>: 15 </a:t>
            </a:r>
            <a:r>
              <a:rPr dirty="0" err="1"/>
              <a:t>anos</a:t>
            </a:r>
            <a:endParaRPr dirty="0"/>
          </a:p>
          <a:p>
            <a:pPr lvl="1"/>
            <a:r>
              <a:rPr dirty="0"/>
              <a:t>Vida </a:t>
            </a:r>
            <a:r>
              <a:rPr dirty="0" err="1"/>
              <a:t>útil</a:t>
            </a:r>
            <a:r>
              <a:rPr dirty="0"/>
              <a:t>: 60 </a:t>
            </a:r>
            <a:r>
              <a:rPr dirty="0" err="1"/>
              <a:t>anos</a:t>
            </a:r>
            <a:endParaRPr dirty="0"/>
          </a:p>
          <a:p>
            <a:pPr lvl="1"/>
            <a:r>
              <a:rPr dirty="0"/>
              <a:t>Taxa de </a:t>
            </a:r>
            <a:r>
              <a:rPr dirty="0" err="1"/>
              <a:t>renda</a:t>
            </a:r>
            <a:r>
              <a:rPr dirty="0"/>
              <a:t>: 12% </a:t>
            </a:r>
            <a:r>
              <a:rPr dirty="0" err="1"/>
              <a:t>a.a.</a:t>
            </a:r>
            <a:endParaRPr dirty="0"/>
          </a:p>
          <a:p>
            <a:pPr lvl="1"/>
            <a:r>
              <a:rPr dirty="0" err="1"/>
              <a:t>qb</a:t>
            </a:r>
            <a:r>
              <a:rPr dirty="0"/>
              <a:t> = 2.000,00 R$/m2 (x 1,2)</a:t>
            </a:r>
          </a:p>
          <a:p>
            <a:pPr lvl="0"/>
            <a:r>
              <a:rPr dirty="0" err="1"/>
              <a:t>Considerar</a:t>
            </a:r>
            <a:r>
              <a:rPr dirty="0"/>
              <a:t> a </a:t>
            </a:r>
            <a:r>
              <a:rPr dirty="0" err="1"/>
              <a:t>depreciação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método</a:t>
            </a:r>
            <a:r>
              <a:rPr dirty="0"/>
              <a:t> da </a:t>
            </a:r>
            <a:r>
              <a:rPr dirty="0" err="1"/>
              <a:t>linha</a:t>
            </a:r>
            <a:r>
              <a:rPr dirty="0"/>
              <a:t> </a:t>
            </a:r>
            <a:r>
              <a:rPr dirty="0" err="1"/>
              <a:t>reta</a:t>
            </a:r>
            <a:r>
              <a:rPr dirty="0"/>
              <a:t>, com valor residual </a:t>
            </a:r>
            <a:r>
              <a:rPr dirty="0" err="1"/>
              <a:t>igual</a:t>
            </a:r>
            <a:r>
              <a:rPr dirty="0"/>
              <a:t> a 20%.</a:t>
            </a:r>
          </a:p>
          <a:p>
            <a:pPr lvl="0"/>
            <a:r>
              <a:rPr dirty="0" err="1"/>
              <a:t>Considerar</a:t>
            </a:r>
            <a:r>
              <a:rPr dirty="0"/>
              <a:t> o Fator de </a:t>
            </a:r>
            <a:r>
              <a:rPr dirty="0" err="1"/>
              <a:t>Comercialização</a:t>
            </a:r>
            <a:r>
              <a:rPr dirty="0"/>
              <a:t> </a:t>
            </a:r>
            <a:r>
              <a:rPr dirty="0" err="1"/>
              <a:t>igual</a:t>
            </a:r>
            <a:r>
              <a:rPr dirty="0"/>
              <a:t> a 1,10, tanto para o Capital </a:t>
            </a:r>
            <a:r>
              <a:rPr dirty="0" err="1"/>
              <a:t>Terreno</a:t>
            </a:r>
            <a:r>
              <a:rPr dirty="0"/>
              <a:t>, </a:t>
            </a:r>
            <a:r>
              <a:rPr dirty="0" err="1"/>
              <a:t>quanto</a:t>
            </a:r>
            <a:r>
              <a:rPr dirty="0"/>
              <a:t> para o Capital </a:t>
            </a:r>
            <a:r>
              <a:rPr dirty="0" err="1"/>
              <a:t>Benfeitoria</a:t>
            </a:r>
            <a:r>
              <a:rPr dirty="0"/>
              <a:t>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Exercício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Unidade 1: Loja (Térreo) com 90m2;</a:t>
            </a:r>
          </a:p>
          <a:p>
            <a:pPr lvl="0"/>
            <a:r>
              <a:t>Unidade 2: Loja (Térreo) com 60m2;</a:t>
            </a:r>
          </a:p>
          <a:p>
            <a:pPr lvl="0"/>
            <a:r>
              <a:t>Unidade 3: Laje corporativa (1º andar), com 150 m2;</a:t>
            </a:r>
          </a:p>
          <a:p>
            <a:pPr lvl="0"/>
            <a:r>
              <a:t>Unidade 4: Sala Comercial (2º andar), com 60 m2;</a:t>
            </a:r>
          </a:p>
          <a:p>
            <a:pPr lvl="0"/>
            <a:r>
              <a:t>Unidade 5: Sala Comercial (2º andar), com 90 m2;</a:t>
            </a:r>
          </a:p>
          <a:p>
            <a:pPr lvl="0"/>
            <a:r>
              <a:t>DICAS:</a:t>
            </a:r>
          </a:p>
          <a:p>
            <a:pPr lvl="1"/>
            <a:r>
              <a:t>Para uma melhor apresentação, resolva pela fórmula da Cota-Parte;</a:t>
            </a:r>
          </a:p>
          <a:p>
            <a:pPr lvl="1"/>
            <a:r>
              <a:t>Elabore os cálculos em uma planilha eletrônica antes de escrevê-los no editor de textos;</a:t>
            </a:r>
          </a:p>
          <a:p>
            <a:pPr lvl="1"/>
            <a:r>
              <a:t>Para verificação pode ser feito o cálculo do aluguel de cada andar em separado e depois aplicar a proporcionalidade entre a área do andar e a da unidade.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555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 Light</vt:lpstr>
      <vt:lpstr>Cambria Math</vt:lpstr>
      <vt:lpstr>Office Theme</vt:lpstr>
      <vt:lpstr>Trabalho Final Prof. Luiz Droubi luiz.droubi@inbec.edu.br (48)98426-1422 @lfpdroubi @valoristica</vt:lpstr>
      <vt:lpstr>Exercício</vt:lpstr>
      <vt:lpstr>Exercício</vt:lpstr>
      <vt:lpstr>Exercício</vt:lpstr>
      <vt:lpstr>Exercício</vt:lpstr>
      <vt:lpstr>Exercício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Avaliação de Alugueis</dc:title>
  <dc:creator>Luiz Fernando Palin Droubi</dc:creator>
  <cp:keywords/>
  <cp:lastModifiedBy>Luiz F P Droubi</cp:lastModifiedBy>
  <cp:revision>4</cp:revision>
  <dcterms:created xsi:type="dcterms:W3CDTF">2025-08-12T17:33:45Z</dcterms:created>
  <dcterms:modified xsi:type="dcterms:W3CDTF">2025-08-17T18:06:26Z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>referencias.bib</vt:lpwstr>
  </property>
  <property fmtid="{D5CDD505-2E9C-101B-9397-08002B2CF9AE}" pid="5" name="by-author">
    <vt:lpwstr/>
  </property>
  <property fmtid="{D5CDD505-2E9C-101B-9397-08002B2CF9AE}" pid="6" name="date">
    <vt:lpwstr>2025-08-12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Parte 02</vt:lpwstr>
  </property>
  <property fmtid="{D5CDD505-2E9C-101B-9397-08002B2CF9AE}" pid="12" name="toc-title">
    <vt:lpwstr>Table of contents</vt:lpwstr>
  </property>
</Properties>
</file>