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9184EF-FA25-F3AE-75D7-F65621521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416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85A2D54-DC1C-40E3-99D2-3189CED1CA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7"/>
            <a:ext cx="10515600" cy="398794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352E-5D44-398F-A011-DF2E30AC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6E681-2A6F-0CE2-2D99-35BD43C2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Avaliação de Aluguéis – Prof. Luiz Droubi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A42ED-9BA8-B94A-2523-84DBC8DD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483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A4A0E-8BB9-250E-3B6F-5C1B3C88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30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A16FCF3-D3F0-3D4C-0EAF-680FBDA38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C9F7A-0844-0C9F-745C-595915C1A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3C290-0A1C-BF66-84A7-0888B6364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CB4A-0386-3039-0851-CCC3E04D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2097-C142-BB53-623E-8005A2F1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9C17-D42B-D90D-FEA0-420C5779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6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8251B0B-D73E-0498-462C-8DAFE974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FCD8AA-A4C0-5B63-3615-FF99B19E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935038"/>
            <a:ext cx="10506076" cy="746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FEA84-1946-DBE6-D247-7CA7EE731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345DF-1932-E5A8-6820-7C8C3A19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93969-95B1-DCCB-7590-32DC494E4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BD13B-C7A3-BC61-0A2C-4A180D54B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4C295-0681-0C23-0480-95E2F96B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C8C7E-DD30-1A6D-49BD-775F13B2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1F14D-A749-3310-7F10-52D7AD5E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2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CEC30F6-C215-0C16-327C-F05F9F5CA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CB0D80-2C6C-D796-58D3-D8637946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3199"/>
            <a:ext cx="10679545" cy="8910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44A4E-1FD5-1155-7B86-C0286EE3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CEC8B-6062-2D30-1642-1F591A8A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0141-205B-B8DB-94C4-95145D59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1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91E5A-8957-3612-FD30-8EFB0ED7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F00DE-34E6-5D89-3EF0-EC5FE033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F009E-D7BD-B94A-FE3F-22E48D09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85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275CD64-694E-B27B-4E21-C44AC1F8F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14E9-BCF4-5F4C-6ADB-65C830A8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69F08-BE59-89D4-071E-4A1F6466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C1A8-7DCB-9C6A-5983-7F12BC80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1B7BE-D1F4-2469-8A50-E6418014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76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09477F5-002E-A991-76D4-54C2F64C5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1E7028-8E93-2025-BE29-8F061C2C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29ACA-2AA7-A033-EDE3-12E52AB1E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D6DFE-2D96-A0D7-CE7E-2B5CFF80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E78B-013E-347C-9FD5-0AC06B59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2DAA-ECCB-F11F-205D-8A79EAB3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76756-D959-C520-1294-BD4F67C5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3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CA1D-5698-F02F-390A-5CECD359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62384-B41E-E5B3-66DF-D3CAFF762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744C3-6E3E-72EE-0444-5A0390BC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E1A9-E1EF-3CA8-4576-5FAD3799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9890A-3050-FAC4-C512-9105EB41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26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377BB-D121-7F34-C00F-D7DE2739A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EDB92-3760-8609-4648-D2F128AD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FA4B-992C-A562-B1E7-CC14039E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CE77C-C80E-8260-B9B0-42B11D53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0BC9-0B28-5B58-213C-3C99A16D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5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64680-033D-7B6C-311D-AF99E8B0317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F6716-DAE2-3F5E-C9EE-042B8A6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564" y="2257040"/>
            <a:ext cx="5213296" cy="2425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BF84D-7D99-C72C-766F-0FDF12BB1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50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Alugueis</a:t>
            </a:r>
            <a:endParaRPr dirty="0"/>
          </a:p>
        </p:txBody>
      </p:sp>
      <p:sp>
        <p:nvSpPr>
          <p:cNvPr id="3" name=" 2"/>
          <p:cNvSpPr/>
          <p:nvPr/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Aspectos Legais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Lei do Inquilinato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 </a:t>
            </a:r>
            <a:r>
              <a:rPr dirty="0" err="1"/>
              <a:t>partir</a:t>
            </a:r>
            <a:r>
              <a:rPr dirty="0"/>
              <a:t> da entrada </a:t>
            </a:r>
            <a:r>
              <a:rPr dirty="0" err="1"/>
              <a:t>em</a:t>
            </a:r>
            <a:r>
              <a:rPr dirty="0"/>
              <a:t> vigor do Código Civil,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jan</a:t>
            </a:r>
            <a:r>
              <a:rPr dirty="0"/>
              <a:t>/1917, a </a:t>
            </a:r>
            <a:r>
              <a:rPr dirty="0" err="1"/>
              <a:t>legislação</a:t>
            </a:r>
            <a:r>
              <a:rPr dirty="0"/>
              <a:t> do </a:t>
            </a:r>
            <a:r>
              <a:rPr dirty="0" err="1"/>
              <a:t>inquilinato</a:t>
            </a:r>
            <a:r>
              <a:rPr dirty="0"/>
              <a:t> </a:t>
            </a:r>
            <a:r>
              <a:rPr dirty="0" err="1"/>
              <a:t>evoluindo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fases</a:t>
            </a:r>
            <a:r>
              <a:rPr dirty="0"/>
              <a:t> </a:t>
            </a:r>
            <a:r>
              <a:rPr dirty="0" err="1"/>
              <a:t>alternadas</a:t>
            </a:r>
            <a:r>
              <a:rPr dirty="0"/>
              <a:t>, </a:t>
            </a:r>
            <a:r>
              <a:rPr dirty="0" err="1"/>
              <a:t>ora</a:t>
            </a:r>
            <a:r>
              <a:rPr dirty="0"/>
              <a:t> </a:t>
            </a:r>
            <a:r>
              <a:rPr dirty="0" err="1"/>
              <a:t>favorecendo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proprietários</a:t>
            </a:r>
            <a:r>
              <a:rPr dirty="0"/>
              <a:t>, </a:t>
            </a:r>
            <a:r>
              <a:rPr dirty="0" err="1"/>
              <a:t>ora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inquilinos (D’Amato and Alonso 2019, 38).</a:t>
            </a:r>
          </a:p>
          <a:p>
            <a:pPr lvl="0"/>
            <a:r>
              <a:rPr dirty="0"/>
              <a:t>Lei </a:t>
            </a:r>
            <a:r>
              <a:rPr dirty="0" err="1"/>
              <a:t>em</a:t>
            </a:r>
            <a:r>
              <a:rPr dirty="0"/>
              <a:t> vigor: a Lei nº 8.245, de 18/10/1991 é </a:t>
            </a:r>
            <a:r>
              <a:rPr dirty="0" err="1"/>
              <a:t>uma</a:t>
            </a:r>
            <a:r>
              <a:rPr dirty="0"/>
              <a:t> </a:t>
            </a:r>
            <a:r>
              <a:rPr b="1" dirty="0"/>
              <a:t>lei de </a:t>
            </a:r>
            <a:r>
              <a:rPr b="1" dirty="0" err="1"/>
              <a:t>ordem</a:t>
            </a:r>
            <a:r>
              <a:rPr b="1" dirty="0"/>
              <a:t> </a:t>
            </a:r>
            <a:r>
              <a:rPr b="1" dirty="0" err="1"/>
              <a:t>pública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</a:t>
            </a:r>
            <a:r>
              <a:rPr dirty="0" err="1"/>
              <a:t>atinge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celebrados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particulares</a:t>
            </a:r>
            <a:r>
              <a:rPr dirty="0"/>
              <a:t>, </a:t>
            </a:r>
            <a:r>
              <a:rPr dirty="0" err="1"/>
              <a:t>impedindo</a:t>
            </a:r>
            <a:r>
              <a:rPr dirty="0"/>
              <a:t> o </a:t>
            </a:r>
            <a:r>
              <a:rPr dirty="0" err="1"/>
              <a:t>estabelecimento</a:t>
            </a:r>
            <a:r>
              <a:rPr dirty="0"/>
              <a:t> de </a:t>
            </a:r>
            <a:r>
              <a:rPr dirty="0" err="1"/>
              <a:t>cláusulas</a:t>
            </a:r>
            <a:r>
              <a:rPr dirty="0"/>
              <a:t> </a:t>
            </a:r>
            <a:r>
              <a:rPr dirty="0" err="1"/>
              <a:t>contrárias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dispositivos</a:t>
            </a:r>
            <a:r>
              <a:rPr dirty="0"/>
              <a:t>, </a:t>
            </a:r>
            <a:r>
              <a:rPr dirty="0" err="1"/>
              <a:t>protegendo</a:t>
            </a:r>
            <a:r>
              <a:rPr dirty="0"/>
              <a:t> </a:t>
            </a:r>
            <a:r>
              <a:rPr dirty="0" err="1"/>
              <a:t>assim</a:t>
            </a:r>
            <a:r>
              <a:rPr dirty="0"/>
              <a:t> 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economicamente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fraca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Lei do Inquilinato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Continam</a:t>
            </a:r>
            <a:r>
              <a:rPr dirty="0"/>
              <a:t> </a:t>
            </a:r>
            <a:r>
              <a:rPr dirty="0" err="1"/>
              <a:t>regulados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Código Civil e </a:t>
            </a:r>
            <a:r>
              <a:rPr dirty="0" err="1"/>
              <a:t>pelas</a:t>
            </a:r>
            <a:r>
              <a:rPr dirty="0"/>
              <a:t> leis </a:t>
            </a:r>
            <a:r>
              <a:rPr dirty="0" err="1"/>
              <a:t>especiais</a:t>
            </a:r>
            <a:r>
              <a:rPr dirty="0"/>
              <a:t>, </a:t>
            </a:r>
            <a:r>
              <a:rPr dirty="0" err="1"/>
              <a:t>portanto</a:t>
            </a:r>
            <a:r>
              <a:rPr dirty="0"/>
              <a:t> fora da Lei do </a:t>
            </a:r>
            <a:r>
              <a:rPr dirty="0" err="1"/>
              <a:t>Inquilinato</a:t>
            </a:r>
            <a:r>
              <a:rPr dirty="0"/>
              <a:t>:</a:t>
            </a:r>
          </a:p>
          <a:p>
            <a:pPr lvl="0"/>
            <a:r>
              <a:rPr dirty="0"/>
              <a:t>As </a:t>
            </a:r>
            <a:r>
              <a:rPr dirty="0" err="1"/>
              <a:t>locações</a:t>
            </a:r>
            <a:r>
              <a:rPr dirty="0"/>
              <a:t>:</a:t>
            </a:r>
          </a:p>
          <a:p>
            <a:pPr lvl="1"/>
            <a:r>
              <a:rPr dirty="0"/>
              <a:t>de </a:t>
            </a:r>
            <a:r>
              <a:rPr dirty="0" err="1"/>
              <a:t>imóveis</a:t>
            </a:r>
            <a:r>
              <a:rPr dirty="0"/>
              <a:t> de </a:t>
            </a:r>
            <a:r>
              <a:rPr dirty="0" err="1"/>
              <a:t>propriedade</a:t>
            </a:r>
            <a:r>
              <a:rPr dirty="0"/>
              <a:t> da </a:t>
            </a:r>
            <a:r>
              <a:rPr dirty="0" err="1"/>
              <a:t>União</a:t>
            </a:r>
            <a:r>
              <a:rPr dirty="0"/>
              <a:t>, dos </a:t>
            </a:r>
            <a:r>
              <a:rPr dirty="0" err="1"/>
              <a:t>Estados</a:t>
            </a:r>
            <a:r>
              <a:rPr dirty="0"/>
              <a:t> e </a:t>
            </a:r>
            <a:r>
              <a:rPr dirty="0" err="1"/>
              <a:t>Municípios</a:t>
            </a:r>
            <a:r>
              <a:rPr dirty="0"/>
              <a:t>, de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autarquias</a:t>
            </a:r>
            <a:r>
              <a:rPr dirty="0"/>
              <a:t> e </a:t>
            </a:r>
            <a:r>
              <a:rPr dirty="0" err="1"/>
              <a:t>fundações</a:t>
            </a:r>
            <a:r>
              <a:rPr dirty="0"/>
              <a:t> </a:t>
            </a:r>
            <a:r>
              <a:rPr dirty="0" err="1"/>
              <a:t>públicas</a:t>
            </a:r>
            <a:endParaRPr dirty="0"/>
          </a:p>
          <a:p>
            <a:pPr lvl="1"/>
            <a:r>
              <a:rPr dirty="0"/>
              <a:t>de </a:t>
            </a:r>
            <a:r>
              <a:rPr dirty="0" err="1"/>
              <a:t>vagas</a:t>
            </a:r>
            <a:r>
              <a:rPr dirty="0"/>
              <a:t> </a:t>
            </a:r>
            <a:r>
              <a:rPr dirty="0" err="1"/>
              <a:t>autônomas</a:t>
            </a:r>
            <a:r>
              <a:rPr dirty="0"/>
              <a:t> de </a:t>
            </a:r>
            <a:r>
              <a:rPr dirty="0" err="1"/>
              <a:t>garagem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 </a:t>
            </a:r>
            <a:r>
              <a:rPr dirty="0" err="1"/>
              <a:t>espaços</a:t>
            </a:r>
            <a:r>
              <a:rPr dirty="0"/>
              <a:t> para </a:t>
            </a:r>
            <a:r>
              <a:rPr dirty="0" err="1"/>
              <a:t>estacionamento</a:t>
            </a:r>
            <a:r>
              <a:rPr dirty="0"/>
              <a:t> de </a:t>
            </a:r>
            <a:r>
              <a:rPr dirty="0" err="1"/>
              <a:t>veículos</a:t>
            </a:r>
            <a:r>
              <a:rPr dirty="0"/>
              <a:t>;</a:t>
            </a:r>
          </a:p>
          <a:p>
            <a:pPr lvl="2"/>
            <a:r>
              <a:rPr dirty="0"/>
              <a:t>de </a:t>
            </a:r>
            <a:r>
              <a:rPr dirty="0" err="1"/>
              <a:t>espaços</a:t>
            </a:r>
            <a:r>
              <a:rPr dirty="0"/>
              <a:t> </a:t>
            </a:r>
            <a:r>
              <a:rPr dirty="0" err="1"/>
              <a:t>destinados</a:t>
            </a:r>
            <a:r>
              <a:rPr dirty="0"/>
              <a:t> à </a:t>
            </a:r>
            <a:r>
              <a:rPr dirty="0" err="1"/>
              <a:t>publicidade</a:t>
            </a:r>
            <a:r>
              <a:rPr dirty="0"/>
              <a:t>;</a:t>
            </a:r>
          </a:p>
          <a:p>
            <a:pPr lvl="2"/>
            <a:r>
              <a:rPr dirty="0" err="1"/>
              <a:t>em</a:t>
            </a:r>
            <a:r>
              <a:rPr dirty="0"/>
              <a:t> apart-</a:t>
            </a:r>
            <a:r>
              <a:rPr dirty="0" err="1"/>
              <a:t>hotéis</a:t>
            </a:r>
            <a:r>
              <a:rPr dirty="0"/>
              <a:t>, </a:t>
            </a:r>
            <a:r>
              <a:rPr dirty="0" err="1"/>
              <a:t>hotéis-residência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equiparados</a:t>
            </a:r>
            <a:r>
              <a:rPr dirty="0"/>
              <a:t>, </a:t>
            </a:r>
            <a:r>
              <a:rPr dirty="0" err="1"/>
              <a:t>assim</a:t>
            </a:r>
            <a:r>
              <a:rPr dirty="0"/>
              <a:t> </a:t>
            </a:r>
            <a:r>
              <a:rPr dirty="0" err="1"/>
              <a:t>considerados</a:t>
            </a:r>
            <a:r>
              <a:rPr dirty="0"/>
              <a:t> </a:t>
            </a:r>
            <a:r>
              <a:rPr dirty="0" err="1"/>
              <a:t>aqueles</a:t>
            </a:r>
            <a:r>
              <a:rPr dirty="0"/>
              <a:t> que </a:t>
            </a:r>
            <a:r>
              <a:rPr dirty="0" err="1"/>
              <a:t>prestam</a:t>
            </a:r>
            <a:r>
              <a:rPr dirty="0"/>
              <a:t> </a:t>
            </a:r>
            <a:r>
              <a:rPr dirty="0" err="1"/>
              <a:t>serviços</a:t>
            </a:r>
            <a:r>
              <a:rPr dirty="0"/>
              <a:t> </a:t>
            </a:r>
            <a:r>
              <a:rPr dirty="0" err="1"/>
              <a:t>regulares</a:t>
            </a:r>
            <a:r>
              <a:rPr dirty="0"/>
              <a:t> a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 e </a:t>
            </a:r>
            <a:r>
              <a:rPr dirty="0" err="1"/>
              <a:t>como</a:t>
            </a:r>
            <a:r>
              <a:rPr dirty="0"/>
              <a:t> tais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a </a:t>
            </a:r>
            <a:r>
              <a:rPr dirty="0" err="1"/>
              <a:t>funcionar</a:t>
            </a:r>
            <a:r>
              <a:rPr dirty="0"/>
              <a:t>;</a:t>
            </a:r>
          </a:p>
          <a:p>
            <a:pPr lvl="1"/>
            <a:r>
              <a:rPr dirty="0"/>
              <a:t>o </a:t>
            </a:r>
            <a:r>
              <a:rPr dirty="0" err="1"/>
              <a:t>arrendamento</a:t>
            </a:r>
            <a:r>
              <a:rPr dirty="0"/>
              <a:t> </a:t>
            </a:r>
            <a:r>
              <a:rPr dirty="0" err="1"/>
              <a:t>mercantil</a:t>
            </a:r>
            <a:r>
              <a:rPr dirty="0"/>
              <a:t>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de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modalidades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Direito de Preferência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Art. 27. No caso de venda, promessa de venda, cessão ou promessa de cessão de direitos ou dação em pagamento, o locatário tem preferência para adquirir o imóvel locado, em igualdade de condições com terceiros, devendo o locador dar - lhe conhecimento do negócio mediante notificação judicial, extrajudicial ou outro meio de ciência inequívoca. Parágrafo único. A comunicação deverá conter todas as condições do negócio e, em especial, o preço, a forma de pagamento, a existência de ônus reais, bem como o local e horário em que pode ser examinada a documentação pertinente.</a:t>
            </a:r>
          </a:p>
          <a:p>
            <a:pPr marL="1270000" lvl="0" indent="0">
              <a:buNone/>
            </a:pPr>
            <a:r>
              <a:rPr sz="2000"/>
              <a:t>Art. 28. O direito de preferência do locatário caducará se não manifestada, de maneira inequívoca, sua aceitação integral à proposta, no prazo de trinta dias.</a:t>
            </a:r>
          </a:p>
          <a:p>
            <a:pPr marL="1270000" lvl="0" indent="0">
              <a:buNone/>
            </a:pPr>
            <a:r>
              <a:rPr sz="2000"/>
              <a:t>Art. 29. Ocorrendo aceitação da proposta, pelo locatário, a posterior desistência do negócio pelo locador acarreta, a este, responsabilidade pelos prejuízos ocasionados, inclusive lucros cessantes.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Direito de Preferência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Art. 30. Estando o imóvel sublocado em sua totalidade, caberá a preferência ao sublocatário e, em seguida, ao locatário. Se forem vários os sublocatários, a preferência caberá a todos, em comum, ou a qualquer deles, se um só for o interessado. Parágrafo único. Havendo pluralidade de pretendentes, caberá a preferência ao locatário mais antigo, e, se da mesma data, ao mais idoso.</a:t>
            </a:r>
          </a:p>
          <a:p>
            <a:pPr marL="1270000" lvl="0" indent="0">
              <a:buNone/>
            </a:pPr>
            <a:r>
              <a:rPr sz="2000"/>
              <a:t>Art. 31. Em se tratando de alienação de mais de uma unidade imobiliária, o direito de preferência incidirá sobre a totalidade dos bens objeto da alienação.</a:t>
            </a:r>
          </a:p>
          <a:p>
            <a:pPr marL="1270000" lvl="0" indent="0">
              <a:buNone/>
            </a:pPr>
            <a:r>
              <a:rPr sz="2000"/>
              <a:t>Art. 32. O direito de preferência não alcança os casos de perda da propriedade ou venda por decisão judicial, permuta, doação, integralização de capital, cisão, fusão e incorporação.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Ação Revisional de Aluguel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Art. 68. Na ação revisional de aluguel, que terá o rito sumaríssimo, observar-se-á o seguinte:</a:t>
            </a:r>
            <a:br/>
            <a:r>
              <a:rPr sz="2000"/>
              <a:t>I – além dos requisitos exigidos pelos arts. 276 e 282 do Código de Processo Civil, a petição inicial deverá indicar o valor do aluguel cuja fixação é pretendida. (Vide Nota mental na página seguinte).</a:t>
            </a:r>
            <a:br/>
            <a:r>
              <a:rPr sz="2000"/>
              <a:t>II – ao designar a audiência de instrução e julgamento, o juiz, se houver pedido e com base nos elementos fornecidos pelo autor ou nos que indicar, fixará aluguel provisório, não excedente a oitenta por cento do pedido, que será devido desde a citação.</a:t>
            </a:r>
            <a:br/>
            <a:r>
              <a:rPr sz="2000"/>
              <a:t>III – sem prejuízo da contestação e até a audiência, o réu poderá pedir seja revisto o aluguel provisório, fornecendo os elementos para tanto.</a:t>
            </a:r>
            <a:br/>
            <a:r>
              <a:rPr sz="2000"/>
              <a:t>IV – na audiência de instrução e julgamento, apresentada a contestação, que deverá conter contraproposta se houver discordância quanto ao valor pretendido, o juiz tentará a conciliação e, não sendo esta possível, suspenderá o ato para a </a:t>
            </a:r>
            <a:r>
              <a:rPr sz="2000" b="1"/>
              <a:t>realização de perícia</a:t>
            </a:r>
            <a:r>
              <a:rPr sz="2000"/>
              <a:t>, se necessária, designando, desde logo, audiência em continuação.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Ação Renovatória de aluguel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983"/>
            <a:ext cx="10515600" cy="3987945"/>
          </a:xfrm>
        </p:spPr>
        <p:txBody>
          <a:bodyPr/>
          <a:lstStyle/>
          <a:p>
            <a:pPr marL="1270000" lvl="0" indent="0">
              <a:buNone/>
            </a:pPr>
            <a:r>
              <a:rPr sz="2000" dirty="0"/>
              <a:t>Art. 51. Nas </a:t>
            </a:r>
            <a:r>
              <a:rPr sz="2000" dirty="0" err="1"/>
              <a:t>locações</a:t>
            </a:r>
            <a:r>
              <a:rPr sz="2000" dirty="0"/>
              <a:t> de </a:t>
            </a:r>
            <a:r>
              <a:rPr sz="2000" dirty="0" err="1"/>
              <a:t>imóveis</a:t>
            </a:r>
            <a:r>
              <a:rPr sz="2000" dirty="0"/>
              <a:t> </a:t>
            </a:r>
            <a:r>
              <a:rPr sz="2000" dirty="0" err="1"/>
              <a:t>destinados</a:t>
            </a:r>
            <a:r>
              <a:rPr sz="2000" dirty="0"/>
              <a:t> </a:t>
            </a:r>
            <a:r>
              <a:rPr sz="2000" dirty="0" err="1"/>
              <a:t>ao</a:t>
            </a:r>
            <a:r>
              <a:rPr sz="2000" dirty="0"/>
              <a:t> </a:t>
            </a:r>
            <a:r>
              <a:rPr sz="2000" dirty="0" err="1"/>
              <a:t>comércio</a:t>
            </a:r>
            <a:r>
              <a:rPr sz="2000" dirty="0"/>
              <a:t>, o </a:t>
            </a:r>
            <a:r>
              <a:rPr sz="2000" dirty="0" err="1"/>
              <a:t>locatário</a:t>
            </a:r>
            <a:r>
              <a:rPr sz="2000" dirty="0"/>
              <a:t> </a:t>
            </a:r>
            <a:r>
              <a:rPr sz="2000" dirty="0" err="1"/>
              <a:t>terá</a:t>
            </a:r>
            <a:r>
              <a:rPr sz="2000" dirty="0"/>
              <a:t> </a:t>
            </a:r>
            <a:r>
              <a:rPr sz="2000" dirty="0" err="1"/>
              <a:t>direito</a:t>
            </a:r>
            <a:r>
              <a:rPr sz="2000" dirty="0"/>
              <a:t> à </a:t>
            </a:r>
            <a:r>
              <a:rPr sz="2000" dirty="0" err="1"/>
              <a:t>renovação</a:t>
            </a:r>
            <a:r>
              <a:rPr sz="2000" dirty="0"/>
              <a:t> do </a:t>
            </a:r>
            <a:r>
              <a:rPr sz="2000" dirty="0" err="1"/>
              <a:t>contrato</a:t>
            </a:r>
            <a:r>
              <a:rPr sz="2000" dirty="0"/>
              <a:t>,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igual</a:t>
            </a:r>
            <a:r>
              <a:rPr sz="2000" dirty="0"/>
              <a:t> </a:t>
            </a:r>
            <a:r>
              <a:rPr sz="2000" dirty="0" err="1"/>
              <a:t>prazo</a:t>
            </a:r>
            <a:r>
              <a:rPr sz="2000" dirty="0"/>
              <a:t>, </a:t>
            </a:r>
            <a:r>
              <a:rPr sz="2000" dirty="0" err="1"/>
              <a:t>desde</a:t>
            </a:r>
            <a:r>
              <a:rPr sz="2000" dirty="0"/>
              <a:t> que, </a:t>
            </a:r>
            <a:r>
              <a:rPr sz="2000" dirty="0" err="1"/>
              <a:t>cumulativamente</a:t>
            </a:r>
            <a:r>
              <a:rPr sz="2000" dirty="0"/>
              <a:t>:</a:t>
            </a:r>
            <a:br>
              <a:rPr dirty="0"/>
            </a:br>
            <a:r>
              <a:rPr sz="2000" dirty="0"/>
              <a:t>I. o </a:t>
            </a:r>
            <a:r>
              <a:rPr sz="2000" dirty="0" err="1"/>
              <a:t>contrato</a:t>
            </a:r>
            <a:r>
              <a:rPr sz="2000" dirty="0"/>
              <a:t> a </a:t>
            </a:r>
            <a:r>
              <a:rPr sz="2000" dirty="0" err="1"/>
              <a:t>renovar</a:t>
            </a:r>
            <a:r>
              <a:rPr sz="2000" dirty="0"/>
              <a:t> </a:t>
            </a:r>
            <a:r>
              <a:rPr sz="2000" dirty="0" err="1"/>
              <a:t>tenha</a:t>
            </a:r>
            <a:r>
              <a:rPr sz="2000" dirty="0"/>
              <a:t> </a:t>
            </a:r>
            <a:r>
              <a:rPr sz="2000" dirty="0" err="1"/>
              <a:t>sido</a:t>
            </a:r>
            <a:r>
              <a:rPr sz="2000" dirty="0"/>
              <a:t> </a:t>
            </a:r>
            <a:r>
              <a:rPr sz="2000" dirty="0" err="1"/>
              <a:t>celebrado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escrito</a:t>
            </a:r>
            <a:r>
              <a:rPr sz="2000" dirty="0"/>
              <a:t> e com </a:t>
            </a:r>
            <a:r>
              <a:rPr sz="2000" dirty="0" err="1"/>
              <a:t>prazo</a:t>
            </a:r>
            <a:r>
              <a:rPr sz="2000" dirty="0"/>
              <a:t> </a:t>
            </a:r>
            <a:r>
              <a:rPr sz="2000" dirty="0" err="1"/>
              <a:t>determinado</a:t>
            </a:r>
            <a:r>
              <a:rPr sz="2000" dirty="0"/>
              <a:t>;</a:t>
            </a:r>
            <a:br>
              <a:rPr dirty="0"/>
            </a:br>
            <a:r>
              <a:rPr sz="2000" dirty="0"/>
              <a:t>II. o </a:t>
            </a:r>
            <a:r>
              <a:rPr sz="2000" dirty="0" err="1"/>
              <a:t>prazo</a:t>
            </a:r>
            <a:r>
              <a:rPr sz="2000" dirty="0"/>
              <a:t> </a:t>
            </a:r>
            <a:r>
              <a:rPr sz="2000" dirty="0" err="1"/>
              <a:t>mínimo</a:t>
            </a:r>
            <a:r>
              <a:rPr sz="2000" dirty="0"/>
              <a:t> do </a:t>
            </a:r>
            <a:r>
              <a:rPr sz="2000" dirty="0" err="1"/>
              <a:t>contrato</a:t>
            </a:r>
            <a:r>
              <a:rPr sz="2000" dirty="0"/>
              <a:t> a </a:t>
            </a:r>
            <a:r>
              <a:rPr sz="2000" dirty="0" err="1"/>
              <a:t>renovar</a:t>
            </a:r>
            <a:r>
              <a:rPr sz="2000" dirty="0"/>
              <a:t> </a:t>
            </a:r>
            <a:r>
              <a:rPr sz="2000" dirty="0" err="1"/>
              <a:t>ou</a:t>
            </a:r>
            <a:r>
              <a:rPr sz="2000" dirty="0"/>
              <a:t> a soma dos </a:t>
            </a:r>
            <a:r>
              <a:rPr sz="2000" dirty="0" err="1"/>
              <a:t>prazos</a:t>
            </a:r>
            <a:r>
              <a:rPr sz="2000" dirty="0"/>
              <a:t> </a:t>
            </a:r>
            <a:r>
              <a:rPr sz="2000" dirty="0" err="1"/>
              <a:t>ininterruptos</a:t>
            </a:r>
            <a:r>
              <a:rPr sz="2000" dirty="0"/>
              <a:t> dos </a:t>
            </a:r>
            <a:r>
              <a:rPr sz="2000" dirty="0" err="1"/>
              <a:t>contratos</a:t>
            </a:r>
            <a:r>
              <a:rPr sz="2000" dirty="0"/>
              <a:t> </a:t>
            </a:r>
            <a:r>
              <a:rPr sz="2000" dirty="0" err="1"/>
              <a:t>escritos</a:t>
            </a:r>
            <a:r>
              <a:rPr sz="2000" dirty="0"/>
              <a:t> </a:t>
            </a:r>
            <a:r>
              <a:rPr sz="2000" dirty="0" err="1"/>
              <a:t>seja</a:t>
            </a:r>
            <a:r>
              <a:rPr sz="2000" dirty="0"/>
              <a:t> de </a:t>
            </a:r>
            <a:r>
              <a:rPr sz="2000" b="1" dirty="0" err="1"/>
              <a:t>cinco</a:t>
            </a:r>
            <a:r>
              <a:rPr sz="2000" b="1" dirty="0"/>
              <a:t> </a:t>
            </a:r>
            <a:r>
              <a:rPr sz="2000" b="1" dirty="0" err="1"/>
              <a:t>anos</a:t>
            </a:r>
            <a:r>
              <a:rPr sz="2000" dirty="0"/>
              <a:t>; (g. n.)</a:t>
            </a:r>
            <a:br>
              <a:rPr dirty="0"/>
            </a:br>
            <a:r>
              <a:rPr sz="2000" dirty="0"/>
              <a:t>III. o </a:t>
            </a:r>
            <a:r>
              <a:rPr sz="2000" dirty="0" err="1"/>
              <a:t>locatário</a:t>
            </a:r>
            <a:r>
              <a:rPr sz="2000" dirty="0"/>
              <a:t> </a:t>
            </a:r>
            <a:r>
              <a:rPr sz="2000" dirty="0" err="1"/>
              <a:t>esteja</a:t>
            </a:r>
            <a:r>
              <a:rPr sz="2000" dirty="0"/>
              <a:t> </a:t>
            </a:r>
            <a:r>
              <a:rPr sz="2000" dirty="0" err="1"/>
              <a:t>explorando</a:t>
            </a:r>
            <a:r>
              <a:rPr sz="2000" dirty="0"/>
              <a:t> </a:t>
            </a:r>
            <a:r>
              <a:rPr sz="2000" dirty="0" err="1"/>
              <a:t>seu</a:t>
            </a:r>
            <a:r>
              <a:rPr sz="2000" dirty="0"/>
              <a:t> </a:t>
            </a:r>
            <a:r>
              <a:rPr sz="2000" dirty="0" err="1"/>
              <a:t>comércio</a:t>
            </a:r>
            <a:r>
              <a:rPr sz="2000" dirty="0"/>
              <a:t>, no </a:t>
            </a:r>
            <a:r>
              <a:rPr sz="2000" dirty="0" err="1"/>
              <a:t>mesmo</a:t>
            </a:r>
            <a:r>
              <a:rPr sz="2000" dirty="0"/>
              <a:t> </a:t>
            </a:r>
            <a:r>
              <a:rPr sz="2000" dirty="0" err="1"/>
              <a:t>ramo</a:t>
            </a:r>
            <a:r>
              <a:rPr sz="2000" dirty="0"/>
              <a:t>, </a:t>
            </a:r>
            <a:r>
              <a:rPr sz="2000" dirty="0" err="1"/>
              <a:t>pelo</a:t>
            </a:r>
            <a:r>
              <a:rPr sz="2000" dirty="0"/>
              <a:t> </a:t>
            </a:r>
            <a:r>
              <a:rPr sz="2000" dirty="0" err="1"/>
              <a:t>prazo</a:t>
            </a:r>
            <a:r>
              <a:rPr sz="2000" dirty="0"/>
              <a:t> </a:t>
            </a:r>
            <a:r>
              <a:rPr sz="2000" dirty="0" err="1"/>
              <a:t>mínimo</a:t>
            </a:r>
            <a:r>
              <a:rPr sz="2000" dirty="0"/>
              <a:t> e </a:t>
            </a:r>
            <a:r>
              <a:rPr sz="2000" dirty="0" err="1"/>
              <a:t>ininterrupto</a:t>
            </a:r>
            <a:r>
              <a:rPr sz="2000" dirty="0"/>
              <a:t> de </a:t>
            </a:r>
            <a:r>
              <a:rPr sz="2000" dirty="0" err="1"/>
              <a:t>três</a:t>
            </a:r>
            <a:r>
              <a:rPr sz="2000" dirty="0"/>
              <a:t> </a:t>
            </a:r>
            <a:r>
              <a:rPr sz="2000" dirty="0" err="1"/>
              <a:t>anos</a:t>
            </a:r>
            <a:r>
              <a:rPr sz="2000" dirty="0"/>
              <a:t>.</a:t>
            </a:r>
            <a:br>
              <a:rPr dirty="0"/>
            </a:br>
            <a:r>
              <a:rPr sz="2000" dirty="0"/>
              <a:t>Art. 52. O </a:t>
            </a:r>
            <a:r>
              <a:rPr sz="2000" dirty="0" err="1"/>
              <a:t>locador</a:t>
            </a:r>
            <a:r>
              <a:rPr sz="2000" dirty="0"/>
              <a:t> </a:t>
            </a:r>
            <a:r>
              <a:rPr sz="2000" dirty="0" err="1"/>
              <a:t>não</a:t>
            </a:r>
            <a:r>
              <a:rPr sz="2000" dirty="0"/>
              <a:t> </a:t>
            </a:r>
            <a:r>
              <a:rPr sz="2000" dirty="0" err="1"/>
              <a:t>estará</a:t>
            </a:r>
            <a:r>
              <a:rPr sz="2000" dirty="0"/>
              <a:t> </a:t>
            </a:r>
            <a:r>
              <a:rPr sz="2000" dirty="0" err="1"/>
              <a:t>obrigado</a:t>
            </a:r>
            <a:r>
              <a:rPr sz="2000" dirty="0"/>
              <a:t> a </a:t>
            </a:r>
            <a:r>
              <a:rPr sz="2000" dirty="0" err="1"/>
              <a:t>renovar</a:t>
            </a:r>
            <a:r>
              <a:rPr sz="2000" dirty="0"/>
              <a:t> o </a:t>
            </a:r>
            <a:r>
              <a:rPr sz="2000" dirty="0" err="1"/>
              <a:t>contrato</a:t>
            </a:r>
            <a:r>
              <a:rPr sz="2000" dirty="0"/>
              <a:t> se:</a:t>
            </a:r>
            <a:br>
              <a:rPr dirty="0"/>
            </a:br>
            <a:r>
              <a:rPr sz="2000" dirty="0"/>
              <a:t>I –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determinação</a:t>
            </a:r>
            <a:r>
              <a:rPr sz="2000" dirty="0"/>
              <a:t> do Poder Público, </a:t>
            </a:r>
            <a:r>
              <a:rPr sz="2000" dirty="0" err="1"/>
              <a:t>tiver</a:t>
            </a:r>
            <a:r>
              <a:rPr sz="2000" dirty="0"/>
              <a:t> que </a:t>
            </a:r>
            <a:r>
              <a:rPr sz="2000" dirty="0" err="1"/>
              <a:t>realizar</a:t>
            </a:r>
            <a:r>
              <a:rPr sz="2000" dirty="0"/>
              <a:t> no </a:t>
            </a:r>
            <a:r>
              <a:rPr sz="2000" dirty="0" err="1"/>
              <a:t>imóvel</a:t>
            </a:r>
            <a:r>
              <a:rPr sz="2000" dirty="0"/>
              <a:t> </a:t>
            </a:r>
            <a:r>
              <a:rPr sz="2000" dirty="0" err="1"/>
              <a:t>obras</a:t>
            </a:r>
            <a:r>
              <a:rPr sz="2000" dirty="0"/>
              <a:t> que </a:t>
            </a:r>
            <a:r>
              <a:rPr sz="2000" dirty="0" err="1"/>
              <a:t>importarem</a:t>
            </a:r>
            <a:r>
              <a:rPr sz="2000" dirty="0"/>
              <a:t> </a:t>
            </a:r>
            <a:r>
              <a:rPr sz="2000" dirty="0" err="1"/>
              <a:t>na</a:t>
            </a:r>
            <a:r>
              <a:rPr sz="2000" dirty="0"/>
              <a:t> </a:t>
            </a:r>
            <a:r>
              <a:rPr sz="2000" dirty="0" err="1"/>
              <a:t>sua</a:t>
            </a:r>
            <a:r>
              <a:rPr sz="2000" dirty="0"/>
              <a:t> radical </a:t>
            </a:r>
            <a:r>
              <a:rPr sz="2000" dirty="0" err="1"/>
              <a:t>transformação</a:t>
            </a:r>
            <a:r>
              <a:rPr sz="2000" dirty="0"/>
              <a:t>; </a:t>
            </a:r>
            <a:r>
              <a:rPr sz="2000" b="1" dirty="0" err="1"/>
              <a:t>ou</a:t>
            </a:r>
            <a:r>
              <a:rPr sz="2000" b="1" dirty="0"/>
              <a:t> para </a:t>
            </a:r>
            <a:r>
              <a:rPr sz="2000" b="1" dirty="0" err="1"/>
              <a:t>fazer</a:t>
            </a:r>
            <a:r>
              <a:rPr sz="2000" b="1" dirty="0"/>
              <a:t> </a:t>
            </a:r>
            <a:r>
              <a:rPr sz="2000" b="1" dirty="0" err="1"/>
              <a:t>modificação</a:t>
            </a:r>
            <a:r>
              <a:rPr sz="2000" b="1" dirty="0"/>
              <a:t> de </a:t>
            </a:r>
            <a:r>
              <a:rPr sz="2000" b="1" dirty="0" err="1"/>
              <a:t>tal</a:t>
            </a:r>
            <a:r>
              <a:rPr sz="2000" b="1" dirty="0"/>
              <a:t> </a:t>
            </a:r>
            <a:r>
              <a:rPr sz="2000" b="1" dirty="0" err="1"/>
              <a:t>natureza</a:t>
            </a:r>
            <a:r>
              <a:rPr sz="2000" b="1" dirty="0"/>
              <a:t> que </a:t>
            </a:r>
            <a:r>
              <a:rPr sz="2000" b="1" dirty="0" err="1"/>
              <a:t>aumente</a:t>
            </a:r>
            <a:r>
              <a:rPr sz="2000" b="1" dirty="0"/>
              <a:t> o valor do </a:t>
            </a:r>
            <a:r>
              <a:rPr sz="2000" b="1" dirty="0" err="1"/>
              <a:t>negócio</a:t>
            </a:r>
            <a:r>
              <a:rPr sz="2000" b="1" dirty="0"/>
              <a:t> </a:t>
            </a:r>
            <a:r>
              <a:rPr sz="2000" b="1" dirty="0" err="1"/>
              <a:t>ou</a:t>
            </a:r>
            <a:r>
              <a:rPr sz="2000" b="1" dirty="0"/>
              <a:t> da </a:t>
            </a:r>
            <a:r>
              <a:rPr sz="2000" b="1" dirty="0" err="1"/>
              <a:t>propriedade</a:t>
            </a:r>
            <a:r>
              <a:rPr sz="2000" dirty="0"/>
              <a:t>;(g. n.)</a:t>
            </a:r>
            <a:br>
              <a:rPr dirty="0"/>
            </a:br>
            <a:r>
              <a:rPr sz="2000" dirty="0"/>
              <a:t>II – o </a:t>
            </a:r>
            <a:r>
              <a:rPr sz="2000" dirty="0" err="1"/>
              <a:t>imóvel</a:t>
            </a:r>
            <a:r>
              <a:rPr sz="2000" dirty="0"/>
              <a:t> vier a ser </a:t>
            </a:r>
            <a:r>
              <a:rPr sz="2000" dirty="0" err="1"/>
              <a:t>utilizado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ele</a:t>
            </a:r>
            <a:r>
              <a:rPr sz="2000" dirty="0"/>
              <a:t> </a:t>
            </a:r>
            <a:r>
              <a:rPr sz="2000" dirty="0" err="1"/>
              <a:t>próprio</a:t>
            </a:r>
            <a:r>
              <a:rPr sz="2000" dirty="0"/>
              <a:t> </a:t>
            </a:r>
            <a:r>
              <a:rPr sz="2000" dirty="0" err="1"/>
              <a:t>ou</a:t>
            </a:r>
            <a:r>
              <a:rPr sz="2000" dirty="0"/>
              <a:t> para </a:t>
            </a:r>
            <a:r>
              <a:rPr sz="2000" dirty="0" err="1"/>
              <a:t>transferência</a:t>
            </a:r>
            <a:r>
              <a:rPr sz="2000" dirty="0"/>
              <a:t> de </a:t>
            </a:r>
            <a:r>
              <a:rPr sz="2000" dirty="0" err="1"/>
              <a:t>fundo</a:t>
            </a:r>
            <a:r>
              <a:rPr sz="2000" dirty="0"/>
              <a:t> de </a:t>
            </a:r>
            <a:r>
              <a:rPr sz="2000" dirty="0" err="1"/>
              <a:t>comércio</a:t>
            </a:r>
            <a:r>
              <a:rPr sz="2000" dirty="0"/>
              <a:t> </a:t>
            </a:r>
            <a:r>
              <a:rPr sz="2000" dirty="0" err="1"/>
              <a:t>existente</a:t>
            </a:r>
            <a:r>
              <a:rPr sz="2000" dirty="0"/>
              <a:t> </a:t>
            </a:r>
            <a:r>
              <a:rPr sz="2000" dirty="0" err="1"/>
              <a:t>há</a:t>
            </a:r>
            <a:r>
              <a:rPr sz="2000" dirty="0"/>
              <a:t> </a:t>
            </a:r>
            <a:r>
              <a:rPr sz="2000" dirty="0" err="1"/>
              <a:t>mais</a:t>
            </a:r>
            <a:r>
              <a:rPr sz="2000" dirty="0"/>
              <a:t> de um </a:t>
            </a:r>
            <a:r>
              <a:rPr sz="2000" dirty="0" err="1"/>
              <a:t>ano</a:t>
            </a:r>
            <a:r>
              <a:rPr sz="2000" dirty="0"/>
              <a:t>, </a:t>
            </a:r>
            <a:r>
              <a:rPr sz="2000" dirty="0" err="1"/>
              <a:t>sendo</a:t>
            </a:r>
            <a:r>
              <a:rPr sz="2000" dirty="0"/>
              <a:t> </a:t>
            </a:r>
            <a:r>
              <a:rPr sz="2000" dirty="0" err="1"/>
              <a:t>detentor</a:t>
            </a:r>
            <a:r>
              <a:rPr sz="2000" dirty="0"/>
              <a:t> da </a:t>
            </a:r>
            <a:r>
              <a:rPr sz="2000" dirty="0" err="1"/>
              <a:t>maioria</a:t>
            </a:r>
            <a:r>
              <a:rPr sz="2000" dirty="0"/>
              <a:t> do capital o </a:t>
            </a:r>
            <a:r>
              <a:rPr sz="2000" dirty="0" err="1"/>
              <a:t>locador</a:t>
            </a:r>
            <a:r>
              <a:rPr sz="2000" dirty="0"/>
              <a:t>, </a:t>
            </a:r>
            <a:r>
              <a:rPr sz="2000" dirty="0" err="1"/>
              <a:t>seu</a:t>
            </a:r>
            <a:r>
              <a:rPr sz="2000" dirty="0"/>
              <a:t> </a:t>
            </a:r>
            <a:r>
              <a:rPr sz="2000" dirty="0" err="1"/>
              <a:t>cônjuge</a:t>
            </a:r>
            <a:r>
              <a:rPr sz="2000" dirty="0"/>
              <a:t>, </a:t>
            </a:r>
            <a:r>
              <a:rPr sz="2000" dirty="0" err="1"/>
              <a:t>ascendente</a:t>
            </a:r>
            <a:r>
              <a:rPr sz="2000" dirty="0"/>
              <a:t> </a:t>
            </a:r>
            <a:r>
              <a:rPr sz="2000" dirty="0" err="1"/>
              <a:t>ou</a:t>
            </a:r>
            <a:r>
              <a:rPr sz="2000" dirty="0"/>
              <a:t> </a:t>
            </a:r>
            <a:r>
              <a:rPr sz="2000" dirty="0" err="1"/>
              <a:t>descendente</a:t>
            </a:r>
            <a:r>
              <a:rPr sz="2000" dirty="0"/>
              <a:t>.</a:t>
            </a:r>
          </a:p>
          <a:p>
            <a:pPr lvl="0"/>
            <a:r>
              <a:rPr dirty="0"/>
              <a:t>Este </a:t>
            </a:r>
            <a:r>
              <a:rPr dirty="0" err="1"/>
              <a:t>direito</a:t>
            </a:r>
            <a:r>
              <a:rPr dirty="0"/>
              <a:t> de </a:t>
            </a:r>
            <a:r>
              <a:rPr dirty="0" err="1"/>
              <a:t>renovação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locatário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 com </a:t>
            </a:r>
            <a:r>
              <a:rPr dirty="0" err="1"/>
              <a:t>prazo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a 5 </a:t>
            </a:r>
            <a:r>
              <a:rPr dirty="0" err="1"/>
              <a:t>anos</a:t>
            </a:r>
            <a:r>
              <a:rPr dirty="0"/>
              <a:t> é que </a:t>
            </a:r>
            <a:r>
              <a:rPr dirty="0" err="1"/>
              <a:t>enseja</a:t>
            </a:r>
            <a:r>
              <a:rPr dirty="0"/>
              <a:t> a </a:t>
            </a:r>
            <a:r>
              <a:rPr dirty="0" err="1"/>
              <a:t>cobrança</a:t>
            </a:r>
            <a:r>
              <a:rPr dirty="0"/>
              <a:t> de </a:t>
            </a:r>
            <a:r>
              <a:rPr dirty="0" err="1"/>
              <a:t>luvas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Ação Renovatória de aluguel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Contestação</a:t>
            </a:r>
          </a:p>
          <a:p>
            <a:pPr marL="1270000" lvl="0" indent="0">
              <a:buNone/>
            </a:pPr>
            <a:r>
              <a:rPr sz="2000"/>
              <a:t>Art. 72. A contestação do locador, além da defesa de direito que possa caber, ficará adstrita, quanto à matéria de fato, ao seguinte:</a:t>
            </a:r>
            <a:br/>
            <a:r>
              <a:rPr sz="2000"/>
              <a:t>…</a:t>
            </a:r>
            <a:br/>
            <a:r>
              <a:rPr sz="2000"/>
              <a:t>II – não atender, a proposta do locatário, o valor locativo real do imóvel na época da renovação, excluída a valorização trazida por aquele ao ponto ou lugar;</a:t>
            </a:r>
            <a:br/>
            <a:r>
              <a:rPr sz="2000"/>
              <a:t>III – ter proposta de terceiro para a locação, em condições melhores;</a:t>
            </a:r>
            <a:br/>
            <a:r>
              <a:rPr sz="2000"/>
              <a:t>IV – não estar obrigado a renovar a locação (incisos I e II do art. 52).</a:t>
            </a:r>
            <a:br/>
            <a:r>
              <a:rPr sz="2000"/>
              <a:t>§ 1o . No caso do inciso II, o locador deverá apresentar, em contraproposta, as condições que repute compatíveis com o valor locativo real e atual do imóvel.</a:t>
            </a:r>
            <a:br/>
            <a:r>
              <a:rPr sz="2000"/>
              <a:t>§ 2o .</a:t>
            </a:r>
            <a:br/>
            <a:r>
              <a:rPr sz="2000"/>
              <a:t>§ 3o . No caso do inciso I do art. 52, a contestação deverá trazer prova da determinação do Poder Público ou relatório pormenorizado das obras a serem realizadas e da estimativa de valorização que sofrerá o imóvel, </a:t>
            </a:r>
            <a:r>
              <a:rPr sz="2000" b="1"/>
              <a:t>assinado por engenheiro devidamente habilitado</a:t>
            </a:r>
            <a:r>
              <a:rPr sz="2000"/>
              <a:t>. (Grifo nosso!!)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983"/>
            <a:ext cx="10515600" cy="3987945"/>
          </a:xfrm>
        </p:spPr>
        <p:txBody>
          <a:bodyPr/>
          <a:lstStyle/>
          <a:p>
            <a:pPr lvl="0"/>
            <a:r>
              <a:rPr dirty="0"/>
              <a:t>O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Comparativo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de Dados de Mercado (MCDDM) </a:t>
            </a:r>
            <a:r>
              <a:rPr dirty="0" err="1"/>
              <a:t>tenta</a:t>
            </a:r>
            <a:r>
              <a:rPr dirty="0"/>
              <a:t> </a:t>
            </a:r>
            <a:r>
              <a:rPr dirty="0" err="1"/>
              <a:t>contornar</a:t>
            </a:r>
            <a:r>
              <a:rPr dirty="0"/>
              <a:t> a </a:t>
            </a: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estabelecimento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taxa de </a:t>
            </a:r>
            <a:r>
              <a:rPr dirty="0" err="1"/>
              <a:t>remuneração</a:t>
            </a:r>
            <a:r>
              <a:rPr dirty="0"/>
              <a:t> do capital, </a:t>
            </a:r>
            <a:r>
              <a:rPr dirty="0" err="1"/>
              <a:t>através</a:t>
            </a:r>
            <a:r>
              <a:rPr dirty="0"/>
              <a:t> da </a:t>
            </a:r>
            <a:r>
              <a:rPr dirty="0" err="1"/>
              <a:t>pesquisa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de dados de mercado de </a:t>
            </a:r>
            <a:r>
              <a:rPr dirty="0" err="1"/>
              <a:t>aluguéis</a:t>
            </a:r>
            <a:r>
              <a:rPr dirty="0"/>
              <a:t> de </a:t>
            </a:r>
            <a:r>
              <a:rPr dirty="0" err="1"/>
              <a:t>imóveis</a:t>
            </a:r>
            <a:r>
              <a:rPr dirty="0"/>
              <a:t> com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características</a:t>
            </a:r>
            <a:endParaRPr dirty="0"/>
          </a:p>
          <a:p>
            <a:pPr lvl="0"/>
            <a:r>
              <a:rPr dirty="0"/>
              <a:t>O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Comparativo</a:t>
            </a:r>
            <a:r>
              <a:rPr dirty="0"/>
              <a:t> é o </a:t>
            </a:r>
            <a:r>
              <a:rPr dirty="0" err="1"/>
              <a:t>preferido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existem</a:t>
            </a:r>
            <a:r>
              <a:rPr dirty="0"/>
              <a:t> dados de </a:t>
            </a:r>
            <a:r>
              <a:rPr dirty="0" err="1"/>
              <a:t>comparação</a:t>
            </a:r>
            <a:r>
              <a:rPr dirty="0"/>
              <a:t> </a:t>
            </a:r>
            <a:r>
              <a:rPr dirty="0" err="1"/>
              <a:t>disponíveis</a:t>
            </a:r>
            <a:r>
              <a:rPr dirty="0"/>
              <a:t> </a:t>
            </a:r>
            <a:r>
              <a:rPr dirty="0" err="1"/>
              <a:t>contemporâneos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do </a:t>
            </a:r>
            <a:r>
              <a:rPr dirty="0" err="1"/>
              <a:t>avaliando</a:t>
            </a:r>
            <a:endParaRPr dirty="0"/>
          </a:p>
          <a:p>
            <a:pPr lvl="0"/>
            <a:r>
              <a:rPr dirty="0"/>
              <a:t>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viável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algumas</a:t>
            </a:r>
            <a:r>
              <a:rPr dirty="0"/>
              <a:t> </a:t>
            </a:r>
            <a:r>
              <a:rPr dirty="0" err="1"/>
              <a:t>tipologias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a de salas </a:t>
            </a:r>
            <a:r>
              <a:rPr dirty="0" err="1"/>
              <a:t>comercais</a:t>
            </a:r>
            <a:r>
              <a:rPr dirty="0"/>
              <a:t>, </a:t>
            </a:r>
            <a:r>
              <a:rPr dirty="0" err="1"/>
              <a:t>lojas</a:t>
            </a:r>
            <a:r>
              <a:rPr dirty="0"/>
              <a:t>, </a:t>
            </a:r>
            <a:r>
              <a:rPr dirty="0" err="1"/>
              <a:t>apartamentos</a:t>
            </a:r>
            <a:r>
              <a:rPr dirty="0"/>
              <a:t>, etc.</a:t>
            </a:r>
          </a:p>
          <a:p>
            <a:pPr lvl="0"/>
            <a:r>
              <a:rPr dirty="0"/>
              <a:t>Pode ser </a:t>
            </a:r>
            <a:r>
              <a:rPr dirty="0" err="1"/>
              <a:t>utilizado</a:t>
            </a:r>
            <a:r>
              <a:rPr dirty="0"/>
              <a:t> o </a:t>
            </a:r>
            <a:r>
              <a:rPr dirty="0" err="1"/>
              <a:t>Tratamento</a:t>
            </a:r>
            <a:r>
              <a:rPr dirty="0"/>
              <a:t> </a:t>
            </a:r>
            <a:r>
              <a:rPr dirty="0" err="1"/>
              <a:t>Científico</a:t>
            </a:r>
            <a:r>
              <a:rPr dirty="0"/>
              <a:t> (</a:t>
            </a:r>
            <a:r>
              <a:rPr dirty="0" err="1"/>
              <a:t>preferencialmente</a:t>
            </a:r>
            <a:r>
              <a:rPr dirty="0"/>
              <a:t>) e/</a:t>
            </a:r>
            <a:r>
              <a:rPr dirty="0" err="1"/>
              <a:t>ou</a:t>
            </a:r>
            <a:r>
              <a:rPr dirty="0"/>
              <a:t> o </a:t>
            </a:r>
            <a:r>
              <a:rPr dirty="0" err="1"/>
              <a:t>Tratamento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Fatores</a:t>
            </a:r>
            <a:endParaRPr dirty="0"/>
          </a:p>
          <a:p>
            <a:pPr lvl="0"/>
            <a:r>
              <a:rPr dirty="0"/>
              <a:t>O </a:t>
            </a:r>
            <a:r>
              <a:rPr dirty="0" err="1"/>
              <a:t>Tratamento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Fatores</a:t>
            </a:r>
            <a:r>
              <a:rPr dirty="0"/>
              <a:t> </a:t>
            </a:r>
            <a:r>
              <a:rPr dirty="0" err="1"/>
              <a:t>acaba</a:t>
            </a:r>
            <a:r>
              <a:rPr dirty="0"/>
              <a:t>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bastante</a:t>
            </a:r>
            <a:r>
              <a:rPr dirty="0"/>
              <a:t>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algumas</a:t>
            </a:r>
            <a:r>
              <a:rPr dirty="0"/>
              <a:t> </a:t>
            </a:r>
            <a:r>
              <a:rPr dirty="0" err="1"/>
              <a:t>tipologias</a:t>
            </a:r>
            <a:r>
              <a:rPr dirty="0"/>
              <a:t> </a:t>
            </a:r>
            <a:r>
              <a:rPr dirty="0" err="1"/>
              <a:t>devido</a:t>
            </a:r>
            <a:r>
              <a:rPr dirty="0"/>
              <a:t> à </a:t>
            </a:r>
            <a:r>
              <a:rPr dirty="0" err="1"/>
              <a:t>escassez</a:t>
            </a:r>
            <a:r>
              <a:rPr dirty="0"/>
              <a:t> de dados.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pt-BR" dirty="0"/>
                  <a:t>Independente do </a:t>
                </a:r>
                <a:r>
                  <a:rPr lang="pt-BR" dirty="0" err="1"/>
                  <a:t>tratamento</a:t>
                </a:r>
                <a:r>
                  <a:rPr lang="pt-BR" dirty="0"/>
                  <a:t>, é </a:t>
                </a:r>
                <a:r>
                  <a:rPr lang="pt-BR" dirty="0" err="1"/>
                  <a:t>interessante</a:t>
                </a:r>
                <a:r>
                  <a:rPr lang="pt-BR" dirty="0"/>
                  <a:t> </a:t>
                </a:r>
                <a:r>
                  <a:rPr lang="pt-BR" dirty="0" err="1"/>
                  <a:t>conhecer</a:t>
                </a:r>
                <a:r>
                  <a:rPr lang="pt-BR" dirty="0"/>
                  <a:t> </a:t>
                </a:r>
                <a:r>
                  <a:rPr lang="pt-BR" dirty="0" err="1"/>
                  <a:t>os</a:t>
                </a:r>
                <a:r>
                  <a:rPr lang="pt-BR" dirty="0"/>
                  <a:t> </a:t>
                </a:r>
                <a:r>
                  <a:rPr lang="pt-BR" dirty="0" err="1"/>
                  <a:t>parâmetros</a:t>
                </a:r>
                <a:r>
                  <a:rPr lang="pt-BR" dirty="0"/>
                  <a:t> do IBAPE/SP para </a:t>
                </a:r>
                <a:r>
                  <a:rPr lang="pt-BR" dirty="0" err="1"/>
                  <a:t>cálculo</a:t>
                </a:r>
                <a:r>
                  <a:rPr lang="pt-BR" dirty="0"/>
                  <a:t> de </a:t>
                </a:r>
                <a:r>
                  <a:rPr lang="pt-BR" dirty="0" err="1"/>
                  <a:t>valores</a:t>
                </a:r>
                <a:r>
                  <a:rPr lang="pt-BR" dirty="0"/>
                  <a:t> de </a:t>
                </a:r>
                <a:r>
                  <a:rPr lang="pt-BR" dirty="0" err="1"/>
                  <a:t>imóveis</a:t>
                </a:r>
                <a:r>
                  <a:rPr lang="pt-BR" dirty="0"/>
                  <a:t> </a:t>
                </a:r>
                <a:r>
                  <a:rPr lang="pt-BR" dirty="0" err="1"/>
                  <a:t>urbanos</a:t>
                </a:r>
                <a:r>
                  <a:rPr lang="pt-BR" dirty="0"/>
                  <a:t>.</a:t>
                </a:r>
              </a:p>
              <a:p>
                <a:pPr lvl="0"/>
                <a:r>
                  <a:rPr lang="pt-BR" dirty="0"/>
                  <a:t>Para o IBAPE/SP: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pt-BR" dirty="0"/>
                  <a:t>é </a:t>
                </a:r>
                <a:r>
                  <a:rPr lang="pt-BR" dirty="0" err="1"/>
                  <a:t>chamado</a:t>
                </a:r>
                <a:r>
                  <a:rPr lang="pt-BR" dirty="0"/>
                  <a:t> de “Valor de Venda da </a:t>
                </a:r>
                <a:r>
                  <a:rPr lang="pt-BR" dirty="0" err="1"/>
                  <a:t>Benfeitoria</a:t>
                </a:r>
                <a:r>
                  <a:rPr lang="pt-BR" dirty="0"/>
                  <a:t>”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pt-BR" dirty="0"/>
                  <a:t>é um “</a:t>
                </a:r>
                <a:r>
                  <a:rPr lang="pt-BR" i="1" dirty="0" err="1"/>
                  <a:t>fator</a:t>
                </a:r>
                <a:r>
                  <a:rPr lang="pt-BR" i="1" dirty="0"/>
                  <a:t> de </a:t>
                </a:r>
                <a:r>
                  <a:rPr lang="pt-BR" i="1" dirty="0" err="1"/>
                  <a:t>comercialização</a:t>
                </a:r>
                <a:r>
                  <a:rPr lang="pt-BR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pt-BR"/>
                      <m:t>CUB</m:t>
                    </m:r>
                    <m:r>
                      <m:rPr>
                        <m:nor/>
                      </m:rPr>
                      <a:rPr lang="pt-BR"/>
                      <m:t>−</m:t>
                    </m:r>
                    <m:r>
                      <m:rPr>
                        <m:nor/>
                      </m:rPr>
                      <a:rPr lang="pt-BR"/>
                      <m:t>SP</m:t>
                    </m:r>
                    <m:r>
                      <a:rPr lang="pt-BR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𝑂𝐶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pt-BR" dirty="0" err="1"/>
                  <a:t>Índice</a:t>
                </a:r>
                <a:r>
                  <a:rPr lang="pt-BR" dirty="0"/>
                  <a:t> </a:t>
                </a:r>
                <a:r>
                  <a:rPr lang="pt-BR" dirty="0" err="1"/>
                  <a:t>referente</a:t>
                </a:r>
                <a:r>
                  <a:rPr lang="pt-BR" dirty="0"/>
                  <a:t> à </a:t>
                </a:r>
                <a:r>
                  <a:rPr lang="pt-BR" dirty="0" err="1"/>
                  <a:t>tipologia</a:t>
                </a:r>
                <a:r>
                  <a:rPr lang="pt-BR" dirty="0"/>
                  <a:t> e </a:t>
                </a:r>
                <a:r>
                  <a:rPr lang="pt-BR" dirty="0" err="1"/>
                  <a:t>padrão</a:t>
                </a:r>
                <a:endParaRPr lang="pt-B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pt-BR" dirty="0" err="1"/>
                  <a:t>Área</a:t>
                </a:r>
                <a:r>
                  <a:rPr lang="pt-BR" dirty="0"/>
                  <a:t> </a:t>
                </a:r>
                <a:r>
                  <a:rPr lang="pt-BR" dirty="0" err="1"/>
                  <a:t>construída</a:t>
                </a:r>
                <a:r>
                  <a:rPr lang="pt-BR" dirty="0"/>
                  <a:t> da </a:t>
                </a:r>
                <a:r>
                  <a:rPr lang="pt-BR" dirty="0" err="1"/>
                  <a:t>edificação</a:t>
                </a:r>
                <a:endParaRPr lang="pt-B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𝑂𝐶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pt-BR" dirty="0"/>
                  <a:t>Fator de </a:t>
                </a:r>
                <a:r>
                  <a:rPr lang="pt-BR" dirty="0" err="1"/>
                  <a:t>Adequação</a:t>
                </a:r>
                <a:r>
                  <a:rPr lang="pt-BR" dirty="0"/>
                  <a:t> </a:t>
                </a:r>
                <a:r>
                  <a:rPr lang="pt-BR" dirty="0" err="1"/>
                  <a:t>ao</a:t>
                </a:r>
                <a:r>
                  <a:rPr lang="pt-BR" dirty="0"/>
                  <a:t> </a:t>
                </a:r>
                <a:r>
                  <a:rPr lang="pt-BR" dirty="0" err="1"/>
                  <a:t>obsoletismo</a:t>
                </a:r>
                <a:r>
                  <a:rPr lang="pt-BR" dirty="0"/>
                  <a:t> e </a:t>
                </a:r>
                <a:r>
                  <a:rPr lang="pt-BR" dirty="0" err="1"/>
                  <a:t>ao</a:t>
                </a:r>
                <a:r>
                  <a:rPr lang="pt-BR" dirty="0"/>
                  <a:t> </a:t>
                </a:r>
                <a:r>
                  <a:rPr lang="pt-BR" dirty="0" err="1"/>
                  <a:t>estado</a:t>
                </a:r>
                <a:r>
                  <a:rPr lang="pt-BR" dirty="0"/>
                  <a:t> de </a:t>
                </a:r>
                <a:r>
                  <a:rPr lang="pt-BR" dirty="0" err="1"/>
                  <a:t>conservação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 r="-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Depreciação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𝑂𝐶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r>
                  <a:rPr>
                    <a:latin typeface="Cambria Math" panose="02040503050406030204" pitchFamily="18" charset="0"/>
                  </a:rPr>
                  <m:t>𝑅</m:t>
                </m:r>
                <m:r>
                  <a:rPr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sub>
                </m:sSub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1−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d>
              </m:oMath>
            </a14:m>
            <a:endParaRPr b="1"/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𝑅</m:t>
                </m:r>
              </m:oMath>
            </a14:m>
            <a:r>
              <a:t>: valor residual da edificiação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sub>
                </m:sSub>
              </m:oMath>
            </a14:m>
            <a:r>
              <a:t>: coeficiente de depreciação de Ross-Heidecke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e>
                </m:d>
                <m:r>
                  <a:rPr>
                    <a:latin typeface="Cambria Math" panose="02040503050406030204" pitchFamily="18" charset="0"/>
                  </a:rPr>
                  <m:t>.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1−0,5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e>
                </m:d>
              </m:oMath>
            </a14:m>
            <a:endParaRPr/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sub>
                </m:sSub>
              </m:oMath>
            </a14:m>
            <a:r>
              <a:t>: Idade da Edificação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sub>
                </m:sSub>
              </m:oMath>
            </a14:m>
            <a:r>
              <a:t>: Idade de Referência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sub>
                </m:sSub>
              </m:oMath>
            </a14:m>
            <a:r>
              <a:t>: Estado de Conservação (Heidecke)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7A29933-B652-DA47-BFD3-9E7FA42D22D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Depreciação</a:t>
                </a:r>
                <a:endParaRPr b="1" dirty="0"/>
              </a:p>
              <a:p>
                <a:pPr lvl="0"/>
                <a:r>
                  <a:rPr dirty="0" err="1"/>
                  <a:t>Também</a:t>
                </a:r>
                <a:r>
                  <a:rPr dirty="0"/>
                  <a:t> é usual </a:t>
                </a:r>
                <a:r>
                  <a:rPr dirty="0" err="1"/>
                  <a:t>efetuar</a:t>
                </a:r>
                <a:r>
                  <a:rPr dirty="0"/>
                  <a:t> a </a:t>
                </a:r>
                <a:r>
                  <a:rPr dirty="0" err="1"/>
                  <a:t>depreciação</a:t>
                </a:r>
                <a:r>
                  <a:rPr dirty="0"/>
                  <a:t> </a:t>
                </a:r>
                <a:r>
                  <a:rPr dirty="0" err="1"/>
                  <a:t>pelo</a:t>
                </a:r>
                <a:r>
                  <a:rPr dirty="0"/>
                  <a:t> </a:t>
                </a:r>
                <a:r>
                  <a:rPr dirty="0" err="1"/>
                  <a:t>método</a:t>
                </a:r>
                <a:r>
                  <a:rPr dirty="0"/>
                  <a:t> do valor </a:t>
                </a:r>
                <a:r>
                  <a:rPr dirty="0" err="1"/>
                  <a:t>descrescente</a:t>
                </a:r>
                <a:r>
                  <a:rPr dirty="0"/>
                  <a:t>:</a:t>
                </a:r>
                <a:endParaRPr lang="pt-BR" dirty="0"/>
              </a:p>
              <a:p>
                <a:pPr lvl="0"/>
                <a:endParaRPr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𝑂𝐶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sz="2000" dirty="0"/>
              </a:p>
              <a:p>
                <a:pPr lvl="2"/>
                <a:endParaRPr lang="pt-BR" sz="2000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000" dirty="0"/>
                  <a:t>: </a:t>
                </a:r>
                <a:r>
                  <a:rPr sz="2000" dirty="0" err="1"/>
                  <a:t>Razão</a:t>
                </a:r>
                <a:r>
                  <a:rPr sz="2000" dirty="0"/>
                  <a:t> da </a:t>
                </a:r>
                <a:r>
                  <a:rPr sz="2000" dirty="0" err="1"/>
                  <a:t>Depreciação</a:t>
                </a:r>
                <a:r>
                  <a:rPr sz="2000" dirty="0"/>
                  <a:t> (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sz="200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sz="2000" dirty="0"/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7A29933-B652-DA47-BFD3-9E7FA42D2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1395" t="-16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Vida útil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Razão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Barracos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Residência Proletário Rústico a médio 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Residências médio superior a luxo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Apartamentos e Escritórios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Armazéns e Indústrias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Construções de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Razões a considerar no método do valor decrescente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Método Comparativo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Depreciação</a:t>
            </a:r>
          </a:p>
          <a:p>
            <a:pPr lvl="0"/>
            <a:r>
              <a:t>Ou pelo método da linha reta: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𝑂𝐶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i="1"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den>
                </m:f>
                <m:r>
                  <a:rPr>
                    <a:latin typeface="Cambria Math" panose="02040503050406030204" pitchFamily="18" charset="0"/>
                  </a:rPr>
                  <m:t>.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sub>
                </m:sSub>
              </m:oMath>
            </a14:m>
            <a:endParaRPr/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sub>
                </m:sSub>
              </m:oMath>
            </a14:m>
            <a:r>
              <a:t>: Parcela Residual (20%)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sub>
                </m:sSub>
              </m:oMath>
            </a14:m>
            <a:r>
              <a:t>: Parcela Depreciável (80%)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sub>
                </m:sSub>
              </m:oMath>
            </a14:m>
            <a:r>
              <a:t>: Idade da Edificação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sub>
                </m:sSub>
              </m:oMath>
            </a14:m>
            <a:r>
              <a:t>: Idade de Referência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D’Amato and Alonso (2019, 263–64)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873951"/>
              </p:ext>
            </p:extLst>
          </p:nvPr>
        </p:nvGraphicFramePr>
        <p:xfrm>
          <a:off x="5181600" y="977900"/>
          <a:ext cx="6172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Aluguel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Condo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Padrao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pt-BR" dirty="0"/>
                        <a:t>Aval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Solução por fatores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297696"/>
              </p:ext>
            </p:extLst>
          </p:nvPr>
        </p:nvGraphicFramePr>
        <p:xfrm>
          <a:off x="293914" y="1654629"/>
          <a:ext cx="11625942" cy="497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6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47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0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07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76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708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Aluguel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Condo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Padrao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Foferta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Fcondo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Fpadrao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Ftotal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PUhom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21.36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87.00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21.30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24.63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22.24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105.00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15.69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13.46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/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18.86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pt-BR" sz="1400" dirty="0"/>
                        <a:t>A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400" dirty="0" err="1"/>
                        <a:t>Médio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 err="1"/>
                  <a:t>Saneamento</a:t>
                </a:r>
                <a:r>
                  <a:rPr dirty="0"/>
                  <a:t> da </a:t>
                </a:r>
                <a:r>
                  <a:rPr dirty="0" err="1"/>
                  <a:t>amostra</a:t>
                </a:r>
                <a:r>
                  <a:rPr dirty="0"/>
                  <a:t>:</a:t>
                </a:r>
              </a:p>
              <a:p>
                <a:pPr lvl="0" indent="0">
                  <a:buNone/>
                </a:pP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outlier_analysis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dados</a:t>
                </a:r>
                <a:r>
                  <a:rPr dirty="0" err="1"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PUhom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criterion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"Chauvenet"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Step 1: removing values 13.464950972952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[1] 21.35982 21.30265 24.62557 23.60608 22.23527 18.85587</a:t>
                </a:r>
              </a:p>
              <a:p>
                <a:pPr lvl="0"/>
                <a:r>
                  <a:rPr dirty="0"/>
                  <a:t>PU </a:t>
                </a:r>
                <a:r>
                  <a:rPr dirty="0" err="1"/>
                  <a:t>médio</a:t>
                </a:r>
                <a:r>
                  <a:rPr dirty="0"/>
                  <a:t> </a:t>
                </a:r>
                <a:r>
                  <a:rPr dirty="0" err="1"/>
                  <a:t>homogeneizado</a:t>
                </a:r>
                <a:r>
                  <a:rPr dirty="0"/>
                  <a:t>: R$ 22,00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  <a:p>
                <a:pPr lvl="0"/>
                <a:r>
                  <a:rPr lang="pt-BR" dirty="0"/>
                  <a:t>Ver planilha </a:t>
                </a:r>
                <a:r>
                  <a:rPr lang="pt-BR" dirty="0" err="1"/>
                  <a:t>excel</a:t>
                </a:r>
                <a:r>
                  <a:rPr lang="pt-BR" dirty="0"/>
                  <a:t>:</a:t>
                </a:r>
              </a:p>
              <a:p>
                <a:pPr lvl="1"/>
                <a:r>
                  <a:rPr lang="pt-BR" dirty="0"/>
                  <a:t>DamatoAlonso_p264.xlsx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Análise Exploratória</a:t>
            </a:r>
          </a:p>
        </p:txBody>
      </p:sp>
      <p:pic>
        <p:nvPicPr>
          <p:cNvPr id="3" name="Picture 1" descr="03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Análise de regressão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156476"/>
              </p:ext>
            </p:extLst>
          </p:nvPr>
        </p:nvGraphicFramePr>
        <p:xfrm>
          <a:off x="3624943" y="977900"/>
          <a:ext cx="7716155" cy="390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50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std.error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p.value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50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50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63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PadraoBaixo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63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PadraoMédio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Análise de regressão</a:t>
            </a:r>
          </a:p>
        </p:txBody>
      </p:sp>
      <p:pic>
        <p:nvPicPr>
          <p:cNvPr id="3" name="Picture 1" descr="03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4457" y="1866900"/>
            <a:ext cx="8349343" cy="417467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Previsão de Valores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fit      lwr      upr
1 20.85465 17.06326 24.64605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Alternativa (não-recomendado!)</a:t>
            </a:r>
          </a:p>
        </p:txBody>
      </p:sp>
      <p:pic>
        <p:nvPicPr>
          <p:cNvPr id="3" name="Picture 1" descr="03_files/figure-pptx/unnamed-chunk-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Alternativa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823075"/>
              </p:ext>
            </p:extLst>
          </p:nvPr>
        </p:nvGraphicFramePr>
        <p:xfrm>
          <a:off x="3352799" y="977897"/>
          <a:ext cx="8349344" cy="4780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9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49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std.error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p.value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9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25.886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858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I(Area - 93.7)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-5.016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25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I(PVendaProxy - 95821.93)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Análise de regressão</a:t>
            </a:r>
          </a:p>
        </p:txBody>
      </p:sp>
      <p:pic>
        <p:nvPicPr>
          <p:cNvPr id="3" name="Picture 1" descr="03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Lojas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D’Amato </a:t>
            </a:r>
            <a:r>
              <a:rPr lang="pt-BR" b="1" dirty="0"/>
              <a:t>e</a:t>
            </a:r>
            <a:r>
              <a:rPr b="1" dirty="0"/>
              <a:t> Alonso (2019, 240)</a:t>
            </a:r>
          </a:p>
          <a:p>
            <a:pPr lvl="0"/>
            <a:r>
              <a:rPr dirty="0"/>
              <a:t>37 dados de </a:t>
            </a:r>
            <a:r>
              <a:rPr dirty="0" err="1"/>
              <a:t>lojas</a:t>
            </a:r>
            <a:r>
              <a:rPr dirty="0"/>
              <a:t> de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ramos</a:t>
            </a:r>
            <a:endParaRPr lang="pt-BR" dirty="0"/>
          </a:p>
          <a:p>
            <a:pPr lvl="0"/>
            <a:r>
              <a:rPr lang="pt-BR" dirty="0"/>
              <a:t>Alguns dados podem ser vistos na tabela ao lado!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885845"/>
              </p:ext>
            </p:extLst>
          </p:nvPr>
        </p:nvGraphicFramePr>
        <p:xfrm>
          <a:off x="4772025" y="1208314"/>
          <a:ext cx="6919234" cy="546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8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5498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Vitrine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VU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498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esportes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1º piso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86,34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498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joalheria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térreo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96,27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6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roupas femininas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1º piso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65,00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110,69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356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roupas masculinas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térreo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68,13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98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esportes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térreo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83,89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498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joalheria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térreo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100,00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4000" dirty="0"/>
              <a:t>Lojas (</a:t>
            </a:r>
            <a:r>
              <a:rPr sz="4000" dirty="0" err="1"/>
              <a:t>análise</a:t>
            </a:r>
            <a:r>
              <a:rPr sz="4000" dirty="0"/>
              <a:t> </a:t>
            </a:r>
            <a:r>
              <a:rPr sz="4000" dirty="0" err="1"/>
              <a:t>exploratória</a:t>
            </a:r>
            <a:r>
              <a:rPr sz="4000" dirty="0"/>
              <a:t>)</a:t>
            </a:r>
          </a:p>
        </p:txBody>
      </p:sp>
      <p:pic>
        <p:nvPicPr>
          <p:cNvPr id="3" name="Picture 1" descr="03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19943" y="1736271"/>
            <a:ext cx="9024257" cy="45121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62484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Lojas de shopping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atividade</a:t>
            </a:r>
            <a:r>
              <a:rPr dirty="0"/>
              <a:t>. </a:t>
            </a:r>
            <a:r>
              <a:rPr dirty="0" err="1"/>
              <a:t>Relação</a:t>
            </a:r>
            <a:r>
              <a:rPr dirty="0"/>
              <a:t> VU vs. </a:t>
            </a:r>
            <a:r>
              <a:rPr dirty="0" err="1"/>
              <a:t>Área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Lojas (modelo)</a:t>
            </a:r>
          </a:p>
        </p:txBody>
      </p:sp>
      <p:pic>
        <p:nvPicPr>
          <p:cNvPr id="3" name="Picture 1" descr="03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Lojas</a:t>
            </a:r>
          </a:p>
        </p:txBody>
      </p:sp>
      <p:pic>
        <p:nvPicPr>
          <p:cNvPr id="3" name="Picture 1" descr="03_files/figure-pptx/unnamed-chunk-1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9366" y="1874983"/>
            <a:ext cx="9138720" cy="45693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Lojas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32398"/>
              </p:ext>
            </p:extLst>
          </p:nvPr>
        </p:nvGraphicFramePr>
        <p:xfrm>
          <a:off x="838200" y="1770743"/>
          <a:ext cx="104775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Termo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Estimativa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Erro-padrão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Estatística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p-valor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Intercepto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log(Area)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-3,84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Andar Térreo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-2,17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Importados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Tapetes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Informática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Fast-Food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Esportes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Roupas Masc.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Roupas Fem.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Bancos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Jóias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Lojas (avaliação)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De posse do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acima</a:t>
            </a:r>
            <a:r>
              <a:rPr dirty="0"/>
              <a:t>, </a:t>
            </a:r>
            <a:r>
              <a:rPr dirty="0" err="1"/>
              <a:t>avaliar</a:t>
            </a:r>
            <a:r>
              <a:rPr dirty="0"/>
              <a:t> o valor </a:t>
            </a:r>
            <a:r>
              <a:rPr dirty="0" err="1"/>
              <a:t>mínimo</a:t>
            </a:r>
            <a:r>
              <a:rPr dirty="0"/>
              <a:t> do </a:t>
            </a:r>
            <a:r>
              <a:rPr dirty="0" err="1"/>
              <a:t>aluguel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loja</a:t>
            </a:r>
            <a:r>
              <a:rPr dirty="0"/>
              <a:t> de 110m2, de </a:t>
            </a:r>
            <a:r>
              <a:rPr dirty="0" err="1"/>
              <a:t>roupas</a:t>
            </a:r>
            <a:r>
              <a:rPr dirty="0"/>
              <a:t> </a:t>
            </a:r>
            <a:r>
              <a:rPr dirty="0" err="1"/>
              <a:t>masculinas</a:t>
            </a:r>
            <a:r>
              <a:rPr dirty="0"/>
              <a:t> no </a:t>
            </a:r>
            <a:r>
              <a:rPr dirty="0" err="1"/>
              <a:t>piso</a:t>
            </a:r>
            <a:r>
              <a:rPr dirty="0"/>
              <a:t> </a:t>
            </a:r>
            <a:r>
              <a:rPr dirty="0" err="1"/>
              <a:t>térreo</a:t>
            </a:r>
            <a:r>
              <a:rPr dirty="0"/>
              <a:t> </a:t>
            </a:r>
            <a:r>
              <a:rPr dirty="0" err="1"/>
              <a:t>neste</a:t>
            </a:r>
            <a:r>
              <a:rPr dirty="0"/>
              <a:t> shopping center.</a:t>
            </a:r>
          </a:p>
          <a:p>
            <a:pPr lvl="0"/>
            <a:r>
              <a:rPr dirty="0"/>
              <a:t>O valor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de: 74,71 [69,13; 80,75]</a:t>
            </a:r>
            <a:endParaRPr lang="pt-BR" dirty="0"/>
          </a:p>
          <a:p>
            <a:pPr lvl="0"/>
            <a:r>
              <a:rPr lang="pt-BR" dirty="0"/>
              <a:t>Ver planilha </a:t>
            </a:r>
            <a:r>
              <a:rPr lang="pt-BR" dirty="0" err="1"/>
              <a:t>excel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DamatoAlonso_p240.xlsx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131"/>
            <a:ext cx="10515600" cy="3987945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Considerações</a:t>
            </a:r>
            <a:r>
              <a:rPr b="1" dirty="0"/>
              <a:t> </a:t>
            </a:r>
            <a:r>
              <a:rPr b="1" dirty="0" err="1"/>
              <a:t>importantes</a:t>
            </a:r>
            <a:endParaRPr b="1" dirty="0"/>
          </a:p>
          <a:p>
            <a:pPr lvl="0"/>
            <a:r>
              <a:rPr dirty="0"/>
              <a:t>Primeiro </a:t>
            </a:r>
            <a:r>
              <a:rPr dirty="0" err="1"/>
              <a:t>há</a:t>
            </a:r>
            <a:r>
              <a:rPr dirty="0"/>
              <a:t> de se </a:t>
            </a:r>
            <a:r>
              <a:rPr dirty="0" err="1"/>
              <a:t>considerar</a:t>
            </a:r>
            <a:r>
              <a:rPr dirty="0"/>
              <a:t> o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, se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residencial</a:t>
            </a:r>
            <a:endParaRPr dirty="0"/>
          </a:p>
          <a:p>
            <a:pPr lvl="0"/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residenciais</a:t>
            </a:r>
            <a:r>
              <a:rPr dirty="0"/>
              <a:t>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para </a:t>
            </a:r>
            <a:r>
              <a:rPr dirty="0" err="1"/>
              <a:t>locar</a:t>
            </a:r>
            <a:r>
              <a:rPr dirty="0"/>
              <a:t>.</a:t>
            </a:r>
          </a:p>
          <a:p>
            <a:pPr lvl="0"/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interessam</a:t>
            </a:r>
            <a:r>
              <a:rPr dirty="0"/>
              <a:t> </a:t>
            </a:r>
            <a:r>
              <a:rPr dirty="0" err="1"/>
              <a:t>aqui</a:t>
            </a:r>
            <a:r>
              <a:rPr dirty="0"/>
              <a:t>.</a:t>
            </a:r>
          </a:p>
          <a:p>
            <a:pPr lvl="0"/>
            <a:r>
              <a:rPr dirty="0"/>
              <a:t>Deve-se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preferência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Comparativo</a:t>
            </a:r>
            <a:endParaRPr dirty="0"/>
          </a:p>
          <a:p>
            <a:pPr lvl="0"/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pode</a:t>
            </a:r>
            <a:r>
              <a:rPr dirty="0"/>
              <a:t> haver </a:t>
            </a:r>
            <a:r>
              <a:rPr dirty="0" err="1"/>
              <a:t>falta</a:t>
            </a:r>
            <a:r>
              <a:rPr dirty="0"/>
              <a:t> de dados para </a:t>
            </a:r>
            <a:r>
              <a:rPr dirty="0" err="1"/>
              <a:t>comparação</a:t>
            </a:r>
            <a:endParaRPr dirty="0"/>
          </a:p>
          <a:p>
            <a:pPr lvl="0"/>
            <a:r>
              <a:rPr dirty="0"/>
              <a:t>Com </a:t>
            </a:r>
            <a:r>
              <a:rPr dirty="0" err="1"/>
              <a:t>poucos</a:t>
            </a:r>
            <a:r>
              <a:rPr dirty="0"/>
              <a:t> dados,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viável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o </a:t>
            </a:r>
            <a:r>
              <a:rPr dirty="0" err="1"/>
              <a:t>tratamento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fatores</a:t>
            </a:r>
            <a:endParaRPr dirty="0"/>
          </a:p>
          <a:p>
            <a:pPr lvl="0"/>
            <a:r>
              <a:rPr dirty="0"/>
              <a:t>Pode-se </a:t>
            </a:r>
            <a:r>
              <a:rPr dirty="0" err="1"/>
              <a:t>buscar</a:t>
            </a:r>
            <a:r>
              <a:rPr dirty="0"/>
              <a:t> dados de </a:t>
            </a:r>
            <a:r>
              <a:rPr dirty="0" err="1"/>
              <a:t>terrenos</a:t>
            </a:r>
            <a:r>
              <a:rPr dirty="0"/>
              <a:t> com </a:t>
            </a:r>
            <a:r>
              <a:rPr dirty="0" err="1"/>
              <a:t>construções</a:t>
            </a:r>
            <a:r>
              <a:rPr dirty="0"/>
              <a:t> para </a:t>
            </a:r>
            <a:r>
              <a:rPr dirty="0" err="1"/>
              <a:t>aumentar</a:t>
            </a:r>
            <a:r>
              <a:rPr dirty="0"/>
              <a:t> a </a:t>
            </a:r>
            <a:r>
              <a:rPr dirty="0" err="1"/>
              <a:t>amostra</a:t>
            </a:r>
            <a:r>
              <a:rPr dirty="0"/>
              <a:t>, </a:t>
            </a:r>
            <a:r>
              <a:rPr dirty="0" err="1"/>
              <a:t>descontando</a:t>
            </a:r>
            <a:r>
              <a:rPr dirty="0"/>
              <a:t>, é claro, o valor das </a:t>
            </a:r>
            <a:r>
              <a:rPr dirty="0" err="1"/>
              <a:t>construções</a:t>
            </a:r>
            <a:r>
              <a:rPr dirty="0"/>
              <a:t> para </a:t>
            </a:r>
            <a:r>
              <a:rPr dirty="0" err="1"/>
              <a:t>efeito</a:t>
            </a:r>
            <a:r>
              <a:rPr dirty="0"/>
              <a:t> de </a:t>
            </a:r>
            <a:r>
              <a:rPr dirty="0" err="1"/>
              <a:t>comparativo</a:t>
            </a:r>
            <a:endParaRPr dirty="0"/>
          </a:p>
          <a:p>
            <a:pPr lvl="0"/>
            <a:r>
              <a:rPr dirty="0"/>
              <a:t>Na </a:t>
            </a:r>
            <a:r>
              <a:rPr dirty="0" err="1"/>
              <a:t>ausência</a:t>
            </a:r>
            <a:r>
              <a:rPr dirty="0"/>
              <a:t> de dados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-se </a:t>
            </a:r>
            <a:r>
              <a:rPr dirty="0" err="1"/>
              <a:t>utilizar</a:t>
            </a:r>
            <a:r>
              <a:rPr dirty="0"/>
              <a:t> o </a:t>
            </a:r>
            <a:r>
              <a:rPr dirty="0" err="1"/>
              <a:t>Método</a:t>
            </a:r>
            <a:r>
              <a:rPr dirty="0"/>
              <a:t> da </a:t>
            </a:r>
            <a:r>
              <a:rPr dirty="0" err="1"/>
              <a:t>Remuneração</a:t>
            </a:r>
            <a:r>
              <a:rPr dirty="0"/>
              <a:t> do Capital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 err="1"/>
              <a:t>Terrenos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D’Amato </a:t>
            </a:r>
            <a:r>
              <a:rPr lang="pt-BR" b="1" dirty="0"/>
              <a:t>e</a:t>
            </a:r>
            <a:r>
              <a:rPr b="1" dirty="0"/>
              <a:t> Alonso (2019, 204)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D92CD-AE02-F1AD-1E23-A01E9FC10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 planilha </a:t>
            </a:r>
            <a:r>
              <a:rPr lang="pt-BR" dirty="0" err="1"/>
              <a:t>excel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DamatoAlonso_p204.xlsx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 (análise exploratória)</a:t>
            </a:r>
          </a:p>
        </p:txBody>
      </p:sp>
      <p:pic>
        <p:nvPicPr>
          <p:cNvPr id="3" name="Picture 1" descr="03_files/figure-pptx/unnamed-chunk-2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 (análise exploratória)</a:t>
            </a:r>
          </a:p>
        </p:txBody>
      </p:sp>
      <p:pic>
        <p:nvPicPr>
          <p:cNvPr id="3" name="Picture 1" descr="03_files/figure-pptx/unnamed-chunk-2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Cálculo</a:t>
            </a:r>
            <a:r>
              <a:rPr b="1" dirty="0"/>
              <a:t> do valor residual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E316BBF-129F-AD2C-45F0-24623F4B2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b="0" dirty="0"/>
                  <a:t>Cálculo do Valor Residual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𝑅𝑒𝑠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𝐶𝑈𝐵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𝑂𝐶</m:t>
                        </m:r>
                      </m:sub>
                    </m:sSub>
                  </m:oMath>
                </a14:m>
                <a:endParaRPr lang="pt-BR" dirty="0"/>
              </a:p>
              <a:p>
                <a:r>
                  <a:rPr lang="pt-BR" dirty="0"/>
                  <a:t>Após o cálculo do valor residual, os elementos podem ser comparados aos dados dos lotes, através do método comparativo (fatores ou regressão linear)</a:t>
                </a:r>
              </a:p>
              <a:p>
                <a:r>
                  <a:rPr lang="pt-BR" dirty="0"/>
                  <a:t>Ver planilha </a:t>
                </a:r>
                <a:r>
                  <a:rPr lang="pt-BR" dirty="0" err="1"/>
                  <a:t>excel</a:t>
                </a:r>
                <a:r>
                  <a:rPr lang="pt-BR" dirty="0"/>
                  <a:t>!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E316BBF-129F-AD2C-45F0-24623F4B2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21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</a:t>
            </a:r>
          </a:p>
        </p:txBody>
      </p:sp>
      <p:pic>
        <p:nvPicPr>
          <p:cNvPr id="3" name="Picture 1" descr="03_files/figure-pptx/unnamed-chunk-2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</a:t>
            </a:r>
          </a:p>
        </p:txBody>
      </p:sp>
      <p:pic>
        <p:nvPicPr>
          <p:cNvPr id="3" name="Picture 1" descr="03_files/figure-pptx/unnamed-chunk-2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</a:t>
            </a:r>
          </a:p>
        </p:txBody>
      </p:sp>
      <p:pic>
        <p:nvPicPr>
          <p:cNvPr id="3" name="Picture 1" descr="03_files/figure-pptx/unnamed-chunk-2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 (modelo)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184400"/>
          <a:ext cx="104775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Estimativa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Erro-padrão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Estatística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p-valor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log(Area)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Terrenos (avaliação)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pt-BR" dirty="0"/>
                  <a:t>Após o cálculo do valor do terreno, aplicasse o </a:t>
                </a:r>
                <a:r>
                  <a:rPr lang="pt-BR" i="1" dirty="0"/>
                  <a:t>Método da Remuneração do Capital!</a:t>
                </a:r>
                <a:endParaRPr lang="pt-BR" dirty="0"/>
              </a:p>
              <a:p>
                <a:pPr lvl="0"/>
                <a:r>
                  <a:rPr dirty="0"/>
                  <a:t>Valor de </a:t>
                </a:r>
                <a:r>
                  <a:rPr dirty="0" err="1"/>
                  <a:t>venda</a:t>
                </a:r>
                <a:r>
                  <a:rPr dirty="0"/>
                  <a:t>: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      fit      </a:t>
                </a:r>
                <a:r>
                  <a:rPr dirty="0" err="1">
                    <a:latin typeface="Courier"/>
                  </a:rPr>
                  <a:t>lwr</a:t>
                </a:r>
                <a:r>
                  <a:rPr dirty="0">
                    <a:latin typeface="Courier"/>
                  </a:rPr>
                  <a:t>     </a:t>
                </a:r>
                <a:r>
                  <a:rPr dirty="0" err="1">
                    <a:latin typeface="Courier"/>
                  </a:rPr>
                  <a:t>upr</a:t>
                </a:r>
                <a:r>
                  <a:rPr dirty="0">
                    <a:latin typeface="Courier"/>
                  </a:rPr>
                  <a:t>
1 1059833 905036.4 1241105</a:t>
                </a:r>
              </a:p>
              <a:p>
                <a:pPr lvl="0"/>
                <a:r>
                  <a:rPr dirty="0"/>
                  <a:t>Valor de </a:t>
                </a:r>
                <a:r>
                  <a:rPr dirty="0" err="1"/>
                  <a:t>Locação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1.060.000,00∗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1+0,06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1/12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5.159,60</a:t>
                </a:r>
                <a:r>
                  <a:rPr lang="pt-BR" dirty="0"/>
                  <a:t> R$/mês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D’Amato and Alonso (2019, 251)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FDD1D0-2EE1-18D3-7B93-F76145121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 planilha </a:t>
            </a:r>
            <a:r>
              <a:rPr lang="pt-BR" dirty="0" err="1"/>
              <a:t>excel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DamatoAlonso_p251.xlsx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Considerado: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𝑉𝑈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i="1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>
                        <a:latin typeface="Cambria Math" panose="02040503050406030204" pitchFamily="18" charset="0"/>
                      </a:rPr>
                      <m:t>𝐴𝑙𝑢𝑔𝑢𝑒𝑙</m:t>
                    </m:r>
                  </m:num>
                  <m:den>
                    <m:r>
                      <a:rPr>
                        <a:latin typeface="Cambria Math" panose="02040503050406030204" pitchFamily="18" charset="0"/>
                      </a:rPr>
                      <m:t>𝐴𝑟𝑒𝑎𝑇𝑒𝑟𝑟𝑒𝑛𝑜</m:t>
                    </m:r>
                  </m:den>
                </m:f>
              </m:oMath>
            </a14:m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(análise exploratória)</a:t>
            </a:r>
          </a:p>
        </p:txBody>
      </p:sp>
      <p:pic>
        <p:nvPicPr>
          <p:cNvPr id="3" name="Picture 1" descr="03_files/figure-pptx/unnamed-chunk-3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2184400"/>
            <a:ext cx="6959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Lojas de shopping por atividade. Relação VU vs. Área.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(análise exploratória)</a:t>
            </a:r>
          </a:p>
        </p:txBody>
      </p:sp>
      <p:pic>
        <p:nvPicPr>
          <p:cNvPr id="3" name="Picture 1" descr="03_files/figure-pptx/unnamed-chunk-3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2184400"/>
            <a:ext cx="6959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 err="1"/>
              <a:t>Relação</a:t>
            </a:r>
            <a:r>
              <a:rPr dirty="0"/>
              <a:t> VU vs. </a:t>
            </a:r>
            <a:r>
              <a:rPr dirty="0" err="1"/>
              <a:t>Área</a:t>
            </a:r>
            <a:r>
              <a:rPr lang="pt-BR" dirty="0"/>
              <a:t> com Gradiente da Idade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(modelo)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1844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Estimativa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Erro-padrão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Estatística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p-valor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32,04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log(AreaTerreno/15000)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-1,03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-8,70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log(AreaConstruida/12086.22)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6,63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I(Idade - 10)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Equação de Estimação: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𝑉𝑈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r>
                  <a:rPr>
                    <a:latin typeface="Cambria Math" panose="02040503050406030204" pitchFamily="18" charset="0"/>
                  </a:rPr>
                  <m:t>5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99</m:t>
                </m:r>
                <m:r>
                  <a:rPr>
                    <a:latin typeface="Cambria Math" panose="02040503050406030204" pitchFamily="18" charset="0"/>
                  </a:rPr>
                  <m:t>.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𝐴𝑟𝑒𝑎𝑇𝑒𝑟𝑟𝑒𝑛𝑜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15000</m:t>
                            </m:r>
                          </m:den>
                        </m:f>
                      </m:e>
                    </m:d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03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.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𝐴𝑟𝑒𝑎𝐶𝑜𝑛𝑠𝑡𝑟𝑢𝑖𝑑𝑎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086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e>
                    </m:d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83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.</m:t>
                </m:r>
                <m:r>
                  <a:rPr>
                    <a:latin typeface="Cambria Math" panose="02040503050406030204" pitchFamily="18" charset="0"/>
                  </a:rPr>
                  <m:t>0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sSup>
                  <m:sSupPr>
                    <m:ctrlPr>
                      <a:rPr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98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𝐼𝑑𝑎𝑑𝑒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10</m:t>
                    </m:r>
                  </m:sup>
                </m:sSup>
              </m:oMath>
            </a14:m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(modelo)</a:t>
            </a:r>
          </a:p>
        </p:txBody>
      </p:sp>
      <p:pic>
        <p:nvPicPr>
          <p:cNvPr id="3" name="Picture 1" descr="03_files/figure-pptx/unnamed-chunk-3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2184400"/>
            <a:ext cx="6959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Gráficos de efeitos marginais.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(modelo)</a:t>
            </a:r>
          </a:p>
        </p:txBody>
      </p:sp>
      <p:pic>
        <p:nvPicPr>
          <p:cNvPr id="3" name="Picture 1" descr="03_files/figure-pptx/unnamed-chunk-3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2184400"/>
            <a:ext cx="6959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Gráfico marginal da variável Idade.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(Poder de Predição)</a:t>
            </a:r>
          </a:p>
        </p:txBody>
      </p:sp>
      <p:pic>
        <p:nvPicPr>
          <p:cNvPr id="3" name="Picture 1" descr="03_files/figure-pptx/unnamed-chunk-3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(Poder de Predição)</a:t>
            </a:r>
          </a:p>
        </p:txBody>
      </p:sp>
      <p:pic>
        <p:nvPicPr>
          <p:cNvPr id="3" name="Picture 1" descr="03_files/figure-pptx/unnamed-chunk-3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Armazéns (Avaliação)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De posse do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acima</a:t>
            </a:r>
            <a:r>
              <a:rPr dirty="0"/>
              <a:t>, </a:t>
            </a:r>
            <a:r>
              <a:rPr dirty="0" err="1"/>
              <a:t>avaliar</a:t>
            </a:r>
            <a:r>
              <a:rPr dirty="0"/>
              <a:t> o valor do </a:t>
            </a:r>
            <a:r>
              <a:rPr dirty="0" err="1"/>
              <a:t>aluguel</a:t>
            </a:r>
            <a:r>
              <a:rPr dirty="0"/>
              <a:t> de um </a:t>
            </a:r>
            <a:r>
              <a:rPr dirty="0" err="1"/>
              <a:t>armazém</a:t>
            </a:r>
            <a:r>
              <a:rPr dirty="0"/>
              <a:t> com </a:t>
            </a:r>
            <a:r>
              <a:rPr dirty="0" err="1"/>
              <a:t>terreno</a:t>
            </a:r>
            <a:r>
              <a:rPr dirty="0"/>
              <a:t> de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a 15.000 m2, com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Construída</a:t>
            </a:r>
            <a:r>
              <a:rPr dirty="0"/>
              <a:t> de 12.086,22 e </a:t>
            </a:r>
            <a:r>
              <a:rPr dirty="0" err="1"/>
              <a:t>Idade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a 5 </a:t>
            </a:r>
            <a:r>
              <a:rPr dirty="0" err="1"/>
              <a:t>anos</a:t>
            </a:r>
            <a:r>
              <a:rPr dirty="0"/>
              <a:t>.</a:t>
            </a:r>
          </a:p>
          <a:p>
            <a:pPr lvl="0" indent="0">
              <a:buNone/>
            </a:pPr>
            <a:r>
              <a:rPr dirty="0">
                <a:solidFill>
                  <a:srgbClr val="003B4F"/>
                </a:solidFill>
                <a:latin typeface="Courier"/>
              </a:rPr>
              <a:t>p &lt;- </a:t>
            </a:r>
            <a:r>
              <a:rPr dirty="0">
                <a:solidFill>
                  <a:srgbClr val="4758AB"/>
                </a:solidFill>
                <a:latin typeface="Courier"/>
              </a:rPr>
              <a:t>predict</a:t>
            </a:r>
            <a:r>
              <a:rPr dirty="0">
                <a:solidFill>
                  <a:srgbClr val="003B4F"/>
                </a:solidFill>
                <a:latin typeface="Courier"/>
              </a:rPr>
              <a:t>(fit1,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newdata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AreaTerreno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15000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AreaConstruida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12086.22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r>
              <a:rPr dirty="0"/>
              <a:t> </a:t>
            </a:r>
            <a:r>
              <a:rPr dirty="0" err="1">
                <a:solidFill>
                  <a:srgbClr val="657422"/>
                </a:solidFill>
                <a:latin typeface="Courier"/>
              </a:rPr>
              <a:t>Idade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5</a:t>
            </a:r>
            <a:r>
              <a:rPr dirty="0">
                <a:solidFill>
                  <a:srgbClr val="003B4F"/>
                </a:solidFill>
                <a:latin typeface="Courier"/>
              </a:rPr>
              <a:t>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    </a:t>
            </a:r>
            <a:r>
              <a:rPr dirty="0">
                <a:solidFill>
                  <a:srgbClr val="657422"/>
                </a:solidFill>
                <a:latin typeface="Courier"/>
              </a:rPr>
              <a:t>interval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"confidence"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level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0.80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4758AB"/>
                </a:solidFill>
                <a:latin typeface="Courier"/>
              </a:rPr>
              <a:t>exp</a:t>
            </a:r>
            <a:r>
              <a:rPr dirty="0">
                <a:solidFill>
                  <a:srgbClr val="003B4F"/>
                </a:solidFill>
                <a:latin typeface="Courier"/>
              </a:rPr>
              <a:t>(p)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       fit      </a:t>
            </a:r>
            <a:r>
              <a:rPr dirty="0" err="1">
                <a:latin typeface="Courier"/>
              </a:rPr>
              <a:t>lwr</a:t>
            </a:r>
            <a:r>
              <a:rPr dirty="0">
                <a:latin typeface="Courier"/>
              </a:rPr>
              <a:t>      </a:t>
            </a:r>
            <a:r>
              <a:rPr dirty="0" err="1">
                <a:latin typeface="Courier"/>
              </a:rPr>
              <a:t>upr</a:t>
            </a:r>
            <a:r>
              <a:rPr dirty="0">
                <a:latin typeface="Courier"/>
              </a:rPr>
              <a:t>
1 6.602145 5.823431 7.484988</a:t>
            </a:r>
          </a:p>
          <a:p>
            <a:pPr lvl="0"/>
            <a:r>
              <a:rPr dirty="0"/>
              <a:t>O valor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de: 89.128,96 [78.616,33; 101.047,34]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 err="1"/>
              <a:t>Armazéns</a:t>
            </a:r>
            <a:r>
              <a:rPr dirty="0"/>
              <a:t> (</a:t>
            </a:r>
            <a:r>
              <a:rPr dirty="0" err="1"/>
              <a:t>Avaliação</a:t>
            </a:r>
            <a:r>
              <a:rPr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D’Amato </a:t>
                </a:r>
                <a:r>
                  <a:rPr lang="pt-BR" dirty="0"/>
                  <a:t>e </a:t>
                </a:r>
                <a:r>
                  <a:rPr dirty="0"/>
                  <a:t>Alonso (2019, 254): R$ 90.936,00</a:t>
                </a:r>
              </a:p>
              <a:p>
                <a:pPr lvl="0"/>
                <a:r>
                  <a:rPr dirty="0" err="1"/>
                  <a:t>Modelo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𝐴𝑟𝑒𝑎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=2,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5765.10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0,09618</m:t>
                        </m:r>
                      </m:num>
                      <m:den>
                        <m:r>
                          <m:rPr>
                            <m:nor/>
                          </m:rPr>
                          <a:rPr/>
                          <m:t>Area</m:t>
                        </m:r>
                        <m:r>
                          <m:rPr>
                            <m:nor/>
                          </m:rPr>
                          <a:rPr/>
                          <m:t> </m:t>
                        </m:r>
                        <m:r>
                          <m:rPr>
                            <m:nor/>
                          </m:rPr>
                          <a:rPr/>
                          <m:t>Construida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−3,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7878.10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/>
                      <m:t>Conservacao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Casos Especiais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Cinemas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Em casos especiais, como nos cinemas, pode ser utilizado o </a:t>
            </a:r>
            <a:r>
              <a:rPr i="1"/>
              <a:t>Método da Participação</a:t>
            </a:r>
          </a:p>
          <a:p>
            <a:pPr lvl="0"/>
            <a:r>
              <a:t>Tal método consiste em:</a:t>
            </a:r>
          </a:p>
          <a:p>
            <a:pPr lvl="0"/>
            <a:r>
              <a:t>Aferir a renda líquida do estabelecimento</a:t>
            </a:r>
          </a:p>
          <a:p>
            <a:pPr lvl="0"/>
            <a:r>
              <a:t>Aplicar a esta renda líquida um percentual médio de mercado para calcular o aluguel justo ao locador</a:t>
            </a:r>
          </a:p>
          <a:p>
            <a:pPr lvl="0"/>
            <a:r>
              <a:t>Segundo D’Amato and Alonso (2019, 296):</a:t>
            </a:r>
          </a:p>
          <a:p>
            <a:pPr marL="1270000" lvl="0" indent="0">
              <a:buNone/>
            </a:pPr>
            <a:r>
              <a:rPr sz="2000"/>
              <a:t>Obtida a média final (das rendas líquidas), seria a mesma capitalizada em base às taxas de renda usuais para cinemas que são: 10% quando os equipamentos e instalações são de propriedade do inquilino e 15% quando pertencem ao proprietário do imóvel.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Cinemas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Exemplo (D’Amato and Alonso 2019, 297)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46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Renda Líquida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IGP-M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Renda Líquida Descontada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116.167,51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1.353,50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129.193,03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88.737,28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1.357,15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98.421,39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115.604,24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1.370,45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126.976,04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2015-04-01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151.524,24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1.386,49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164.504,72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189.658,44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1.392,17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205.064,97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2015-06-01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192.050,52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1.401,50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206.269,37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D’Amato and Alonso (2019, 297):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𝐴𝑙</m:t>
                </m:r>
                <m:r>
                  <a:rPr>
                    <a:latin typeface="Cambria Math" panose="02040503050406030204" pitchFamily="18" charset="0"/>
                  </a:rPr>
                  <m:t>=185.358,54×12%=</m:t>
                </m:r>
                <m:r>
                  <m:rPr>
                    <m:nor/>
                  </m:rPr>
                  <a:rPr/>
                  <m:t>R</m:t>
                </m:r>
                <m:r>
                  <m:rPr>
                    <m:nor/>
                  </m:rPr>
                  <a:rPr/>
                  <m:t>$</m:t>
                </m:r>
                <m:r>
                  <a:rPr>
                    <a:latin typeface="Cambria Math" panose="02040503050406030204" pitchFamily="18" charset="0"/>
                  </a:rPr>
                  <m:t>22.240,00</m:t>
                </m:r>
              </m:oMath>
            </a14:m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(dadosCinema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Renda Líquida Descontada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, dadosCinema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Ano, mean)</a:t>
            </a:r>
          </a:p>
          <a:p>
            <a:pPr lvl="0" indent="0">
              <a:buNone/>
            </a:pPr>
            <a:r>
              <a:rPr>
                <a:latin typeface="Courier"/>
              </a:rPr>
              <a:t>    2015     2016     2017 
167305.2 185869.9 202900.5 </a:t>
            </a:r>
          </a:p>
          <a:p>
            <a:pPr lvl="0"/>
            <a:r>
              <a:t>O resultado tem aumentado anualmente em torno de 10% a.a.</a:t>
            </a:r>
          </a:p>
          <a:p>
            <a:pPr lvl="0"/>
            <a:r>
              <a:t>Ao considerar a média dos rendimentos anuais, D’Amato and Alonso (2019) obtiveram um aluguel condizente com o ano de 2016!</a:t>
            </a:r>
          </a:p>
          <a:p>
            <a:pPr lvl="0"/>
            <a:r>
              <a:t>Isto não me parece correto!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Problemas com o Método da Participação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Foram apresentados métodos de participação para “postos de gasolina” e para “cinemas”. O método para “postos de serviços” foi desenvolvido pelo engenheiro José Carlos Pellegrino e para os “cinemas”, pelo engenheiro Nelson Roberto Pereira Alonso. Nesses processos de participação, o aluguel é vinculado ao resultado comercial do estabelecimento empresarial do inquilino. Se, por um lado, possui a vantagem de permitir o estabelecimento do aluguel para imóveis com destinação específica, tem, na opinião do autor, as desvantagens de punir o bom e permiar o mau comerciante, e ainda de impedir que o proprietário usufrua da renda de seu patrimônio de uma forma mais lucrativa do que aquela para o qual originalmente foi destinado.</a:t>
            </a:r>
          </a:p>
          <a:p>
            <a:pPr marL="1270000" lvl="0" indent="0">
              <a:buNone/>
            </a:pPr>
            <a:r>
              <a:rPr sz="2000"/>
              <a:t>Se, por qualquer motivo, a destinação original que foi dada ao imóvel passar a ser inviável, não é dado ao proprietário do prédio o direito de se afastar desse “prejuízo”…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Referências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D’Amato, Mônica, and Nelson Roberto Pereira Alonso. 2019. </a:t>
            </a:r>
            <a:r>
              <a:rPr i="1"/>
              <a:t>Avaliação de Aluguéis</a:t>
            </a:r>
            <a:r>
              <a:t>. Edited by Leud. 4th ed. São Paulo.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3060</Words>
  <Application>Microsoft Office PowerPoint</Application>
  <PresentationFormat>Widescreen</PresentationFormat>
  <Paragraphs>626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Aptos</vt:lpstr>
      <vt:lpstr>Aptos Display</vt:lpstr>
      <vt:lpstr>Arial</vt:lpstr>
      <vt:lpstr>Calibri Light</vt:lpstr>
      <vt:lpstr>Cambria Math</vt:lpstr>
      <vt:lpstr>Courier</vt:lpstr>
      <vt:lpstr>Office Theme</vt:lpstr>
      <vt:lpstr>Avaliação de Alugueis</vt:lpstr>
      <vt:lpstr>Aspectos Legais</vt:lpstr>
      <vt:lpstr>Lei do Inquilinato</vt:lpstr>
      <vt:lpstr>Lei do Inquilinato</vt:lpstr>
      <vt:lpstr>Direito de Preferência</vt:lpstr>
      <vt:lpstr>Direito de Preferência</vt:lpstr>
      <vt:lpstr>Ação Revisional de Aluguel</vt:lpstr>
      <vt:lpstr>Ação Renovatória de aluguel</vt:lpstr>
      <vt:lpstr>Ação Renovatória de aluguel</vt:lpstr>
      <vt:lpstr>O Método Comparativo</vt:lpstr>
      <vt:lpstr>O Método Comparativo</vt:lpstr>
      <vt:lpstr>O Método Comparativo</vt:lpstr>
      <vt:lpstr>O Método Comparativo</vt:lpstr>
      <vt:lpstr>O Método Comparativo</vt:lpstr>
      <vt:lpstr>O Método Comparativo</vt:lpstr>
      <vt:lpstr>Apartamentos</vt:lpstr>
      <vt:lpstr>Solução por fatores</vt:lpstr>
      <vt:lpstr>PowerPoint Presentation</vt:lpstr>
      <vt:lpstr>Apartamentos</vt:lpstr>
      <vt:lpstr>Apartamentos</vt:lpstr>
      <vt:lpstr>Apartamentos</vt:lpstr>
      <vt:lpstr>Apartamentos</vt:lpstr>
      <vt:lpstr>Apartamentos</vt:lpstr>
      <vt:lpstr>Apartamentos</vt:lpstr>
      <vt:lpstr>Apartamentos</vt:lpstr>
      <vt:lpstr>Lojas</vt:lpstr>
      <vt:lpstr>Lojas (análise exploratória)</vt:lpstr>
      <vt:lpstr>Lojas (modelo)</vt:lpstr>
      <vt:lpstr>Lojas</vt:lpstr>
      <vt:lpstr>Lojas</vt:lpstr>
      <vt:lpstr>Lojas (avaliação)</vt:lpstr>
      <vt:lpstr>Terrenos</vt:lpstr>
      <vt:lpstr>Terrenos</vt:lpstr>
      <vt:lpstr>Terrenos (análise exploratória)</vt:lpstr>
      <vt:lpstr>Terrenos (análise exploratória)</vt:lpstr>
      <vt:lpstr>Terrenos</vt:lpstr>
      <vt:lpstr>Terrenos</vt:lpstr>
      <vt:lpstr>Terrenos</vt:lpstr>
      <vt:lpstr>Terrenos</vt:lpstr>
      <vt:lpstr>Terrenos (modelo)</vt:lpstr>
      <vt:lpstr>Terrenos (avaliação)</vt:lpstr>
      <vt:lpstr>Armazéns</vt:lpstr>
      <vt:lpstr>PowerPoint Presentation</vt:lpstr>
      <vt:lpstr>Armazéns (análise exploratória)</vt:lpstr>
      <vt:lpstr>Armazéns (análise exploratória)</vt:lpstr>
      <vt:lpstr>Armazéns (modelo)</vt:lpstr>
      <vt:lpstr>PowerPoint Presentation</vt:lpstr>
      <vt:lpstr>Armazéns (modelo)</vt:lpstr>
      <vt:lpstr>Armazéns (modelo)</vt:lpstr>
      <vt:lpstr>Armazéns (Poder de Predição)</vt:lpstr>
      <vt:lpstr>Armazéns (Poder de Predição)</vt:lpstr>
      <vt:lpstr>Armazéns (Avaliação)</vt:lpstr>
      <vt:lpstr>Armazéns (Avaliação)</vt:lpstr>
      <vt:lpstr>Casos Especiais</vt:lpstr>
      <vt:lpstr>Cinemas</vt:lpstr>
      <vt:lpstr>Cinemas</vt:lpstr>
      <vt:lpstr>PowerPoint Presentation</vt:lpstr>
      <vt:lpstr>Problema</vt:lpstr>
      <vt:lpstr>Problemas com o Método da Participação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Alugueis</dc:title>
  <dc:creator>Luiz Fernando Palin Droubi</dc:creator>
  <cp:keywords/>
  <cp:lastModifiedBy>Luiz F P Droubi</cp:lastModifiedBy>
  <cp:revision>8</cp:revision>
  <dcterms:created xsi:type="dcterms:W3CDTF">2025-08-12T21:00:44Z</dcterms:created>
  <dcterms:modified xsi:type="dcterms:W3CDTF">2025-08-12T23:06:47Z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referencias.bib</vt:lpwstr>
  </property>
  <property fmtid="{D5CDD505-2E9C-101B-9397-08002B2CF9AE}" pid="5" name="by-author">
    <vt:lpwstr/>
  </property>
  <property fmtid="{D5CDD505-2E9C-101B-9397-08002B2CF9AE}" pid="6" name="date">
    <vt:lpwstr>2025-08-12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Parte 03</vt:lpwstr>
  </property>
  <property fmtid="{D5CDD505-2E9C-101B-9397-08002B2CF9AE}" pid="12" name="toc-title">
    <vt:lpwstr>Table of contents</vt:lpwstr>
  </property>
</Properties>
</file>